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4"/>
  </p:sldMasterIdLst>
  <p:notesMasterIdLst>
    <p:notesMasterId r:id="rId31"/>
  </p:notesMasterIdLst>
  <p:sldIdLst>
    <p:sldId id="256" r:id="rId5"/>
    <p:sldId id="302" r:id="rId6"/>
    <p:sldId id="261" r:id="rId7"/>
    <p:sldId id="344" r:id="rId8"/>
    <p:sldId id="345" r:id="rId9"/>
    <p:sldId id="346" r:id="rId10"/>
    <p:sldId id="347" r:id="rId11"/>
    <p:sldId id="257" r:id="rId12"/>
    <p:sldId id="258" r:id="rId13"/>
    <p:sldId id="259" r:id="rId14"/>
    <p:sldId id="260" r:id="rId15"/>
    <p:sldId id="348" r:id="rId16"/>
    <p:sldId id="349" r:id="rId17"/>
    <p:sldId id="351" r:id="rId18"/>
    <p:sldId id="352" r:id="rId19"/>
    <p:sldId id="353" r:id="rId20"/>
    <p:sldId id="354" r:id="rId21"/>
    <p:sldId id="355" r:id="rId22"/>
    <p:sldId id="356" r:id="rId23"/>
    <p:sldId id="357" r:id="rId24"/>
    <p:sldId id="358" r:id="rId25"/>
    <p:sldId id="278" r:id="rId26"/>
    <p:sldId id="273" r:id="rId27"/>
    <p:sldId id="274" r:id="rId28"/>
    <p:sldId id="275" r:id="rId29"/>
    <p:sldId id="281" r:id="rId30"/>
  </p:sldIdLst>
  <p:sldSz cx="9144000" cy="5143500" type="screen16x9"/>
  <p:notesSz cx="6858000" cy="9144000"/>
  <p:embeddedFontLst>
    <p:embeddedFont>
      <p:font typeface="Archivo" panose="020B0604020202020204" charset="0"/>
      <p:regular r:id="rId32"/>
      <p:bold r:id="rId33"/>
      <p:italic r:id="rId34"/>
      <p:boldItalic r:id="rId35"/>
    </p:embeddedFont>
    <p:embeddedFont>
      <p:font typeface="Archivo Black" panose="020B0604020202020204" charset="0"/>
      <p:regular r:id="rId36"/>
      <p:bold r:id="rId37"/>
      <p:italic r:id="rId38"/>
      <p:boldItalic r:id="rId39"/>
    </p:embeddedFont>
    <p:embeddedFont>
      <p:font typeface="Manrope" panose="020B0604020202020204" charset="0"/>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31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CFA35D-1565-9DE4-49EA-839DB98C9F81}" v="12" dt="2026-09-28T16:39:26.975"/>
  </p1510:revLst>
</p1510:revInfo>
</file>

<file path=ppt/tableStyles.xml><?xml version="1.0" encoding="utf-8"?>
<a:tblStyleLst xmlns:a="http://schemas.openxmlformats.org/drawingml/2006/main" def="{6B5080E9-3605-42D9-9005-8FE3B8EA5A04}">
  <a:tblStyle styleId="{6B5080E9-3605-42D9-9005-8FE3B8EA5A0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84" autoAdjust="0"/>
    <p:restoredTop sz="93844" autoAdjust="0"/>
  </p:normalViewPr>
  <p:slideViewPr>
    <p:cSldViewPr snapToGrid="0" showGuides="1">
      <p:cViewPr varScale="1">
        <p:scale>
          <a:sx n="89" d="100"/>
          <a:sy n="89" d="100"/>
        </p:scale>
        <p:origin x="894" y="84"/>
      </p:cViewPr>
      <p:guideLst>
        <p:guide orient="horz" pos="1620"/>
        <p:guide pos="31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ya Ayazbayeva" userId="S::aliya.ayazbayeva@astanait.edu.kz::509512b4-c6a8-45ac-877c-11492c646449" providerId="AD" clId="Web-{CDCFA35D-1565-9DE4-49EA-839DB98C9F81}"/>
    <pc:docChg chg="modSld">
      <pc:chgData name="Aliya Ayazbayeva" userId="S::aliya.ayazbayeva@astanait.edu.kz::509512b4-c6a8-45ac-877c-11492c646449" providerId="AD" clId="Web-{CDCFA35D-1565-9DE4-49EA-839DB98C9F81}" dt="2026-09-28T16:39:26.975" v="11" actId="1076"/>
      <pc:docMkLst>
        <pc:docMk/>
      </pc:docMkLst>
      <pc:sldChg chg="addSp delSp modSp">
        <pc:chgData name="Aliya Ayazbayeva" userId="S::aliya.ayazbayeva@astanait.edu.kz::509512b4-c6a8-45ac-877c-11492c646449" providerId="AD" clId="Web-{CDCFA35D-1565-9DE4-49EA-839DB98C9F81}" dt="2026-09-28T16:39:26.975" v="11" actId="1076"/>
        <pc:sldMkLst>
          <pc:docMk/>
          <pc:sldMk cId="0" sldId="355"/>
        </pc:sldMkLst>
        <pc:spChg chg="add mod">
          <ac:chgData name="Aliya Ayazbayeva" userId="S::aliya.ayazbayeva@astanait.edu.kz::509512b4-c6a8-45ac-877c-11492c646449" providerId="AD" clId="Web-{CDCFA35D-1565-9DE4-49EA-839DB98C9F81}" dt="2026-09-28T16:39:26.975" v="11" actId="1076"/>
          <ac:spMkLst>
            <pc:docMk/>
            <pc:sldMk cId="0" sldId="355"/>
            <ac:spMk id="4" creationId="{1BA44F4A-0A82-955C-A91D-B4007BDBDD6B}"/>
          </ac:spMkLst>
        </pc:spChg>
        <pc:spChg chg="del mod">
          <ac:chgData name="Aliya Ayazbayeva" userId="S::aliya.ayazbayeva@astanait.edu.kz::509512b4-c6a8-45ac-877c-11492c646449" providerId="AD" clId="Web-{CDCFA35D-1565-9DE4-49EA-839DB98C9F81}" dt="2026-09-28T16:39:15.177" v="9"/>
          <ac:spMkLst>
            <pc:docMk/>
            <pc:sldMk cId="0" sldId="355"/>
            <ac:spMk id="7" creationId="{00000000-0000-0000-0000-000000000000}"/>
          </ac:spMkLst>
        </pc:spChg>
        <pc:spChg chg="mod">
          <ac:chgData name="Aliya Ayazbayeva" userId="S::aliya.ayazbayeva@astanait.edu.kz::509512b4-c6a8-45ac-877c-11492c646449" providerId="AD" clId="Web-{CDCFA35D-1565-9DE4-49EA-839DB98C9F81}" dt="2026-09-28T16:37:47.097" v="1" actId="1076"/>
          <ac:spMkLst>
            <pc:docMk/>
            <pc:sldMk cId="0" sldId="355"/>
            <ac:spMk id="10" creationId="{00000000-0000-0000-0000-000000000000}"/>
          </ac:spMkLst>
        </pc:spChg>
        <pc:spChg chg="mod">
          <ac:chgData name="Aliya Ayazbayeva" userId="S::aliya.ayazbayeva@astanait.edu.kz::509512b4-c6a8-45ac-877c-11492c646449" providerId="AD" clId="Web-{CDCFA35D-1565-9DE4-49EA-839DB98C9F81}" dt="2026-09-28T16:38:01.472" v="2" actId="1076"/>
          <ac:spMkLst>
            <pc:docMk/>
            <pc:sldMk cId="0" sldId="355"/>
            <ac:spMk id="13" creationId="{00000000-0000-0000-0000-000000000000}"/>
          </ac:spMkLst>
        </pc:spChg>
        <pc:spChg chg="mod">
          <ac:chgData name="Aliya Ayazbayeva" userId="S::aliya.ayazbayeva@astanait.edu.kz::509512b4-c6a8-45ac-877c-11492c646449" providerId="AD" clId="Web-{CDCFA35D-1565-9DE4-49EA-839DB98C9F81}" dt="2026-09-28T16:38:37.348" v="7" actId="1076"/>
          <ac:spMkLst>
            <pc:docMk/>
            <pc:sldMk cId="0" sldId="355"/>
            <ac:spMk id="14" creationId="{00000000-0000-0000-0000-000000000000}"/>
          </ac:spMkLst>
        </pc:spChg>
        <pc:spChg chg="mod">
          <ac:chgData name="Aliya Ayazbayeva" userId="S::aliya.ayazbayeva@astanait.edu.kz::509512b4-c6a8-45ac-877c-11492c646449" providerId="AD" clId="Web-{CDCFA35D-1565-9DE4-49EA-839DB98C9F81}" dt="2026-09-28T16:38:06.675" v="3" actId="1076"/>
          <ac:spMkLst>
            <pc:docMk/>
            <pc:sldMk cId="0" sldId="355"/>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4230242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b="1" dirty="0"/>
              <a:t>1. False</a:t>
            </a:r>
            <a:br>
              <a:rPr lang="en-US" dirty="0"/>
            </a:br>
            <a:r>
              <a:rPr lang="en-US" dirty="0"/>
              <a:t>The executive summary should communicate the </a:t>
            </a:r>
            <a:r>
              <a:rPr lang="en-US" b="1" dirty="0"/>
              <a:t>essential message of the entire brief</a:t>
            </a:r>
            <a:r>
              <a:rPr lang="en-US" dirty="0"/>
              <a:t>, not merely summarize the findings. It should normally indicate the main policy direction or key recommendation(s). Busy decision-makers may read only this section.</a:t>
            </a:r>
          </a:p>
          <a:p>
            <a:pPr marL="158750" indent="0">
              <a:buNone/>
            </a:pPr>
            <a:r>
              <a:rPr lang="en-US" b="1" dirty="0"/>
              <a:t>2. True</a:t>
            </a:r>
            <a:br>
              <a:rPr lang="en-US" dirty="0"/>
            </a:br>
            <a:r>
              <a:rPr lang="en-US" dirty="0"/>
              <a:t>Evidence alone does not automatically create a policy case. The writer needs to establish </a:t>
            </a:r>
            <a:r>
              <a:rPr lang="en-US" b="1" dirty="0"/>
              <a:t>why the problem matters, who is affected, and why policy attention or action is required</a:t>
            </a:r>
            <a:r>
              <a:rPr lang="en-US" dirty="0"/>
              <a:t>. Ask students: </a:t>
            </a:r>
            <a:r>
              <a:rPr lang="en-US" i="1" dirty="0"/>
              <a:t>What is the difference between showing that a problem exists and showing that it is policy-relevant?</a:t>
            </a:r>
            <a:endParaRPr lang="en-US" dirty="0"/>
          </a:p>
          <a:p>
            <a:pPr marL="158750" indent="0">
              <a:buNone/>
            </a:pPr>
            <a:r>
              <a:rPr lang="en-US" b="1" dirty="0"/>
              <a:t>3. False</a:t>
            </a:r>
            <a:br>
              <a:rPr lang="en-US" dirty="0"/>
            </a:br>
            <a:r>
              <a:rPr lang="en-US" dirty="0"/>
              <a:t>A policy brief needs enough methodological information to make the evidence </a:t>
            </a:r>
            <a:r>
              <a:rPr lang="en-US" b="1" dirty="0"/>
              <a:t>credible and transparent</a:t>
            </a:r>
            <a:r>
              <a:rPr lang="en-US" dirty="0"/>
              <a:t>, but it does not reproduce the methodological detail expected in a research article. The writer selects information according to the needs of a non-specialist, decision-oriented audience.</a:t>
            </a:r>
          </a:p>
          <a:p>
            <a:pPr marL="158750" indent="0">
              <a:buNone/>
            </a:pPr>
            <a:r>
              <a:rPr lang="en-US" b="1" dirty="0"/>
              <a:t>4. True</a:t>
            </a:r>
            <a:br>
              <a:rPr lang="en-US" dirty="0"/>
            </a:br>
            <a:r>
              <a:rPr lang="en-US" dirty="0"/>
              <a:t>This is a central principle of policy writing. A finding becomes useful for policy when the writer interprets its significance: </a:t>
            </a:r>
            <a:r>
              <a:rPr lang="en-US" b="1" dirty="0"/>
              <a:t>What does this evidence mean? Why does it matter? What are the implications for action?</a:t>
            </a:r>
            <a:r>
              <a:rPr lang="en-US" dirty="0"/>
              <a:t> You can reinforce the sequence:</a:t>
            </a:r>
            <a:br>
              <a:rPr lang="en-US" dirty="0"/>
            </a:br>
            <a:r>
              <a:rPr lang="en-US" b="1" dirty="0"/>
              <a:t>Finding → Interpretation → Policy implication → Action</a:t>
            </a:r>
            <a:endParaRPr lang="en-US" dirty="0"/>
          </a:p>
          <a:p>
            <a:pPr marL="158750" indent="0">
              <a:buNone/>
            </a:pPr>
            <a:r>
              <a:rPr lang="en-US" b="1" dirty="0"/>
              <a:t>5. False</a:t>
            </a:r>
            <a:br>
              <a:rPr lang="en-US" dirty="0"/>
            </a:br>
            <a:r>
              <a:rPr lang="en-US" dirty="0"/>
              <a:t>Persuasiveness should not come at the expense of accuracy. Strong policy writing acknowledges relevant </a:t>
            </a:r>
            <a:r>
              <a:rPr lang="en-US" b="1" dirty="0"/>
              <a:t>limitations, uncertainty and qualifications</a:t>
            </a:r>
            <a:r>
              <a:rPr lang="en-US" dirty="0"/>
              <a:t> while still making a clear evidence-based case. This is a useful point to revisit later when students </a:t>
            </a:r>
            <a:r>
              <a:rPr lang="en-US" dirty="0" err="1"/>
              <a:t>analyse</a:t>
            </a:r>
            <a:r>
              <a:rPr lang="en-US" dirty="0"/>
              <a:t> hedging in the OECD brief.</a:t>
            </a:r>
          </a:p>
          <a:p>
            <a:pPr marL="158750" indent="0">
              <a:buNone/>
            </a:pPr>
            <a:r>
              <a:rPr lang="en-US" b="1" dirty="0"/>
              <a:t>6. False</a:t>
            </a:r>
            <a:br>
              <a:rPr lang="en-US" dirty="0"/>
            </a:br>
            <a:r>
              <a:rPr lang="en-US" dirty="0"/>
              <a:t>There is </a:t>
            </a:r>
            <a:r>
              <a:rPr lang="en-US" b="1" dirty="0"/>
              <a:t>no single mandatory structure or percentage distribution</a:t>
            </a:r>
            <a:r>
              <a:rPr lang="en-US" dirty="0"/>
              <a:t> for all policy briefs. The proportions presented earlier are useful planning guidelines. Actual structure and emphasis depend on the </a:t>
            </a:r>
            <a:r>
              <a:rPr lang="en-US" b="1" dirty="0"/>
              <a:t>purpose, audience, issue, evidence and institutional conventions</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13178498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ru-RU" sz="1100" b="0" i="0" u="none" strike="noStrike" cap="none" spc="0" dirty="0">
                <a:solidFill>
                  <a:srgbClr val="000000"/>
                </a:solidFill>
                <a:effectLst/>
                <a:latin typeface="Arial"/>
                <a:ea typeface="Arial"/>
                <a:cs typeface="Arial"/>
                <a:sym typeface="Arial"/>
              </a:rPr>
              <a:t>The </a:t>
            </a:r>
            <a:r>
              <a:rPr lang="ru-RU" sz="1100" b="0" i="0" u="none" strike="noStrike" cap="none" spc="0" dirty="0" err="1">
                <a:solidFill>
                  <a:srgbClr val="000000"/>
                </a:solidFill>
                <a:effectLst/>
                <a:latin typeface="Arial"/>
                <a:ea typeface="Arial"/>
                <a:cs typeface="Arial"/>
                <a:sym typeface="Arial"/>
              </a:rPr>
              <a:t>acronym</a:t>
            </a:r>
            <a:r>
              <a:rPr lang="ru-RU" sz="1100" b="0" i="0" u="none" strike="noStrike" cap="none" spc="0" dirty="0">
                <a:solidFill>
                  <a:srgbClr val="000000"/>
                </a:solidFill>
                <a:effectLst/>
                <a:latin typeface="Arial"/>
                <a:ea typeface="Arial"/>
                <a:cs typeface="Arial"/>
                <a:sym typeface="Arial"/>
              </a:rPr>
              <a:t> </a:t>
            </a:r>
            <a:r>
              <a:rPr lang="ru-RU" sz="1100" b="1" i="0" u="none" strike="noStrike" cap="none" spc="0" dirty="0">
                <a:solidFill>
                  <a:srgbClr val="000000"/>
                </a:solidFill>
                <a:effectLst/>
                <a:latin typeface="Arial"/>
                <a:ea typeface="Arial"/>
                <a:cs typeface="Arial"/>
                <a:sym typeface="Arial"/>
              </a:rPr>
              <a:t>OECD</a:t>
            </a:r>
            <a:r>
              <a:rPr lang="ru-RU" sz="1100" b="0" i="0" u="none" strike="noStrike" cap="none" spc="0" dirty="0">
                <a:solidFill>
                  <a:srgbClr val="000000"/>
                </a:solidFill>
                <a:effectLst/>
                <a:latin typeface="Arial"/>
                <a:ea typeface="Arial"/>
                <a:cs typeface="Arial"/>
                <a:sym typeface="Arial"/>
              </a:rPr>
              <a:t> </a:t>
            </a:r>
            <a:r>
              <a:rPr lang="ru-RU" sz="1100" b="0" i="0" u="none" strike="noStrike" cap="none" spc="0" dirty="0" err="1">
                <a:solidFill>
                  <a:srgbClr val="000000"/>
                </a:solidFill>
                <a:effectLst/>
                <a:latin typeface="Arial"/>
                <a:ea typeface="Arial"/>
                <a:cs typeface="Arial"/>
                <a:sym typeface="Arial"/>
              </a:rPr>
              <a:t>stands</a:t>
            </a:r>
            <a:r>
              <a:rPr lang="ru-RU" sz="1100" b="0" i="0" u="none" strike="noStrike" cap="none" spc="0" dirty="0">
                <a:solidFill>
                  <a:srgbClr val="000000"/>
                </a:solidFill>
                <a:effectLst/>
                <a:latin typeface="Arial"/>
                <a:ea typeface="Arial"/>
                <a:cs typeface="Arial"/>
                <a:sym typeface="Arial"/>
              </a:rPr>
              <a:t> </a:t>
            </a:r>
            <a:r>
              <a:rPr lang="ru-RU" sz="1100" b="0" i="0" u="none" strike="noStrike" cap="none" spc="0" dirty="0" err="1">
                <a:solidFill>
                  <a:srgbClr val="000000"/>
                </a:solidFill>
                <a:effectLst/>
                <a:latin typeface="Arial"/>
                <a:ea typeface="Arial"/>
                <a:cs typeface="Arial"/>
                <a:sym typeface="Arial"/>
              </a:rPr>
              <a:t>for</a:t>
            </a:r>
            <a:r>
              <a:rPr lang="ru-RU" sz="1100" b="0" i="0" u="none" strike="noStrike" cap="none" spc="0" dirty="0">
                <a:solidFill>
                  <a:srgbClr val="000000"/>
                </a:solidFill>
                <a:effectLst/>
                <a:latin typeface="Arial"/>
                <a:ea typeface="Arial"/>
                <a:cs typeface="Arial"/>
                <a:sym typeface="Arial"/>
              </a:rPr>
              <a:t> </a:t>
            </a:r>
            <a:r>
              <a:rPr lang="ru-RU" sz="1100" b="0" i="0" u="none" strike="noStrike" cap="none" spc="0" dirty="0" err="1">
                <a:solidFill>
                  <a:srgbClr val="000000"/>
                </a:solidFill>
                <a:effectLst/>
                <a:latin typeface="Arial"/>
                <a:ea typeface="Arial"/>
                <a:cs typeface="Arial"/>
                <a:sym typeface="Arial"/>
              </a:rPr>
              <a:t>the</a:t>
            </a:r>
            <a:r>
              <a:rPr lang="ru-RU" sz="1100" b="0" i="0" u="none" strike="noStrike" cap="none" spc="0" dirty="0">
                <a:solidFill>
                  <a:srgbClr val="000000"/>
                </a:solidFill>
                <a:effectLst/>
                <a:latin typeface="Arial"/>
                <a:ea typeface="Arial"/>
                <a:cs typeface="Arial"/>
                <a:sym typeface="Arial"/>
              </a:rPr>
              <a:t> </a:t>
            </a:r>
            <a:r>
              <a:rPr lang="ru-RU" sz="1100" b="1" i="0" u="none" strike="noStrike" cap="none" spc="0" dirty="0" err="1">
                <a:solidFill>
                  <a:srgbClr val="000000"/>
                </a:solidFill>
                <a:effectLst/>
                <a:latin typeface="Arial"/>
                <a:ea typeface="Arial"/>
                <a:cs typeface="Arial"/>
                <a:sym typeface="Arial"/>
              </a:rPr>
              <a:t>Organisation</a:t>
            </a:r>
            <a:r>
              <a:rPr lang="ru-RU" sz="1100" b="1" i="0" u="none" strike="noStrike" cap="none" spc="0" dirty="0">
                <a:solidFill>
                  <a:srgbClr val="000000"/>
                </a:solidFill>
                <a:effectLst/>
                <a:latin typeface="Arial"/>
                <a:ea typeface="Arial"/>
                <a:cs typeface="Arial"/>
                <a:sym typeface="Arial"/>
              </a:rPr>
              <a:t> </a:t>
            </a:r>
            <a:r>
              <a:rPr lang="ru-RU" sz="1100" b="1" i="0" u="none" strike="noStrike" cap="none" spc="0" dirty="0" err="1">
                <a:solidFill>
                  <a:srgbClr val="000000"/>
                </a:solidFill>
                <a:effectLst/>
                <a:latin typeface="Arial"/>
                <a:ea typeface="Arial"/>
                <a:cs typeface="Arial"/>
                <a:sym typeface="Arial"/>
              </a:rPr>
              <a:t>for</a:t>
            </a:r>
            <a:r>
              <a:rPr lang="ru-RU" sz="1100" b="1" i="0" u="none" strike="noStrike" cap="none" spc="0" dirty="0">
                <a:solidFill>
                  <a:srgbClr val="000000"/>
                </a:solidFill>
                <a:effectLst/>
                <a:latin typeface="Arial"/>
                <a:ea typeface="Arial"/>
                <a:cs typeface="Arial"/>
                <a:sym typeface="Arial"/>
              </a:rPr>
              <a:t> Economic Co-</a:t>
            </a:r>
            <a:r>
              <a:rPr lang="ru-RU" sz="1100" b="1" i="0" u="none" strike="noStrike" cap="none" spc="0" dirty="0" err="1">
                <a:solidFill>
                  <a:srgbClr val="000000"/>
                </a:solidFill>
                <a:effectLst/>
                <a:latin typeface="Arial"/>
                <a:ea typeface="Arial"/>
                <a:cs typeface="Arial"/>
                <a:sym typeface="Arial"/>
              </a:rPr>
              <a:t>operation</a:t>
            </a:r>
            <a:r>
              <a:rPr lang="ru-RU" sz="1100" b="1" i="0" u="none" strike="noStrike" cap="none" spc="0" dirty="0">
                <a:solidFill>
                  <a:srgbClr val="000000"/>
                </a:solidFill>
                <a:effectLst/>
                <a:latin typeface="Arial"/>
                <a:ea typeface="Arial"/>
                <a:cs typeface="Arial"/>
                <a:sym typeface="Arial"/>
              </a:rPr>
              <a:t> </a:t>
            </a:r>
            <a:r>
              <a:rPr lang="ru-RU" sz="1100" b="1" i="0" u="none" strike="noStrike" cap="none" spc="0" dirty="0" err="1">
                <a:solidFill>
                  <a:srgbClr val="000000"/>
                </a:solidFill>
                <a:effectLst/>
                <a:latin typeface="Arial"/>
                <a:ea typeface="Arial"/>
                <a:cs typeface="Arial"/>
                <a:sym typeface="Arial"/>
              </a:rPr>
              <a:t>and</a:t>
            </a:r>
            <a:r>
              <a:rPr lang="ru-RU" sz="1100" b="1" i="0" u="none" strike="noStrike" cap="none" spc="0" dirty="0">
                <a:solidFill>
                  <a:srgbClr val="000000"/>
                </a:solidFill>
                <a:effectLst/>
                <a:latin typeface="Arial"/>
                <a:ea typeface="Arial"/>
                <a:cs typeface="Arial"/>
                <a:sym typeface="Arial"/>
              </a:rPr>
              <a:t> Development</a:t>
            </a:r>
            <a:r>
              <a:rPr lang="ru-RU" sz="1100" b="0" i="0" u="none" strike="noStrike" cap="none" spc="0" dirty="0">
                <a:solidFill>
                  <a:srgbClr val="000000"/>
                </a:solidFill>
                <a:effectLst/>
                <a:latin typeface="Arial"/>
                <a:ea typeface="Arial"/>
                <a:cs typeface="Arial"/>
                <a:sym typeface="Arial"/>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1336c2bb6c6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5" name="Google Shape;1035;g1336c2bb6c6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539500"/>
            <a:ext cx="4807500" cy="2004000"/>
          </a:xfrm>
          <a:prstGeom prst="rect">
            <a:avLst/>
          </a:prstGeom>
        </p:spPr>
        <p:txBody>
          <a:bodyPr spcFirstLastPara="1" wrap="square" lIns="91425" tIns="91425" rIns="91425" bIns="91425" anchor="ctr" anchorCtr="0">
            <a:noAutofit/>
          </a:bodyPr>
          <a:lstStyle>
            <a:lvl1pPr lvl="0" rtl="0">
              <a:spcBef>
                <a:spcPts val="0"/>
              </a:spcBef>
              <a:spcAft>
                <a:spcPts val="0"/>
              </a:spcAft>
              <a:buSzPts val="5000"/>
              <a:buNone/>
              <a:defRPr sz="3800"/>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endParaRPr/>
          </a:p>
        </p:txBody>
      </p:sp>
      <p:sp>
        <p:nvSpPr>
          <p:cNvPr id="10" name="Google Shape;10;p2"/>
          <p:cNvSpPr txBox="1">
            <a:spLocks noGrp="1"/>
          </p:cNvSpPr>
          <p:nvPr>
            <p:ph type="subTitle" idx="1"/>
          </p:nvPr>
        </p:nvSpPr>
        <p:spPr>
          <a:xfrm>
            <a:off x="713225" y="2733950"/>
            <a:ext cx="2237400" cy="633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1600">
                <a:latin typeface="Manrope"/>
                <a:ea typeface="Manrope"/>
                <a:cs typeface="Manrope"/>
                <a:sym typeface="Manrope"/>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
        <p:nvSpPr>
          <p:cNvPr id="11" name="Google Shape;11;p2"/>
          <p:cNvSpPr>
            <a:spLocks noGrp="1"/>
          </p:cNvSpPr>
          <p:nvPr>
            <p:ph type="pic" idx="2"/>
          </p:nvPr>
        </p:nvSpPr>
        <p:spPr>
          <a:xfrm>
            <a:off x="5654925" y="1312525"/>
            <a:ext cx="2852100" cy="2852100"/>
          </a:xfrm>
          <a:prstGeom prst="ellipse">
            <a:avLst/>
          </a:prstGeom>
          <a:noFill/>
          <a:ln w="76200" cap="flat" cmpd="sng">
            <a:solidFill>
              <a:schemeClr val="lt1"/>
            </a:solidFill>
            <a:prstDash val="solid"/>
            <a:round/>
            <a:headEnd type="none" w="sm" len="sm"/>
            <a:tailEnd type="none" w="sm" len="sm"/>
          </a:ln>
        </p:spPr>
        <p:txBody>
          <a:bodyPr/>
          <a:lstStyle/>
          <a:p>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08"/>
        <p:cNvGrpSpPr/>
        <p:nvPr/>
      </p:nvGrpSpPr>
      <p:grpSpPr>
        <a:xfrm>
          <a:off x="0" y="0"/>
          <a:ext cx="0" cy="0"/>
          <a:chOff x="0" y="0"/>
          <a:chExt cx="0" cy="0"/>
        </a:xfrm>
      </p:grpSpPr>
      <p:grpSp>
        <p:nvGrpSpPr>
          <p:cNvPr id="409" name="Google Shape;409;p25"/>
          <p:cNvGrpSpPr/>
          <p:nvPr/>
        </p:nvGrpSpPr>
        <p:grpSpPr>
          <a:xfrm>
            <a:off x="7267300" y="-374475"/>
            <a:ext cx="2456449" cy="5138686"/>
            <a:chOff x="7267300" y="-374475"/>
            <a:chExt cx="2456449" cy="5138686"/>
          </a:xfrm>
        </p:grpSpPr>
        <p:grpSp>
          <p:nvGrpSpPr>
            <p:cNvPr id="410" name="Google Shape;410;p25"/>
            <p:cNvGrpSpPr/>
            <p:nvPr/>
          </p:nvGrpSpPr>
          <p:grpSpPr>
            <a:xfrm>
              <a:off x="7432804" y="4506461"/>
              <a:ext cx="1309796" cy="257750"/>
              <a:chOff x="-6337521" y="4362225"/>
              <a:chExt cx="1309796" cy="257750"/>
            </a:xfrm>
          </p:grpSpPr>
          <p:sp>
            <p:nvSpPr>
              <p:cNvPr id="411" name="Google Shape;411;p25"/>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5"/>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5"/>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5"/>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5"/>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5"/>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5"/>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5"/>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5"/>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5"/>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25"/>
            <p:cNvGrpSpPr/>
            <p:nvPr/>
          </p:nvGrpSpPr>
          <p:grpSpPr>
            <a:xfrm>
              <a:off x="7267300" y="-374475"/>
              <a:ext cx="2456449" cy="1917411"/>
              <a:chOff x="7267300" y="-366311"/>
              <a:chExt cx="2456449" cy="1917411"/>
            </a:xfrm>
          </p:grpSpPr>
          <p:sp>
            <p:nvSpPr>
              <p:cNvPr id="422" name="Google Shape;422;p25"/>
              <p:cNvSpPr/>
              <p:nvPr/>
            </p:nvSpPr>
            <p:spPr>
              <a:xfrm rot="-5400000" flipH="1">
                <a:off x="7653475" y="-500"/>
                <a:ext cx="1554600" cy="15486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5"/>
              <p:cNvSpPr/>
              <p:nvPr/>
            </p:nvSpPr>
            <p:spPr>
              <a:xfrm rot="2699366" flipH="1">
                <a:off x="8648903" y="642478"/>
                <a:ext cx="1150392" cy="262619"/>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5"/>
              <p:cNvSpPr/>
              <p:nvPr/>
            </p:nvSpPr>
            <p:spPr>
              <a:xfrm>
                <a:off x="7719598" y="153426"/>
                <a:ext cx="1309800" cy="1309800"/>
              </a:xfrm>
              <a:prstGeom prst="ellipse">
                <a:avLst/>
              </a:prstGeom>
              <a:noFill/>
              <a:ln w="9525"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5"/>
              <p:cNvSpPr/>
              <p:nvPr/>
            </p:nvSpPr>
            <p:spPr>
              <a:xfrm rot="2699336" flipH="1">
                <a:off x="7177884" y="-7536"/>
                <a:ext cx="1098632" cy="20195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26"/>
        <p:cNvGrpSpPr/>
        <p:nvPr/>
      </p:nvGrpSpPr>
      <p:grpSpPr>
        <a:xfrm>
          <a:off x="0" y="0"/>
          <a:ext cx="0" cy="0"/>
          <a:chOff x="0" y="0"/>
          <a:chExt cx="0" cy="0"/>
        </a:xfrm>
      </p:grpSpPr>
      <p:grpSp>
        <p:nvGrpSpPr>
          <p:cNvPr id="427" name="Google Shape;427;p26"/>
          <p:cNvGrpSpPr/>
          <p:nvPr/>
        </p:nvGrpSpPr>
        <p:grpSpPr>
          <a:xfrm>
            <a:off x="7267300" y="387525"/>
            <a:ext cx="2456449" cy="5138686"/>
            <a:chOff x="7267300" y="387525"/>
            <a:chExt cx="2456449" cy="5138686"/>
          </a:xfrm>
        </p:grpSpPr>
        <p:grpSp>
          <p:nvGrpSpPr>
            <p:cNvPr id="428" name="Google Shape;428;p26"/>
            <p:cNvGrpSpPr/>
            <p:nvPr/>
          </p:nvGrpSpPr>
          <p:grpSpPr>
            <a:xfrm rot="10800000" flipH="1">
              <a:off x="7432804" y="387525"/>
              <a:ext cx="1309796" cy="257750"/>
              <a:chOff x="-6337521" y="4362225"/>
              <a:chExt cx="1309796" cy="257750"/>
            </a:xfrm>
          </p:grpSpPr>
          <p:sp>
            <p:nvSpPr>
              <p:cNvPr id="429" name="Google Shape;429;p26"/>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6"/>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6"/>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6"/>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6"/>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6"/>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6"/>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6"/>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6"/>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6"/>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26"/>
            <p:cNvGrpSpPr/>
            <p:nvPr/>
          </p:nvGrpSpPr>
          <p:grpSpPr>
            <a:xfrm rot="10800000" flipH="1">
              <a:off x="7267300" y="3608800"/>
              <a:ext cx="2456449" cy="1917411"/>
              <a:chOff x="7267300" y="-366311"/>
              <a:chExt cx="2456449" cy="1917411"/>
            </a:xfrm>
          </p:grpSpPr>
          <p:sp>
            <p:nvSpPr>
              <p:cNvPr id="440" name="Google Shape;440;p26"/>
              <p:cNvSpPr/>
              <p:nvPr/>
            </p:nvSpPr>
            <p:spPr>
              <a:xfrm rot="-5400000" flipH="1">
                <a:off x="7653475" y="-500"/>
                <a:ext cx="1554600" cy="15486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6"/>
              <p:cNvSpPr/>
              <p:nvPr/>
            </p:nvSpPr>
            <p:spPr>
              <a:xfrm rot="2699366" flipH="1">
                <a:off x="8648903" y="642478"/>
                <a:ext cx="1150392" cy="262619"/>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6"/>
              <p:cNvSpPr/>
              <p:nvPr/>
            </p:nvSpPr>
            <p:spPr>
              <a:xfrm>
                <a:off x="7719598" y="153426"/>
                <a:ext cx="1309800" cy="1309800"/>
              </a:xfrm>
              <a:prstGeom prst="ellipse">
                <a:avLst/>
              </a:prstGeom>
              <a:noFill/>
              <a:ln w="9525"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6"/>
              <p:cNvSpPr/>
              <p:nvPr/>
            </p:nvSpPr>
            <p:spPr>
              <a:xfrm rot="2699336" flipH="1">
                <a:off x="7177884" y="-7536"/>
                <a:ext cx="1098632" cy="20195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50B3DB-0169-4789-932C-53369C893E8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7202E0A4-432C-4324-BD9D-918504F1E01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A984FF9-912C-48B0-B302-1448F6BBC0F5}"/>
              </a:ext>
            </a:extLst>
          </p:cNvPr>
          <p:cNvSpPr>
            <a:spLocks noGrp="1"/>
          </p:cNvSpPr>
          <p:nvPr>
            <p:ph type="dt" sz="half" idx="10"/>
          </p:nvPr>
        </p:nvSpPr>
        <p:spPr/>
        <p:txBody>
          <a:bodyPr/>
          <a:lstStyle/>
          <a:p>
            <a:fld id="{DDFABF4F-C4EC-4D2D-9D34-D38DE1DE1CFD}" type="datetimeFigureOut">
              <a:rPr lang="ru-RU" smtClean="0"/>
              <a:t>07.10.2026</a:t>
            </a:fld>
            <a:endParaRPr lang="ru-RU"/>
          </a:p>
        </p:txBody>
      </p:sp>
      <p:sp>
        <p:nvSpPr>
          <p:cNvPr id="5" name="Нижний колонтитул 4">
            <a:extLst>
              <a:ext uri="{FF2B5EF4-FFF2-40B4-BE49-F238E27FC236}">
                <a16:creationId xmlns:a16="http://schemas.microsoft.com/office/drawing/2014/main" id="{A0213075-456C-4BA9-8EDF-B28A5E3C6DF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5CAB0A7-1CC8-45EA-944B-C6BAED6B4425}"/>
              </a:ext>
            </a:extLst>
          </p:cNvPr>
          <p:cNvSpPr>
            <a:spLocks noGrp="1"/>
          </p:cNvSpPr>
          <p:nvPr>
            <p:ph type="sldNum" sz="quarter" idx="12"/>
          </p:nvPr>
        </p:nvSpPr>
        <p:spPr/>
        <p:txBody>
          <a:bodyPr/>
          <a:lstStyle/>
          <a:p>
            <a:fld id="{0204B53A-A2EF-49F1-BBC3-56318C8CAFFC}" type="slidenum">
              <a:rPr lang="ru-RU" smtClean="0"/>
              <a:t>‹#›</a:t>
            </a:fld>
            <a:endParaRPr lang="ru-RU"/>
          </a:p>
        </p:txBody>
      </p:sp>
    </p:spTree>
    <p:extLst>
      <p:ext uri="{BB962C8B-B14F-4D97-AF65-F5344CB8AC3E}">
        <p14:creationId xmlns:p14="http://schemas.microsoft.com/office/powerpoint/2010/main" val="203736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392"/>
        <p:cNvGrpSpPr/>
        <p:nvPr/>
      </p:nvGrpSpPr>
      <p:grpSpPr>
        <a:xfrm>
          <a:off x="0" y="0"/>
          <a:ext cx="0" cy="0"/>
          <a:chOff x="0" y="0"/>
          <a:chExt cx="0" cy="0"/>
        </a:xfrm>
      </p:grpSpPr>
      <p:sp>
        <p:nvSpPr>
          <p:cNvPr id="393" name="Google Shape;393;p24"/>
          <p:cNvSpPr txBox="1">
            <a:spLocks noGrp="1"/>
          </p:cNvSpPr>
          <p:nvPr>
            <p:ph type="title"/>
          </p:nvPr>
        </p:nvSpPr>
        <p:spPr>
          <a:xfrm>
            <a:off x="713225" y="539500"/>
            <a:ext cx="4632600" cy="1058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3200"/>
              <a:buNone/>
              <a:defRPr sz="5400"/>
            </a:lvl1pPr>
            <a:lvl2pPr lvl="1" rtl="0">
              <a:lnSpc>
                <a:spcPct val="115000"/>
              </a:lnSpc>
              <a:spcBef>
                <a:spcPts val="0"/>
              </a:spcBef>
              <a:spcAft>
                <a:spcPts val="0"/>
              </a:spcAft>
              <a:buSzPts val="3200"/>
              <a:buNone/>
              <a:defRPr/>
            </a:lvl2pPr>
            <a:lvl3pPr lvl="2" rtl="0">
              <a:lnSpc>
                <a:spcPct val="115000"/>
              </a:lnSpc>
              <a:spcBef>
                <a:spcPts val="0"/>
              </a:spcBef>
              <a:spcAft>
                <a:spcPts val="0"/>
              </a:spcAft>
              <a:buSzPts val="3200"/>
              <a:buNone/>
              <a:defRPr/>
            </a:lvl3pPr>
            <a:lvl4pPr lvl="3" rtl="0">
              <a:lnSpc>
                <a:spcPct val="115000"/>
              </a:lnSpc>
              <a:spcBef>
                <a:spcPts val="0"/>
              </a:spcBef>
              <a:spcAft>
                <a:spcPts val="0"/>
              </a:spcAft>
              <a:buSzPts val="3200"/>
              <a:buNone/>
              <a:defRPr/>
            </a:lvl4pPr>
            <a:lvl5pPr lvl="4" rtl="0">
              <a:lnSpc>
                <a:spcPct val="115000"/>
              </a:lnSpc>
              <a:spcBef>
                <a:spcPts val="0"/>
              </a:spcBef>
              <a:spcAft>
                <a:spcPts val="0"/>
              </a:spcAft>
              <a:buSzPts val="3200"/>
              <a:buNone/>
              <a:defRPr/>
            </a:lvl5pPr>
            <a:lvl6pPr lvl="5" rtl="0">
              <a:lnSpc>
                <a:spcPct val="115000"/>
              </a:lnSpc>
              <a:spcBef>
                <a:spcPts val="0"/>
              </a:spcBef>
              <a:spcAft>
                <a:spcPts val="0"/>
              </a:spcAft>
              <a:buSzPts val="3200"/>
              <a:buNone/>
              <a:defRPr/>
            </a:lvl6pPr>
            <a:lvl7pPr lvl="6" rtl="0">
              <a:lnSpc>
                <a:spcPct val="115000"/>
              </a:lnSpc>
              <a:spcBef>
                <a:spcPts val="0"/>
              </a:spcBef>
              <a:spcAft>
                <a:spcPts val="0"/>
              </a:spcAft>
              <a:buSzPts val="3200"/>
              <a:buNone/>
              <a:defRPr/>
            </a:lvl7pPr>
            <a:lvl8pPr lvl="7" rtl="0">
              <a:lnSpc>
                <a:spcPct val="115000"/>
              </a:lnSpc>
              <a:spcBef>
                <a:spcPts val="0"/>
              </a:spcBef>
              <a:spcAft>
                <a:spcPts val="0"/>
              </a:spcAft>
              <a:buSzPts val="3200"/>
              <a:buNone/>
              <a:defRPr/>
            </a:lvl8pPr>
            <a:lvl9pPr lvl="8" rtl="0">
              <a:lnSpc>
                <a:spcPct val="115000"/>
              </a:lnSpc>
              <a:spcBef>
                <a:spcPts val="0"/>
              </a:spcBef>
              <a:spcAft>
                <a:spcPts val="0"/>
              </a:spcAft>
              <a:buSzPts val="3200"/>
              <a:buNone/>
              <a:defRPr/>
            </a:lvl9pPr>
          </a:lstStyle>
          <a:p>
            <a:endParaRPr/>
          </a:p>
        </p:txBody>
      </p:sp>
      <p:sp>
        <p:nvSpPr>
          <p:cNvPr id="394" name="Google Shape;394;p24"/>
          <p:cNvSpPr txBox="1">
            <a:spLocks noGrp="1"/>
          </p:cNvSpPr>
          <p:nvPr>
            <p:ph type="subTitle" idx="1"/>
          </p:nvPr>
        </p:nvSpPr>
        <p:spPr>
          <a:xfrm>
            <a:off x="713225" y="1797375"/>
            <a:ext cx="4632600" cy="10587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1400"/>
              <a:buNone/>
              <a:defRPr sz="16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95" name="Google Shape;395;p24"/>
          <p:cNvSpPr>
            <a:spLocks noGrp="1"/>
          </p:cNvSpPr>
          <p:nvPr>
            <p:ph type="pic" idx="2"/>
          </p:nvPr>
        </p:nvSpPr>
        <p:spPr>
          <a:xfrm>
            <a:off x="5397500" y="1055100"/>
            <a:ext cx="3033300" cy="3033300"/>
          </a:xfrm>
          <a:prstGeom prst="ellipse">
            <a:avLst/>
          </a:prstGeom>
          <a:noFill/>
          <a:ln w="38100" cap="flat" cmpd="sng">
            <a:solidFill>
              <a:schemeClr val="lt1"/>
            </a:solidFill>
            <a:prstDash val="solid"/>
            <a:round/>
            <a:headEnd type="none" w="sm" len="sm"/>
            <a:tailEnd type="none" w="sm" len="sm"/>
          </a:ln>
        </p:spPr>
        <p:txBody>
          <a:bodyPr/>
          <a:lstStyle/>
          <a:p>
            <a:endParaRPr lang="ru-RU"/>
          </a:p>
        </p:txBody>
      </p:sp>
      <p:grpSp>
        <p:nvGrpSpPr>
          <p:cNvPr id="396" name="Google Shape;396;p24"/>
          <p:cNvGrpSpPr/>
          <p:nvPr/>
        </p:nvGrpSpPr>
        <p:grpSpPr>
          <a:xfrm>
            <a:off x="5143404" y="399825"/>
            <a:ext cx="1309796" cy="257750"/>
            <a:chOff x="-6337521" y="4362225"/>
            <a:chExt cx="1309796" cy="257750"/>
          </a:xfrm>
        </p:grpSpPr>
        <p:sp>
          <p:nvSpPr>
            <p:cNvPr id="397" name="Google Shape;397;p24"/>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4"/>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4"/>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4"/>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4"/>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4"/>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4"/>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4"/>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4"/>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4"/>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7" name="Google Shape;407;p24"/>
          <p:cNvSpPr txBox="1"/>
          <p:nvPr/>
        </p:nvSpPr>
        <p:spPr>
          <a:xfrm>
            <a:off x="713225" y="3644075"/>
            <a:ext cx="3605100" cy="691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en" sz="1000" b="1">
                <a:solidFill>
                  <a:schemeClr val="dk1"/>
                </a:solidFill>
                <a:latin typeface="Manrope"/>
                <a:ea typeface="Manrope"/>
                <a:cs typeface="Manrope"/>
                <a:sym typeface="Manrope"/>
              </a:rPr>
              <a:t>CREDITS:</a:t>
            </a:r>
            <a:r>
              <a:rPr lang="en" sz="1000">
                <a:solidFill>
                  <a:schemeClr val="dk1"/>
                </a:solidFill>
                <a:latin typeface="Manrope"/>
                <a:ea typeface="Manrope"/>
                <a:cs typeface="Manrope"/>
                <a:sym typeface="Manrope"/>
              </a:rPr>
              <a:t> This presentation template was created by </a:t>
            </a:r>
            <a:r>
              <a:rPr lang="en" sz="1000" b="1" u="sng">
                <a:solidFill>
                  <a:schemeClr val="hlink"/>
                </a:solidFill>
                <a:latin typeface="Manrope"/>
                <a:ea typeface="Manrope"/>
                <a:cs typeface="Manrope"/>
                <a:sym typeface="Manrope"/>
                <a:hlinkClick r:id="rId2"/>
              </a:rPr>
              <a:t>Slidesgo</a:t>
            </a:r>
            <a:r>
              <a:rPr lang="en" sz="1000">
                <a:solidFill>
                  <a:schemeClr val="dk1"/>
                </a:solidFill>
                <a:latin typeface="Manrope"/>
                <a:ea typeface="Manrope"/>
                <a:cs typeface="Manrope"/>
                <a:sym typeface="Manrope"/>
              </a:rPr>
              <a:t>, and includes icons by </a:t>
            </a:r>
            <a:r>
              <a:rPr lang="en" sz="1000" b="1" u="sng">
                <a:solidFill>
                  <a:schemeClr val="dk1"/>
                </a:solidFill>
                <a:latin typeface="Manrope"/>
                <a:ea typeface="Manrope"/>
                <a:cs typeface="Manrope"/>
                <a:sym typeface="Manrope"/>
                <a:hlinkClick r:id="rId3">
                  <a:extLst>
                    <a:ext uri="{A12FA001-AC4F-418D-AE19-62706E023703}">
                      <ahyp:hlinkClr xmlns:ahyp="http://schemas.microsoft.com/office/drawing/2018/hyperlinkcolor" val="tx"/>
                    </a:ext>
                  </a:extLst>
                </a:hlinkClick>
              </a:rPr>
              <a:t>Flaticon</a:t>
            </a:r>
            <a:r>
              <a:rPr lang="en" sz="1000">
                <a:solidFill>
                  <a:schemeClr val="dk1"/>
                </a:solidFill>
                <a:latin typeface="Manrope"/>
                <a:ea typeface="Manrope"/>
                <a:cs typeface="Manrope"/>
                <a:sym typeface="Manrope"/>
              </a:rPr>
              <a:t>, and infographics &amp; images by </a:t>
            </a:r>
            <a:r>
              <a:rPr lang="en" sz="1000" b="1" u="sng">
                <a:solidFill>
                  <a:schemeClr val="dk1"/>
                </a:solidFill>
                <a:latin typeface="Manrope"/>
                <a:ea typeface="Manrope"/>
                <a:cs typeface="Manrope"/>
                <a:sym typeface="Manrope"/>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Manrope"/>
                <a:ea typeface="Manrope"/>
                <a:cs typeface="Manrope"/>
                <a:sym typeface="Manrope"/>
              </a:rPr>
              <a:t> </a:t>
            </a:r>
            <a:endParaRPr sz="1000" b="1" u="sng">
              <a:solidFill>
                <a:schemeClr val="dk1"/>
              </a:solidFill>
              <a:latin typeface="Manrope"/>
              <a:ea typeface="Manrope"/>
              <a:cs typeface="Manrope"/>
              <a:sym typeface="Manrope"/>
            </a:endParaRPr>
          </a:p>
        </p:txBody>
      </p:sp>
    </p:spTree>
    <p:extLst>
      <p:ext uri="{BB962C8B-B14F-4D97-AF65-F5344CB8AC3E}">
        <p14:creationId xmlns:p14="http://schemas.microsoft.com/office/powerpoint/2010/main" val="113305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857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STER">
    <p:spTree>
      <p:nvGrpSpPr>
        <p:cNvPr id="1" name=""/>
        <p:cNvGrpSpPr/>
        <p:nvPr/>
      </p:nvGrpSpPr>
      <p:grpSpPr>
        <a:xfrm>
          <a:off x="0" y="0"/>
          <a:ext cx="0" cy="0"/>
          <a:chOff x="0" y="0"/>
          <a:chExt cx="0" cy="0"/>
        </a:xfrm>
      </p:grpSpPr>
      <p:sp>
        <p:nvSpPr>
          <p:cNvPr id="2" name="Text 0"/>
          <p:cNvSpPr/>
          <p:nvPr/>
        </p:nvSpPr>
        <p:spPr>
          <a:xfrm>
            <a:off x="603504" y="4903470"/>
            <a:ext cx="2125980" cy="109728"/>
          </a:xfrm>
          <a:prstGeom prst="rect">
            <a:avLst/>
          </a:prstGeom>
          <a:noFill/>
          <a:ln/>
        </p:spPr>
        <p:txBody>
          <a:bodyPr wrap="square" lIns="0" tIns="0" rIns="0" bIns="0" rtlCol="0" anchor="ctr"/>
          <a:lstStyle/>
          <a:p>
            <a:pPr marL="0" indent="0">
              <a:buNone/>
            </a:pPr>
            <a:r>
              <a:rPr lang="en-US" sz="488" dirty="0">
                <a:solidFill>
                  <a:srgbClr val="9AA4B2"/>
                </a:solidFill>
                <a:latin typeface="Aptos" pitchFamily="34" charset="0"/>
                <a:ea typeface="Aptos" pitchFamily="34" charset="-122"/>
                <a:cs typeface="Aptos" pitchFamily="34" charset="-120"/>
              </a:rPr>
              <a:t>Professional English  |  Week 4</a:t>
            </a:r>
            <a:endParaRPr lang="en-US" sz="488" dirty="0"/>
          </a:p>
        </p:txBody>
      </p:sp>
      <p:sp>
        <p:nvSpPr>
          <p:cNvPr id="3" name="Text 1"/>
          <p:cNvSpPr/>
          <p:nvPr/>
        </p:nvSpPr>
        <p:spPr>
          <a:xfrm>
            <a:off x="8723376" y="4889754"/>
            <a:ext cx="123444" cy="123444"/>
          </a:xfrm>
          <a:prstGeom prst="rect">
            <a:avLst/>
          </a:prstGeom>
          <a:noFill/>
          <a:ln/>
        </p:spPr>
        <p:txBody>
          <a:bodyPr wrap="square" lIns="0" tIns="0" rIns="0" bIns="0" rtlCol="0" anchor="ctr"/>
          <a:lstStyle/>
          <a:p>
            <a:pPr marL="0" indent="0" algn="r">
              <a:buNone/>
            </a:pPr>
            <a:r>
              <a:rPr lang="en-US" sz="525" dirty="0">
                <a:solidFill>
                  <a:srgbClr val="9AA4B2"/>
                </a:solidFill>
                <a:latin typeface="Aptos" pitchFamily="34" charset="0"/>
                <a:ea typeface="Aptos" pitchFamily="34" charset="-122"/>
                <a:cs typeface="Aptos" pitchFamily="34" charset="-120"/>
              </a:rPr>
              <a:t>3</a:t>
            </a:r>
            <a:endParaRPr lang="en-US" sz="525" dirty="0"/>
          </a:p>
        </p:txBody>
      </p:sp>
      <p:sp>
        <p:nvSpPr>
          <p:cNvPr id="25" name="Slide Number Placeholder 0"/>
          <p:cNvSpPr>
            <a:spLocks noGrp="1"/>
          </p:cNvSpPr>
          <p:nvPr>
            <p:ph type="sldNum" sz="quarter" idx="4294967295"/>
          </p:nvPr>
        </p:nvSpPr>
        <p:spPr>
          <a:xfrm>
            <a:off x="8846820" y="4903470"/>
            <a:ext cx="600000" cy="225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F8F9FB"/>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01242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2pPr>
            <a:lvl3pPr lvl="2"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3pPr>
            <a:lvl4pPr lvl="3"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4pPr>
            <a:lvl5pPr lvl="4"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5pPr>
            <a:lvl6pPr lvl="5"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6pPr>
            <a:lvl7pPr lvl="6"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7pPr>
            <a:lvl8pPr lvl="7"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8pPr>
            <a:lvl9pPr lvl="8" rtl="0">
              <a:spcBef>
                <a:spcPts val="0"/>
              </a:spcBef>
              <a:spcAft>
                <a:spcPts val="0"/>
              </a:spcAft>
              <a:buClr>
                <a:schemeClr val="dk1"/>
              </a:buClr>
              <a:buSzPts val="3200"/>
              <a:buFont typeface="Archivo Black"/>
              <a:buNone/>
              <a:defRPr sz="3200">
                <a:solidFill>
                  <a:schemeClr val="dk1"/>
                </a:solidFill>
                <a:latin typeface="Archivo Black"/>
                <a:ea typeface="Archivo Black"/>
                <a:cs typeface="Archivo Black"/>
                <a:sym typeface="Archivo Black"/>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1pPr>
            <a:lvl2pPr marL="914400" lvl="1"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2pPr>
            <a:lvl3pPr marL="1371600" lvl="2"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3pPr>
            <a:lvl4pPr marL="1828800" lvl="3"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4pPr>
            <a:lvl5pPr marL="2286000" lvl="4"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5pPr>
            <a:lvl6pPr marL="2743200" lvl="5"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6pPr>
            <a:lvl7pPr marL="3200400" lvl="6"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7pPr>
            <a:lvl8pPr marL="3657600" lvl="7"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8pPr>
            <a:lvl9pPr marL="4114800" lvl="8" indent="-317500">
              <a:lnSpc>
                <a:spcPct val="115000"/>
              </a:lnSpc>
              <a:spcBef>
                <a:spcPts val="0"/>
              </a:spcBef>
              <a:spcAft>
                <a:spcPts val="0"/>
              </a:spcAft>
              <a:buClr>
                <a:schemeClr val="dk1"/>
              </a:buClr>
              <a:buSzPts val="1400"/>
              <a:buFont typeface="Manrope"/>
              <a:buChar char="■"/>
              <a:defRPr>
                <a:solidFill>
                  <a:schemeClr val="dk1"/>
                </a:solidFill>
                <a:latin typeface="Manrope"/>
                <a:ea typeface="Manrope"/>
                <a:cs typeface="Manrope"/>
                <a:sym typeface="Manrop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71" r:id="rId3"/>
    <p:sldLayoutId id="2147483672" r:id="rId4"/>
    <p:sldLayoutId id="2147483677" r:id="rId5"/>
    <p:sldLayoutId id="2147483678" r:id="rId6"/>
    <p:sldLayoutId id="2147483679" r:id="rId7"/>
    <p:sldLayoutId id="2147483680"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0"/>
          <p:cNvSpPr txBox="1">
            <a:spLocks noGrp="1"/>
          </p:cNvSpPr>
          <p:nvPr>
            <p:ph type="ctrTitle"/>
          </p:nvPr>
        </p:nvSpPr>
        <p:spPr>
          <a:xfrm>
            <a:off x="1396086" y="1473800"/>
            <a:ext cx="6118996" cy="539964"/>
          </a:xfrm>
          <a:prstGeom prst="rect">
            <a:avLst/>
          </a:prstGeom>
        </p:spPr>
        <p:txBody>
          <a:bodyPr spcFirstLastPara="1" wrap="square" lIns="91425" tIns="91425" rIns="91425" bIns="91425" anchor="ctr" anchorCtr="0">
            <a:noAutofit/>
          </a:bodyPr>
          <a:lstStyle/>
          <a:p>
            <a:pPr algn="ctr"/>
            <a:r>
              <a:rPr lang="en-US" sz="2400" b="1" dirty="0">
                <a:latin typeface="Manrope"/>
                <a:cs typeface="Arial"/>
                <a:sym typeface="Arial"/>
              </a:rPr>
              <a:t>Professional English</a:t>
            </a:r>
            <a:endParaRPr dirty="0">
              <a:latin typeface="Archivo"/>
              <a:ea typeface="Archivo"/>
              <a:cs typeface="Archivo"/>
              <a:sym typeface="Archivo"/>
            </a:endParaRPr>
          </a:p>
        </p:txBody>
      </p:sp>
      <p:grpSp>
        <p:nvGrpSpPr>
          <p:cNvPr id="456" name="Google Shape;456;p30"/>
          <p:cNvGrpSpPr/>
          <p:nvPr/>
        </p:nvGrpSpPr>
        <p:grpSpPr>
          <a:xfrm>
            <a:off x="5607049" y="3210686"/>
            <a:ext cx="3573629" cy="2040384"/>
            <a:chOff x="4714200" y="683716"/>
            <a:chExt cx="4429800" cy="4466709"/>
          </a:xfrm>
        </p:grpSpPr>
        <p:sp>
          <p:nvSpPr>
            <p:cNvPr id="457" name="Google Shape;457;p30"/>
            <p:cNvSpPr/>
            <p:nvPr/>
          </p:nvSpPr>
          <p:spPr>
            <a:xfrm flipH="1">
              <a:off x="4714200" y="783325"/>
              <a:ext cx="4429800" cy="4367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p:cNvSpPr/>
            <p:nvPr/>
          </p:nvSpPr>
          <p:spPr>
            <a:xfrm rot="-2700000">
              <a:off x="7675121" y="1303413"/>
              <a:ext cx="996172" cy="114976"/>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p:cNvSpPr/>
            <p:nvPr/>
          </p:nvSpPr>
          <p:spPr>
            <a:xfrm rot="-2699590">
              <a:off x="4984509" y="3275203"/>
              <a:ext cx="1780000" cy="32668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0"/>
            <p:cNvSpPr/>
            <p:nvPr/>
          </p:nvSpPr>
          <p:spPr>
            <a:xfrm rot="-2699590">
              <a:off x="7108289" y="2092651"/>
              <a:ext cx="1780000" cy="32668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0"/>
            <p:cNvSpPr/>
            <p:nvPr/>
          </p:nvSpPr>
          <p:spPr>
            <a:xfrm rot="-2699590">
              <a:off x="6792716" y="1243005"/>
              <a:ext cx="1780000" cy="47772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p:cNvSpPr/>
            <p:nvPr/>
          </p:nvSpPr>
          <p:spPr>
            <a:xfrm rot="-2699590">
              <a:off x="5127485" y="3849460"/>
              <a:ext cx="1780000" cy="47772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30"/>
          <p:cNvGrpSpPr/>
          <p:nvPr/>
        </p:nvGrpSpPr>
        <p:grpSpPr>
          <a:xfrm>
            <a:off x="364202" y="4683792"/>
            <a:ext cx="1309796" cy="257750"/>
            <a:chOff x="-6337521" y="4362225"/>
            <a:chExt cx="1309796" cy="257750"/>
          </a:xfrm>
        </p:grpSpPr>
        <p:sp>
          <p:nvSpPr>
            <p:cNvPr id="464" name="Google Shape;464;p30"/>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0"/>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0"/>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5" name="Google Shape;475;p30"/>
          <p:cNvGrpSpPr/>
          <p:nvPr/>
        </p:nvGrpSpPr>
        <p:grpSpPr>
          <a:xfrm>
            <a:off x="4657545" y="2821042"/>
            <a:ext cx="2188531" cy="1862750"/>
            <a:chOff x="4643689" y="2814981"/>
            <a:chExt cx="2188531" cy="1862750"/>
          </a:xfrm>
        </p:grpSpPr>
        <p:sp>
          <p:nvSpPr>
            <p:cNvPr id="476" name="Google Shape;476;p30"/>
            <p:cNvSpPr/>
            <p:nvPr/>
          </p:nvSpPr>
          <p:spPr>
            <a:xfrm rot="-2700000">
              <a:off x="5941284" y="4227394"/>
              <a:ext cx="996172" cy="114976"/>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p:cNvSpPr/>
            <p:nvPr/>
          </p:nvSpPr>
          <p:spPr>
            <a:xfrm>
              <a:off x="4643689" y="2814981"/>
              <a:ext cx="1596600" cy="1596600"/>
            </a:xfrm>
            <a:prstGeom prst="ellipse">
              <a:avLst/>
            </a:prstGeom>
            <a:noFill/>
            <a:ln w="9525"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8" name="Рисунок 27">
            <a:extLst>
              <a:ext uri="{FF2B5EF4-FFF2-40B4-BE49-F238E27FC236}">
                <a16:creationId xmlns:a16="http://schemas.microsoft.com/office/drawing/2014/main" id="{45A36542-E184-43E2-9F67-6FA861852BF0}"/>
              </a:ext>
            </a:extLst>
          </p:cNvPr>
          <p:cNvPicPr>
            <a:picLocks noChangeAspect="1"/>
          </p:cNvPicPr>
          <p:nvPr/>
        </p:nvPicPr>
        <p:blipFill>
          <a:blip r:embed="rId3"/>
          <a:stretch>
            <a:fillRect/>
          </a:stretch>
        </p:blipFill>
        <p:spPr>
          <a:xfrm>
            <a:off x="265222" y="201958"/>
            <a:ext cx="1866652" cy="707886"/>
          </a:xfrm>
          <a:prstGeom prst="rect">
            <a:avLst/>
          </a:prstGeom>
        </p:spPr>
      </p:pic>
      <p:sp>
        <p:nvSpPr>
          <p:cNvPr id="29" name="TextBox 28">
            <a:extLst>
              <a:ext uri="{FF2B5EF4-FFF2-40B4-BE49-F238E27FC236}">
                <a16:creationId xmlns:a16="http://schemas.microsoft.com/office/drawing/2014/main" id="{A9429985-1F92-48CE-B4E1-0C31D908D9EC}"/>
              </a:ext>
            </a:extLst>
          </p:cNvPr>
          <p:cNvSpPr txBox="1"/>
          <p:nvPr/>
        </p:nvSpPr>
        <p:spPr>
          <a:xfrm>
            <a:off x="1854176" y="201958"/>
            <a:ext cx="6096000" cy="369332"/>
          </a:xfrm>
          <a:prstGeom prst="rect">
            <a:avLst/>
          </a:prstGeom>
          <a:noFill/>
        </p:spPr>
        <p:txBody>
          <a:bodyPr wrap="square">
            <a:spAutoFit/>
          </a:bodyPr>
          <a:lstStyle/>
          <a:p>
            <a:pPr algn="ctr"/>
            <a:r>
              <a:rPr lang="en-US" sz="1800" b="1" dirty="0">
                <a:solidFill>
                  <a:schemeClr val="dk1"/>
                </a:solidFill>
                <a:latin typeface="Manrope"/>
              </a:rPr>
              <a:t>School of General Education Disciplines</a:t>
            </a:r>
            <a:endParaRPr lang="ru-RU" sz="1800" b="1" dirty="0">
              <a:solidFill>
                <a:schemeClr val="dk1"/>
              </a:solidFill>
              <a:latin typeface="Manrope"/>
            </a:endParaRPr>
          </a:p>
        </p:txBody>
      </p:sp>
      <p:sp>
        <p:nvSpPr>
          <p:cNvPr id="31" name="TextBox 30">
            <a:extLst>
              <a:ext uri="{FF2B5EF4-FFF2-40B4-BE49-F238E27FC236}">
                <a16:creationId xmlns:a16="http://schemas.microsoft.com/office/drawing/2014/main" id="{72A60EDC-43AC-44A3-A505-0F087DAD087A}"/>
              </a:ext>
            </a:extLst>
          </p:cNvPr>
          <p:cNvSpPr txBox="1"/>
          <p:nvPr/>
        </p:nvSpPr>
        <p:spPr>
          <a:xfrm>
            <a:off x="3183352" y="3267508"/>
            <a:ext cx="2682542" cy="400110"/>
          </a:xfrm>
          <a:prstGeom prst="rect">
            <a:avLst/>
          </a:prstGeom>
          <a:noFill/>
        </p:spPr>
        <p:txBody>
          <a:bodyPr wrap="square">
            <a:spAutoFit/>
          </a:bodyPr>
          <a:lstStyle/>
          <a:p>
            <a:r>
              <a:rPr lang="en-US" sz="2000" dirty="0">
                <a:solidFill>
                  <a:schemeClr val="dk1"/>
                </a:solidFill>
                <a:latin typeface="Manrope"/>
                <a:sym typeface="Manrope"/>
              </a:rPr>
              <a:t>Week 4. Practice 1</a:t>
            </a:r>
            <a:r>
              <a:rPr lang="ru-RU" sz="2000" dirty="0">
                <a:solidFill>
                  <a:schemeClr val="dk1"/>
                </a:solidFill>
                <a:latin typeface="Manrope"/>
                <a:sym typeface="Manrope"/>
              </a:rPr>
              <a:t>-2</a:t>
            </a:r>
          </a:p>
        </p:txBody>
      </p:sp>
      <p:sp>
        <p:nvSpPr>
          <p:cNvPr id="33" name="TextBox 32">
            <a:extLst>
              <a:ext uri="{FF2B5EF4-FFF2-40B4-BE49-F238E27FC236}">
                <a16:creationId xmlns:a16="http://schemas.microsoft.com/office/drawing/2014/main" id="{24204699-334A-4231-ADE7-6EBEE95E2784}"/>
              </a:ext>
            </a:extLst>
          </p:cNvPr>
          <p:cNvSpPr txBox="1"/>
          <p:nvPr/>
        </p:nvSpPr>
        <p:spPr>
          <a:xfrm>
            <a:off x="846227" y="2359207"/>
            <a:ext cx="7011065" cy="400110"/>
          </a:xfrm>
          <a:prstGeom prst="rect">
            <a:avLst/>
          </a:prstGeom>
          <a:noFill/>
        </p:spPr>
        <p:txBody>
          <a:bodyPr wrap="square">
            <a:spAutoFit/>
          </a:bodyPr>
          <a:lstStyle/>
          <a:p>
            <a:pPr algn="ctr"/>
            <a:r>
              <a:rPr lang="en-US" sz="2000" b="1" dirty="0">
                <a:solidFill>
                  <a:schemeClr val="dk1"/>
                </a:solidFill>
                <a:latin typeface="Manrope"/>
                <a:sym typeface="Archivo Black"/>
              </a:rPr>
              <a:t>Topic</a:t>
            </a:r>
            <a:r>
              <a:rPr lang="en-US" sz="2000" dirty="0">
                <a:solidFill>
                  <a:schemeClr val="dk1"/>
                </a:solidFill>
                <a:latin typeface="Manrope"/>
                <a:sym typeface="Archivo Black"/>
              </a:rPr>
              <a:t>:</a:t>
            </a:r>
            <a:r>
              <a:rPr lang="en-US" sz="2000" dirty="0">
                <a:solidFill>
                  <a:schemeClr val="dk1"/>
                </a:solidFill>
                <a:latin typeface="Manrope"/>
              </a:rPr>
              <a:t> Policy brief</a:t>
            </a:r>
            <a:r>
              <a:rPr lang="ru-RU" sz="2000" dirty="0">
                <a:solidFill>
                  <a:schemeClr val="dk1"/>
                </a:solidFill>
                <a:latin typeface="Manrope"/>
                <a:sym typeface="Archivo Black"/>
              </a:rPr>
              <a:t> </a:t>
            </a:r>
            <a:endParaRPr lang="en-US" sz="2000" dirty="0">
              <a:solidFill>
                <a:schemeClr val="dk1"/>
              </a:solidFill>
              <a:latin typeface="Manrope"/>
              <a:sym typeface="Archivo Black"/>
            </a:endParaRPr>
          </a:p>
        </p:txBody>
      </p:sp>
      <p:sp>
        <p:nvSpPr>
          <p:cNvPr id="35" name="TextBox 34">
            <a:extLst>
              <a:ext uri="{FF2B5EF4-FFF2-40B4-BE49-F238E27FC236}">
                <a16:creationId xmlns:a16="http://schemas.microsoft.com/office/drawing/2014/main" id="{AC040873-05A0-48D3-948B-0E33F2B73810}"/>
              </a:ext>
            </a:extLst>
          </p:cNvPr>
          <p:cNvSpPr txBox="1"/>
          <p:nvPr/>
        </p:nvSpPr>
        <p:spPr>
          <a:xfrm>
            <a:off x="3308087" y="4680467"/>
            <a:ext cx="1921189" cy="307777"/>
          </a:xfrm>
          <a:prstGeom prst="rect">
            <a:avLst/>
          </a:prstGeom>
          <a:noFill/>
        </p:spPr>
        <p:txBody>
          <a:bodyPr wrap="square">
            <a:spAutoFit/>
          </a:bodyPr>
          <a:lstStyle/>
          <a:p>
            <a:r>
              <a:rPr lang="en-US" dirty="0">
                <a:solidFill>
                  <a:schemeClr val="dk1"/>
                </a:solidFill>
                <a:latin typeface="Manrope"/>
              </a:rPr>
              <a:t>Term 1, 2026-2027</a:t>
            </a:r>
            <a:endParaRPr lang="ru-RU" dirty="0">
              <a:solidFill>
                <a:schemeClr val="dk1"/>
              </a:solidFill>
              <a:latin typeface="Manrope"/>
            </a:endParaRPr>
          </a:p>
        </p:txBody>
      </p:sp>
      <p:grpSp>
        <p:nvGrpSpPr>
          <p:cNvPr id="36" name="Google Shape;463;p30">
            <a:extLst>
              <a:ext uri="{FF2B5EF4-FFF2-40B4-BE49-F238E27FC236}">
                <a16:creationId xmlns:a16="http://schemas.microsoft.com/office/drawing/2014/main" id="{9AA64F19-2EB3-4D7A-A00C-63540B17BA10}"/>
              </a:ext>
            </a:extLst>
          </p:cNvPr>
          <p:cNvGrpSpPr/>
          <p:nvPr/>
        </p:nvGrpSpPr>
        <p:grpSpPr>
          <a:xfrm>
            <a:off x="7631834" y="281790"/>
            <a:ext cx="1309796" cy="257750"/>
            <a:chOff x="-6337521" y="4362225"/>
            <a:chExt cx="1309796" cy="257750"/>
          </a:xfrm>
        </p:grpSpPr>
        <p:sp>
          <p:nvSpPr>
            <p:cNvPr id="37" name="Google Shape;464;p30">
              <a:extLst>
                <a:ext uri="{FF2B5EF4-FFF2-40B4-BE49-F238E27FC236}">
                  <a16:creationId xmlns:a16="http://schemas.microsoft.com/office/drawing/2014/main" id="{BF084F08-EE42-483A-B877-BF6C5C0F693F}"/>
                </a:ext>
              </a:extLst>
            </p:cNvPr>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65;p30">
              <a:extLst>
                <a:ext uri="{FF2B5EF4-FFF2-40B4-BE49-F238E27FC236}">
                  <a16:creationId xmlns:a16="http://schemas.microsoft.com/office/drawing/2014/main" id="{65320DD0-0A16-401B-BFB3-A5D80EAA88BD}"/>
                </a:ext>
              </a:extLst>
            </p:cNvPr>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66;p30">
              <a:extLst>
                <a:ext uri="{FF2B5EF4-FFF2-40B4-BE49-F238E27FC236}">
                  <a16:creationId xmlns:a16="http://schemas.microsoft.com/office/drawing/2014/main" id="{5D8F0CC4-FBFC-46FA-B94E-98DC7C7A1218}"/>
                </a:ext>
              </a:extLst>
            </p:cNvPr>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67;p30">
              <a:extLst>
                <a:ext uri="{FF2B5EF4-FFF2-40B4-BE49-F238E27FC236}">
                  <a16:creationId xmlns:a16="http://schemas.microsoft.com/office/drawing/2014/main" id="{F13D0712-F8A6-4F4C-9F32-87934B2CB984}"/>
                </a:ext>
              </a:extLst>
            </p:cNvPr>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68;p30">
              <a:extLst>
                <a:ext uri="{FF2B5EF4-FFF2-40B4-BE49-F238E27FC236}">
                  <a16:creationId xmlns:a16="http://schemas.microsoft.com/office/drawing/2014/main" id="{331FB7EF-2B92-4D64-B1F9-CAACB401C608}"/>
                </a:ext>
              </a:extLst>
            </p:cNvPr>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69;p30">
              <a:extLst>
                <a:ext uri="{FF2B5EF4-FFF2-40B4-BE49-F238E27FC236}">
                  <a16:creationId xmlns:a16="http://schemas.microsoft.com/office/drawing/2014/main" id="{48F032FD-0CD0-4BD3-9913-C378E1F13D2A}"/>
                </a:ext>
              </a:extLst>
            </p:cNvPr>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70;p30">
              <a:extLst>
                <a:ext uri="{FF2B5EF4-FFF2-40B4-BE49-F238E27FC236}">
                  <a16:creationId xmlns:a16="http://schemas.microsoft.com/office/drawing/2014/main" id="{5EB36C8C-CCA9-46BB-B52C-FAE79CD7462B}"/>
                </a:ext>
              </a:extLst>
            </p:cNvPr>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71;p30">
              <a:extLst>
                <a:ext uri="{FF2B5EF4-FFF2-40B4-BE49-F238E27FC236}">
                  <a16:creationId xmlns:a16="http://schemas.microsoft.com/office/drawing/2014/main" id="{CB597D05-D27B-48B4-89D6-BC0604DF3B1F}"/>
                </a:ext>
              </a:extLst>
            </p:cNvPr>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72;p30">
              <a:extLst>
                <a:ext uri="{FF2B5EF4-FFF2-40B4-BE49-F238E27FC236}">
                  <a16:creationId xmlns:a16="http://schemas.microsoft.com/office/drawing/2014/main" id="{8645FF52-E060-4B49-B0DF-3B4CC44FC3FA}"/>
                </a:ext>
              </a:extLst>
            </p:cNvPr>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73;p30">
              <a:extLst>
                <a:ext uri="{FF2B5EF4-FFF2-40B4-BE49-F238E27FC236}">
                  <a16:creationId xmlns:a16="http://schemas.microsoft.com/office/drawing/2014/main" id="{AA73C6DC-430E-4CED-94F8-E180C997AED9}"/>
                </a:ext>
              </a:extLst>
            </p:cNvPr>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53ADF9-F973-4F83-A58A-CE348DB364DD}"/>
              </a:ext>
            </a:extLst>
          </p:cNvPr>
          <p:cNvSpPr>
            <a:spLocks noGrp="1"/>
          </p:cNvSpPr>
          <p:nvPr>
            <p:ph type="title"/>
          </p:nvPr>
        </p:nvSpPr>
        <p:spPr/>
        <p:txBody>
          <a:bodyPr>
            <a:normAutofit/>
          </a:bodyPr>
          <a:lstStyle/>
          <a:p>
            <a:r>
              <a:rPr lang="en-US" sz="2000" b="1" dirty="0">
                <a:latin typeface="Manrope"/>
                <a:cs typeface="Arial"/>
              </a:rPr>
              <a:t>O</a:t>
            </a:r>
            <a:r>
              <a:rPr lang="en-US" sz="2000" b="1" dirty="0">
                <a:latin typeface="Manrope"/>
                <a:cs typeface="Arial"/>
                <a:sym typeface="Arial"/>
              </a:rPr>
              <a:t>bjective</a:t>
            </a:r>
            <a:r>
              <a:rPr lang="en-US" sz="2000" b="1" dirty="0">
                <a:latin typeface="Manrope"/>
                <a:cs typeface="Arial"/>
              </a:rPr>
              <a:t>s </a:t>
            </a:r>
            <a:endParaRPr lang="ru-RU" sz="2000" b="1" dirty="0">
              <a:latin typeface="Manrope"/>
              <a:cs typeface="Arial"/>
            </a:endParaRPr>
          </a:p>
        </p:txBody>
      </p:sp>
      <p:sp>
        <p:nvSpPr>
          <p:cNvPr id="3" name="Объект 2">
            <a:extLst>
              <a:ext uri="{FF2B5EF4-FFF2-40B4-BE49-F238E27FC236}">
                <a16:creationId xmlns:a16="http://schemas.microsoft.com/office/drawing/2014/main" id="{12337770-BD20-44E4-8AF6-CF7863B6604E}"/>
              </a:ext>
            </a:extLst>
          </p:cNvPr>
          <p:cNvSpPr>
            <a:spLocks noGrp="1"/>
          </p:cNvSpPr>
          <p:nvPr>
            <p:ph idx="1"/>
          </p:nvPr>
        </p:nvSpPr>
        <p:spPr>
          <a:xfrm>
            <a:off x="594823" y="1353720"/>
            <a:ext cx="7886700" cy="2396549"/>
          </a:xfrm>
        </p:spPr>
        <p:txBody>
          <a:bodyPr/>
          <a:lstStyle/>
          <a:p>
            <a:pPr marL="0" indent="0">
              <a:buNone/>
            </a:pPr>
            <a:r>
              <a:rPr lang="ru-RU" sz="1600" dirty="0"/>
              <a:t>By </a:t>
            </a:r>
            <a:r>
              <a:rPr lang="ru-RU" sz="1600" dirty="0" err="1"/>
              <a:t>the</a:t>
            </a:r>
            <a:r>
              <a:rPr lang="ru-RU" sz="1600" dirty="0"/>
              <a:t> </a:t>
            </a:r>
            <a:r>
              <a:rPr lang="ru-RU" sz="1600" dirty="0" err="1"/>
              <a:t>end</a:t>
            </a:r>
            <a:r>
              <a:rPr lang="ru-RU" sz="1600" dirty="0"/>
              <a:t> </a:t>
            </a:r>
            <a:r>
              <a:rPr lang="ru-RU" sz="1600" dirty="0" err="1"/>
              <a:t>of</a:t>
            </a:r>
            <a:r>
              <a:rPr lang="ru-RU" sz="1600" dirty="0"/>
              <a:t> </a:t>
            </a:r>
            <a:r>
              <a:rPr lang="ru-RU" sz="1600" dirty="0" err="1"/>
              <a:t>this</a:t>
            </a:r>
            <a:r>
              <a:rPr lang="ru-RU" sz="1600" dirty="0"/>
              <a:t> </a:t>
            </a:r>
            <a:r>
              <a:rPr lang="ru-RU" sz="1600" dirty="0" err="1"/>
              <a:t>class</a:t>
            </a:r>
            <a:r>
              <a:rPr lang="ru-RU" sz="1600" dirty="0"/>
              <a:t>, </a:t>
            </a:r>
            <a:r>
              <a:rPr lang="ru-RU" sz="1600" dirty="0" err="1"/>
              <a:t>students</a:t>
            </a:r>
            <a:r>
              <a:rPr lang="ru-RU" sz="1600" dirty="0"/>
              <a:t> </a:t>
            </a:r>
            <a:r>
              <a:rPr lang="ru-RU" sz="1600" dirty="0" err="1"/>
              <a:t>will</a:t>
            </a:r>
            <a:r>
              <a:rPr lang="ru-RU" sz="1600" dirty="0"/>
              <a:t> </a:t>
            </a:r>
            <a:r>
              <a:rPr lang="ru-RU" sz="1600" dirty="0" err="1"/>
              <a:t>be</a:t>
            </a:r>
            <a:r>
              <a:rPr lang="ru-RU" sz="1600" dirty="0"/>
              <a:t> </a:t>
            </a:r>
            <a:r>
              <a:rPr lang="ru-RU" sz="1600" dirty="0" err="1"/>
              <a:t>able</a:t>
            </a:r>
            <a:r>
              <a:rPr lang="ru-RU" sz="1600" dirty="0"/>
              <a:t> </a:t>
            </a:r>
            <a:r>
              <a:rPr lang="ru-RU" sz="1600" dirty="0" err="1"/>
              <a:t>to</a:t>
            </a:r>
            <a:r>
              <a:rPr lang="ru-RU" sz="1600" dirty="0"/>
              <a:t>:</a:t>
            </a:r>
            <a:endParaRPr lang="en-US" sz="1600" dirty="0"/>
          </a:p>
          <a:p>
            <a:pPr marL="285750" indent="-285750">
              <a:lnSpc>
                <a:spcPct val="114999"/>
              </a:lnSpc>
              <a:buFont typeface="Arial" panose="020B0604020202020204" pitchFamily="34" charset="0"/>
              <a:buChar char="•"/>
            </a:pPr>
            <a:r>
              <a:rPr lang="en-US" altLang="ru-RU" sz="1600" dirty="0">
                <a:solidFill>
                  <a:schemeClr val="bg2">
                    <a:lumMod val="50000"/>
                  </a:schemeClr>
                </a:solidFill>
                <a:ea typeface="+mn-lt"/>
                <a:cs typeface="+mn-lt"/>
              </a:rPr>
              <a:t>i</a:t>
            </a:r>
            <a:r>
              <a:rPr lang="ru-RU" altLang="ru-RU" sz="1600" dirty="0" err="1">
                <a:solidFill>
                  <a:schemeClr val="bg2">
                    <a:lumMod val="50000"/>
                  </a:schemeClr>
                </a:solidFill>
                <a:ea typeface="+mn-lt"/>
                <a:cs typeface="+mn-lt"/>
              </a:rPr>
              <a:t>dentify</a:t>
            </a:r>
            <a:r>
              <a:rPr lang="ru-RU" altLang="ru-RU" sz="1600" dirty="0">
                <a:solidFill>
                  <a:schemeClr val="bg2">
                    <a:lumMod val="50000"/>
                  </a:schemeClr>
                </a:solidFill>
                <a:ea typeface="+mn-lt"/>
                <a:cs typeface="+mn-lt"/>
              </a:rPr>
              <a:t> </a:t>
            </a:r>
            <a:r>
              <a:rPr lang="ru-RU" sz="1600" dirty="0" err="1">
                <a:solidFill>
                  <a:schemeClr val="bg2">
                    <a:lumMod val="50000"/>
                  </a:schemeClr>
                </a:solidFill>
              </a:rPr>
              <a:t>the</a:t>
            </a:r>
            <a:r>
              <a:rPr lang="ru-RU" sz="1600" dirty="0">
                <a:solidFill>
                  <a:schemeClr val="bg2">
                    <a:lumMod val="50000"/>
                  </a:schemeClr>
                </a:solidFill>
              </a:rPr>
              <a:t> </a:t>
            </a:r>
            <a:r>
              <a:rPr lang="ru-RU" sz="1600" dirty="0" err="1">
                <a:solidFill>
                  <a:schemeClr val="bg2">
                    <a:lumMod val="50000"/>
                  </a:schemeClr>
                </a:solidFill>
              </a:rPr>
              <a:t>purpose</a:t>
            </a:r>
            <a:r>
              <a:rPr lang="ru-RU" sz="1600" dirty="0">
                <a:solidFill>
                  <a:schemeClr val="bg2">
                    <a:lumMod val="50000"/>
                  </a:schemeClr>
                </a:solidFill>
              </a:rPr>
              <a:t> </a:t>
            </a:r>
            <a:r>
              <a:rPr lang="ru-RU" sz="1600" dirty="0" err="1">
                <a:solidFill>
                  <a:schemeClr val="bg2">
                    <a:lumMod val="50000"/>
                  </a:schemeClr>
                </a:solidFill>
              </a:rPr>
              <a:t>and</a:t>
            </a:r>
            <a:r>
              <a:rPr lang="ru-RU" sz="1600" dirty="0">
                <a:solidFill>
                  <a:schemeClr val="bg2">
                    <a:lumMod val="50000"/>
                  </a:schemeClr>
                </a:solidFill>
              </a:rPr>
              <a:t> </a:t>
            </a:r>
            <a:r>
              <a:rPr lang="ru-RU" sz="1600" dirty="0" err="1">
                <a:solidFill>
                  <a:schemeClr val="bg2">
                    <a:lumMod val="50000"/>
                  </a:schemeClr>
                </a:solidFill>
              </a:rPr>
              <a:t>key</a:t>
            </a:r>
            <a:r>
              <a:rPr lang="ru-RU" sz="1600" dirty="0">
                <a:solidFill>
                  <a:schemeClr val="bg2">
                    <a:lumMod val="50000"/>
                  </a:schemeClr>
                </a:solidFill>
              </a:rPr>
              <a:t> </a:t>
            </a:r>
            <a:r>
              <a:rPr lang="ru-RU" sz="1600" dirty="0" err="1">
                <a:solidFill>
                  <a:schemeClr val="bg2">
                    <a:lumMod val="50000"/>
                  </a:schemeClr>
                </a:solidFill>
              </a:rPr>
              <a:t>features</a:t>
            </a:r>
            <a:r>
              <a:rPr lang="ru-RU" sz="1600" dirty="0">
                <a:solidFill>
                  <a:schemeClr val="bg2">
                    <a:lumMod val="50000"/>
                  </a:schemeClr>
                </a:solidFill>
              </a:rPr>
              <a:t> </a:t>
            </a:r>
            <a:r>
              <a:rPr lang="ru-RU" sz="1600" dirty="0" err="1">
                <a:solidFill>
                  <a:schemeClr val="bg2">
                    <a:lumMod val="50000"/>
                  </a:schemeClr>
                </a:solidFill>
              </a:rPr>
              <a:t>of</a:t>
            </a:r>
            <a:r>
              <a:rPr lang="ru-RU" sz="1600" dirty="0">
                <a:solidFill>
                  <a:schemeClr val="bg2">
                    <a:lumMod val="50000"/>
                  </a:schemeClr>
                </a:solidFill>
              </a:rPr>
              <a:t> a </a:t>
            </a:r>
            <a:r>
              <a:rPr lang="ru-RU" sz="1600" dirty="0" err="1">
                <a:solidFill>
                  <a:schemeClr val="bg2">
                    <a:lumMod val="50000"/>
                  </a:schemeClr>
                </a:solidFill>
              </a:rPr>
              <a:t>policy</a:t>
            </a:r>
            <a:r>
              <a:rPr lang="ru-RU" sz="1600" dirty="0">
                <a:solidFill>
                  <a:schemeClr val="bg2">
                    <a:lumMod val="50000"/>
                  </a:schemeClr>
                </a:solidFill>
              </a:rPr>
              <a:t> </a:t>
            </a:r>
            <a:r>
              <a:rPr lang="ru-RU" sz="1600" dirty="0" err="1">
                <a:solidFill>
                  <a:schemeClr val="bg2">
                    <a:lumMod val="50000"/>
                  </a:schemeClr>
                </a:solidFill>
              </a:rPr>
              <a:t>brief</a:t>
            </a:r>
            <a:r>
              <a:rPr lang="en-US" sz="1600" dirty="0">
                <a:solidFill>
                  <a:schemeClr val="bg2">
                    <a:lumMod val="50000"/>
                  </a:schemeClr>
                </a:solidFill>
              </a:rPr>
              <a:t>;</a:t>
            </a:r>
            <a:endParaRPr lang="ru-RU" sz="1600" dirty="0">
              <a:solidFill>
                <a:schemeClr val="bg2">
                  <a:lumMod val="50000"/>
                </a:schemeClr>
              </a:solidFill>
            </a:endParaRPr>
          </a:p>
          <a:p>
            <a:pPr marL="285750" indent="-285750">
              <a:lnSpc>
                <a:spcPct val="114999"/>
              </a:lnSpc>
              <a:buFont typeface="Arial" panose="020B0604020202020204" pitchFamily="34" charset="0"/>
              <a:buChar char="•"/>
            </a:pPr>
            <a:r>
              <a:rPr lang="en-US" sz="1600" dirty="0">
                <a:solidFill>
                  <a:schemeClr val="bg2">
                    <a:lumMod val="50000"/>
                  </a:schemeClr>
                </a:solidFill>
              </a:rPr>
              <a:t>d</a:t>
            </a:r>
            <a:r>
              <a:rPr lang="ru-RU" sz="1600" dirty="0" err="1">
                <a:solidFill>
                  <a:schemeClr val="bg2">
                    <a:lumMod val="50000"/>
                  </a:schemeClr>
                </a:solidFill>
              </a:rPr>
              <a:t>ifferentiate</a:t>
            </a:r>
            <a:r>
              <a:rPr lang="ru-RU" sz="1600" dirty="0">
                <a:solidFill>
                  <a:schemeClr val="bg2">
                    <a:lumMod val="50000"/>
                  </a:schemeClr>
                </a:solidFill>
              </a:rPr>
              <a:t> </a:t>
            </a:r>
            <a:r>
              <a:rPr lang="ru-RU" sz="1600" dirty="0" err="1">
                <a:solidFill>
                  <a:schemeClr val="bg2">
                    <a:lumMod val="50000"/>
                  </a:schemeClr>
                </a:solidFill>
              </a:rPr>
              <a:t>between</a:t>
            </a:r>
            <a:r>
              <a:rPr lang="ru-RU" sz="1600" dirty="0">
                <a:solidFill>
                  <a:schemeClr val="bg2">
                    <a:lumMod val="50000"/>
                  </a:schemeClr>
                </a:solidFill>
              </a:rPr>
              <a:t> </a:t>
            </a:r>
            <a:r>
              <a:rPr lang="ru-RU" sz="1600" dirty="0" err="1">
                <a:solidFill>
                  <a:schemeClr val="bg2">
                    <a:lumMod val="50000"/>
                  </a:schemeClr>
                </a:solidFill>
              </a:rPr>
              <a:t>appropriate</a:t>
            </a:r>
            <a:r>
              <a:rPr lang="ru-RU" sz="1600" dirty="0">
                <a:solidFill>
                  <a:schemeClr val="bg2">
                    <a:lumMod val="50000"/>
                  </a:schemeClr>
                </a:solidFill>
              </a:rPr>
              <a:t> </a:t>
            </a:r>
            <a:r>
              <a:rPr lang="ru-RU" sz="1600" dirty="0" err="1">
                <a:solidFill>
                  <a:schemeClr val="bg2">
                    <a:lumMod val="50000"/>
                  </a:schemeClr>
                </a:solidFill>
              </a:rPr>
              <a:t>and</a:t>
            </a:r>
            <a:r>
              <a:rPr lang="ru-RU" sz="1600" dirty="0">
                <a:solidFill>
                  <a:schemeClr val="bg2">
                    <a:lumMod val="50000"/>
                  </a:schemeClr>
                </a:solidFill>
              </a:rPr>
              <a:t> </a:t>
            </a:r>
            <a:r>
              <a:rPr lang="ru-RU" sz="1600" dirty="0" err="1">
                <a:solidFill>
                  <a:schemeClr val="bg2">
                    <a:lumMod val="50000"/>
                  </a:schemeClr>
                </a:solidFill>
              </a:rPr>
              <a:t>inappropriate</a:t>
            </a:r>
            <a:r>
              <a:rPr lang="ru-RU" sz="1600" dirty="0">
                <a:solidFill>
                  <a:schemeClr val="bg2">
                    <a:lumMod val="50000"/>
                  </a:schemeClr>
                </a:solidFill>
              </a:rPr>
              <a:t> </a:t>
            </a:r>
            <a:r>
              <a:rPr lang="ru-RU" sz="1600" dirty="0" err="1">
                <a:solidFill>
                  <a:schemeClr val="bg2">
                    <a:lumMod val="50000"/>
                  </a:schemeClr>
                </a:solidFill>
              </a:rPr>
              <a:t>writing</a:t>
            </a:r>
            <a:r>
              <a:rPr lang="ru-RU" sz="1600" dirty="0">
                <a:solidFill>
                  <a:schemeClr val="bg2">
                    <a:lumMod val="50000"/>
                  </a:schemeClr>
                </a:solidFill>
              </a:rPr>
              <a:t> </a:t>
            </a:r>
            <a:r>
              <a:rPr lang="ru-RU" sz="1600" dirty="0" err="1">
                <a:solidFill>
                  <a:schemeClr val="bg2">
                    <a:lumMod val="50000"/>
                  </a:schemeClr>
                </a:solidFill>
              </a:rPr>
              <a:t>styles</a:t>
            </a:r>
            <a:r>
              <a:rPr lang="ru-RU" sz="1600" dirty="0">
                <a:solidFill>
                  <a:schemeClr val="bg2">
                    <a:lumMod val="50000"/>
                  </a:schemeClr>
                </a:solidFill>
              </a:rPr>
              <a:t> </a:t>
            </a:r>
            <a:r>
              <a:rPr lang="ru-RU" sz="1600" dirty="0" err="1">
                <a:solidFill>
                  <a:schemeClr val="bg2">
                    <a:lumMod val="50000"/>
                  </a:schemeClr>
                </a:solidFill>
              </a:rPr>
              <a:t>for</a:t>
            </a:r>
            <a:r>
              <a:rPr lang="ru-RU" sz="1600" dirty="0">
                <a:solidFill>
                  <a:schemeClr val="bg2">
                    <a:lumMod val="50000"/>
                  </a:schemeClr>
                </a:solidFill>
              </a:rPr>
              <a:t> </a:t>
            </a:r>
            <a:r>
              <a:rPr lang="ru-RU" sz="1600" dirty="0" err="1">
                <a:solidFill>
                  <a:schemeClr val="bg2">
                    <a:lumMod val="50000"/>
                  </a:schemeClr>
                </a:solidFill>
              </a:rPr>
              <a:t>policy</a:t>
            </a:r>
            <a:r>
              <a:rPr lang="ru-RU" sz="1600" dirty="0">
                <a:solidFill>
                  <a:schemeClr val="bg2">
                    <a:lumMod val="50000"/>
                  </a:schemeClr>
                </a:solidFill>
              </a:rPr>
              <a:t> </a:t>
            </a:r>
            <a:r>
              <a:rPr lang="ru-RU" sz="1600" dirty="0" err="1">
                <a:solidFill>
                  <a:schemeClr val="bg2">
                    <a:lumMod val="50000"/>
                  </a:schemeClr>
                </a:solidFill>
              </a:rPr>
              <a:t>briefs</a:t>
            </a:r>
            <a:r>
              <a:rPr lang="en-US" sz="1600" dirty="0">
                <a:solidFill>
                  <a:schemeClr val="bg2">
                    <a:lumMod val="50000"/>
                  </a:schemeClr>
                </a:solidFill>
              </a:rPr>
              <a:t>;</a:t>
            </a:r>
            <a:endParaRPr lang="ru-RU" sz="1600" dirty="0">
              <a:solidFill>
                <a:schemeClr val="bg2">
                  <a:lumMod val="50000"/>
                </a:schemeClr>
              </a:solidFill>
            </a:endParaRPr>
          </a:p>
          <a:p>
            <a:pPr marL="285750" indent="-285750">
              <a:lnSpc>
                <a:spcPct val="114999"/>
              </a:lnSpc>
              <a:buFont typeface="Arial" panose="020B0604020202020204" pitchFamily="34" charset="0"/>
              <a:buChar char="•"/>
            </a:pPr>
            <a:r>
              <a:rPr lang="en-US" sz="1600" dirty="0">
                <a:solidFill>
                  <a:schemeClr val="bg2">
                    <a:lumMod val="50000"/>
                  </a:schemeClr>
                </a:solidFill>
              </a:rPr>
              <a:t>d</a:t>
            </a:r>
            <a:r>
              <a:rPr lang="ru-RU" sz="1600" dirty="0" err="1">
                <a:solidFill>
                  <a:schemeClr val="bg2">
                    <a:lumMod val="50000"/>
                  </a:schemeClr>
                </a:solidFill>
              </a:rPr>
              <a:t>iscuss</a:t>
            </a:r>
            <a:r>
              <a:rPr lang="ru-RU" sz="1600" dirty="0">
                <a:solidFill>
                  <a:schemeClr val="bg2">
                    <a:lumMod val="50000"/>
                  </a:schemeClr>
                </a:solidFill>
              </a:rPr>
              <a:t> </a:t>
            </a:r>
            <a:r>
              <a:rPr lang="ru-RU" sz="1600" dirty="0" err="1">
                <a:solidFill>
                  <a:schemeClr val="bg2">
                    <a:lumMod val="50000"/>
                  </a:schemeClr>
                </a:solidFill>
              </a:rPr>
              <a:t>and</a:t>
            </a:r>
            <a:r>
              <a:rPr lang="ru-RU" sz="1600" dirty="0">
                <a:solidFill>
                  <a:schemeClr val="bg2">
                    <a:lumMod val="50000"/>
                  </a:schemeClr>
                </a:solidFill>
              </a:rPr>
              <a:t> </a:t>
            </a:r>
            <a:r>
              <a:rPr lang="ru-RU" sz="1600" dirty="0" err="1">
                <a:solidFill>
                  <a:schemeClr val="bg2">
                    <a:lumMod val="50000"/>
                  </a:schemeClr>
                </a:solidFill>
              </a:rPr>
              <a:t>evaluate</a:t>
            </a:r>
            <a:r>
              <a:rPr lang="ru-RU" sz="1600" dirty="0">
                <a:solidFill>
                  <a:schemeClr val="bg2">
                    <a:lumMod val="50000"/>
                  </a:schemeClr>
                </a:solidFill>
              </a:rPr>
              <a:t> </a:t>
            </a:r>
            <a:r>
              <a:rPr lang="ru-RU" sz="1600" dirty="0" err="1">
                <a:solidFill>
                  <a:schemeClr val="bg2">
                    <a:lumMod val="50000"/>
                  </a:schemeClr>
                </a:solidFill>
              </a:rPr>
              <a:t>the</a:t>
            </a:r>
            <a:r>
              <a:rPr lang="ru-RU" sz="1600" dirty="0">
                <a:solidFill>
                  <a:schemeClr val="bg2">
                    <a:lumMod val="50000"/>
                  </a:schemeClr>
                </a:solidFill>
              </a:rPr>
              <a:t> </a:t>
            </a:r>
            <a:r>
              <a:rPr lang="ru-RU" sz="1600" dirty="0" err="1">
                <a:solidFill>
                  <a:schemeClr val="bg2">
                    <a:lumMod val="50000"/>
                  </a:schemeClr>
                </a:solidFill>
              </a:rPr>
              <a:t>role</a:t>
            </a:r>
            <a:r>
              <a:rPr lang="ru-RU" sz="1600" dirty="0">
                <a:solidFill>
                  <a:schemeClr val="bg2">
                    <a:lumMod val="50000"/>
                  </a:schemeClr>
                </a:solidFill>
              </a:rPr>
              <a:t> </a:t>
            </a:r>
            <a:r>
              <a:rPr lang="ru-RU" sz="1600" dirty="0" err="1">
                <a:solidFill>
                  <a:schemeClr val="bg2">
                    <a:lumMod val="50000"/>
                  </a:schemeClr>
                </a:solidFill>
              </a:rPr>
              <a:t>of</a:t>
            </a:r>
            <a:r>
              <a:rPr lang="ru-RU" sz="1600" dirty="0">
                <a:solidFill>
                  <a:schemeClr val="bg2">
                    <a:lumMod val="50000"/>
                  </a:schemeClr>
                </a:solidFill>
              </a:rPr>
              <a:t> </a:t>
            </a:r>
            <a:r>
              <a:rPr lang="ru-RU" sz="1600" dirty="0" err="1">
                <a:solidFill>
                  <a:schemeClr val="bg2">
                    <a:lumMod val="50000"/>
                  </a:schemeClr>
                </a:solidFill>
              </a:rPr>
              <a:t>strategic</a:t>
            </a:r>
            <a:r>
              <a:rPr lang="ru-RU" sz="1600" dirty="0">
                <a:solidFill>
                  <a:schemeClr val="bg2">
                    <a:lumMod val="50000"/>
                  </a:schemeClr>
                </a:solidFill>
              </a:rPr>
              <a:t> </a:t>
            </a:r>
            <a:r>
              <a:rPr lang="ru-RU" sz="1600" dirty="0" err="1">
                <a:solidFill>
                  <a:schemeClr val="bg2">
                    <a:lumMod val="50000"/>
                  </a:schemeClr>
                </a:solidFill>
              </a:rPr>
              <a:t>foresight</a:t>
            </a:r>
            <a:r>
              <a:rPr lang="ru-RU" sz="1600" dirty="0">
                <a:solidFill>
                  <a:schemeClr val="bg2">
                    <a:lumMod val="50000"/>
                  </a:schemeClr>
                </a:solidFill>
              </a:rPr>
              <a:t> </a:t>
            </a:r>
            <a:r>
              <a:rPr lang="ru-RU" sz="1600" dirty="0" err="1">
                <a:solidFill>
                  <a:schemeClr val="bg2">
                    <a:lumMod val="50000"/>
                  </a:schemeClr>
                </a:solidFill>
              </a:rPr>
              <a:t>in</a:t>
            </a:r>
            <a:r>
              <a:rPr lang="ru-RU" sz="1600" dirty="0">
                <a:solidFill>
                  <a:schemeClr val="bg2">
                    <a:lumMod val="50000"/>
                  </a:schemeClr>
                </a:solidFill>
              </a:rPr>
              <a:t> AI </a:t>
            </a:r>
            <a:r>
              <a:rPr lang="ru-RU" sz="1600" dirty="0" err="1">
                <a:solidFill>
                  <a:schemeClr val="bg2">
                    <a:lumMod val="50000"/>
                  </a:schemeClr>
                </a:solidFill>
              </a:rPr>
              <a:t>policy</a:t>
            </a:r>
            <a:r>
              <a:rPr lang="en-US" sz="1600" dirty="0">
                <a:solidFill>
                  <a:schemeClr val="bg2">
                    <a:lumMod val="50000"/>
                  </a:schemeClr>
                </a:solidFill>
              </a:rPr>
              <a:t>;</a:t>
            </a:r>
            <a:endParaRPr lang="ru-RU" sz="1600" dirty="0">
              <a:solidFill>
                <a:schemeClr val="bg2">
                  <a:lumMod val="50000"/>
                </a:schemeClr>
              </a:solidFill>
            </a:endParaRPr>
          </a:p>
          <a:p>
            <a:pPr marL="285750" indent="-285750">
              <a:lnSpc>
                <a:spcPct val="114999"/>
              </a:lnSpc>
              <a:buFont typeface="Arial" panose="020B0604020202020204" pitchFamily="34" charset="0"/>
              <a:buChar char="•"/>
            </a:pPr>
            <a:r>
              <a:rPr lang="en-US" sz="1600" dirty="0">
                <a:solidFill>
                  <a:schemeClr val="bg2">
                    <a:lumMod val="50000"/>
                  </a:schemeClr>
                </a:solidFill>
              </a:rPr>
              <a:t>a</a:t>
            </a:r>
            <a:r>
              <a:rPr lang="ru-RU" sz="1600" dirty="0" err="1">
                <a:solidFill>
                  <a:schemeClr val="bg2">
                    <a:lumMod val="50000"/>
                  </a:schemeClr>
                </a:solidFill>
              </a:rPr>
              <a:t>pply</a:t>
            </a:r>
            <a:r>
              <a:rPr lang="ru-RU" sz="1600" dirty="0">
                <a:solidFill>
                  <a:schemeClr val="bg2">
                    <a:lumMod val="50000"/>
                  </a:schemeClr>
                </a:solidFill>
              </a:rPr>
              <a:t> </a:t>
            </a:r>
            <a:r>
              <a:rPr lang="ru-RU" sz="1600" dirty="0" err="1">
                <a:solidFill>
                  <a:schemeClr val="bg2">
                    <a:lumMod val="50000"/>
                  </a:schemeClr>
                </a:solidFill>
              </a:rPr>
              <a:t>knowledge</a:t>
            </a:r>
            <a:r>
              <a:rPr lang="ru-RU" sz="1600" dirty="0">
                <a:solidFill>
                  <a:schemeClr val="bg2">
                    <a:lumMod val="50000"/>
                  </a:schemeClr>
                </a:solidFill>
              </a:rPr>
              <a:t> </a:t>
            </a:r>
            <a:r>
              <a:rPr lang="ru-RU" sz="1600" dirty="0" err="1">
                <a:solidFill>
                  <a:schemeClr val="bg2">
                    <a:lumMod val="50000"/>
                  </a:schemeClr>
                </a:solidFill>
              </a:rPr>
              <a:t>by</a:t>
            </a:r>
            <a:r>
              <a:rPr lang="ru-RU" sz="1600" dirty="0">
                <a:solidFill>
                  <a:schemeClr val="bg2">
                    <a:lumMod val="50000"/>
                  </a:schemeClr>
                </a:solidFill>
              </a:rPr>
              <a:t> </a:t>
            </a:r>
            <a:r>
              <a:rPr lang="ru-RU" sz="1600" dirty="0" err="1">
                <a:solidFill>
                  <a:schemeClr val="bg2">
                    <a:lumMod val="50000"/>
                  </a:schemeClr>
                </a:solidFill>
              </a:rPr>
              <a:t>drafting</a:t>
            </a:r>
            <a:r>
              <a:rPr lang="ru-RU" sz="1600" dirty="0">
                <a:solidFill>
                  <a:schemeClr val="bg2">
                    <a:lumMod val="50000"/>
                  </a:schemeClr>
                </a:solidFill>
              </a:rPr>
              <a:t> a </a:t>
            </a:r>
            <a:r>
              <a:rPr lang="ru-RU" sz="1600" dirty="0" err="1">
                <a:solidFill>
                  <a:schemeClr val="bg2">
                    <a:lumMod val="50000"/>
                  </a:schemeClr>
                </a:solidFill>
              </a:rPr>
              <a:t>short</a:t>
            </a:r>
            <a:r>
              <a:rPr lang="ru-RU" sz="1600" dirty="0">
                <a:solidFill>
                  <a:schemeClr val="bg2">
                    <a:lumMod val="50000"/>
                  </a:schemeClr>
                </a:solidFill>
              </a:rPr>
              <a:t> </a:t>
            </a:r>
            <a:r>
              <a:rPr lang="ru-RU" sz="1600" dirty="0" err="1">
                <a:solidFill>
                  <a:schemeClr val="bg2">
                    <a:lumMod val="50000"/>
                  </a:schemeClr>
                </a:solidFill>
              </a:rPr>
              <a:t>group</a:t>
            </a:r>
            <a:r>
              <a:rPr lang="ru-RU" sz="1600" dirty="0">
                <a:solidFill>
                  <a:schemeClr val="bg2">
                    <a:lumMod val="50000"/>
                  </a:schemeClr>
                </a:solidFill>
              </a:rPr>
              <a:t> </a:t>
            </a:r>
            <a:r>
              <a:rPr lang="ru-RU" sz="1600" dirty="0" err="1">
                <a:solidFill>
                  <a:schemeClr val="bg2">
                    <a:lumMod val="50000"/>
                  </a:schemeClr>
                </a:solidFill>
              </a:rPr>
              <a:t>policy</a:t>
            </a:r>
            <a:r>
              <a:rPr lang="ru-RU" sz="1600" dirty="0">
                <a:solidFill>
                  <a:schemeClr val="bg2">
                    <a:lumMod val="50000"/>
                  </a:schemeClr>
                </a:solidFill>
              </a:rPr>
              <a:t> </a:t>
            </a:r>
            <a:r>
              <a:rPr lang="ru-RU" sz="1600" dirty="0" err="1">
                <a:solidFill>
                  <a:schemeClr val="bg2">
                    <a:lumMod val="50000"/>
                  </a:schemeClr>
                </a:solidFill>
              </a:rPr>
              <a:t>brief</a:t>
            </a:r>
            <a:r>
              <a:rPr lang="ru-RU" sz="1600" dirty="0">
                <a:solidFill>
                  <a:schemeClr val="bg2">
                    <a:lumMod val="50000"/>
                  </a:schemeClr>
                </a:solidFill>
              </a:rPr>
              <a:t> </a:t>
            </a:r>
            <a:r>
              <a:rPr lang="ru-RU" sz="1600" dirty="0" err="1">
                <a:solidFill>
                  <a:schemeClr val="bg2">
                    <a:lumMod val="50000"/>
                  </a:schemeClr>
                </a:solidFill>
              </a:rPr>
              <a:t>that</a:t>
            </a:r>
            <a:r>
              <a:rPr lang="ru-RU" sz="1600" dirty="0">
                <a:solidFill>
                  <a:schemeClr val="bg2">
                    <a:lumMod val="50000"/>
                  </a:schemeClr>
                </a:solidFill>
              </a:rPr>
              <a:t> </a:t>
            </a:r>
            <a:r>
              <a:rPr lang="ru-RU" sz="1600" dirty="0" err="1">
                <a:solidFill>
                  <a:schemeClr val="bg2">
                    <a:lumMod val="50000"/>
                  </a:schemeClr>
                </a:solidFill>
              </a:rPr>
              <a:t>identifies</a:t>
            </a:r>
            <a:r>
              <a:rPr lang="ru-RU" sz="1600" dirty="0">
                <a:solidFill>
                  <a:schemeClr val="bg2">
                    <a:lumMod val="50000"/>
                  </a:schemeClr>
                </a:solidFill>
              </a:rPr>
              <a:t> </a:t>
            </a:r>
            <a:r>
              <a:rPr lang="ru-RU" sz="1600" dirty="0" err="1">
                <a:solidFill>
                  <a:schemeClr val="bg2">
                    <a:lumMod val="50000"/>
                  </a:schemeClr>
                </a:solidFill>
              </a:rPr>
              <a:t>risks</a:t>
            </a:r>
            <a:r>
              <a:rPr lang="ru-RU" sz="1600" dirty="0">
                <a:solidFill>
                  <a:schemeClr val="bg2">
                    <a:lumMod val="50000"/>
                  </a:schemeClr>
                </a:solidFill>
              </a:rPr>
              <a:t>, </a:t>
            </a:r>
            <a:r>
              <a:rPr lang="ru-RU" sz="1600" dirty="0" err="1">
                <a:solidFill>
                  <a:schemeClr val="bg2">
                    <a:lumMod val="50000"/>
                  </a:schemeClr>
                </a:solidFill>
              </a:rPr>
              <a:t>skills</a:t>
            </a:r>
            <a:r>
              <a:rPr lang="ru-RU" sz="1600" dirty="0">
                <a:solidFill>
                  <a:schemeClr val="bg2">
                    <a:lumMod val="50000"/>
                  </a:schemeClr>
                </a:solidFill>
              </a:rPr>
              <a:t>, </a:t>
            </a:r>
            <a:r>
              <a:rPr lang="ru-RU" sz="1600" dirty="0" err="1">
                <a:solidFill>
                  <a:schemeClr val="bg2">
                    <a:lumMod val="50000"/>
                  </a:schemeClr>
                </a:solidFill>
              </a:rPr>
              <a:t>and</a:t>
            </a:r>
            <a:r>
              <a:rPr lang="ru-RU" sz="1600" dirty="0">
                <a:solidFill>
                  <a:schemeClr val="bg2">
                    <a:lumMod val="50000"/>
                  </a:schemeClr>
                </a:solidFill>
              </a:rPr>
              <a:t> </a:t>
            </a:r>
            <a:r>
              <a:rPr lang="ru-RU" sz="1600" dirty="0" err="1">
                <a:solidFill>
                  <a:schemeClr val="bg2">
                    <a:lumMod val="50000"/>
                  </a:schemeClr>
                </a:solidFill>
              </a:rPr>
              <a:t>strategies</a:t>
            </a:r>
            <a:r>
              <a:rPr lang="ru-RU" sz="1600" dirty="0">
                <a:solidFill>
                  <a:schemeClr val="bg2">
                    <a:lumMod val="50000"/>
                  </a:schemeClr>
                </a:solidFill>
              </a:rPr>
              <a:t> </a:t>
            </a:r>
            <a:r>
              <a:rPr lang="ru-RU" sz="1600" dirty="0" err="1">
                <a:solidFill>
                  <a:schemeClr val="bg2">
                    <a:lumMod val="50000"/>
                  </a:schemeClr>
                </a:solidFill>
              </a:rPr>
              <a:t>in</a:t>
            </a:r>
            <a:r>
              <a:rPr lang="ru-RU" sz="1600" dirty="0">
                <a:solidFill>
                  <a:schemeClr val="bg2">
                    <a:lumMod val="50000"/>
                  </a:schemeClr>
                </a:solidFill>
              </a:rPr>
              <a:t> </a:t>
            </a:r>
            <a:r>
              <a:rPr lang="ru-RU" sz="1600" dirty="0" err="1">
                <a:solidFill>
                  <a:schemeClr val="bg2">
                    <a:lumMod val="50000"/>
                  </a:schemeClr>
                </a:solidFill>
              </a:rPr>
              <a:t>their</a:t>
            </a:r>
            <a:r>
              <a:rPr lang="ru-RU" sz="1600" dirty="0">
                <a:solidFill>
                  <a:schemeClr val="bg2">
                    <a:lumMod val="50000"/>
                  </a:schemeClr>
                </a:solidFill>
              </a:rPr>
              <a:t> </a:t>
            </a:r>
            <a:r>
              <a:rPr lang="ru-RU" sz="1600" dirty="0" err="1">
                <a:solidFill>
                  <a:schemeClr val="bg2">
                    <a:lumMod val="50000"/>
                  </a:schemeClr>
                </a:solidFill>
              </a:rPr>
              <a:t>professional</a:t>
            </a:r>
            <a:r>
              <a:rPr lang="ru-RU" sz="1600" dirty="0">
                <a:solidFill>
                  <a:schemeClr val="bg2">
                    <a:lumMod val="50000"/>
                  </a:schemeClr>
                </a:solidFill>
              </a:rPr>
              <a:t> </a:t>
            </a:r>
            <a:r>
              <a:rPr lang="ru-RU" sz="1600" dirty="0" err="1">
                <a:solidFill>
                  <a:schemeClr val="bg2">
                    <a:lumMod val="50000"/>
                  </a:schemeClr>
                </a:solidFill>
              </a:rPr>
              <a:t>field</a:t>
            </a:r>
            <a:r>
              <a:rPr lang="ru-RU" sz="1600" dirty="0">
                <a:solidFill>
                  <a:schemeClr val="bg2">
                    <a:lumMod val="50000"/>
                  </a:schemeClr>
                </a:solidFill>
              </a:rPr>
              <a:t>.</a:t>
            </a:r>
            <a:endParaRPr lang="ru-RU" sz="1600" dirty="0"/>
          </a:p>
          <a:p>
            <a:endParaRPr lang="ru-RU" dirty="0"/>
          </a:p>
        </p:txBody>
      </p:sp>
      <p:grpSp>
        <p:nvGrpSpPr>
          <p:cNvPr id="4" name="Google Shape;463;p30">
            <a:extLst>
              <a:ext uri="{FF2B5EF4-FFF2-40B4-BE49-F238E27FC236}">
                <a16:creationId xmlns:a16="http://schemas.microsoft.com/office/drawing/2014/main" id="{5919F4AD-1387-46F3-A10E-0C1F5AE2F9A8}"/>
              </a:ext>
            </a:extLst>
          </p:cNvPr>
          <p:cNvGrpSpPr/>
          <p:nvPr/>
        </p:nvGrpSpPr>
        <p:grpSpPr>
          <a:xfrm>
            <a:off x="364202" y="4683792"/>
            <a:ext cx="1309796" cy="257750"/>
            <a:chOff x="-6337521" y="4362225"/>
            <a:chExt cx="1309796" cy="257750"/>
          </a:xfrm>
        </p:grpSpPr>
        <p:sp>
          <p:nvSpPr>
            <p:cNvPr id="5" name="Google Shape;464;p30">
              <a:extLst>
                <a:ext uri="{FF2B5EF4-FFF2-40B4-BE49-F238E27FC236}">
                  <a16:creationId xmlns:a16="http://schemas.microsoft.com/office/drawing/2014/main" id="{8DA9DE98-3EBB-4912-BAC9-F42C4CBCD20A}"/>
                </a:ext>
              </a:extLst>
            </p:cNvPr>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65;p30">
              <a:extLst>
                <a:ext uri="{FF2B5EF4-FFF2-40B4-BE49-F238E27FC236}">
                  <a16:creationId xmlns:a16="http://schemas.microsoft.com/office/drawing/2014/main" id="{1395F760-9F75-4C9E-9AA2-BB631EDF5C4A}"/>
                </a:ext>
              </a:extLst>
            </p:cNvPr>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66;p30">
              <a:extLst>
                <a:ext uri="{FF2B5EF4-FFF2-40B4-BE49-F238E27FC236}">
                  <a16:creationId xmlns:a16="http://schemas.microsoft.com/office/drawing/2014/main" id="{6D073784-F1EE-4E5F-A1AA-C97F49EDC442}"/>
                </a:ext>
              </a:extLst>
            </p:cNvPr>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67;p30">
              <a:extLst>
                <a:ext uri="{FF2B5EF4-FFF2-40B4-BE49-F238E27FC236}">
                  <a16:creationId xmlns:a16="http://schemas.microsoft.com/office/drawing/2014/main" id="{B1AE6ED2-F410-4CD3-BB8B-0BD8E8505130}"/>
                </a:ext>
              </a:extLst>
            </p:cNvPr>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68;p30">
              <a:extLst>
                <a:ext uri="{FF2B5EF4-FFF2-40B4-BE49-F238E27FC236}">
                  <a16:creationId xmlns:a16="http://schemas.microsoft.com/office/drawing/2014/main" id="{7CC7114B-4ABD-426D-8B88-555344E78074}"/>
                </a:ext>
              </a:extLst>
            </p:cNvPr>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69;p30">
              <a:extLst>
                <a:ext uri="{FF2B5EF4-FFF2-40B4-BE49-F238E27FC236}">
                  <a16:creationId xmlns:a16="http://schemas.microsoft.com/office/drawing/2014/main" id="{5B0A73B1-457F-438E-84A8-AA5838FF9BC0}"/>
                </a:ext>
              </a:extLst>
            </p:cNvPr>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70;p30">
              <a:extLst>
                <a:ext uri="{FF2B5EF4-FFF2-40B4-BE49-F238E27FC236}">
                  <a16:creationId xmlns:a16="http://schemas.microsoft.com/office/drawing/2014/main" id="{1B659A69-332A-42A9-9D49-140258653957}"/>
                </a:ext>
              </a:extLst>
            </p:cNvPr>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71;p30">
              <a:extLst>
                <a:ext uri="{FF2B5EF4-FFF2-40B4-BE49-F238E27FC236}">
                  <a16:creationId xmlns:a16="http://schemas.microsoft.com/office/drawing/2014/main" id="{6E4D4BFC-B392-4A16-ABC6-3607AA3F8457}"/>
                </a:ext>
              </a:extLst>
            </p:cNvPr>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72;p30">
              <a:extLst>
                <a:ext uri="{FF2B5EF4-FFF2-40B4-BE49-F238E27FC236}">
                  <a16:creationId xmlns:a16="http://schemas.microsoft.com/office/drawing/2014/main" id="{22316CB3-FA12-4268-B11A-A054B12DD151}"/>
                </a:ext>
              </a:extLst>
            </p:cNvPr>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73;p30">
              <a:extLst>
                <a:ext uri="{FF2B5EF4-FFF2-40B4-BE49-F238E27FC236}">
                  <a16:creationId xmlns:a16="http://schemas.microsoft.com/office/drawing/2014/main" id="{A2D8F7FD-8E69-4990-AEE3-09C1C8D9984E}"/>
                </a:ext>
              </a:extLst>
            </p:cNvPr>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456;p30">
            <a:extLst>
              <a:ext uri="{FF2B5EF4-FFF2-40B4-BE49-F238E27FC236}">
                <a16:creationId xmlns:a16="http://schemas.microsoft.com/office/drawing/2014/main" id="{C354D554-89C6-498C-BEC4-4ED63B2710FB}"/>
              </a:ext>
            </a:extLst>
          </p:cNvPr>
          <p:cNvGrpSpPr/>
          <p:nvPr/>
        </p:nvGrpSpPr>
        <p:grpSpPr>
          <a:xfrm rot="16200000">
            <a:off x="7365694" y="-144521"/>
            <a:ext cx="1633786" cy="1922827"/>
            <a:chOff x="4714200" y="683716"/>
            <a:chExt cx="4429800" cy="4466709"/>
          </a:xfrm>
        </p:grpSpPr>
        <p:sp>
          <p:nvSpPr>
            <p:cNvPr id="27" name="Google Shape;457;p30">
              <a:extLst>
                <a:ext uri="{FF2B5EF4-FFF2-40B4-BE49-F238E27FC236}">
                  <a16:creationId xmlns:a16="http://schemas.microsoft.com/office/drawing/2014/main" id="{CEBCD461-A415-4E7B-A843-ABC13332060E}"/>
                </a:ext>
              </a:extLst>
            </p:cNvPr>
            <p:cNvSpPr/>
            <p:nvPr/>
          </p:nvSpPr>
          <p:spPr>
            <a:xfrm flipH="1">
              <a:off x="4714200" y="783325"/>
              <a:ext cx="4429800" cy="4367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58;p30">
              <a:extLst>
                <a:ext uri="{FF2B5EF4-FFF2-40B4-BE49-F238E27FC236}">
                  <a16:creationId xmlns:a16="http://schemas.microsoft.com/office/drawing/2014/main" id="{36F3970D-E583-417B-BB1F-C1B5A64ACD16}"/>
                </a:ext>
              </a:extLst>
            </p:cNvPr>
            <p:cNvSpPr/>
            <p:nvPr/>
          </p:nvSpPr>
          <p:spPr>
            <a:xfrm rot="-2700000">
              <a:off x="7675121" y="1303413"/>
              <a:ext cx="996172" cy="114976"/>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59;p30">
              <a:extLst>
                <a:ext uri="{FF2B5EF4-FFF2-40B4-BE49-F238E27FC236}">
                  <a16:creationId xmlns:a16="http://schemas.microsoft.com/office/drawing/2014/main" id="{AC66DEEE-826D-48E9-B4F5-7FFC14B45769}"/>
                </a:ext>
              </a:extLst>
            </p:cNvPr>
            <p:cNvSpPr/>
            <p:nvPr/>
          </p:nvSpPr>
          <p:spPr>
            <a:xfrm rot="-2699590">
              <a:off x="4984509" y="3275203"/>
              <a:ext cx="1780000" cy="32668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60;p30">
              <a:extLst>
                <a:ext uri="{FF2B5EF4-FFF2-40B4-BE49-F238E27FC236}">
                  <a16:creationId xmlns:a16="http://schemas.microsoft.com/office/drawing/2014/main" id="{A2E1F348-C259-4DFE-B241-2087F7A4D900}"/>
                </a:ext>
              </a:extLst>
            </p:cNvPr>
            <p:cNvSpPr/>
            <p:nvPr/>
          </p:nvSpPr>
          <p:spPr>
            <a:xfrm rot="-2699590">
              <a:off x="7108289" y="2092651"/>
              <a:ext cx="1780000" cy="32668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61;p30">
              <a:extLst>
                <a:ext uri="{FF2B5EF4-FFF2-40B4-BE49-F238E27FC236}">
                  <a16:creationId xmlns:a16="http://schemas.microsoft.com/office/drawing/2014/main" id="{CB7843CC-73B5-4D8A-B5A1-D736CF34F006}"/>
                </a:ext>
              </a:extLst>
            </p:cNvPr>
            <p:cNvSpPr/>
            <p:nvPr/>
          </p:nvSpPr>
          <p:spPr>
            <a:xfrm rot="-2699590">
              <a:off x="6792716" y="1243005"/>
              <a:ext cx="1780000" cy="47772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62;p30">
              <a:extLst>
                <a:ext uri="{FF2B5EF4-FFF2-40B4-BE49-F238E27FC236}">
                  <a16:creationId xmlns:a16="http://schemas.microsoft.com/office/drawing/2014/main" id="{D35F84B9-B6D7-4BF6-9F25-978B0ADF45EF}"/>
                </a:ext>
              </a:extLst>
            </p:cNvPr>
            <p:cNvSpPr/>
            <p:nvPr/>
          </p:nvSpPr>
          <p:spPr>
            <a:xfrm rot="-2699590">
              <a:off x="5127485" y="3849460"/>
              <a:ext cx="1780000" cy="47772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463;p30">
            <a:extLst>
              <a:ext uri="{FF2B5EF4-FFF2-40B4-BE49-F238E27FC236}">
                <a16:creationId xmlns:a16="http://schemas.microsoft.com/office/drawing/2014/main" id="{51BB0CBE-F47D-492A-9B12-39619D0E95B9}"/>
              </a:ext>
            </a:extLst>
          </p:cNvPr>
          <p:cNvGrpSpPr/>
          <p:nvPr/>
        </p:nvGrpSpPr>
        <p:grpSpPr>
          <a:xfrm>
            <a:off x="7616852" y="4775767"/>
            <a:ext cx="1309796" cy="257750"/>
            <a:chOff x="-6337521" y="4362225"/>
            <a:chExt cx="1309796" cy="257750"/>
          </a:xfrm>
        </p:grpSpPr>
        <p:sp>
          <p:nvSpPr>
            <p:cNvPr id="34" name="Google Shape;464;p30">
              <a:extLst>
                <a:ext uri="{FF2B5EF4-FFF2-40B4-BE49-F238E27FC236}">
                  <a16:creationId xmlns:a16="http://schemas.microsoft.com/office/drawing/2014/main" id="{5695E5D3-1492-4357-B963-076131C053E4}"/>
                </a:ext>
              </a:extLst>
            </p:cNvPr>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65;p30">
              <a:extLst>
                <a:ext uri="{FF2B5EF4-FFF2-40B4-BE49-F238E27FC236}">
                  <a16:creationId xmlns:a16="http://schemas.microsoft.com/office/drawing/2014/main" id="{BA610B29-7E21-463D-A1EC-554C58C67767}"/>
                </a:ext>
              </a:extLst>
            </p:cNvPr>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66;p30">
              <a:extLst>
                <a:ext uri="{FF2B5EF4-FFF2-40B4-BE49-F238E27FC236}">
                  <a16:creationId xmlns:a16="http://schemas.microsoft.com/office/drawing/2014/main" id="{AC04928F-7345-4AE1-8A1A-2DEC4A8BB843}"/>
                </a:ext>
              </a:extLst>
            </p:cNvPr>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67;p30">
              <a:extLst>
                <a:ext uri="{FF2B5EF4-FFF2-40B4-BE49-F238E27FC236}">
                  <a16:creationId xmlns:a16="http://schemas.microsoft.com/office/drawing/2014/main" id="{EE2193A7-4D42-4BF0-917E-63F7FE90BBD0}"/>
                </a:ext>
              </a:extLst>
            </p:cNvPr>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68;p30">
              <a:extLst>
                <a:ext uri="{FF2B5EF4-FFF2-40B4-BE49-F238E27FC236}">
                  <a16:creationId xmlns:a16="http://schemas.microsoft.com/office/drawing/2014/main" id="{27F7054D-44C7-422A-AF9F-E7E425E7AB0F}"/>
                </a:ext>
              </a:extLst>
            </p:cNvPr>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69;p30">
              <a:extLst>
                <a:ext uri="{FF2B5EF4-FFF2-40B4-BE49-F238E27FC236}">
                  <a16:creationId xmlns:a16="http://schemas.microsoft.com/office/drawing/2014/main" id="{D4008EA9-D12E-4F63-A351-B03DEDAC3FF8}"/>
                </a:ext>
              </a:extLst>
            </p:cNvPr>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70;p30">
              <a:extLst>
                <a:ext uri="{FF2B5EF4-FFF2-40B4-BE49-F238E27FC236}">
                  <a16:creationId xmlns:a16="http://schemas.microsoft.com/office/drawing/2014/main" id="{31451310-91F2-4DAC-83EA-ADFAF4979A27}"/>
                </a:ext>
              </a:extLst>
            </p:cNvPr>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71;p30">
              <a:extLst>
                <a:ext uri="{FF2B5EF4-FFF2-40B4-BE49-F238E27FC236}">
                  <a16:creationId xmlns:a16="http://schemas.microsoft.com/office/drawing/2014/main" id="{E3DD9F52-D448-4203-8F16-6FC94A7D4286}"/>
                </a:ext>
              </a:extLst>
            </p:cNvPr>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72;p30">
              <a:extLst>
                <a:ext uri="{FF2B5EF4-FFF2-40B4-BE49-F238E27FC236}">
                  <a16:creationId xmlns:a16="http://schemas.microsoft.com/office/drawing/2014/main" id="{4841CDD8-C6F9-4CE7-AF65-D142B70DBC2F}"/>
                </a:ext>
              </a:extLst>
            </p:cNvPr>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73;p30">
              <a:extLst>
                <a:ext uri="{FF2B5EF4-FFF2-40B4-BE49-F238E27FC236}">
                  <a16:creationId xmlns:a16="http://schemas.microsoft.com/office/drawing/2014/main" id="{BA10C63F-D7C0-4187-A532-6E8857145E04}"/>
                </a:ext>
              </a:extLst>
            </p:cNvPr>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1568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549640" y="274320"/>
            <a:ext cx="54864" cy="54864"/>
          </a:xfrm>
          <a:prstGeom prst="ellipse">
            <a:avLst/>
          </a:prstGeom>
          <a:solidFill>
            <a:srgbClr val="6194E6"/>
          </a:solidFill>
          <a:ln/>
        </p:spPr>
        <p:txBody>
          <a:bodyPr/>
          <a:lstStyle/>
          <a:p>
            <a:endParaRPr lang="ru-RU"/>
          </a:p>
        </p:txBody>
      </p:sp>
      <p:sp>
        <p:nvSpPr>
          <p:cNvPr id="3" name="Shape 1"/>
          <p:cNvSpPr/>
          <p:nvPr/>
        </p:nvSpPr>
        <p:spPr>
          <a:xfrm>
            <a:off x="8686800" y="274320"/>
            <a:ext cx="54864" cy="54864"/>
          </a:xfrm>
          <a:prstGeom prst="ellipse">
            <a:avLst/>
          </a:prstGeom>
          <a:solidFill>
            <a:srgbClr val="6194E6"/>
          </a:solidFill>
          <a:ln/>
        </p:spPr>
        <p:txBody>
          <a:bodyPr/>
          <a:lstStyle/>
          <a:p>
            <a:endParaRPr lang="ru-RU"/>
          </a:p>
        </p:txBody>
      </p:sp>
      <p:sp>
        <p:nvSpPr>
          <p:cNvPr id="4" name="Shape 2"/>
          <p:cNvSpPr/>
          <p:nvPr/>
        </p:nvSpPr>
        <p:spPr>
          <a:xfrm>
            <a:off x="8823960" y="274320"/>
            <a:ext cx="54864" cy="54864"/>
          </a:xfrm>
          <a:prstGeom prst="ellipse">
            <a:avLst/>
          </a:prstGeom>
          <a:solidFill>
            <a:srgbClr val="6194E6"/>
          </a:solidFill>
          <a:ln/>
        </p:spPr>
        <p:txBody>
          <a:bodyPr/>
          <a:lstStyle/>
          <a:p>
            <a:endParaRPr lang="ru-RU"/>
          </a:p>
        </p:txBody>
      </p:sp>
      <p:sp>
        <p:nvSpPr>
          <p:cNvPr id="5" name="Shape 3"/>
          <p:cNvSpPr/>
          <p:nvPr/>
        </p:nvSpPr>
        <p:spPr>
          <a:xfrm>
            <a:off x="8549640" y="411480"/>
            <a:ext cx="54864" cy="54864"/>
          </a:xfrm>
          <a:prstGeom prst="ellipse">
            <a:avLst/>
          </a:prstGeom>
          <a:solidFill>
            <a:srgbClr val="6194E6"/>
          </a:solidFill>
          <a:ln/>
        </p:spPr>
        <p:txBody>
          <a:bodyPr/>
          <a:lstStyle/>
          <a:p>
            <a:endParaRPr lang="ru-RU"/>
          </a:p>
        </p:txBody>
      </p:sp>
      <p:sp>
        <p:nvSpPr>
          <p:cNvPr id="6" name="Shape 4"/>
          <p:cNvSpPr/>
          <p:nvPr/>
        </p:nvSpPr>
        <p:spPr>
          <a:xfrm>
            <a:off x="8686800" y="411480"/>
            <a:ext cx="54864" cy="54864"/>
          </a:xfrm>
          <a:prstGeom prst="ellipse">
            <a:avLst/>
          </a:prstGeom>
          <a:solidFill>
            <a:srgbClr val="6194E6"/>
          </a:solidFill>
          <a:ln/>
        </p:spPr>
        <p:txBody>
          <a:bodyPr/>
          <a:lstStyle/>
          <a:p>
            <a:endParaRPr lang="ru-RU"/>
          </a:p>
        </p:txBody>
      </p:sp>
      <p:sp>
        <p:nvSpPr>
          <p:cNvPr id="7" name="Shape 5"/>
          <p:cNvSpPr/>
          <p:nvPr/>
        </p:nvSpPr>
        <p:spPr>
          <a:xfrm>
            <a:off x="8823960" y="411480"/>
            <a:ext cx="54864" cy="54864"/>
          </a:xfrm>
          <a:prstGeom prst="ellipse">
            <a:avLst/>
          </a:prstGeom>
          <a:solidFill>
            <a:srgbClr val="6194E6"/>
          </a:solidFill>
          <a:ln/>
        </p:spPr>
        <p:txBody>
          <a:bodyPr/>
          <a:lstStyle/>
          <a:p>
            <a:endParaRPr lang="ru-RU"/>
          </a:p>
        </p:txBody>
      </p:sp>
      <p:sp>
        <p:nvSpPr>
          <p:cNvPr id="8" name="Shape 6"/>
          <p:cNvSpPr/>
          <p:nvPr/>
        </p:nvSpPr>
        <p:spPr>
          <a:xfrm>
            <a:off x="320040" y="4800600"/>
            <a:ext cx="54864" cy="54864"/>
          </a:xfrm>
          <a:prstGeom prst="ellipse">
            <a:avLst/>
          </a:prstGeom>
          <a:solidFill>
            <a:srgbClr val="B7B7B7"/>
          </a:solidFill>
          <a:ln/>
        </p:spPr>
        <p:txBody>
          <a:bodyPr/>
          <a:lstStyle/>
          <a:p>
            <a:endParaRPr lang="ru-RU"/>
          </a:p>
        </p:txBody>
      </p:sp>
      <p:sp>
        <p:nvSpPr>
          <p:cNvPr id="9" name="Shape 7"/>
          <p:cNvSpPr/>
          <p:nvPr/>
        </p:nvSpPr>
        <p:spPr>
          <a:xfrm>
            <a:off x="457200" y="4800600"/>
            <a:ext cx="54864" cy="54864"/>
          </a:xfrm>
          <a:prstGeom prst="ellipse">
            <a:avLst/>
          </a:prstGeom>
          <a:solidFill>
            <a:srgbClr val="B7B7B7"/>
          </a:solidFill>
          <a:ln/>
        </p:spPr>
        <p:txBody>
          <a:bodyPr/>
          <a:lstStyle/>
          <a:p>
            <a:endParaRPr lang="ru-RU"/>
          </a:p>
        </p:txBody>
      </p:sp>
      <p:sp>
        <p:nvSpPr>
          <p:cNvPr id="10" name="Shape 8"/>
          <p:cNvSpPr/>
          <p:nvPr/>
        </p:nvSpPr>
        <p:spPr>
          <a:xfrm>
            <a:off x="594360" y="4800600"/>
            <a:ext cx="54864" cy="54864"/>
          </a:xfrm>
          <a:prstGeom prst="ellipse">
            <a:avLst/>
          </a:prstGeom>
          <a:solidFill>
            <a:srgbClr val="B7B7B7"/>
          </a:solidFill>
          <a:ln/>
        </p:spPr>
        <p:txBody>
          <a:bodyPr/>
          <a:lstStyle/>
          <a:p>
            <a:endParaRPr lang="ru-RU"/>
          </a:p>
        </p:txBody>
      </p:sp>
      <p:sp>
        <p:nvSpPr>
          <p:cNvPr id="11" name="Shape 9"/>
          <p:cNvSpPr/>
          <p:nvPr/>
        </p:nvSpPr>
        <p:spPr>
          <a:xfrm>
            <a:off x="320040" y="4937760"/>
            <a:ext cx="54864" cy="54864"/>
          </a:xfrm>
          <a:prstGeom prst="ellipse">
            <a:avLst/>
          </a:prstGeom>
          <a:solidFill>
            <a:srgbClr val="B7B7B7"/>
          </a:solidFill>
          <a:ln/>
        </p:spPr>
        <p:txBody>
          <a:bodyPr/>
          <a:lstStyle/>
          <a:p>
            <a:endParaRPr lang="ru-RU"/>
          </a:p>
        </p:txBody>
      </p:sp>
      <p:sp>
        <p:nvSpPr>
          <p:cNvPr id="13" name="Shape 11"/>
          <p:cNvSpPr/>
          <p:nvPr/>
        </p:nvSpPr>
        <p:spPr>
          <a:xfrm>
            <a:off x="594360" y="4937760"/>
            <a:ext cx="54864" cy="54864"/>
          </a:xfrm>
          <a:prstGeom prst="ellipse">
            <a:avLst/>
          </a:prstGeom>
          <a:solidFill>
            <a:srgbClr val="B7B7B7"/>
          </a:solidFill>
          <a:ln/>
        </p:spPr>
        <p:txBody>
          <a:bodyPr/>
          <a:lstStyle/>
          <a:p>
            <a:endParaRPr lang="ru-RU"/>
          </a:p>
        </p:txBody>
      </p:sp>
      <p:sp>
        <p:nvSpPr>
          <p:cNvPr id="14" name="Text 12"/>
          <p:cNvSpPr/>
          <p:nvPr/>
        </p:nvSpPr>
        <p:spPr>
          <a:xfrm>
            <a:off x="539496" y="64831"/>
            <a:ext cx="8138160" cy="566928"/>
          </a:xfrm>
          <a:prstGeom prst="rect">
            <a:avLst/>
          </a:prstGeom>
          <a:noFill/>
          <a:ln/>
        </p:spPr>
        <p:txBody>
          <a:bodyPr wrap="square" rtlCol="0" anchor="ctr"/>
          <a:lstStyle/>
          <a:p>
            <a:r>
              <a:rPr lang="en-US" sz="2000" b="1" dirty="0">
                <a:solidFill>
                  <a:schemeClr val="dk1"/>
                </a:solidFill>
                <a:latin typeface="Manrope"/>
                <a:sym typeface="Archivo Black"/>
              </a:rPr>
              <a:t>Warm Up: Policy Brief or Scientific Article.</a:t>
            </a:r>
          </a:p>
        </p:txBody>
      </p:sp>
      <p:sp>
        <p:nvSpPr>
          <p:cNvPr id="16" name="Text 14"/>
          <p:cNvSpPr/>
          <p:nvPr/>
        </p:nvSpPr>
        <p:spPr>
          <a:xfrm>
            <a:off x="8503920" y="4901184"/>
            <a:ext cx="365760" cy="201168"/>
          </a:xfrm>
          <a:prstGeom prst="rect">
            <a:avLst/>
          </a:prstGeom>
          <a:noFill/>
          <a:ln/>
        </p:spPr>
        <p:txBody>
          <a:bodyPr wrap="square" rtlCol="0" anchor="ctr"/>
          <a:lstStyle/>
          <a:p>
            <a:pPr marL="0" indent="0" algn="r">
              <a:buNone/>
            </a:pPr>
            <a:r>
              <a:rPr lang="en-US" sz="800" dirty="0">
                <a:solidFill>
                  <a:srgbClr val="B7B7B7"/>
                </a:solidFill>
                <a:latin typeface="Calibri" pitchFamily="34" charset="0"/>
                <a:ea typeface="Calibri" pitchFamily="34" charset="-122"/>
                <a:cs typeface="Calibri" pitchFamily="34" charset="-120"/>
              </a:rPr>
              <a:t>6</a:t>
            </a:r>
            <a:endParaRPr lang="en-US" sz="800" dirty="0"/>
          </a:p>
        </p:txBody>
      </p:sp>
      <p:sp>
        <p:nvSpPr>
          <p:cNvPr id="17" name="Text 15"/>
          <p:cNvSpPr/>
          <p:nvPr/>
        </p:nvSpPr>
        <p:spPr>
          <a:xfrm>
            <a:off x="539496" y="714055"/>
            <a:ext cx="8138160" cy="320040"/>
          </a:xfrm>
          <a:prstGeom prst="rect">
            <a:avLst/>
          </a:prstGeom>
          <a:noFill/>
          <a:ln/>
        </p:spPr>
        <p:txBody>
          <a:bodyPr wrap="square" rtlCol="0" anchor="ctr"/>
          <a:lstStyle/>
          <a:p>
            <a:pPr marL="0" indent="0">
              <a:buNone/>
            </a:pPr>
            <a:r>
              <a:rPr lang="en-US" dirty="0">
                <a:solidFill>
                  <a:schemeClr val="dk1"/>
                </a:solidFill>
                <a:latin typeface="Manrope"/>
              </a:rPr>
              <a:t>Read each statement and tag it PB (Policy Brief) or SA (Scientific Article).</a:t>
            </a:r>
          </a:p>
        </p:txBody>
      </p:sp>
      <p:sp>
        <p:nvSpPr>
          <p:cNvPr id="18" name="Shape 16"/>
          <p:cNvSpPr/>
          <p:nvPr/>
        </p:nvSpPr>
        <p:spPr>
          <a:xfrm>
            <a:off x="502920" y="129844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19" name="Text 17"/>
          <p:cNvSpPr/>
          <p:nvPr/>
        </p:nvSpPr>
        <p:spPr>
          <a:xfrm>
            <a:off x="612648" y="1298448"/>
            <a:ext cx="3246120" cy="512064"/>
          </a:xfrm>
          <a:prstGeom prst="rect">
            <a:avLst/>
          </a:prstGeom>
          <a:noFill/>
          <a:ln/>
        </p:spPr>
        <p:txBody>
          <a:bodyPr wrap="square" rtlCol="0" anchor="ctr"/>
          <a:lstStyle/>
          <a:p>
            <a:pPr marL="0" indent="0">
              <a:buNone/>
            </a:pPr>
            <a:r>
              <a:rPr lang="en-US" sz="1200" dirty="0">
                <a:solidFill>
                  <a:schemeClr val="dk1"/>
                </a:solidFill>
                <a:latin typeface="Manrope"/>
              </a:rPr>
              <a:t>Geared towards readers who have limited time to make a practical decision.</a:t>
            </a:r>
          </a:p>
        </p:txBody>
      </p:sp>
      <p:sp>
        <p:nvSpPr>
          <p:cNvPr id="21" name="Shape 19"/>
          <p:cNvSpPr/>
          <p:nvPr/>
        </p:nvSpPr>
        <p:spPr>
          <a:xfrm>
            <a:off x="502920" y="189280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22" name="Text 20"/>
          <p:cNvSpPr/>
          <p:nvPr/>
        </p:nvSpPr>
        <p:spPr>
          <a:xfrm>
            <a:off x="612648" y="1892808"/>
            <a:ext cx="3246120" cy="512064"/>
          </a:xfrm>
          <a:prstGeom prst="rect">
            <a:avLst/>
          </a:prstGeom>
          <a:noFill/>
          <a:ln/>
        </p:spPr>
        <p:txBody>
          <a:bodyPr wrap="square" rtlCol="0" anchor="ctr"/>
          <a:lstStyle/>
          <a:p>
            <a:r>
              <a:rPr lang="en-US" sz="1200" dirty="0">
                <a:solidFill>
                  <a:schemeClr val="dk1"/>
                </a:solidFill>
                <a:latin typeface="Manrope"/>
              </a:rPr>
              <a:t>More academic, focusing on scholarly roots of arguments.</a:t>
            </a:r>
          </a:p>
        </p:txBody>
      </p:sp>
      <p:sp>
        <p:nvSpPr>
          <p:cNvPr id="24" name="Shape 22"/>
          <p:cNvSpPr/>
          <p:nvPr/>
        </p:nvSpPr>
        <p:spPr>
          <a:xfrm>
            <a:off x="502920" y="248716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25" name="Text 23"/>
          <p:cNvSpPr/>
          <p:nvPr/>
        </p:nvSpPr>
        <p:spPr>
          <a:xfrm>
            <a:off x="612648" y="2487168"/>
            <a:ext cx="3246120" cy="512064"/>
          </a:xfrm>
          <a:prstGeom prst="rect">
            <a:avLst/>
          </a:prstGeom>
          <a:noFill/>
          <a:ln/>
        </p:spPr>
        <p:txBody>
          <a:bodyPr wrap="square" rtlCol="0" anchor="ctr"/>
          <a:lstStyle/>
          <a:p>
            <a:pPr marL="0" indent="0">
              <a:buFont typeface="Arial"/>
              <a:buNone/>
            </a:pPr>
            <a:r>
              <a:rPr lang="en-US" sz="1200" dirty="0">
                <a:solidFill>
                  <a:schemeClr val="dk1"/>
                </a:solidFill>
                <a:latin typeface="Manrope"/>
              </a:rPr>
              <a:t>Front-loaded: the conclusions are on the front page.</a:t>
            </a:r>
          </a:p>
        </p:txBody>
      </p:sp>
      <p:sp>
        <p:nvSpPr>
          <p:cNvPr id="27" name="Shape 25"/>
          <p:cNvSpPr/>
          <p:nvPr/>
        </p:nvSpPr>
        <p:spPr>
          <a:xfrm>
            <a:off x="502920" y="308152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28" name="Text 26"/>
          <p:cNvSpPr/>
          <p:nvPr/>
        </p:nvSpPr>
        <p:spPr>
          <a:xfrm>
            <a:off x="612648" y="3081528"/>
            <a:ext cx="3246120" cy="512064"/>
          </a:xfrm>
          <a:prstGeom prst="rect">
            <a:avLst/>
          </a:prstGeom>
          <a:noFill/>
          <a:ln/>
        </p:spPr>
        <p:txBody>
          <a:bodyPr wrap="square" rtlCol="0" anchor="ctr"/>
          <a:lstStyle/>
          <a:p>
            <a:r>
              <a:rPr lang="en-US" sz="1200" dirty="0">
                <a:solidFill>
                  <a:schemeClr val="dk1"/>
                </a:solidFill>
                <a:latin typeface="Manrope"/>
              </a:rPr>
              <a:t>Rear-loaded: results and conclusions are at the end.</a:t>
            </a:r>
          </a:p>
        </p:txBody>
      </p:sp>
      <p:sp>
        <p:nvSpPr>
          <p:cNvPr id="30" name="Shape 28"/>
          <p:cNvSpPr/>
          <p:nvPr/>
        </p:nvSpPr>
        <p:spPr>
          <a:xfrm>
            <a:off x="502920" y="367588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31" name="Text 29"/>
          <p:cNvSpPr/>
          <p:nvPr/>
        </p:nvSpPr>
        <p:spPr>
          <a:xfrm>
            <a:off x="612648" y="3675888"/>
            <a:ext cx="3246120" cy="512064"/>
          </a:xfrm>
          <a:prstGeom prst="rect">
            <a:avLst/>
          </a:prstGeom>
          <a:noFill/>
          <a:ln/>
        </p:spPr>
        <p:txBody>
          <a:bodyPr wrap="square" rtlCol="0" anchor="ctr"/>
          <a:lstStyle/>
          <a:p>
            <a:pPr marL="0" indent="0">
              <a:buFont typeface="Arial"/>
              <a:buNone/>
            </a:pPr>
            <a:r>
              <a:rPr lang="en-US" sz="1200" dirty="0">
                <a:solidFill>
                  <a:schemeClr val="dk1"/>
                </a:solidFill>
                <a:latin typeface="Manrope"/>
              </a:rPr>
              <a:t>Contains an executive summary (1–2 paragraphs).</a:t>
            </a:r>
          </a:p>
        </p:txBody>
      </p:sp>
      <p:sp>
        <p:nvSpPr>
          <p:cNvPr id="33" name="Shape 31"/>
          <p:cNvSpPr/>
          <p:nvPr/>
        </p:nvSpPr>
        <p:spPr>
          <a:xfrm>
            <a:off x="502920" y="427024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34" name="Text 32"/>
          <p:cNvSpPr/>
          <p:nvPr/>
        </p:nvSpPr>
        <p:spPr>
          <a:xfrm>
            <a:off x="612648" y="4270248"/>
            <a:ext cx="3246120" cy="512064"/>
          </a:xfrm>
          <a:prstGeom prst="rect">
            <a:avLst/>
          </a:prstGeom>
          <a:noFill/>
          <a:ln/>
        </p:spPr>
        <p:txBody>
          <a:bodyPr wrap="square" rtlCol="0" anchor="ctr"/>
          <a:lstStyle/>
          <a:p>
            <a:r>
              <a:rPr lang="en-US" sz="1200" dirty="0">
                <a:solidFill>
                  <a:schemeClr val="dk1"/>
                </a:solidFill>
                <a:latin typeface="Manrope"/>
              </a:rPr>
              <a:t>Contains an abstract (100–300 words).</a:t>
            </a:r>
          </a:p>
        </p:txBody>
      </p:sp>
      <p:sp>
        <p:nvSpPr>
          <p:cNvPr id="36" name="Shape 34"/>
          <p:cNvSpPr/>
          <p:nvPr/>
        </p:nvSpPr>
        <p:spPr>
          <a:xfrm>
            <a:off x="4709160" y="129844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37" name="Text 35"/>
          <p:cNvSpPr/>
          <p:nvPr/>
        </p:nvSpPr>
        <p:spPr>
          <a:xfrm>
            <a:off x="4818888" y="1298448"/>
            <a:ext cx="3246120" cy="512064"/>
          </a:xfrm>
          <a:prstGeom prst="rect">
            <a:avLst/>
          </a:prstGeom>
          <a:noFill/>
          <a:ln/>
        </p:spPr>
        <p:txBody>
          <a:bodyPr wrap="square" rtlCol="0" anchor="ctr"/>
          <a:lstStyle/>
          <a:p>
            <a:pPr marL="0" indent="0">
              <a:buFont typeface="Arial"/>
              <a:buNone/>
            </a:pPr>
            <a:r>
              <a:rPr lang="en-US" sz="1200" dirty="0">
                <a:solidFill>
                  <a:schemeClr val="dk1"/>
                </a:solidFill>
                <a:latin typeface="Manrope"/>
              </a:rPr>
              <a:t>Aims to convince decision-makers to take action quickly.</a:t>
            </a:r>
          </a:p>
        </p:txBody>
      </p:sp>
      <p:sp>
        <p:nvSpPr>
          <p:cNvPr id="39" name="Shape 37"/>
          <p:cNvSpPr/>
          <p:nvPr/>
        </p:nvSpPr>
        <p:spPr>
          <a:xfrm>
            <a:off x="4709160" y="189280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40" name="Text 38"/>
          <p:cNvSpPr/>
          <p:nvPr/>
        </p:nvSpPr>
        <p:spPr>
          <a:xfrm>
            <a:off x="4818888" y="1892808"/>
            <a:ext cx="3246120" cy="512064"/>
          </a:xfrm>
          <a:prstGeom prst="rect">
            <a:avLst/>
          </a:prstGeom>
          <a:noFill/>
          <a:ln/>
        </p:spPr>
        <p:txBody>
          <a:bodyPr wrap="square" rtlCol="0" anchor="ctr"/>
          <a:lstStyle/>
          <a:p>
            <a:r>
              <a:rPr lang="en-US" sz="1200" dirty="0">
                <a:solidFill>
                  <a:schemeClr val="dk1"/>
                </a:solidFill>
                <a:latin typeface="Manrope"/>
              </a:rPr>
              <a:t>Aims to present new knowledge to specialists.</a:t>
            </a:r>
          </a:p>
        </p:txBody>
      </p:sp>
      <p:sp>
        <p:nvSpPr>
          <p:cNvPr id="42" name="Shape 40"/>
          <p:cNvSpPr/>
          <p:nvPr/>
        </p:nvSpPr>
        <p:spPr>
          <a:xfrm>
            <a:off x="4709160" y="248716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43" name="Text 41"/>
          <p:cNvSpPr/>
          <p:nvPr/>
        </p:nvSpPr>
        <p:spPr>
          <a:xfrm>
            <a:off x="4818888" y="2487168"/>
            <a:ext cx="3246120" cy="512064"/>
          </a:xfrm>
          <a:prstGeom prst="rect">
            <a:avLst/>
          </a:prstGeom>
          <a:noFill/>
          <a:ln/>
        </p:spPr>
        <p:txBody>
          <a:bodyPr wrap="square" rtlCol="0" anchor="ctr"/>
          <a:lstStyle/>
          <a:p>
            <a:pPr marL="0" indent="0">
              <a:buFont typeface="Arial"/>
              <a:buNone/>
            </a:pPr>
            <a:r>
              <a:rPr lang="en-US" sz="1200" dirty="0">
                <a:solidFill>
                  <a:schemeClr val="dk1"/>
                </a:solidFill>
                <a:latin typeface="Manrope"/>
              </a:rPr>
              <a:t>Written for a professional audience.</a:t>
            </a:r>
          </a:p>
        </p:txBody>
      </p:sp>
      <p:sp>
        <p:nvSpPr>
          <p:cNvPr id="45" name="Shape 43"/>
          <p:cNvSpPr/>
          <p:nvPr/>
        </p:nvSpPr>
        <p:spPr>
          <a:xfrm>
            <a:off x="4709160" y="308152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46" name="Text 44"/>
          <p:cNvSpPr/>
          <p:nvPr/>
        </p:nvSpPr>
        <p:spPr>
          <a:xfrm>
            <a:off x="4818888" y="3081528"/>
            <a:ext cx="3246120" cy="512064"/>
          </a:xfrm>
          <a:prstGeom prst="rect">
            <a:avLst/>
          </a:prstGeom>
          <a:noFill/>
          <a:ln/>
        </p:spPr>
        <p:txBody>
          <a:bodyPr wrap="square" rtlCol="0" anchor="ctr"/>
          <a:lstStyle/>
          <a:p>
            <a:r>
              <a:rPr lang="en-US" sz="1200" dirty="0">
                <a:solidFill>
                  <a:schemeClr val="dk1"/>
                </a:solidFill>
                <a:latin typeface="Manrope"/>
              </a:rPr>
              <a:t>Written for an academic / scholarly audience.</a:t>
            </a:r>
          </a:p>
        </p:txBody>
      </p:sp>
      <p:sp>
        <p:nvSpPr>
          <p:cNvPr id="48" name="Shape 46"/>
          <p:cNvSpPr/>
          <p:nvPr/>
        </p:nvSpPr>
        <p:spPr>
          <a:xfrm>
            <a:off x="4709160" y="367588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49" name="Text 47"/>
          <p:cNvSpPr/>
          <p:nvPr/>
        </p:nvSpPr>
        <p:spPr>
          <a:xfrm>
            <a:off x="4818888" y="3675888"/>
            <a:ext cx="3246120" cy="512064"/>
          </a:xfrm>
          <a:prstGeom prst="rect">
            <a:avLst/>
          </a:prstGeom>
          <a:noFill/>
          <a:ln/>
        </p:spPr>
        <p:txBody>
          <a:bodyPr wrap="square" rtlCol="0" anchor="ctr"/>
          <a:lstStyle/>
          <a:p>
            <a:pPr marL="0" indent="0">
              <a:buFont typeface="Arial"/>
              <a:buNone/>
            </a:pPr>
            <a:r>
              <a:rPr lang="en-US" sz="1200" dirty="0">
                <a:solidFill>
                  <a:schemeClr val="dk1"/>
                </a:solidFill>
                <a:latin typeface="Manrope"/>
              </a:rPr>
              <a:t>Evaluated for intellectual and logical quality.</a:t>
            </a:r>
          </a:p>
        </p:txBody>
      </p:sp>
      <p:sp>
        <p:nvSpPr>
          <p:cNvPr id="51" name="Shape 49"/>
          <p:cNvSpPr/>
          <p:nvPr/>
        </p:nvSpPr>
        <p:spPr>
          <a:xfrm>
            <a:off x="4709160" y="4270248"/>
            <a:ext cx="3840480" cy="512064"/>
          </a:xfrm>
          <a:prstGeom prst="roundRect">
            <a:avLst>
              <a:gd name="adj" fmla="val 8929"/>
            </a:avLst>
          </a:prstGeom>
          <a:solidFill>
            <a:srgbClr val="FFFFFF"/>
          </a:solidFill>
          <a:ln w="12700">
            <a:solidFill>
              <a:srgbClr val="DDE3EC"/>
            </a:solidFill>
            <a:prstDash val="solid"/>
          </a:ln>
        </p:spPr>
        <p:txBody>
          <a:bodyPr/>
          <a:lstStyle/>
          <a:p>
            <a:endParaRPr lang="ru-RU"/>
          </a:p>
        </p:txBody>
      </p:sp>
      <p:sp>
        <p:nvSpPr>
          <p:cNvPr id="52" name="Text 50"/>
          <p:cNvSpPr/>
          <p:nvPr/>
        </p:nvSpPr>
        <p:spPr>
          <a:xfrm>
            <a:off x="4818888" y="4270248"/>
            <a:ext cx="3246120" cy="512064"/>
          </a:xfrm>
          <a:prstGeom prst="rect">
            <a:avLst/>
          </a:prstGeom>
          <a:noFill/>
          <a:ln/>
        </p:spPr>
        <p:txBody>
          <a:bodyPr wrap="square" rtlCol="0" anchor="ctr"/>
          <a:lstStyle/>
          <a:p>
            <a:r>
              <a:rPr lang="en-US" sz="1200" dirty="0">
                <a:solidFill>
                  <a:schemeClr val="dk1"/>
                </a:solidFill>
                <a:latin typeface="Manrope"/>
              </a:rPr>
              <a:t>Peer-reviewed for correctness and methodological robustness.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3504" y="288036"/>
            <a:ext cx="4594860" cy="260604"/>
          </a:xfrm>
          <a:prstGeom prst="rect">
            <a:avLst/>
          </a:prstGeom>
          <a:noFill/>
          <a:ln/>
        </p:spPr>
        <p:txBody>
          <a:bodyPr wrap="square" lIns="0" tIns="0" rIns="0" bIns="0" rtlCol="0" anchor="ctr"/>
          <a:lstStyle/>
          <a:p>
            <a:r>
              <a:rPr lang="en-US" sz="2000" b="1" dirty="0">
                <a:solidFill>
                  <a:schemeClr val="dk1"/>
                </a:solidFill>
                <a:latin typeface="Manrope"/>
              </a:rPr>
              <a:t>What is a Policy Brief?</a:t>
            </a:r>
          </a:p>
        </p:txBody>
      </p:sp>
      <p:sp>
        <p:nvSpPr>
          <p:cNvPr id="4" name="Shape 2"/>
          <p:cNvSpPr/>
          <p:nvPr/>
        </p:nvSpPr>
        <p:spPr>
          <a:xfrm>
            <a:off x="603504" y="973836"/>
            <a:ext cx="2228850" cy="1110996"/>
          </a:xfrm>
          <a:prstGeom prst="roundRect">
            <a:avLst>
              <a:gd name="adj" fmla="val 3086"/>
            </a:avLst>
          </a:prstGeom>
          <a:solidFill>
            <a:srgbClr val="FFFFFF"/>
          </a:solidFill>
          <a:ln w="13970">
            <a:solidFill>
              <a:schemeClr val="tx1">
                <a:lumMod val="90000"/>
                <a:lumOff val="10000"/>
              </a:schemeClr>
            </a:solidFill>
            <a:prstDash val="solid"/>
          </a:ln>
          <a:effectLst>
            <a:outerShdw blurRad="12700" dist="50800" dir="2700000" algn="bl" rotWithShape="0">
              <a:srgbClr val="D9E0EA">
                <a:alpha val="22000"/>
              </a:srgbClr>
            </a:outerShdw>
          </a:effectLst>
        </p:spPr>
        <p:txBody>
          <a:bodyPr/>
          <a:lstStyle/>
          <a:p>
            <a:endParaRPr lang="ru-KZ"/>
          </a:p>
        </p:txBody>
      </p:sp>
      <p:sp>
        <p:nvSpPr>
          <p:cNvPr id="5" name="Shape 3"/>
          <p:cNvSpPr/>
          <p:nvPr/>
        </p:nvSpPr>
        <p:spPr>
          <a:xfrm>
            <a:off x="1549908" y="1083564"/>
            <a:ext cx="329184" cy="329184"/>
          </a:xfrm>
          <a:prstGeom prst="ellipse">
            <a:avLst/>
          </a:prstGeom>
          <a:solidFill>
            <a:srgbClr val="0B294A"/>
          </a:solidFill>
          <a:ln w="12700">
            <a:solidFill>
              <a:srgbClr val="0B294A"/>
            </a:solidFill>
            <a:prstDash val="solid"/>
          </a:ln>
        </p:spPr>
        <p:txBody>
          <a:bodyPr/>
          <a:lstStyle/>
          <a:p>
            <a:endParaRPr lang="ru-KZ"/>
          </a:p>
        </p:txBody>
      </p:sp>
      <p:sp>
        <p:nvSpPr>
          <p:cNvPr id="6" name="Text 4"/>
          <p:cNvSpPr/>
          <p:nvPr/>
        </p:nvSpPr>
        <p:spPr>
          <a:xfrm>
            <a:off x="1549908" y="1179576"/>
            <a:ext cx="329184" cy="123444"/>
          </a:xfrm>
          <a:prstGeom prst="rect">
            <a:avLst/>
          </a:prstGeom>
          <a:noFill/>
          <a:ln/>
        </p:spPr>
        <p:txBody>
          <a:bodyPr wrap="square" lIns="0" tIns="0" rIns="0" bIns="0" rtlCol="0" anchor="ctr"/>
          <a:lstStyle/>
          <a:p>
            <a:pPr algn="ctr"/>
            <a:r>
              <a:rPr lang="en-US" b="1" dirty="0">
                <a:solidFill>
                  <a:schemeClr val="accent2"/>
                </a:solidFill>
                <a:latin typeface="Manrope"/>
              </a:rPr>
              <a:t>1</a:t>
            </a:r>
          </a:p>
        </p:txBody>
      </p:sp>
      <p:sp>
        <p:nvSpPr>
          <p:cNvPr id="7" name="Text 5"/>
          <p:cNvSpPr/>
          <p:nvPr/>
        </p:nvSpPr>
        <p:spPr>
          <a:xfrm>
            <a:off x="788670" y="1529334"/>
            <a:ext cx="1858518" cy="397764"/>
          </a:xfrm>
          <a:prstGeom prst="rect">
            <a:avLst/>
          </a:prstGeom>
          <a:noFill/>
          <a:ln/>
        </p:spPr>
        <p:txBody>
          <a:bodyPr wrap="square" lIns="191" tIns="191" rIns="191" bIns="191" rtlCol="0" anchor="ctr"/>
          <a:lstStyle/>
          <a:p>
            <a:pPr algn="ctr"/>
            <a:r>
              <a:rPr lang="en-US" dirty="0">
                <a:solidFill>
                  <a:schemeClr val="dk1"/>
                </a:solidFill>
                <a:latin typeface="Manrope"/>
                <a:sym typeface="Manrope"/>
              </a:rPr>
              <a:t>How would you define a policy brief?</a:t>
            </a:r>
          </a:p>
        </p:txBody>
      </p:sp>
      <p:sp>
        <p:nvSpPr>
          <p:cNvPr id="8" name="Shape 6"/>
          <p:cNvSpPr/>
          <p:nvPr/>
        </p:nvSpPr>
        <p:spPr>
          <a:xfrm>
            <a:off x="3072384" y="973836"/>
            <a:ext cx="2228850" cy="1110996"/>
          </a:xfrm>
          <a:prstGeom prst="roundRect">
            <a:avLst>
              <a:gd name="adj" fmla="val 3086"/>
            </a:avLst>
          </a:prstGeom>
          <a:solidFill>
            <a:srgbClr val="FFFFFF"/>
          </a:solidFill>
          <a:ln w="13970">
            <a:solidFill>
              <a:schemeClr val="tx1">
                <a:lumMod val="90000"/>
                <a:lumOff val="10000"/>
              </a:schemeClr>
            </a:solidFill>
            <a:prstDash val="solid"/>
          </a:ln>
          <a:effectLst>
            <a:outerShdw blurRad="12700" dist="50800" dir="2700000" algn="bl" rotWithShape="0">
              <a:srgbClr val="D9E0EA">
                <a:alpha val="22000"/>
              </a:srgbClr>
            </a:outerShdw>
          </a:effectLst>
        </p:spPr>
        <p:txBody>
          <a:bodyPr/>
          <a:lstStyle/>
          <a:p>
            <a:endParaRPr lang="ru-KZ"/>
          </a:p>
        </p:txBody>
      </p:sp>
      <p:sp>
        <p:nvSpPr>
          <p:cNvPr id="9" name="Shape 7"/>
          <p:cNvSpPr/>
          <p:nvPr/>
        </p:nvSpPr>
        <p:spPr>
          <a:xfrm>
            <a:off x="4018788" y="1076706"/>
            <a:ext cx="329184" cy="329184"/>
          </a:xfrm>
          <a:prstGeom prst="ellipse">
            <a:avLst/>
          </a:prstGeom>
          <a:solidFill>
            <a:srgbClr val="0B294A"/>
          </a:solidFill>
          <a:ln w="12700">
            <a:solidFill>
              <a:srgbClr val="0B294A"/>
            </a:solidFill>
            <a:prstDash val="solid"/>
          </a:ln>
        </p:spPr>
        <p:txBody>
          <a:bodyPr/>
          <a:lstStyle/>
          <a:p>
            <a:endParaRPr lang="ru-KZ"/>
          </a:p>
        </p:txBody>
      </p:sp>
      <p:sp>
        <p:nvSpPr>
          <p:cNvPr id="10" name="Text 8"/>
          <p:cNvSpPr/>
          <p:nvPr/>
        </p:nvSpPr>
        <p:spPr>
          <a:xfrm>
            <a:off x="4018788" y="1179576"/>
            <a:ext cx="329184" cy="123444"/>
          </a:xfrm>
          <a:prstGeom prst="rect">
            <a:avLst/>
          </a:prstGeom>
          <a:noFill/>
          <a:ln/>
        </p:spPr>
        <p:txBody>
          <a:bodyPr wrap="square" lIns="0" tIns="0" rIns="0" bIns="0" rtlCol="0" anchor="ctr"/>
          <a:lstStyle/>
          <a:p>
            <a:pPr algn="ctr"/>
            <a:r>
              <a:rPr lang="en-US" b="1" dirty="0">
                <a:solidFill>
                  <a:schemeClr val="accent2"/>
                </a:solidFill>
                <a:latin typeface="Manrope"/>
              </a:rPr>
              <a:t>2</a:t>
            </a:r>
          </a:p>
        </p:txBody>
      </p:sp>
      <p:sp>
        <p:nvSpPr>
          <p:cNvPr id="11" name="Text 9"/>
          <p:cNvSpPr/>
          <p:nvPr/>
        </p:nvSpPr>
        <p:spPr>
          <a:xfrm>
            <a:off x="3257550" y="1529334"/>
            <a:ext cx="1858518" cy="397764"/>
          </a:xfrm>
          <a:prstGeom prst="rect">
            <a:avLst/>
          </a:prstGeom>
          <a:noFill/>
          <a:ln/>
        </p:spPr>
        <p:txBody>
          <a:bodyPr wrap="square" lIns="191" tIns="191" rIns="191" bIns="191" rtlCol="0" anchor="ctr"/>
          <a:lstStyle/>
          <a:p>
            <a:pPr algn="ctr"/>
            <a:r>
              <a:rPr lang="en-US" dirty="0">
                <a:solidFill>
                  <a:schemeClr val="dk1"/>
                </a:solidFill>
                <a:latin typeface="Manrope"/>
              </a:rPr>
              <a:t>Who typically produces or contributes to policy briefs?</a:t>
            </a:r>
          </a:p>
        </p:txBody>
      </p:sp>
      <p:sp>
        <p:nvSpPr>
          <p:cNvPr id="12" name="Shape 10"/>
          <p:cNvSpPr/>
          <p:nvPr/>
        </p:nvSpPr>
        <p:spPr>
          <a:xfrm>
            <a:off x="5541264" y="973836"/>
            <a:ext cx="2228850" cy="1110996"/>
          </a:xfrm>
          <a:prstGeom prst="roundRect">
            <a:avLst>
              <a:gd name="adj" fmla="val 3086"/>
            </a:avLst>
          </a:prstGeom>
          <a:solidFill>
            <a:srgbClr val="FFFFFF"/>
          </a:solidFill>
          <a:ln w="13970">
            <a:solidFill>
              <a:schemeClr val="tx1">
                <a:lumMod val="90000"/>
                <a:lumOff val="10000"/>
              </a:schemeClr>
            </a:solidFill>
            <a:prstDash val="solid"/>
          </a:ln>
          <a:effectLst>
            <a:outerShdw blurRad="12700" dist="50800" dir="2700000" algn="bl" rotWithShape="0">
              <a:srgbClr val="D9E0EA">
                <a:alpha val="22000"/>
              </a:srgbClr>
            </a:outerShdw>
          </a:effectLst>
        </p:spPr>
        <p:txBody>
          <a:bodyPr/>
          <a:lstStyle/>
          <a:p>
            <a:endParaRPr lang="ru-KZ"/>
          </a:p>
        </p:txBody>
      </p:sp>
      <p:sp>
        <p:nvSpPr>
          <p:cNvPr id="13" name="Shape 11"/>
          <p:cNvSpPr/>
          <p:nvPr/>
        </p:nvSpPr>
        <p:spPr>
          <a:xfrm>
            <a:off x="6487668" y="1083564"/>
            <a:ext cx="329184" cy="329184"/>
          </a:xfrm>
          <a:prstGeom prst="ellipse">
            <a:avLst/>
          </a:prstGeom>
          <a:solidFill>
            <a:srgbClr val="0B294A"/>
          </a:solidFill>
          <a:ln w="12700">
            <a:solidFill>
              <a:srgbClr val="0B294A"/>
            </a:solidFill>
            <a:prstDash val="solid"/>
          </a:ln>
        </p:spPr>
        <p:txBody>
          <a:bodyPr/>
          <a:lstStyle/>
          <a:p>
            <a:endParaRPr lang="ru-KZ"/>
          </a:p>
        </p:txBody>
      </p:sp>
      <p:sp>
        <p:nvSpPr>
          <p:cNvPr id="14" name="Text 12"/>
          <p:cNvSpPr/>
          <p:nvPr/>
        </p:nvSpPr>
        <p:spPr>
          <a:xfrm>
            <a:off x="6487668" y="1179576"/>
            <a:ext cx="329184" cy="123444"/>
          </a:xfrm>
          <a:prstGeom prst="rect">
            <a:avLst/>
          </a:prstGeom>
          <a:noFill/>
          <a:ln/>
        </p:spPr>
        <p:txBody>
          <a:bodyPr wrap="square" lIns="0" tIns="0" rIns="0" bIns="0" rtlCol="0" anchor="ctr"/>
          <a:lstStyle/>
          <a:p>
            <a:pPr algn="ctr"/>
            <a:r>
              <a:rPr lang="en-US" b="1" dirty="0">
                <a:solidFill>
                  <a:schemeClr val="accent2"/>
                </a:solidFill>
                <a:latin typeface="Manrope"/>
              </a:rPr>
              <a:t>3</a:t>
            </a:r>
          </a:p>
        </p:txBody>
      </p:sp>
      <p:sp>
        <p:nvSpPr>
          <p:cNvPr id="15" name="Text 13"/>
          <p:cNvSpPr/>
          <p:nvPr/>
        </p:nvSpPr>
        <p:spPr>
          <a:xfrm>
            <a:off x="5726430" y="1529334"/>
            <a:ext cx="1858518" cy="397764"/>
          </a:xfrm>
          <a:prstGeom prst="rect">
            <a:avLst/>
          </a:prstGeom>
          <a:noFill/>
          <a:ln/>
        </p:spPr>
        <p:txBody>
          <a:bodyPr wrap="square" lIns="191" tIns="191" rIns="191" bIns="191" rtlCol="0" anchor="ctr"/>
          <a:lstStyle/>
          <a:p>
            <a:pPr algn="ctr"/>
            <a:r>
              <a:rPr lang="en-US" dirty="0">
                <a:solidFill>
                  <a:schemeClr val="dk1"/>
                </a:solidFill>
                <a:latin typeface="Manrope"/>
              </a:rPr>
              <a:t>Who is the target audience for a policy brief?</a:t>
            </a:r>
          </a:p>
        </p:txBody>
      </p:sp>
      <p:sp>
        <p:nvSpPr>
          <p:cNvPr id="16" name="Shape 14"/>
          <p:cNvSpPr/>
          <p:nvPr/>
        </p:nvSpPr>
        <p:spPr>
          <a:xfrm>
            <a:off x="603504" y="2311202"/>
            <a:ext cx="7166610" cy="2441336"/>
          </a:xfrm>
          <a:prstGeom prst="roundRect">
            <a:avLst>
              <a:gd name="adj" fmla="val 1689"/>
            </a:avLst>
          </a:prstGeom>
          <a:solidFill>
            <a:srgbClr val="FFFFFF"/>
          </a:solidFill>
          <a:ln w="11430">
            <a:solidFill>
              <a:schemeClr val="tx1">
                <a:lumMod val="90000"/>
                <a:lumOff val="10000"/>
              </a:schemeClr>
            </a:solidFill>
            <a:prstDash val="solid"/>
          </a:ln>
        </p:spPr>
        <p:txBody>
          <a:bodyPr/>
          <a:lstStyle/>
          <a:p>
            <a:endParaRPr lang="ru-KZ"/>
          </a:p>
        </p:txBody>
      </p:sp>
      <p:sp>
        <p:nvSpPr>
          <p:cNvPr id="19" name="Text 17"/>
          <p:cNvSpPr/>
          <p:nvPr/>
        </p:nvSpPr>
        <p:spPr>
          <a:xfrm>
            <a:off x="843534" y="3015764"/>
            <a:ext cx="2057400" cy="150876"/>
          </a:xfrm>
          <a:prstGeom prst="rect">
            <a:avLst/>
          </a:prstGeom>
          <a:noFill/>
          <a:ln/>
        </p:spPr>
        <p:txBody>
          <a:bodyPr wrap="square" lIns="0" tIns="0" rIns="0" bIns="0" rtlCol="0" anchor="ctr"/>
          <a:lstStyle/>
          <a:p>
            <a:r>
              <a:rPr lang="en-US" b="1" dirty="0">
                <a:solidFill>
                  <a:schemeClr val="dk1"/>
                </a:solidFill>
                <a:latin typeface="Manrope"/>
              </a:rPr>
              <a:t>PURPOSE</a:t>
            </a:r>
          </a:p>
        </p:txBody>
      </p:sp>
      <p:sp>
        <p:nvSpPr>
          <p:cNvPr id="21" name="Text 19"/>
          <p:cNvSpPr/>
          <p:nvPr/>
        </p:nvSpPr>
        <p:spPr>
          <a:xfrm>
            <a:off x="3390807" y="2982282"/>
            <a:ext cx="1255962" cy="150876"/>
          </a:xfrm>
          <a:prstGeom prst="rect">
            <a:avLst/>
          </a:prstGeom>
          <a:noFill/>
          <a:ln/>
        </p:spPr>
        <p:txBody>
          <a:bodyPr wrap="square" lIns="0" tIns="0" rIns="0" bIns="0" rtlCol="0" anchor="ctr"/>
          <a:lstStyle/>
          <a:p>
            <a:r>
              <a:rPr lang="en-US" b="1" dirty="0">
                <a:solidFill>
                  <a:schemeClr val="dk1"/>
                </a:solidFill>
                <a:latin typeface="Manrope"/>
              </a:rPr>
              <a:t>PRODUCERS</a:t>
            </a:r>
          </a:p>
        </p:txBody>
      </p:sp>
      <p:sp>
        <p:nvSpPr>
          <p:cNvPr id="23" name="Text 21"/>
          <p:cNvSpPr/>
          <p:nvPr/>
        </p:nvSpPr>
        <p:spPr>
          <a:xfrm>
            <a:off x="5726430" y="2990310"/>
            <a:ext cx="1113226" cy="67410"/>
          </a:xfrm>
          <a:prstGeom prst="rect">
            <a:avLst/>
          </a:prstGeom>
          <a:noFill/>
          <a:ln/>
        </p:spPr>
        <p:txBody>
          <a:bodyPr wrap="square" lIns="0" tIns="0" rIns="0" bIns="0" rtlCol="0" anchor="ctr"/>
          <a:lstStyle/>
          <a:p>
            <a:r>
              <a:rPr lang="en-US" b="1" dirty="0">
                <a:solidFill>
                  <a:schemeClr val="dk1"/>
                </a:solidFill>
                <a:latin typeface="Manrope"/>
              </a:rPr>
              <a:t>AUDIENCE</a:t>
            </a:r>
          </a:p>
        </p:txBody>
      </p:sp>
      <p:sp>
        <p:nvSpPr>
          <p:cNvPr id="26" name="Slide Number Placeholder 0"/>
          <p:cNvSpPr>
            <a:spLocks noGrp="1"/>
          </p:cNvSpPr>
          <p:nvPr>
            <p:ph type="sldNum" sz="quarter" idx="4294967295"/>
          </p:nvPr>
        </p:nvSpPr>
        <p:spPr>
          <a:xfrm>
            <a:off x="11795760" y="6537960"/>
            <a:ext cx="800000" cy="3000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200" kern="1200">
                <a:solidFill>
                  <a:srgbClr val="F8F9F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4</a:t>
            </a:fld>
            <a:endParaRPr lang="en-US"/>
          </a:p>
        </p:txBody>
      </p:sp>
      <p:grpSp>
        <p:nvGrpSpPr>
          <p:cNvPr id="27" name="Google Shape;456;p30">
            <a:extLst>
              <a:ext uri="{FF2B5EF4-FFF2-40B4-BE49-F238E27FC236}">
                <a16:creationId xmlns:a16="http://schemas.microsoft.com/office/drawing/2014/main" id="{39CEFC15-8016-4453-89D1-E500FB64FF14}"/>
              </a:ext>
            </a:extLst>
          </p:cNvPr>
          <p:cNvGrpSpPr/>
          <p:nvPr/>
        </p:nvGrpSpPr>
        <p:grpSpPr>
          <a:xfrm rot="16200000">
            <a:off x="7990965" y="78060"/>
            <a:ext cx="1231095" cy="1074976"/>
            <a:chOff x="4714200" y="683716"/>
            <a:chExt cx="4429800" cy="4466709"/>
          </a:xfrm>
        </p:grpSpPr>
        <p:sp>
          <p:nvSpPr>
            <p:cNvPr id="28" name="Google Shape;457;p30">
              <a:extLst>
                <a:ext uri="{FF2B5EF4-FFF2-40B4-BE49-F238E27FC236}">
                  <a16:creationId xmlns:a16="http://schemas.microsoft.com/office/drawing/2014/main" id="{9A64B897-C1C9-45AF-B048-9C2F6DAB9894}"/>
                </a:ext>
              </a:extLst>
            </p:cNvPr>
            <p:cNvSpPr/>
            <p:nvPr/>
          </p:nvSpPr>
          <p:spPr>
            <a:xfrm flipH="1">
              <a:off x="4714200" y="783325"/>
              <a:ext cx="4429800" cy="4367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58;p30">
              <a:extLst>
                <a:ext uri="{FF2B5EF4-FFF2-40B4-BE49-F238E27FC236}">
                  <a16:creationId xmlns:a16="http://schemas.microsoft.com/office/drawing/2014/main" id="{4B9CEC47-E81F-492F-9032-6D0BE0203E87}"/>
                </a:ext>
              </a:extLst>
            </p:cNvPr>
            <p:cNvSpPr/>
            <p:nvPr/>
          </p:nvSpPr>
          <p:spPr>
            <a:xfrm rot="-2700000">
              <a:off x="7675121" y="1303413"/>
              <a:ext cx="996172" cy="114976"/>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59;p30">
              <a:extLst>
                <a:ext uri="{FF2B5EF4-FFF2-40B4-BE49-F238E27FC236}">
                  <a16:creationId xmlns:a16="http://schemas.microsoft.com/office/drawing/2014/main" id="{FEA1300B-10DE-4C4F-973D-1A6E40C7FE5C}"/>
                </a:ext>
              </a:extLst>
            </p:cNvPr>
            <p:cNvSpPr/>
            <p:nvPr/>
          </p:nvSpPr>
          <p:spPr>
            <a:xfrm rot="-2699590">
              <a:off x="4984509" y="3275203"/>
              <a:ext cx="1780000" cy="32668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60;p30">
              <a:extLst>
                <a:ext uri="{FF2B5EF4-FFF2-40B4-BE49-F238E27FC236}">
                  <a16:creationId xmlns:a16="http://schemas.microsoft.com/office/drawing/2014/main" id="{B0D81D6D-7F4A-4BC6-8957-1346405C26C0}"/>
                </a:ext>
              </a:extLst>
            </p:cNvPr>
            <p:cNvSpPr/>
            <p:nvPr/>
          </p:nvSpPr>
          <p:spPr>
            <a:xfrm rot="-2699590">
              <a:off x="7108289" y="2092651"/>
              <a:ext cx="1780000" cy="32668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61;p30">
              <a:extLst>
                <a:ext uri="{FF2B5EF4-FFF2-40B4-BE49-F238E27FC236}">
                  <a16:creationId xmlns:a16="http://schemas.microsoft.com/office/drawing/2014/main" id="{E9D5173B-1096-486D-AD49-23A6F921133D}"/>
                </a:ext>
              </a:extLst>
            </p:cNvPr>
            <p:cNvSpPr/>
            <p:nvPr/>
          </p:nvSpPr>
          <p:spPr>
            <a:xfrm rot="-2699590">
              <a:off x="6792716" y="1243005"/>
              <a:ext cx="1780000" cy="47772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62;p30">
              <a:extLst>
                <a:ext uri="{FF2B5EF4-FFF2-40B4-BE49-F238E27FC236}">
                  <a16:creationId xmlns:a16="http://schemas.microsoft.com/office/drawing/2014/main" id="{044573D7-32E9-4033-AABB-334B317E6841}"/>
                </a:ext>
              </a:extLst>
            </p:cNvPr>
            <p:cNvSpPr/>
            <p:nvPr/>
          </p:nvSpPr>
          <p:spPr>
            <a:xfrm rot="-2699590">
              <a:off x="5127485" y="3849460"/>
              <a:ext cx="1780000" cy="47772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5196" y="329184"/>
            <a:ext cx="5623560" cy="329184"/>
          </a:xfrm>
          <a:prstGeom prst="rect">
            <a:avLst/>
          </a:prstGeom>
          <a:noFill/>
          <a:ln/>
        </p:spPr>
        <p:txBody>
          <a:bodyPr wrap="square" lIns="0" tIns="0" rIns="0" bIns="0" rtlCol="0" anchor="ctr"/>
          <a:lstStyle/>
          <a:p>
            <a:r>
              <a:rPr lang="en-US" sz="2000" b="1" dirty="0">
                <a:solidFill>
                  <a:schemeClr val="dk1"/>
                </a:solidFill>
                <a:latin typeface="Manrope"/>
              </a:rPr>
              <a:t>What is not a policy brief?</a:t>
            </a:r>
          </a:p>
        </p:txBody>
      </p:sp>
      <p:sp>
        <p:nvSpPr>
          <p:cNvPr id="3" name="Text 1"/>
          <p:cNvSpPr/>
          <p:nvPr/>
        </p:nvSpPr>
        <p:spPr>
          <a:xfrm>
            <a:off x="425196" y="802386"/>
            <a:ext cx="8161020" cy="246888"/>
          </a:xfrm>
          <a:prstGeom prst="rect">
            <a:avLst/>
          </a:prstGeom>
          <a:noFill/>
          <a:ln/>
        </p:spPr>
        <p:txBody>
          <a:bodyPr wrap="square" lIns="0" tIns="0" rIns="0" bIns="0" rtlCol="0" anchor="ctr"/>
          <a:lstStyle/>
          <a:p>
            <a:r>
              <a:rPr lang="en-US" dirty="0">
                <a:solidFill>
                  <a:schemeClr val="dk1"/>
                </a:solidFill>
                <a:latin typeface="Manrope"/>
              </a:rPr>
              <a:t>A policy brief is not simply a shorter version of academic research.</a:t>
            </a:r>
          </a:p>
        </p:txBody>
      </p:sp>
      <p:sp>
        <p:nvSpPr>
          <p:cNvPr id="4" name="Shape 2"/>
          <p:cNvSpPr/>
          <p:nvPr/>
        </p:nvSpPr>
        <p:spPr>
          <a:xfrm>
            <a:off x="466344" y="1220724"/>
            <a:ext cx="8229600" cy="720090"/>
          </a:xfrm>
          <a:prstGeom prst="roundRect">
            <a:avLst>
              <a:gd name="adj" fmla="val 5714"/>
            </a:avLst>
          </a:prstGeom>
          <a:solidFill>
            <a:srgbClr val="F6F9FE"/>
          </a:solidFill>
          <a:ln w="12700">
            <a:solidFill>
              <a:srgbClr val="D8E5FB"/>
            </a:solidFill>
            <a:prstDash val="solid"/>
          </a:ln>
        </p:spPr>
        <p:txBody>
          <a:bodyPr/>
          <a:lstStyle/>
          <a:p>
            <a:endParaRPr lang="ru-KZ"/>
          </a:p>
        </p:txBody>
      </p:sp>
      <p:sp>
        <p:nvSpPr>
          <p:cNvPr id="6" name="Text 4"/>
          <p:cNvSpPr/>
          <p:nvPr/>
        </p:nvSpPr>
        <p:spPr>
          <a:xfrm>
            <a:off x="630936" y="1426464"/>
            <a:ext cx="342900" cy="171450"/>
          </a:xfrm>
          <a:prstGeom prst="rect">
            <a:avLst/>
          </a:prstGeom>
          <a:noFill/>
          <a:ln/>
        </p:spPr>
        <p:txBody>
          <a:bodyPr wrap="square" lIns="0" tIns="0" rIns="0" bIns="0" rtlCol="0" anchor="ctr"/>
          <a:lstStyle/>
          <a:p>
            <a:pPr algn="ctr"/>
            <a:r>
              <a:rPr lang="en-US" sz="1050" b="1" dirty="0">
                <a:solidFill>
                  <a:srgbClr val="FFFFFF"/>
                </a:solidFill>
              </a:rPr>
              <a:t>1</a:t>
            </a:r>
            <a:endParaRPr lang="en-US" sz="1050" dirty="0"/>
          </a:p>
        </p:txBody>
      </p:sp>
      <p:sp>
        <p:nvSpPr>
          <p:cNvPr id="7" name="Text 5"/>
          <p:cNvSpPr/>
          <p:nvPr/>
        </p:nvSpPr>
        <p:spPr>
          <a:xfrm>
            <a:off x="708660" y="1409319"/>
            <a:ext cx="2228850" cy="205740"/>
          </a:xfrm>
          <a:prstGeom prst="rect">
            <a:avLst/>
          </a:prstGeom>
          <a:noFill/>
          <a:ln/>
        </p:spPr>
        <p:txBody>
          <a:bodyPr wrap="square" lIns="0" tIns="0" rIns="0" bIns="0" rtlCol="0" anchor="ctr"/>
          <a:lstStyle/>
          <a:p>
            <a:r>
              <a:rPr lang="en-US" b="1" dirty="0">
                <a:solidFill>
                  <a:schemeClr val="tx1"/>
                </a:solidFill>
                <a:latin typeface="Manrope"/>
              </a:rPr>
              <a:t>Not a research summary</a:t>
            </a:r>
          </a:p>
        </p:txBody>
      </p:sp>
      <p:sp>
        <p:nvSpPr>
          <p:cNvPr id="8" name="Text 6"/>
          <p:cNvSpPr/>
          <p:nvPr/>
        </p:nvSpPr>
        <p:spPr>
          <a:xfrm>
            <a:off x="3394710" y="1316736"/>
            <a:ext cx="504063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It does not merely translate or simplify a scientific article. Research is selected and reframed around a policy issue.</a:t>
            </a:r>
          </a:p>
        </p:txBody>
      </p:sp>
      <p:sp>
        <p:nvSpPr>
          <p:cNvPr id="9" name="Shape 7"/>
          <p:cNvSpPr/>
          <p:nvPr/>
        </p:nvSpPr>
        <p:spPr>
          <a:xfrm>
            <a:off x="466344" y="2050542"/>
            <a:ext cx="8229600" cy="720090"/>
          </a:xfrm>
          <a:prstGeom prst="roundRect">
            <a:avLst>
              <a:gd name="adj" fmla="val 5714"/>
            </a:avLst>
          </a:prstGeom>
          <a:solidFill>
            <a:srgbClr val="F6F9FE"/>
          </a:solidFill>
          <a:ln w="12700">
            <a:solidFill>
              <a:srgbClr val="D8E5FB"/>
            </a:solidFill>
            <a:prstDash val="solid"/>
          </a:ln>
        </p:spPr>
        <p:txBody>
          <a:bodyPr/>
          <a:lstStyle/>
          <a:p>
            <a:endParaRPr lang="ru-KZ"/>
          </a:p>
        </p:txBody>
      </p:sp>
      <p:sp>
        <p:nvSpPr>
          <p:cNvPr id="11" name="Text 9"/>
          <p:cNvSpPr/>
          <p:nvPr/>
        </p:nvSpPr>
        <p:spPr>
          <a:xfrm>
            <a:off x="630936" y="2256282"/>
            <a:ext cx="342900" cy="171450"/>
          </a:xfrm>
          <a:prstGeom prst="rect">
            <a:avLst/>
          </a:prstGeom>
          <a:noFill/>
          <a:ln/>
        </p:spPr>
        <p:txBody>
          <a:bodyPr wrap="square" lIns="0" tIns="0" rIns="0" bIns="0" rtlCol="0" anchor="ctr"/>
          <a:lstStyle/>
          <a:p>
            <a:pPr algn="ctr"/>
            <a:r>
              <a:rPr lang="en-US" sz="1050" b="1" dirty="0">
                <a:solidFill>
                  <a:srgbClr val="FFFFFF"/>
                </a:solidFill>
              </a:rPr>
              <a:t>2</a:t>
            </a:r>
            <a:endParaRPr lang="en-US" sz="1050" dirty="0"/>
          </a:p>
        </p:txBody>
      </p:sp>
      <p:sp>
        <p:nvSpPr>
          <p:cNvPr id="12" name="Text 10"/>
          <p:cNvSpPr/>
          <p:nvPr/>
        </p:nvSpPr>
        <p:spPr>
          <a:xfrm>
            <a:off x="742636" y="2244928"/>
            <a:ext cx="2228850" cy="205740"/>
          </a:xfrm>
          <a:prstGeom prst="rect">
            <a:avLst/>
          </a:prstGeom>
          <a:noFill/>
          <a:ln/>
        </p:spPr>
        <p:txBody>
          <a:bodyPr wrap="square" lIns="0" tIns="0" rIns="0" bIns="0" rtlCol="0" anchor="ctr"/>
          <a:lstStyle/>
          <a:p>
            <a:r>
              <a:rPr lang="en-US" b="1" dirty="0">
                <a:solidFill>
                  <a:schemeClr val="tx1"/>
                </a:solidFill>
                <a:latin typeface="Manrope"/>
              </a:rPr>
              <a:t>Not research without a policy purpose</a:t>
            </a:r>
          </a:p>
        </p:txBody>
      </p:sp>
      <p:sp>
        <p:nvSpPr>
          <p:cNvPr id="13" name="Text 11"/>
          <p:cNvSpPr/>
          <p:nvPr/>
        </p:nvSpPr>
        <p:spPr>
          <a:xfrm>
            <a:off x="3394710" y="2146554"/>
            <a:ext cx="504063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Evidence must be connected to a clear policy problem and its implications for decision-making.</a:t>
            </a:r>
          </a:p>
        </p:txBody>
      </p:sp>
      <p:sp>
        <p:nvSpPr>
          <p:cNvPr id="14" name="Shape 12"/>
          <p:cNvSpPr/>
          <p:nvPr/>
        </p:nvSpPr>
        <p:spPr>
          <a:xfrm>
            <a:off x="466344" y="2880360"/>
            <a:ext cx="8229600" cy="720090"/>
          </a:xfrm>
          <a:prstGeom prst="roundRect">
            <a:avLst>
              <a:gd name="adj" fmla="val 5714"/>
            </a:avLst>
          </a:prstGeom>
          <a:solidFill>
            <a:srgbClr val="F6F9FE"/>
          </a:solidFill>
          <a:ln w="12700">
            <a:solidFill>
              <a:srgbClr val="D8E5FB"/>
            </a:solidFill>
            <a:prstDash val="solid"/>
          </a:ln>
        </p:spPr>
        <p:txBody>
          <a:bodyPr/>
          <a:lstStyle/>
          <a:p>
            <a:endParaRPr lang="ru-KZ"/>
          </a:p>
        </p:txBody>
      </p:sp>
      <p:sp>
        <p:nvSpPr>
          <p:cNvPr id="16" name="Text 14"/>
          <p:cNvSpPr/>
          <p:nvPr/>
        </p:nvSpPr>
        <p:spPr>
          <a:xfrm>
            <a:off x="630936" y="3086100"/>
            <a:ext cx="342900" cy="171450"/>
          </a:xfrm>
          <a:prstGeom prst="rect">
            <a:avLst/>
          </a:prstGeom>
          <a:noFill/>
          <a:ln/>
        </p:spPr>
        <p:txBody>
          <a:bodyPr wrap="square" lIns="0" tIns="0" rIns="0" bIns="0" rtlCol="0" anchor="ctr"/>
          <a:lstStyle/>
          <a:p>
            <a:pPr algn="ctr"/>
            <a:r>
              <a:rPr lang="en-US" sz="1050" b="1" dirty="0">
                <a:solidFill>
                  <a:srgbClr val="FFFFFF"/>
                </a:solidFill>
              </a:rPr>
              <a:t>3</a:t>
            </a:r>
            <a:endParaRPr lang="en-US" sz="1050" dirty="0"/>
          </a:p>
        </p:txBody>
      </p:sp>
      <p:sp>
        <p:nvSpPr>
          <p:cNvPr id="17" name="Text 15"/>
          <p:cNvSpPr/>
          <p:nvPr/>
        </p:nvSpPr>
        <p:spPr>
          <a:xfrm>
            <a:off x="787311" y="3106674"/>
            <a:ext cx="2228850" cy="205740"/>
          </a:xfrm>
          <a:prstGeom prst="rect">
            <a:avLst/>
          </a:prstGeom>
          <a:noFill/>
          <a:ln/>
        </p:spPr>
        <p:txBody>
          <a:bodyPr wrap="square" lIns="0" tIns="0" rIns="0" bIns="0" rtlCol="0" anchor="ctr"/>
          <a:lstStyle/>
          <a:p>
            <a:r>
              <a:rPr lang="en-US" b="1" dirty="0">
                <a:solidFill>
                  <a:schemeClr val="tx1"/>
                </a:solidFill>
                <a:latin typeface="Manrope"/>
              </a:rPr>
              <a:t>Not a compilation of studies</a:t>
            </a:r>
          </a:p>
        </p:txBody>
      </p:sp>
      <p:sp>
        <p:nvSpPr>
          <p:cNvPr id="18" name="Text 16"/>
          <p:cNvSpPr/>
          <p:nvPr/>
        </p:nvSpPr>
        <p:spPr>
          <a:xfrm>
            <a:off x="3394710" y="2976372"/>
            <a:ext cx="504063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It synthesizes relevant evidence rather than listing everything that has been written on the topic.</a:t>
            </a:r>
          </a:p>
        </p:txBody>
      </p:sp>
      <p:sp>
        <p:nvSpPr>
          <p:cNvPr id="19" name="Shape 17"/>
          <p:cNvSpPr/>
          <p:nvPr/>
        </p:nvSpPr>
        <p:spPr>
          <a:xfrm>
            <a:off x="466344" y="3710178"/>
            <a:ext cx="8229600" cy="720090"/>
          </a:xfrm>
          <a:prstGeom prst="roundRect">
            <a:avLst>
              <a:gd name="adj" fmla="val 5714"/>
            </a:avLst>
          </a:prstGeom>
          <a:solidFill>
            <a:srgbClr val="F6F9FE"/>
          </a:solidFill>
          <a:ln w="12700">
            <a:solidFill>
              <a:srgbClr val="D8E5FB"/>
            </a:solidFill>
            <a:prstDash val="solid"/>
          </a:ln>
        </p:spPr>
        <p:txBody>
          <a:bodyPr/>
          <a:lstStyle/>
          <a:p>
            <a:endParaRPr lang="ru-KZ"/>
          </a:p>
        </p:txBody>
      </p:sp>
      <p:sp>
        <p:nvSpPr>
          <p:cNvPr id="21" name="Text 19"/>
          <p:cNvSpPr/>
          <p:nvPr/>
        </p:nvSpPr>
        <p:spPr>
          <a:xfrm>
            <a:off x="630936" y="3915918"/>
            <a:ext cx="342900" cy="171450"/>
          </a:xfrm>
          <a:prstGeom prst="rect">
            <a:avLst/>
          </a:prstGeom>
          <a:noFill/>
          <a:ln/>
        </p:spPr>
        <p:txBody>
          <a:bodyPr wrap="square" lIns="0" tIns="0" rIns="0" bIns="0" rtlCol="0" anchor="ctr"/>
          <a:lstStyle/>
          <a:p>
            <a:pPr algn="ctr"/>
            <a:r>
              <a:rPr lang="en-US" sz="1050" b="1" dirty="0">
                <a:solidFill>
                  <a:srgbClr val="FFFFFF"/>
                </a:solidFill>
              </a:rPr>
              <a:t>4</a:t>
            </a:r>
            <a:endParaRPr lang="en-US" sz="1050" dirty="0"/>
          </a:p>
        </p:txBody>
      </p:sp>
      <p:sp>
        <p:nvSpPr>
          <p:cNvPr id="22" name="Text 20"/>
          <p:cNvSpPr/>
          <p:nvPr/>
        </p:nvSpPr>
        <p:spPr>
          <a:xfrm>
            <a:off x="816102" y="3924271"/>
            <a:ext cx="2228850" cy="205740"/>
          </a:xfrm>
          <a:prstGeom prst="rect">
            <a:avLst/>
          </a:prstGeom>
          <a:noFill/>
          <a:ln/>
        </p:spPr>
        <p:txBody>
          <a:bodyPr wrap="square" lIns="0" tIns="0" rIns="0" bIns="0" rtlCol="0" anchor="ctr"/>
          <a:lstStyle/>
          <a:p>
            <a:r>
              <a:rPr lang="en-US" b="1" dirty="0">
                <a:solidFill>
                  <a:schemeClr val="tx1"/>
                </a:solidFill>
                <a:latin typeface="Manrope"/>
              </a:rPr>
              <a:t>Not an academic paper</a:t>
            </a:r>
          </a:p>
        </p:txBody>
      </p:sp>
      <p:sp>
        <p:nvSpPr>
          <p:cNvPr id="23" name="Text 21"/>
          <p:cNvSpPr/>
          <p:nvPr/>
        </p:nvSpPr>
        <p:spPr>
          <a:xfrm>
            <a:off x="3394710" y="3806190"/>
            <a:ext cx="504063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It avoids unnecessary jargon and dense academic language so that non-specialist decision-makers can read it quickly.</a:t>
            </a:r>
          </a:p>
        </p:txBody>
      </p:sp>
      <p:sp>
        <p:nvSpPr>
          <p:cNvPr id="24" name="Text 22"/>
          <p:cNvSpPr/>
          <p:nvPr/>
        </p:nvSpPr>
        <p:spPr>
          <a:xfrm>
            <a:off x="519777" y="4756023"/>
            <a:ext cx="1629712" cy="198882"/>
          </a:xfrm>
          <a:prstGeom prst="rect">
            <a:avLst/>
          </a:prstGeom>
          <a:noFill/>
          <a:ln/>
        </p:spPr>
        <p:txBody>
          <a:bodyPr wrap="square" lIns="0" tIns="0" rIns="0" bIns="0" rtlCol="0" anchor="ctr"/>
          <a:lstStyle/>
          <a:p>
            <a:r>
              <a:rPr lang="en-US" b="1" dirty="0">
                <a:solidFill>
                  <a:schemeClr val="tx1"/>
                </a:solidFill>
                <a:latin typeface="Manrope"/>
              </a:rPr>
              <a:t>Key distinction:</a:t>
            </a:r>
          </a:p>
        </p:txBody>
      </p:sp>
      <p:sp>
        <p:nvSpPr>
          <p:cNvPr id="25" name="Text 23"/>
          <p:cNvSpPr/>
          <p:nvPr/>
        </p:nvSpPr>
        <p:spPr>
          <a:xfrm>
            <a:off x="2272955" y="4714875"/>
            <a:ext cx="6995160" cy="240030"/>
          </a:xfrm>
          <a:prstGeom prst="rect">
            <a:avLst/>
          </a:prstGeom>
          <a:noFill/>
          <a:ln/>
        </p:spPr>
        <p:txBody>
          <a:bodyPr wrap="square" lIns="0" tIns="0" rIns="0" bIns="0" rtlCol="0" anchor="ctr"/>
          <a:lstStyle/>
          <a:p>
            <a:r>
              <a:rPr lang="en-US" dirty="0">
                <a:solidFill>
                  <a:schemeClr val="dk1"/>
                </a:solidFill>
                <a:latin typeface="Manrope"/>
              </a:rPr>
              <a:t>A policy brief does more than report research — it turns evidence into a clear policy message and actionable recommendations.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2" grpId="0" animBg="1"/>
      <p:bldP spid="23" grpId="0" animBg="1"/>
      <p:bldP spid="24"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82930" y="425196"/>
            <a:ext cx="4869180" cy="288036"/>
          </a:xfrm>
          <a:prstGeom prst="rect">
            <a:avLst/>
          </a:prstGeom>
          <a:noFill/>
          <a:ln/>
        </p:spPr>
        <p:txBody>
          <a:bodyPr wrap="square" lIns="0" tIns="0" rIns="0" bIns="0" rtlCol="0" anchor="ctr"/>
          <a:lstStyle/>
          <a:p>
            <a:r>
              <a:rPr lang="en-US" sz="2000" b="1" dirty="0">
                <a:solidFill>
                  <a:schemeClr val="dk1"/>
                </a:solidFill>
                <a:latin typeface="Manrope"/>
              </a:rPr>
              <a:t>Format: A Common Structure</a:t>
            </a:r>
          </a:p>
        </p:txBody>
      </p:sp>
      <p:sp>
        <p:nvSpPr>
          <p:cNvPr id="3" name="Text 1"/>
          <p:cNvSpPr/>
          <p:nvPr/>
        </p:nvSpPr>
        <p:spPr>
          <a:xfrm>
            <a:off x="582930" y="795528"/>
            <a:ext cx="7920990" cy="342900"/>
          </a:xfrm>
          <a:prstGeom prst="rect">
            <a:avLst/>
          </a:prstGeom>
          <a:noFill/>
          <a:ln/>
        </p:spPr>
        <p:txBody>
          <a:bodyPr wrap="square" lIns="0" tIns="0" rIns="0" bIns="0" rtlCol="0" anchor="ctr"/>
          <a:lstStyle/>
          <a:p>
            <a:r>
              <a:rPr lang="en-US" dirty="0">
                <a:solidFill>
                  <a:schemeClr val="dk1"/>
                </a:solidFill>
                <a:latin typeface="Manrope"/>
              </a:rPr>
              <a:t>There is no single fixed format, but effective policy briefs usually contain the following elements.</a:t>
            </a:r>
          </a:p>
        </p:txBody>
      </p:sp>
      <p:sp>
        <p:nvSpPr>
          <p:cNvPr id="4" name="Shape 2"/>
          <p:cNvSpPr/>
          <p:nvPr/>
        </p:nvSpPr>
        <p:spPr>
          <a:xfrm>
            <a:off x="2674620" y="1268730"/>
            <a:ext cx="3806190" cy="466344"/>
          </a:xfrm>
          <a:prstGeom prst="roundRect">
            <a:avLst>
              <a:gd name="adj" fmla="val 17647"/>
            </a:avLst>
          </a:prstGeom>
          <a:solidFill>
            <a:srgbClr val="092445"/>
          </a:solidFill>
          <a:ln w="12700">
            <a:solidFill>
              <a:srgbClr val="092445"/>
            </a:solidFill>
            <a:prstDash val="solid"/>
          </a:ln>
        </p:spPr>
        <p:txBody>
          <a:bodyPr/>
          <a:lstStyle/>
          <a:p>
            <a:endParaRPr lang="ru-KZ"/>
          </a:p>
        </p:txBody>
      </p:sp>
      <p:sp>
        <p:nvSpPr>
          <p:cNvPr id="5" name="Text 3"/>
          <p:cNvSpPr/>
          <p:nvPr/>
        </p:nvSpPr>
        <p:spPr>
          <a:xfrm>
            <a:off x="2743200" y="1385316"/>
            <a:ext cx="3669030" cy="164592"/>
          </a:xfrm>
          <a:prstGeom prst="rect">
            <a:avLst/>
          </a:prstGeom>
          <a:noFill/>
          <a:ln/>
        </p:spPr>
        <p:txBody>
          <a:bodyPr wrap="square" lIns="0" tIns="0" rIns="0" bIns="0" rtlCol="0" anchor="ctr"/>
          <a:lstStyle/>
          <a:p>
            <a:pPr algn="ctr"/>
            <a:r>
              <a:rPr lang="en-US" b="1" dirty="0">
                <a:solidFill>
                  <a:schemeClr val="bg1"/>
                </a:solidFill>
                <a:latin typeface="Manrope"/>
              </a:rPr>
              <a:t>EXECUTIVE SUMMARY</a:t>
            </a:r>
          </a:p>
        </p:txBody>
      </p:sp>
      <p:sp>
        <p:nvSpPr>
          <p:cNvPr id="6" name="Text 4"/>
          <p:cNvSpPr/>
          <p:nvPr/>
        </p:nvSpPr>
        <p:spPr>
          <a:xfrm>
            <a:off x="1563625" y="1796796"/>
            <a:ext cx="5764576" cy="246888"/>
          </a:xfrm>
          <a:prstGeom prst="rect">
            <a:avLst/>
          </a:prstGeom>
          <a:noFill/>
          <a:ln/>
        </p:spPr>
        <p:txBody>
          <a:bodyPr wrap="square" lIns="0" tIns="0" rIns="0" bIns="0" rtlCol="0" anchor="ctr"/>
          <a:lstStyle/>
          <a:p>
            <a:pPr algn="ctr"/>
            <a:r>
              <a:rPr lang="en-US" dirty="0">
                <a:solidFill>
                  <a:schemeClr val="dk1"/>
                </a:solidFill>
                <a:latin typeface="Manrope"/>
              </a:rPr>
              <a:t>Front-load the issue, key evidence and recommended direction.</a:t>
            </a:r>
          </a:p>
        </p:txBody>
      </p:sp>
      <p:sp>
        <p:nvSpPr>
          <p:cNvPr id="7" name="Shape 5"/>
          <p:cNvSpPr/>
          <p:nvPr/>
        </p:nvSpPr>
        <p:spPr>
          <a:xfrm>
            <a:off x="4574286" y="2077974"/>
            <a:ext cx="0" cy="260604"/>
          </a:xfrm>
          <a:prstGeom prst="line">
            <a:avLst/>
          </a:prstGeom>
          <a:noFill/>
          <a:ln w="19050">
            <a:solidFill>
              <a:srgbClr val="B9C9E8"/>
            </a:solidFill>
            <a:prstDash val="solid"/>
          </a:ln>
        </p:spPr>
        <p:txBody>
          <a:bodyPr/>
          <a:lstStyle/>
          <a:p>
            <a:endParaRPr lang="ru-KZ"/>
          </a:p>
        </p:txBody>
      </p:sp>
      <p:sp>
        <p:nvSpPr>
          <p:cNvPr id="8" name="Shape 6"/>
          <p:cNvSpPr/>
          <p:nvPr/>
        </p:nvSpPr>
        <p:spPr>
          <a:xfrm>
            <a:off x="534924" y="2366010"/>
            <a:ext cx="1680210" cy="1453896"/>
          </a:xfrm>
          <a:prstGeom prst="roundRect">
            <a:avLst>
              <a:gd name="adj" fmla="val 3774"/>
            </a:avLst>
          </a:prstGeom>
          <a:solidFill>
            <a:srgbClr val="F7FAFF"/>
          </a:solidFill>
          <a:ln w="17780">
            <a:solidFill>
              <a:srgbClr val="5D91E5"/>
            </a:solidFill>
            <a:prstDash val="solid"/>
          </a:ln>
        </p:spPr>
        <p:txBody>
          <a:bodyPr/>
          <a:lstStyle/>
          <a:p>
            <a:endParaRPr lang="ru-KZ"/>
          </a:p>
        </p:txBody>
      </p:sp>
      <p:sp>
        <p:nvSpPr>
          <p:cNvPr id="9" name="Shape 7"/>
          <p:cNvSpPr/>
          <p:nvPr/>
        </p:nvSpPr>
        <p:spPr>
          <a:xfrm>
            <a:off x="1186434" y="2208276"/>
            <a:ext cx="377190" cy="377190"/>
          </a:xfrm>
          <a:prstGeom prst="ellipse">
            <a:avLst/>
          </a:prstGeom>
          <a:solidFill>
            <a:srgbClr val="092445"/>
          </a:solidFill>
          <a:ln w="12700">
            <a:solidFill>
              <a:srgbClr val="092445"/>
            </a:solidFill>
            <a:prstDash val="solid"/>
          </a:ln>
        </p:spPr>
        <p:txBody>
          <a:bodyPr/>
          <a:lstStyle/>
          <a:p>
            <a:endParaRPr lang="ru-KZ"/>
          </a:p>
        </p:txBody>
      </p:sp>
      <p:sp>
        <p:nvSpPr>
          <p:cNvPr id="10" name="Text 8"/>
          <p:cNvSpPr/>
          <p:nvPr/>
        </p:nvSpPr>
        <p:spPr>
          <a:xfrm>
            <a:off x="1186434" y="2290572"/>
            <a:ext cx="377190" cy="123444"/>
          </a:xfrm>
          <a:prstGeom prst="rect">
            <a:avLst/>
          </a:prstGeom>
          <a:noFill/>
          <a:ln/>
        </p:spPr>
        <p:txBody>
          <a:bodyPr wrap="square" lIns="0" tIns="0" rIns="0" bIns="0" rtlCol="0" anchor="ctr"/>
          <a:lstStyle/>
          <a:p>
            <a:pPr algn="ctr"/>
            <a:r>
              <a:rPr lang="en-US" sz="863" b="1" dirty="0">
                <a:solidFill>
                  <a:srgbClr val="FFFFFF"/>
                </a:solidFill>
              </a:rPr>
              <a:t>1</a:t>
            </a:r>
            <a:endParaRPr lang="en-US" sz="863" dirty="0"/>
          </a:p>
        </p:txBody>
      </p:sp>
      <p:sp>
        <p:nvSpPr>
          <p:cNvPr id="11" name="Text 9"/>
          <p:cNvSpPr/>
          <p:nvPr/>
        </p:nvSpPr>
        <p:spPr>
          <a:xfrm>
            <a:off x="672084" y="2688336"/>
            <a:ext cx="1405890" cy="329184"/>
          </a:xfrm>
          <a:prstGeom prst="rect">
            <a:avLst/>
          </a:prstGeom>
          <a:noFill/>
          <a:ln/>
        </p:spPr>
        <p:txBody>
          <a:bodyPr wrap="square" lIns="0" tIns="0" rIns="0" bIns="0" rtlCol="0" anchor="ctr"/>
          <a:lstStyle/>
          <a:p>
            <a:r>
              <a:rPr lang="en-US" sz="1200" b="1" dirty="0">
                <a:solidFill>
                  <a:schemeClr val="dk1"/>
                </a:solidFill>
                <a:latin typeface="Manrope"/>
              </a:rPr>
              <a:t>INTRODUCTION</a:t>
            </a:r>
          </a:p>
        </p:txBody>
      </p:sp>
      <p:sp>
        <p:nvSpPr>
          <p:cNvPr id="12" name="Text 10"/>
          <p:cNvSpPr/>
          <p:nvPr/>
        </p:nvSpPr>
        <p:spPr>
          <a:xfrm>
            <a:off x="672084" y="3106674"/>
            <a:ext cx="1405890" cy="493776"/>
          </a:xfrm>
          <a:prstGeom prst="rect">
            <a:avLst/>
          </a:prstGeom>
          <a:noFill/>
          <a:ln/>
        </p:spPr>
        <p:txBody>
          <a:bodyPr wrap="square" lIns="191" tIns="191" rIns="191" bIns="191" rtlCol="0" anchor="ctr">
            <a:normAutofit fontScale="92500" lnSpcReduction="20000"/>
          </a:bodyPr>
          <a:lstStyle/>
          <a:p>
            <a:pPr algn="ctr"/>
            <a:r>
              <a:rPr lang="en-US" dirty="0">
                <a:solidFill>
                  <a:schemeClr val="dk1"/>
                </a:solidFill>
                <a:latin typeface="Manrope"/>
              </a:rPr>
              <a:t>Set the purpose and orient the reader</a:t>
            </a:r>
            <a:r>
              <a:rPr lang="en-US" sz="863" dirty="0">
                <a:solidFill>
                  <a:srgbClr val="51627A"/>
                </a:solidFill>
              </a:rPr>
              <a:t>.</a:t>
            </a:r>
            <a:endParaRPr lang="en-US" sz="863" dirty="0"/>
          </a:p>
        </p:txBody>
      </p:sp>
      <p:sp>
        <p:nvSpPr>
          <p:cNvPr id="13" name="Shape 11"/>
          <p:cNvSpPr/>
          <p:nvPr/>
        </p:nvSpPr>
        <p:spPr>
          <a:xfrm>
            <a:off x="2304288" y="2894076"/>
            <a:ext cx="233172" cy="308610"/>
          </a:xfrm>
          <a:prstGeom prst="chevron">
            <a:avLst/>
          </a:prstGeom>
          <a:solidFill>
            <a:srgbClr val="B9C9E8"/>
          </a:solidFill>
          <a:ln w="12700">
            <a:solidFill>
              <a:srgbClr val="B9C9E8"/>
            </a:solidFill>
            <a:prstDash val="solid"/>
          </a:ln>
        </p:spPr>
        <p:txBody>
          <a:bodyPr/>
          <a:lstStyle/>
          <a:p>
            <a:endParaRPr lang="ru-KZ"/>
          </a:p>
        </p:txBody>
      </p:sp>
      <p:sp>
        <p:nvSpPr>
          <p:cNvPr id="14" name="Shape 12"/>
          <p:cNvSpPr/>
          <p:nvPr/>
        </p:nvSpPr>
        <p:spPr>
          <a:xfrm>
            <a:off x="2674620" y="2366010"/>
            <a:ext cx="1680210" cy="1453896"/>
          </a:xfrm>
          <a:prstGeom prst="roundRect">
            <a:avLst>
              <a:gd name="adj" fmla="val 3774"/>
            </a:avLst>
          </a:prstGeom>
          <a:solidFill>
            <a:srgbClr val="F7FAFF"/>
          </a:solidFill>
          <a:ln w="17780">
            <a:solidFill>
              <a:srgbClr val="5D91E5"/>
            </a:solidFill>
            <a:prstDash val="solid"/>
          </a:ln>
        </p:spPr>
        <p:txBody>
          <a:bodyPr/>
          <a:lstStyle/>
          <a:p>
            <a:endParaRPr lang="ru-KZ"/>
          </a:p>
        </p:txBody>
      </p:sp>
      <p:sp>
        <p:nvSpPr>
          <p:cNvPr id="15" name="Shape 13"/>
          <p:cNvSpPr/>
          <p:nvPr/>
        </p:nvSpPr>
        <p:spPr>
          <a:xfrm>
            <a:off x="3326130" y="2208276"/>
            <a:ext cx="377190" cy="377190"/>
          </a:xfrm>
          <a:prstGeom prst="ellipse">
            <a:avLst/>
          </a:prstGeom>
          <a:solidFill>
            <a:srgbClr val="092445"/>
          </a:solidFill>
          <a:ln w="12700">
            <a:solidFill>
              <a:srgbClr val="092445"/>
            </a:solidFill>
            <a:prstDash val="solid"/>
          </a:ln>
        </p:spPr>
        <p:txBody>
          <a:bodyPr/>
          <a:lstStyle/>
          <a:p>
            <a:endParaRPr lang="ru-KZ"/>
          </a:p>
        </p:txBody>
      </p:sp>
      <p:sp>
        <p:nvSpPr>
          <p:cNvPr id="16" name="Text 14"/>
          <p:cNvSpPr/>
          <p:nvPr/>
        </p:nvSpPr>
        <p:spPr>
          <a:xfrm>
            <a:off x="3326130" y="2290572"/>
            <a:ext cx="377190" cy="123444"/>
          </a:xfrm>
          <a:prstGeom prst="rect">
            <a:avLst/>
          </a:prstGeom>
          <a:noFill/>
          <a:ln/>
        </p:spPr>
        <p:txBody>
          <a:bodyPr wrap="square" lIns="0" tIns="0" rIns="0" bIns="0" rtlCol="0" anchor="ctr"/>
          <a:lstStyle/>
          <a:p>
            <a:pPr algn="ctr"/>
            <a:r>
              <a:rPr lang="en-US" sz="863" b="1" dirty="0">
                <a:solidFill>
                  <a:srgbClr val="FFFFFF"/>
                </a:solidFill>
              </a:rPr>
              <a:t>2</a:t>
            </a:r>
            <a:endParaRPr lang="en-US" sz="863" dirty="0"/>
          </a:p>
        </p:txBody>
      </p:sp>
      <p:sp>
        <p:nvSpPr>
          <p:cNvPr id="17" name="Text 15"/>
          <p:cNvSpPr/>
          <p:nvPr/>
        </p:nvSpPr>
        <p:spPr>
          <a:xfrm>
            <a:off x="2743200" y="2688336"/>
            <a:ext cx="1680210" cy="329184"/>
          </a:xfrm>
          <a:prstGeom prst="rect">
            <a:avLst/>
          </a:prstGeom>
          <a:noFill/>
          <a:ln/>
        </p:spPr>
        <p:txBody>
          <a:bodyPr wrap="square" lIns="0" tIns="0" rIns="0" bIns="0" rtlCol="0" anchor="ctr"/>
          <a:lstStyle/>
          <a:p>
            <a:r>
              <a:rPr lang="en-US" sz="1200" b="1" dirty="0">
                <a:solidFill>
                  <a:schemeClr val="dk1"/>
                </a:solidFill>
                <a:latin typeface="Manrope"/>
              </a:rPr>
              <a:t>CONTEXT &amp; PROBLEM</a:t>
            </a:r>
          </a:p>
        </p:txBody>
      </p:sp>
      <p:sp>
        <p:nvSpPr>
          <p:cNvPr id="18" name="Text 16"/>
          <p:cNvSpPr/>
          <p:nvPr/>
        </p:nvSpPr>
        <p:spPr>
          <a:xfrm>
            <a:off x="2811780" y="3106674"/>
            <a:ext cx="1405890" cy="493776"/>
          </a:xfrm>
          <a:prstGeom prst="rect">
            <a:avLst/>
          </a:prstGeom>
          <a:noFill/>
          <a:ln/>
        </p:spPr>
        <p:txBody>
          <a:bodyPr wrap="square" lIns="191" tIns="191" rIns="191" bIns="191" rtlCol="0" anchor="ctr">
            <a:normAutofit fontScale="92500" lnSpcReduction="20000"/>
          </a:bodyPr>
          <a:lstStyle/>
          <a:p>
            <a:pPr algn="ctr"/>
            <a:r>
              <a:rPr lang="en-US" sz="1300" dirty="0">
                <a:solidFill>
                  <a:schemeClr val="dk1"/>
                </a:solidFill>
                <a:latin typeface="Manrope"/>
              </a:rPr>
              <a:t>Explain the problem, why it matters and who is affected.</a:t>
            </a:r>
          </a:p>
        </p:txBody>
      </p:sp>
      <p:sp>
        <p:nvSpPr>
          <p:cNvPr id="19" name="Shape 17"/>
          <p:cNvSpPr/>
          <p:nvPr/>
        </p:nvSpPr>
        <p:spPr>
          <a:xfrm>
            <a:off x="4443984" y="2894076"/>
            <a:ext cx="233172" cy="308610"/>
          </a:xfrm>
          <a:prstGeom prst="chevron">
            <a:avLst/>
          </a:prstGeom>
          <a:solidFill>
            <a:srgbClr val="B9C9E8"/>
          </a:solidFill>
          <a:ln w="12700">
            <a:solidFill>
              <a:srgbClr val="B9C9E8"/>
            </a:solidFill>
            <a:prstDash val="solid"/>
          </a:ln>
        </p:spPr>
        <p:txBody>
          <a:bodyPr/>
          <a:lstStyle/>
          <a:p>
            <a:endParaRPr lang="ru-KZ"/>
          </a:p>
        </p:txBody>
      </p:sp>
      <p:sp>
        <p:nvSpPr>
          <p:cNvPr id="20" name="Shape 18"/>
          <p:cNvSpPr/>
          <p:nvPr/>
        </p:nvSpPr>
        <p:spPr>
          <a:xfrm>
            <a:off x="4814316" y="2366010"/>
            <a:ext cx="1680210" cy="1453896"/>
          </a:xfrm>
          <a:prstGeom prst="roundRect">
            <a:avLst>
              <a:gd name="adj" fmla="val 3774"/>
            </a:avLst>
          </a:prstGeom>
          <a:solidFill>
            <a:srgbClr val="F7FAFF"/>
          </a:solidFill>
          <a:ln w="17780">
            <a:solidFill>
              <a:srgbClr val="5D91E5"/>
            </a:solidFill>
            <a:prstDash val="solid"/>
          </a:ln>
        </p:spPr>
        <p:txBody>
          <a:bodyPr/>
          <a:lstStyle/>
          <a:p>
            <a:endParaRPr lang="ru-KZ"/>
          </a:p>
        </p:txBody>
      </p:sp>
      <p:sp>
        <p:nvSpPr>
          <p:cNvPr id="21" name="Shape 19"/>
          <p:cNvSpPr/>
          <p:nvPr/>
        </p:nvSpPr>
        <p:spPr>
          <a:xfrm>
            <a:off x="5465826" y="2208276"/>
            <a:ext cx="377190" cy="377190"/>
          </a:xfrm>
          <a:prstGeom prst="ellipse">
            <a:avLst/>
          </a:prstGeom>
          <a:solidFill>
            <a:srgbClr val="092445"/>
          </a:solidFill>
          <a:ln w="12700">
            <a:solidFill>
              <a:srgbClr val="092445"/>
            </a:solidFill>
            <a:prstDash val="solid"/>
          </a:ln>
        </p:spPr>
        <p:txBody>
          <a:bodyPr/>
          <a:lstStyle/>
          <a:p>
            <a:endParaRPr lang="ru-KZ"/>
          </a:p>
        </p:txBody>
      </p:sp>
      <p:sp>
        <p:nvSpPr>
          <p:cNvPr id="22" name="Text 20"/>
          <p:cNvSpPr/>
          <p:nvPr/>
        </p:nvSpPr>
        <p:spPr>
          <a:xfrm>
            <a:off x="5465826" y="2290572"/>
            <a:ext cx="377190" cy="123444"/>
          </a:xfrm>
          <a:prstGeom prst="rect">
            <a:avLst/>
          </a:prstGeom>
          <a:noFill/>
          <a:ln/>
        </p:spPr>
        <p:txBody>
          <a:bodyPr wrap="square" lIns="0" tIns="0" rIns="0" bIns="0" rtlCol="0" anchor="ctr"/>
          <a:lstStyle/>
          <a:p>
            <a:pPr algn="ctr"/>
            <a:r>
              <a:rPr lang="en-US" sz="863" b="1" dirty="0">
                <a:solidFill>
                  <a:srgbClr val="FFFFFF"/>
                </a:solidFill>
              </a:rPr>
              <a:t>3</a:t>
            </a:r>
            <a:endParaRPr lang="en-US" sz="863" dirty="0"/>
          </a:p>
        </p:txBody>
      </p:sp>
      <p:sp>
        <p:nvSpPr>
          <p:cNvPr id="23" name="Text 21"/>
          <p:cNvSpPr/>
          <p:nvPr/>
        </p:nvSpPr>
        <p:spPr>
          <a:xfrm>
            <a:off x="4653153" y="2678049"/>
            <a:ext cx="2002536" cy="329184"/>
          </a:xfrm>
          <a:prstGeom prst="rect">
            <a:avLst/>
          </a:prstGeom>
          <a:noFill/>
          <a:ln/>
        </p:spPr>
        <p:txBody>
          <a:bodyPr wrap="square" lIns="0" tIns="0" rIns="0" bIns="0" rtlCol="0" anchor="ctr"/>
          <a:lstStyle/>
          <a:p>
            <a:pPr algn="ctr"/>
            <a:r>
              <a:rPr lang="en-US" sz="1200" b="1" dirty="0">
                <a:solidFill>
                  <a:schemeClr val="dk1"/>
                </a:solidFill>
                <a:latin typeface="Manrope"/>
              </a:rPr>
              <a:t>FINDINGS &amp; OPTIONS</a:t>
            </a:r>
          </a:p>
        </p:txBody>
      </p:sp>
      <p:sp>
        <p:nvSpPr>
          <p:cNvPr id="24" name="Text 22"/>
          <p:cNvSpPr/>
          <p:nvPr/>
        </p:nvSpPr>
        <p:spPr>
          <a:xfrm>
            <a:off x="4951476" y="3106674"/>
            <a:ext cx="1405890" cy="493776"/>
          </a:xfrm>
          <a:prstGeom prst="rect">
            <a:avLst/>
          </a:prstGeom>
          <a:noFill/>
          <a:ln/>
        </p:spPr>
        <p:txBody>
          <a:bodyPr wrap="square" lIns="191" tIns="191" rIns="191" bIns="191" rtlCol="0" anchor="ctr">
            <a:normAutofit fontScale="92500"/>
          </a:bodyPr>
          <a:lstStyle/>
          <a:p>
            <a:pPr algn="ctr">
              <a:lnSpc>
                <a:spcPct val="80000"/>
              </a:lnSpc>
            </a:pPr>
            <a:r>
              <a:rPr lang="en-US" sz="1200" dirty="0">
                <a:solidFill>
                  <a:schemeClr val="dk1"/>
                </a:solidFill>
                <a:latin typeface="Manrope"/>
              </a:rPr>
              <a:t>Present and interpret evidence; consider possible responses.</a:t>
            </a:r>
          </a:p>
        </p:txBody>
      </p:sp>
      <p:sp>
        <p:nvSpPr>
          <p:cNvPr id="25" name="Shape 23"/>
          <p:cNvSpPr/>
          <p:nvPr/>
        </p:nvSpPr>
        <p:spPr>
          <a:xfrm>
            <a:off x="6583680" y="2894076"/>
            <a:ext cx="233172" cy="308610"/>
          </a:xfrm>
          <a:prstGeom prst="chevron">
            <a:avLst/>
          </a:prstGeom>
          <a:solidFill>
            <a:srgbClr val="B9C9E8"/>
          </a:solidFill>
          <a:ln w="12700">
            <a:solidFill>
              <a:srgbClr val="B9C9E8"/>
            </a:solidFill>
            <a:prstDash val="solid"/>
          </a:ln>
        </p:spPr>
        <p:txBody>
          <a:bodyPr/>
          <a:lstStyle/>
          <a:p>
            <a:endParaRPr lang="ru-KZ"/>
          </a:p>
        </p:txBody>
      </p:sp>
      <p:sp>
        <p:nvSpPr>
          <p:cNvPr id="26" name="Shape 24"/>
          <p:cNvSpPr/>
          <p:nvPr/>
        </p:nvSpPr>
        <p:spPr>
          <a:xfrm>
            <a:off x="6954012" y="2366010"/>
            <a:ext cx="1680210" cy="1453896"/>
          </a:xfrm>
          <a:prstGeom prst="roundRect">
            <a:avLst>
              <a:gd name="adj" fmla="val 3774"/>
            </a:avLst>
          </a:prstGeom>
          <a:solidFill>
            <a:srgbClr val="E7F0FF"/>
          </a:solidFill>
          <a:ln w="17780">
            <a:solidFill>
              <a:srgbClr val="5D91E5"/>
            </a:solidFill>
            <a:prstDash val="solid"/>
          </a:ln>
        </p:spPr>
        <p:txBody>
          <a:bodyPr/>
          <a:lstStyle/>
          <a:p>
            <a:endParaRPr lang="ru-KZ"/>
          </a:p>
        </p:txBody>
      </p:sp>
      <p:sp>
        <p:nvSpPr>
          <p:cNvPr id="27" name="Shape 25"/>
          <p:cNvSpPr/>
          <p:nvPr/>
        </p:nvSpPr>
        <p:spPr>
          <a:xfrm>
            <a:off x="7605522" y="2208276"/>
            <a:ext cx="377190" cy="377190"/>
          </a:xfrm>
          <a:prstGeom prst="ellipse">
            <a:avLst/>
          </a:prstGeom>
          <a:solidFill>
            <a:srgbClr val="092445"/>
          </a:solidFill>
          <a:ln w="12700">
            <a:solidFill>
              <a:srgbClr val="092445"/>
            </a:solidFill>
            <a:prstDash val="solid"/>
          </a:ln>
        </p:spPr>
        <p:txBody>
          <a:bodyPr/>
          <a:lstStyle/>
          <a:p>
            <a:endParaRPr lang="ru-KZ"/>
          </a:p>
        </p:txBody>
      </p:sp>
      <p:sp>
        <p:nvSpPr>
          <p:cNvPr id="28" name="Text 26"/>
          <p:cNvSpPr/>
          <p:nvPr/>
        </p:nvSpPr>
        <p:spPr>
          <a:xfrm>
            <a:off x="7605522" y="2290572"/>
            <a:ext cx="377190" cy="123444"/>
          </a:xfrm>
          <a:prstGeom prst="rect">
            <a:avLst/>
          </a:prstGeom>
          <a:noFill/>
          <a:ln/>
        </p:spPr>
        <p:txBody>
          <a:bodyPr wrap="square" lIns="0" tIns="0" rIns="0" bIns="0" rtlCol="0" anchor="ctr"/>
          <a:lstStyle/>
          <a:p>
            <a:pPr algn="ctr"/>
            <a:r>
              <a:rPr lang="en-US" sz="863" b="1" dirty="0">
                <a:solidFill>
                  <a:srgbClr val="FFFFFF"/>
                </a:solidFill>
              </a:rPr>
              <a:t>4</a:t>
            </a:r>
            <a:endParaRPr lang="en-US" sz="863" dirty="0"/>
          </a:p>
        </p:txBody>
      </p:sp>
      <p:sp>
        <p:nvSpPr>
          <p:cNvPr id="29" name="Text 27"/>
          <p:cNvSpPr/>
          <p:nvPr/>
        </p:nvSpPr>
        <p:spPr>
          <a:xfrm>
            <a:off x="6984423" y="2703352"/>
            <a:ext cx="1649799" cy="329184"/>
          </a:xfrm>
          <a:prstGeom prst="rect">
            <a:avLst/>
          </a:prstGeom>
          <a:noFill/>
          <a:ln/>
        </p:spPr>
        <p:txBody>
          <a:bodyPr wrap="square" lIns="0" tIns="0" rIns="0" bIns="0" rtlCol="0" anchor="ctr"/>
          <a:lstStyle/>
          <a:p>
            <a:pPr algn="ctr"/>
            <a:r>
              <a:rPr lang="en-US" sz="1200" b="1" dirty="0">
                <a:solidFill>
                  <a:schemeClr val="dk1"/>
                </a:solidFill>
                <a:latin typeface="Manrope"/>
              </a:rPr>
              <a:t>POLICY RECOMMENDATIONS</a:t>
            </a:r>
          </a:p>
        </p:txBody>
      </p:sp>
      <p:sp>
        <p:nvSpPr>
          <p:cNvPr id="30" name="Text 28"/>
          <p:cNvSpPr/>
          <p:nvPr/>
        </p:nvSpPr>
        <p:spPr>
          <a:xfrm>
            <a:off x="7091172" y="3106674"/>
            <a:ext cx="1405890" cy="493776"/>
          </a:xfrm>
          <a:prstGeom prst="rect">
            <a:avLst/>
          </a:prstGeom>
          <a:noFill/>
          <a:ln/>
        </p:spPr>
        <p:txBody>
          <a:bodyPr wrap="square" lIns="191" tIns="191" rIns="191" bIns="191" rtlCol="0" anchor="ctr">
            <a:normAutofit/>
          </a:bodyPr>
          <a:lstStyle/>
          <a:p>
            <a:pPr algn="ctr">
              <a:lnSpc>
                <a:spcPct val="80000"/>
              </a:lnSpc>
            </a:pPr>
            <a:r>
              <a:rPr lang="en-US" sz="1100" dirty="0">
                <a:solidFill>
                  <a:schemeClr val="dk1"/>
                </a:solidFill>
                <a:latin typeface="Manrope"/>
              </a:rPr>
              <a:t>Propose specific, evidence-based actions.</a:t>
            </a:r>
          </a:p>
        </p:txBody>
      </p:sp>
      <p:sp>
        <p:nvSpPr>
          <p:cNvPr id="31" name="Text 29"/>
          <p:cNvSpPr/>
          <p:nvPr/>
        </p:nvSpPr>
        <p:spPr>
          <a:xfrm>
            <a:off x="466420" y="4190238"/>
            <a:ext cx="8025919" cy="315468"/>
          </a:xfrm>
          <a:prstGeom prst="rect">
            <a:avLst/>
          </a:prstGeom>
          <a:noFill/>
          <a:ln/>
        </p:spPr>
        <p:txBody>
          <a:bodyPr wrap="square" lIns="0" tIns="0" rIns="0" bIns="0" rtlCol="0" anchor="ctr"/>
          <a:lstStyle/>
          <a:p>
            <a:pPr algn="ctr">
              <a:lnSpc>
                <a:spcPct val="80000"/>
              </a:lnSpc>
            </a:pPr>
            <a:r>
              <a:rPr lang="en-US" dirty="0">
                <a:solidFill>
                  <a:schemeClr val="dk1"/>
                </a:solidFill>
                <a:latin typeface="Manrope"/>
              </a:rPr>
              <a:t>The sections should work together as one argument: problem → evidence → implications →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4350" y="377190"/>
            <a:ext cx="8092440" cy="308610"/>
          </a:xfrm>
          <a:prstGeom prst="rect">
            <a:avLst/>
          </a:prstGeom>
          <a:noFill/>
          <a:ln/>
        </p:spPr>
        <p:txBody>
          <a:bodyPr wrap="square" lIns="0" tIns="0" rIns="0" bIns="0" rtlCol="0" anchor="ctr"/>
          <a:lstStyle/>
          <a:p>
            <a:r>
              <a:rPr lang="en-US" sz="2000" b="1" dirty="0">
                <a:solidFill>
                  <a:schemeClr val="dk1"/>
                </a:solidFill>
                <a:latin typeface="Manrope"/>
              </a:rPr>
              <a:t>Executive Summary</a:t>
            </a:r>
          </a:p>
        </p:txBody>
      </p:sp>
      <p:sp>
        <p:nvSpPr>
          <p:cNvPr id="3" name="Text 1"/>
          <p:cNvSpPr/>
          <p:nvPr/>
        </p:nvSpPr>
        <p:spPr>
          <a:xfrm>
            <a:off x="514350" y="740664"/>
            <a:ext cx="8023860" cy="260604"/>
          </a:xfrm>
          <a:prstGeom prst="rect">
            <a:avLst/>
          </a:prstGeom>
          <a:noFill/>
          <a:ln/>
        </p:spPr>
        <p:txBody>
          <a:bodyPr wrap="square" lIns="0" tIns="0" rIns="0" bIns="0" rtlCol="0" anchor="ctr"/>
          <a:lstStyle/>
          <a:p>
            <a:r>
              <a:rPr lang="en-US" i="1" dirty="0">
                <a:solidFill>
                  <a:schemeClr val="dk1"/>
                </a:solidFill>
                <a:latin typeface="Manrope"/>
              </a:rPr>
              <a:t>Give a busy reader the whole brief in miniature.</a:t>
            </a:r>
          </a:p>
        </p:txBody>
      </p:sp>
      <p:sp>
        <p:nvSpPr>
          <p:cNvPr id="4" name="Shape 2"/>
          <p:cNvSpPr/>
          <p:nvPr/>
        </p:nvSpPr>
        <p:spPr>
          <a:xfrm>
            <a:off x="528066" y="1265301"/>
            <a:ext cx="2160270" cy="2640330"/>
          </a:xfrm>
          <a:prstGeom prst="roundRect">
            <a:avLst>
              <a:gd name="adj" fmla="val 1587"/>
            </a:avLst>
          </a:prstGeom>
          <a:solidFill>
            <a:srgbClr val="0B284A"/>
          </a:solidFill>
          <a:ln w="12700">
            <a:solidFill>
              <a:srgbClr val="0B284A"/>
            </a:solidFill>
            <a:prstDash val="solid"/>
          </a:ln>
        </p:spPr>
        <p:txBody>
          <a:bodyPr/>
          <a:lstStyle/>
          <a:p>
            <a:endParaRPr lang="ru-KZ"/>
          </a:p>
        </p:txBody>
      </p:sp>
      <p:sp>
        <p:nvSpPr>
          <p:cNvPr id="5" name="Text 3"/>
          <p:cNvSpPr/>
          <p:nvPr/>
        </p:nvSpPr>
        <p:spPr>
          <a:xfrm>
            <a:off x="768096" y="1405890"/>
            <a:ext cx="1714500" cy="171450"/>
          </a:xfrm>
          <a:prstGeom prst="rect">
            <a:avLst/>
          </a:prstGeom>
          <a:noFill/>
          <a:ln/>
        </p:spPr>
        <p:txBody>
          <a:bodyPr wrap="square" lIns="0" tIns="0" rIns="0" bIns="0" rtlCol="0" anchor="ctr"/>
          <a:lstStyle/>
          <a:p>
            <a:r>
              <a:rPr lang="en-US" b="1" dirty="0">
                <a:solidFill>
                  <a:schemeClr val="tx1">
                    <a:lumMod val="25000"/>
                    <a:lumOff val="75000"/>
                  </a:schemeClr>
                </a:solidFill>
                <a:latin typeface="Manrope"/>
              </a:rPr>
              <a:t>THE TEST</a:t>
            </a:r>
          </a:p>
        </p:txBody>
      </p:sp>
      <p:sp>
        <p:nvSpPr>
          <p:cNvPr id="6" name="Text 4"/>
          <p:cNvSpPr/>
          <p:nvPr/>
        </p:nvSpPr>
        <p:spPr>
          <a:xfrm>
            <a:off x="768096" y="1920240"/>
            <a:ext cx="1680210" cy="1131570"/>
          </a:xfrm>
          <a:prstGeom prst="rect">
            <a:avLst/>
          </a:prstGeom>
          <a:noFill/>
          <a:ln/>
        </p:spPr>
        <p:txBody>
          <a:bodyPr wrap="square" lIns="0" tIns="0" rIns="0" bIns="0" rtlCol="0" anchor="ctr"/>
          <a:lstStyle/>
          <a:p>
            <a:r>
              <a:rPr lang="en-US" dirty="0">
                <a:solidFill>
                  <a:schemeClr val="bg1"/>
                </a:solidFill>
                <a:latin typeface="Manrope"/>
              </a:rPr>
              <a:t>If the reader stops here, do they still understand the issue and what should happen next?</a:t>
            </a:r>
          </a:p>
        </p:txBody>
      </p:sp>
      <p:sp>
        <p:nvSpPr>
          <p:cNvPr id="7" name="Text 5"/>
          <p:cNvSpPr/>
          <p:nvPr/>
        </p:nvSpPr>
        <p:spPr>
          <a:xfrm>
            <a:off x="3926286" y="4145954"/>
            <a:ext cx="4225308" cy="397764"/>
          </a:xfrm>
          <a:prstGeom prst="rect">
            <a:avLst/>
          </a:prstGeom>
          <a:noFill/>
          <a:ln/>
        </p:spPr>
        <p:txBody>
          <a:bodyPr wrap="square" lIns="0" tIns="0" rIns="0" bIns="0" rtlCol="0" anchor="ctr"/>
          <a:lstStyle/>
          <a:p>
            <a:r>
              <a:rPr lang="en-US" b="1" dirty="0">
                <a:solidFill>
                  <a:schemeClr val="tx2">
                    <a:lumMod val="50000"/>
                  </a:schemeClr>
                </a:solidFill>
                <a:latin typeface="Manrope"/>
              </a:rPr>
              <a:t>Usually a short paragraph or a few focused bullet </a:t>
            </a:r>
            <a:r>
              <a:rPr lang="en-US" b="1" dirty="0">
                <a:solidFill>
                  <a:schemeClr val="bg1"/>
                </a:solidFill>
                <a:latin typeface="Manrope"/>
              </a:rPr>
              <a:t>points</a:t>
            </a:r>
            <a:r>
              <a:rPr lang="en-US" dirty="0">
                <a:solidFill>
                  <a:schemeClr val="bg1"/>
                </a:solidFill>
                <a:latin typeface="Manrope"/>
              </a:rPr>
              <a:t>.</a:t>
            </a:r>
          </a:p>
        </p:txBody>
      </p:sp>
      <p:sp>
        <p:nvSpPr>
          <p:cNvPr id="8" name="Shape 6"/>
          <p:cNvSpPr/>
          <p:nvPr/>
        </p:nvSpPr>
        <p:spPr>
          <a:xfrm>
            <a:off x="2983230" y="1165860"/>
            <a:ext cx="2606040" cy="1062990"/>
          </a:xfrm>
          <a:prstGeom prst="roundRect">
            <a:avLst>
              <a:gd name="adj" fmla="val 3871"/>
            </a:avLst>
          </a:prstGeom>
          <a:solidFill>
            <a:srgbClr val="F8FAFD"/>
          </a:solidFill>
          <a:ln w="12700">
            <a:solidFill>
              <a:srgbClr val="C9D8EE"/>
            </a:solidFill>
            <a:prstDash val="solid"/>
          </a:ln>
        </p:spPr>
        <p:txBody>
          <a:bodyPr/>
          <a:lstStyle/>
          <a:p>
            <a:endParaRPr lang="ru-KZ"/>
          </a:p>
        </p:txBody>
      </p:sp>
      <p:sp>
        <p:nvSpPr>
          <p:cNvPr id="10" name="Text 8"/>
          <p:cNvSpPr/>
          <p:nvPr/>
        </p:nvSpPr>
        <p:spPr>
          <a:xfrm>
            <a:off x="3099816" y="1285875"/>
            <a:ext cx="288036" cy="260604"/>
          </a:xfrm>
          <a:prstGeom prst="rect">
            <a:avLst/>
          </a:prstGeom>
          <a:noFill/>
          <a:ln/>
        </p:spPr>
        <p:txBody>
          <a:bodyPr wrap="square" lIns="0" tIns="0" rIns="0" bIns="0" rtlCol="0" anchor="ctr"/>
          <a:lstStyle/>
          <a:p>
            <a:pPr algn="ctr"/>
            <a:r>
              <a:rPr lang="en-US" b="1" dirty="0">
                <a:solidFill>
                  <a:schemeClr val="tx2">
                    <a:lumMod val="50000"/>
                  </a:schemeClr>
                </a:solidFill>
              </a:rPr>
              <a:t>1</a:t>
            </a:r>
            <a:endParaRPr lang="en-US" dirty="0">
              <a:solidFill>
                <a:schemeClr val="tx2">
                  <a:lumMod val="50000"/>
                </a:schemeClr>
              </a:solidFill>
            </a:endParaRPr>
          </a:p>
        </p:txBody>
      </p:sp>
      <p:sp>
        <p:nvSpPr>
          <p:cNvPr id="11" name="Text 9"/>
          <p:cNvSpPr/>
          <p:nvPr/>
        </p:nvSpPr>
        <p:spPr>
          <a:xfrm>
            <a:off x="3504438" y="1316736"/>
            <a:ext cx="1933956" cy="205740"/>
          </a:xfrm>
          <a:prstGeom prst="rect">
            <a:avLst/>
          </a:prstGeom>
          <a:noFill/>
          <a:ln/>
        </p:spPr>
        <p:txBody>
          <a:bodyPr wrap="square" lIns="0" tIns="0" rIns="0" bIns="0" rtlCol="0" anchor="ctr"/>
          <a:lstStyle/>
          <a:p>
            <a:r>
              <a:rPr lang="en-US" b="1" dirty="0">
                <a:solidFill>
                  <a:schemeClr val="dk1"/>
                </a:solidFill>
                <a:latin typeface="Manrope"/>
              </a:rPr>
              <a:t>Problem</a:t>
            </a:r>
          </a:p>
        </p:txBody>
      </p:sp>
      <p:sp>
        <p:nvSpPr>
          <p:cNvPr id="12" name="Text 10"/>
          <p:cNvSpPr/>
          <p:nvPr/>
        </p:nvSpPr>
        <p:spPr>
          <a:xfrm>
            <a:off x="3154680" y="1700784"/>
            <a:ext cx="2263140" cy="390906"/>
          </a:xfrm>
          <a:prstGeom prst="rect">
            <a:avLst/>
          </a:prstGeom>
          <a:noFill/>
          <a:ln/>
        </p:spPr>
        <p:txBody>
          <a:bodyPr wrap="square" lIns="381" tIns="381" rIns="381" bIns="381" rtlCol="0" anchor="t"/>
          <a:lstStyle/>
          <a:p>
            <a:r>
              <a:rPr lang="en-US" dirty="0">
                <a:solidFill>
                  <a:schemeClr val="dk1"/>
                </a:solidFill>
                <a:latin typeface="Manrope"/>
              </a:rPr>
              <a:t>What is happening, and why does it matter now?</a:t>
            </a:r>
          </a:p>
        </p:txBody>
      </p:sp>
      <p:sp>
        <p:nvSpPr>
          <p:cNvPr id="13" name="Shape 11"/>
          <p:cNvSpPr/>
          <p:nvPr/>
        </p:nvSpPr>
        <p:spPr>
          <a:xfrm>
            <a:off x="5795010" y="1165860"/>
            <a:ext cx="2606040" cy="1062990"/>
          </a:xfrm>
          <a:prstGeom prst="roundRect">
            <a:avLst>
              <a:gd name="adj" fmla="val 3871"/>
            </a:avLst>
          </a:prstGeom>
          <a:solidFill>
            <a:srgbClr val="F8FAFD"/>
          </a:solidFill>
          <a:ln w="12700">
            <a:solidFill>
              <a:srgbClr val="C9D8EE"/>
            </a:solidFill>
            <a:prstDash val="solid"/>
          </a:ln>
        </p:spPr>
        <p:txBody>
          <a:bodyPr/>
          <a:lstStyle/>
          <a:p>
            <a:endParaRPr lang="ru-KZ"/>
          </a:p>
        </p:txBody>
      </p:sp>
      <p:sp>
        <p:nvSpPr>
          <p:cNvPr id="15" name="Text 13"/>
          <p:cNvSpPr/>
          <p:nvPr/>
        </p:nvSpPr>
        <p:spPr>
          <a:xfrm>
            <a:off x="5945886" y="1364742"/>
            <a:ext cx="288036" cy="116586"/>
          </a:xfrm>
          <a:prstGeom prst="rect">
            <a:avLst/>
          </a:prstGeom>
          <a:noFill/>
          <a:ln/>
        </p:spPr>
        <p:txBody>
          <a:bodyPr wrap="square" lIns="0" tIns="0" rIns="0" bIns="0" rtlCol="0" anchor="ctr"/>
          <a:lstStyle/>
          <a:p>
            <a:pPr algn="ctr"/>
            <a:r>
              <a:rPr lang="en-US" b="1" dirty="0">
                <a:solidFill>
                  <a:schemeClr val="tx2">
                    <a:lumMod val="50000"/>
                  </a:schemeClr>
                </a:solidFill>
              </a:rPr>
              <a:t>2</a:t>
            </a:r>
          </a:p>
        </p:txBody>
      </p:sp>
      <p:sp>
        <p:nvSpPr>
          <p:cNvPr id="16" name="Text 14"/>
          <p:cNvSpPr/>
          <p:nvPr/>
        </p:nvSpPr>
        <p:spPr>
          <a:xfrm>
            <a:off x="6316218" y="1316736"/>
            <a:ext cx="1933956" cy="205740"/>
          </a:xfrm>
          <a:prstGeom prst="rect">
            <a:avLst/>
          </a:prstGeom>
          <a:noFill/>
          <a:ln/>
        </p:spPr>
        <p:txBody>
          <a:bodyPr wrap="square" lIns="0" tIns="0" rIns="0" bIns="0" rtlCol="0" anchor="ctr"/>
          <a:lstStyle/>
          <a:p>
            <a:r>
              <a:rPr lang="en-US" b="1" dirty="0">
                <a:solidFill>
                  <a:schemeClr val="dk1"/>
                </a:solidFill>
                <a:latin typeface="Manrope"/>
              </a:rPr>
              <a:t>Key evidence</a:t>
            </a:r>
          </a:p>
        </p:txBody>
      </p:sp>
      <p:sp>
        <p:nvSpPr>
          <p:cNvPr id="17" name="Text 15"/>
          <p:cNvSpPr/>
          <p:nvPr/>
        </p:nvSpPr>
        <p:spPr>
          <a:xfrm>
            <a:off x="5966460" y="1700784"/>
            <a:ext cx="2263140" cy="390906"/>
          </a:xfrm>
          <a:prstGeom prst="rect">
            <a:avLst/>
          </a:prstGeom>
          <a:noFill/>
          <a:ln/>
        </p:spPr>
        <p:txBody>
          <a:bodyPr wrap="square" lIns="381" tIns="381" rIns="381" bIns="381" rtlCol="0" anchor="t"/>
          <a:lstStyle/>
          <a:p>
            <a:r>
              <a:rPr lang="en-US" dirty="0">
                <a:solidFill>
                  <a:schemeClr val="dk1"/>
                </a:solidFill>
                <a:latin typeface="Manrope"/>
              </a:rPr>
              <a:t>What are the most decision-relevant findings?</a:t>
            </a:r>
          </a:p>
        </p:txBody>
      </p:sp>
      <p:sp>
        <p:nvSpPr>
          <p:cNvPr id="18" name="Shape 16"/>
          <p:cNvSpPr/>
          <p:nvPr/>
        </p:nvSpPr>
        <p:spPr>
          <a:xfrm>
            <a:off x="2983230" y="2434590"/>
            <a:ext cx="2606040" cy="1062990"/>
          </a:xfrm>
          <a:prstGeom prst="roundRect">
            <a:avLst>
              <a:gd name="adj" fmla="val 3871"/>
            </a:avLst>
          </a:prstGeom>
          <a:solidFill>
            <a:srgbClr val="F8FAFD"/>
          </a:solidFill>
          <a:ln w="12700">
            <a:solidFill>
              <a:srgbClr val="C9D8EE"/>
            </a:solidFill>
            <a:prstDash val="solid"/>
          </a:ln>
        </p:spPr>
        <p:txBody>
          <a:bodyPr/>
          <a:lstStyle/>
          <a:p>
            <a:endParaRPr lang="ru-KZ"/>
          </a:p>
        </p:txBody>
      </p:sp>
      <p:sp>
        <p:nvSpPr>
          <p:cNvPr id="20" name="Text 18"/>
          <p:cNvSpPr/>
          <p:nvPr/>
        </p:nvSpPr>
        <p:spPr>
          <a:xfrm>
            <a:off x="3134106" y="2633472"/>
            <a:ext cx="288036" cy="116586"/>
          </a:xfrm>
          <a:prstGeom prst="rect">
            <a:avLst/>
          </a:prstGeom>
          <a:noFill/>
          <a:ln/>
        </p:spPr>
        <p:txBody>
          <a:bodyPr wrap="square" lIns="0" tIns="0" rIns="0" bIns="0" rtlCol="0" anchor="ctr"/>
          <a:lstStyle/>
          <a:p>
            <a:pPr algn="ctr"/>
            <a:r>
              <a:rPr lang="en-US" b="1" dirty="0">
                <a:solidFill>
                  <a:schemeClr val="tx2">
                    <a:lumMod val="50000"/>
                  </a:schemeClr>
                </a:solidFill>
              </a:rPr>
              <a:t>3</a:t>
            </a:r>
          </a:p>
        </p:txBody>
      </p:sp>
      <p:sp>
        <p:nvSpPr>
          <p:cNvPr id="21" name="Text 19"/>
          <p:cNvSpPr/>
          <p:nvPr/>
        </p:nvSpPr>
        <p:spPr>
          <a:xfrm>
            <a:off x="3504438" y="2585466"/>
            <a:ext cx="1933956" cy="205740"/>
          </a:xfrm>
          <a:prstGeom prst="rect">
            <a:avLst/>
          </a:prstGeom>
          <a:noFill/>
          <a:ln/>
        </p:spPr>
        <p:txBody>
          <a:bodyPr wrap="square" lIns="0" tIns="0" rIns="0" bIns="0" rtlCol="0" anchor="ctr"/>
          <a:lstStyle/>
          <a:p>
            <a:r>
              <a:rPr lang="en-US" b="1" dirty="0">
                <a:solidFill>
                  <a:schemeClr val="dk1"/>
                </a:solidFill>
                <a:latin typeface="Manrope"/>
              </a:rPr>
              <a:t>Implication</a:t>
            </a:r>
          </a:p>
        </p:txBody>
      </p:sp>
      <p:sp>
        <p:nvSpPr>
          <p:cNvPr id="22" name="Text 20"/>
          <p:cNvSpPr/>
          <p:nvPr/>
        </p:nvSpPr>
        <p:spPr>
          <a:xfrm>
            <a:off x="3243834" y="3006859"/>
            <a:ext cx="2263140" cy="390906"/>
          </a:xfrm>
          <a:prstGeom prst="rect">
            <a:avLst/>
          </a:prstGeom>
          <a:noFill/>
          <a:ln/>
        </p:spPr>
        <p:txBody>
          <a:bodyPr wrap="square" lIns="381" tIns="381" rIns="381" bIns="381" rtlCol="0" anchor="t"/>
          <a:lstStyle/>
          <a:p>
            <a:r>
              <a:rPr lang="en-US" dirty="0">
                <a:solidFill>
                  <a:schemeClr val="dk1"/>
                </a:solidFill>
                <a:latin typeface="Manrope"/>
              </a:rPr>
              <a:t>What do the findings mean for policy or practice?</a:t>
            </a:r>
          </a:p>
        </p:txBody>
      </p:sp>
      <p:sp>
        <p:nvSpPr>
          <p:cNvPr id="23" name="Shape 21"/>
          <p:cNvSpPr/>
          <p:nvPr/>
        </p:nvSpPr>
        <p:spPr>
          <a:xfrm>
            <a:off x="5795010" y="2434590"/>
            <a:ext cx="2606040" cy="1062990"/>
          </a:xfrm>
          <a:prstGeom prst="roundRect">
            <a:avLst>
              <a:gd name="adj" fmla="val 3871"/>
            </a:avLst>
          </a:prstGeom>
          <a:solidFill>
            <a:srgbClr val="F8FAFD"/>
          </a:solidFill>
          <a:ln w="12700">
            <a:solidFill>
              <a:srgbClr val="C9D8EE"/>
            </a:solidFill>
            <a:prstDash val="solid"/>
          </a:ln>
        </p:spPr>
        <p:txBody>
          <a:bodyPr/>
          <a:lstStyle/>
          <a:p>
            <a:endParaRPr lang="ru-KZ"/>
          </a:p>
        </p:txBody>
      </p:sp>
      <p:sp>
        <p:nvSpPr>
          <p:cNvPr id="25" name="Text 23"/>
          <p:cNvSpPr/>
          <p:nvPr/>
        </p:nvSpPr>
        <p:spPr>
          <a:xfrm>
            <a:off x="5945886" y="2633472"/>
            <a:ext cx="288036" cy="116586"/>
          </a:xfrm>
          <a:prstGeom prst="rect">
            <a:avLst/>
          </a:prstGeom>
          <a:noFill/>
          <a:ln/>
        </p:spPr>
        <p:txBody>
          <a:bodyPr wrap="square" lIns="0" tIns="0" rIns="0" bIns="0" rtlCol="0" anchor="ctr"/>
          <a:lstStyle/>
          <a:p>
            <a:pPr algn="ctr"/>
            <a:r>
              <a:rPr lang="en-US" b="1" dirty="0">
                <a:solidFill>
                  <a:schemeClr val="tx2">
                    <a:lumMod val="50000"/>
                  </a:schemeClr>
                </a:solidFill>
              </a:rPr>
              <a:t>4</a:t>
            </a:r>
          </a:p>
        </p:txBody>
      </p:sp>
      <p:sp>
        <p:nvSpPr>
          <p:cNvPr id="26" name="Text 24"/>
          <p:cNvSpPr/>
          <p:nvPr/>
        </p:nvSpPr>
        <p:spPr>
          <a:xfrm>
            <a:off x="6316218" y="2585466"/>
            <a:ext cx="1933956" cy="205740"/>
          </a:xfrm>
          <a:prstGeom prst="rect">
            <a:avLst/>
          </a:prstGeom>
          <a:noFill/>
          <a:ln/>
        </p:spPr>
        <p:txBody>
          <a:bodyPr wrap="square" lIns="0" tIns="0" rIns="0" bIns="0" rtlCol="0" anchor="ctr"/>
          <a:lstStyle/>
          <a:p>
            <a:r>
              <a:rPr lang="en-US" b="1" dirty="0">
                <a:solidFill>
                  <a:schemeClr val="dk1"/>
                </a:solidFill>
                <a:latin typeface="Manrope"/>
              </a:rPr>
              <a:t>Action</a:t>
            </a:r>
          </a:p>
        </p:txBody>
      </p:sp>
      <p:sp>
        <p:nvSpPr>
          <p:cNvPr id="27" name="Text 25"/>
          <p:cNvSpPr/>
          <p:nvPr/>
        </p:nvSpPr>
        <p:spPr>
          <a:xfrm>
            <a:off x="5966460" y="2969514"/>
            <a:ext cx="2263140" cy="390906"/>
          </a:xfrm>
          <a:prstGeom prst="rect">
            <a:avLst/>
          </a:prstGeom>
          <a:noFill/>
          <a:ln/>
        </p:spPr>
        <p:txBody>
          <a:bodyPr wrap="square" lIns="381" tIns="381" rIns="381" bIns="381" rtlCol="0" anchor="t"/>
          <a:lstStyle/>
          <a:p>
            <a:r>
              <a:rPr lang="en-US" dirty="0">
                <a:solidFill>
                  <a:schemeClr val="dk1"/>
                </a:solidFill>
                <a:latin typeface="Manrope"/>
              </a:rPr>
              <a:t>What should the target audience do?</a:t>
            </a:r>
          </a:p>
        </p:txBody>
      </p:sp>
      <p:sp>
        <p:nvSpPr>
          <p:cNvPr id="29" name="Text 27"/>
          <p:cNvSpPr/>
          <p:nvPr/>
        </p:nvSpPr>
        <p:spPr>
          <a:xfrm>
            <a:off x="534924" y="4882896"/>
            <a:ext cx="1783080" cy="102870"/>
          </a:xfrm>
          <a:prstGeom prst="rect">
            <a:avLst/>
          </a:prstGeom>
          <a:noFill/>
          <a:ln/>
        </p:spPr>
        <p:txBody>
          <a:bodyPr wrap="square" lIns="0" tIns="0" rIns="0" bIns="0" rtlCol="0" anchor="ctr"/>
          <a:lstStyle/>
          <a:p>
            <a:r>
              <a:rPr lang="en-US" sz="488" dirty="0">
                <a:solidFill>
                  <a:srgbClr val="AAB3BE"/>
                </a:solidFill>
              </a:rPr>
              <a:t>Professional English  |  Week 4</a:t>
            </a:r>
            <a:endParaRPr lang="en-US" sz="488" dirty="0"/>
          </a:p>
        </p:txBody>
      </p:sp>
      <p:sp>
        <p:nvSpPr>
          <p:cNvPr id="30" name="Text 28"/>
          <p:cNvSpPr/>
          <p:nvPr/>
        </p:nvSpPr>
        <p:spPr>
          <a:xfrm>
            <a:off x="8332470" y="4855464"/>
            <a:ext cx="205740" cy="123444"/>
          </a:xfrm>
          <a:prstGeom prst="rect">
            <a:avLst/>
          </a:prstGeom>
          <a:noFill/>
          <a:ln/>
        </p:spPr>
        <p:txBody>
          <a:bodyPr wrap="square" lIns="0" tIns="0" rIns="0" bIns="0" rtlCol="0" anchor="ctr"/>
          <a:lstStyle/>
          <a:p>
            <a:pPr algn="r"/>
            <a:r>
              <a:rPr lang="en-US" sz="525" dirty="0">
                <a:solidFill>
                  <a:srgbClr val="AAB3BE"/>
                </a:solidFill>
              </a:rPr>
              <a:t>9</a:t>
            </a:r>
            <a:endParaRPr lang="en-US" sz="5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4350" y="377190"/>
            <a:ext cx="8092440" cy="308610"/>
          </a:xfrm>
          <a:prstGeom prst="rect">
            <a:avLst/>
          </a:prstGeom>
          <a:noFill/>
          <a:ln/>
        </p:spPr>
        <p:txBody>
          <a:bodyPr wrap="square" lIns="0" tIns="0" rIns="0" bIns="0" rtlCol="0" anchor="ctr"/>
          <a:lstStyle/>
          <a:p>
            <a:r>
              <a:rPr lang="en-US" sz="2000" b="1" dirty="0">
                <a:solidFill>
                  <a:schemeClr val="dk1"/>
                </a:solidFill>
                <a:latin typeface="Manrope"/>
              </a:rPr>
              <a:t>Introduction</a:t>
            </a:r>
          </a:p>
        </p:txBody>
      </p:sp>
      <p:sp>
        <p:nvSpPr>
          <p:cNvPr id="3" name="Text 1"/>
          <p:cNvSpPr/>
          <p:nvPr/>
        </p:nvSpPr>
        <p:spPr>
          <a:xfrm>
            <a:off x="514350" y="740664"/>
            <a:ext cx="8023860" cy="260604"/>
          </a:xfrm>
          <a:prstGeom prst="rect">
            <a:avLst/>
          </a:prstGeom>
          <a:noFill/>
          <a:ln/>
        </p:spPr>
        <p:txBody>
          <a:bodyPr wrap="square" lIns="0" tIns="0" rIns="0" bIns="0" rtlCol="0" anchor="ctr"/>
          <a:lstStyle/>
          <a:p>
            <a:r>
              <a:rPr lang="en-US" i="1" dirty="0">
                <a:solidFill>
                  <a:schemeClr val="dk1"/>
                </a:solidFill>
                <a:latin typeface="Manrope"/>
              </a:rPr>
              <a:t>Orient the reader quickly — do not repeat the executive summary.</a:t>
            </a:r>
          </a:p>
        </p:txBody>
      </p:sp>
      <p:sp>
        <p:nvSpPr>
          <p:cNvPr id="4" name="Text 2"/>
          <p:cNvSpPr/>
          <p:nvPr/>
        </p:nvSpPr>
        <p:spPr>
          <a:xfrm>
            <a:off x="562356" y="1131570"/>
            <a:ext cx="8023860" cy="411480"/>
          </a:xfrm>
          <a:prstGeom prst="rect">
            <a:avLst/>
          </a:prstGeom>
          <a:noFill/>
          <a:ln/>
        </p:spPr>
        <p:txBody>
          <a:bodyPr wrap="square" lIns="0" tIns="0" rIns="0" bIns="0" rtlCol="0" anchor="ctr"/>
          <a:lstStyle/>
          <a:p>
            <a:r>
              <a:rPr lang="en-US" dirty="0">
                <a:solidFill>
                  <a:schemeClr val="dk1"/>
                </a:solidFill>
                <a:latin typeface="Manrope"/>
              </a:rPr>
              <a:t>The introduction sets up the brief by defining its focus and giving the reader a reason to continue.</a:t>
            </a:r>
          </a:p>
        </p:txBody>
      </p:sp>
      <p:sp>
        <p:nvSpPr>
          <p:cNvPr id="5" name="Shape 3"/>
          <p:cNvSpPr/>
          <p:nvPr/>
        </p:nvSpPr>
        <p:spPr>
          <a:xfrm>
            <a:off x="582930" y="1748790"/>
            <a:ext cx="2503170" cy="1577340"/>
          </a:xfrm>
          <a:prstGeom prst="roundRect">
            <a:avLst>
              <a:gd name="adj" fmla="val 2609"/>
            </a:avLst>
          </a:prstGeom>
          <a:solidFill>
            <a:srgbClr val="F8FAFD"/>
          </a:solidFill>
          <a:ln w="12700">
            <a:solidFill>
              <a:srgbClr val="C9D8EE"/>
            </a:solidFill>
            <a:prstDash val="solid"/>
          </a:ln>
        </p:spPr>
        <p:txBody>
          <a:bodyPr/>
          <a:lstStyle/>
          <a:p>
            <a:endParaRPr lang="ru-KZ"/>
          </a:p>
        </p:txBody>
      </p:sp>
      <p:sp>
        <p:nvSpPr>
          <p:cNvPr id="7" name="Text 5"/>
          <p:cNvSpPr/>
          <p:nvPr/>
        </p:nvSpPr>
        <p:spPr>
          <a:xfrm>
            <a:off x="733806" y="1947672"/>
            <a:ext cx="288036" cy="116586"/>
          </a:xfrm>
          <a:prstGeom prst="rect">
            <a:avLst/>
          </a:prstGeom>
          <a:noFill/>
          <a:ln/>
        </p:spPr>
        <p:txBody>
          <a:bodyPr wrap="square" lIns="0" tIns="0" rIns="0" bIns="0" rtlCol="0" anchor="ctr"/>
          <a:lstStyle/>
          <a:p>
            <a:pPr algn="ctr"/>
            <a:r>
              <a:rPr lang="en-US" sz="825" b="1" dirty="0">
                <a:solidFill>
                  <a:srgbClr val="FFFFFF"/>
                </a:solidFill>
              </a:rPr>
              <a:t>1</a:t>
            </a:r>
            <a:endParaRPr lang="en-US" sz="825" dirty="0"/>
          </a:p>
        </p:txBody>
      </p:sp>
      <p:sp>
        <p:nvSpPr>
          <p:cNvPr id="8" name="Text 6"/>
          <p:cNvSpPr/>
          <p:nvPr/>
        </p:nvSpPr>
        <p:spPr>
          <a:xfrm>
            <a:off x="1494166" y="1858518"/>
            <a:ext cx="867672" cy="205740"/>
          </a:xfrm>
          <a:prstGeom prst="rect">
            <a:avLst/>
          </a:prstGeom>
          <a:noFill/>
          <a:ln/>
        </p:spPr>
        <p:txBody>
          <a:bodyPr wrap="square" lIns="0" tIns="0" rIns="0" bIns="0" rtlCol="0" anchor="ctr"/>
          <a:lstStyle/>
          <a:p>
            <a:r>
              <a:rPr lang="en-US" b="1" dirty="0">
                <a:solidFill>
                  <a:schemeClr val="dk1"/>
                </a:solidFill>
                <a:latin typeface="Manrope"/>
              </a:rPr>
              <a:t>Focus</a:t>
            </a:r>
          </a:p>
        </p:txBody>
      </p:sp>
      <p:sp>
        <p:nvSpPr>
          <p:cNvPr id="9" name="Text 7"/>
          <p:cNvSpPr/>
          <p:nvPr/>
        </p:nvSpPr>
        <p:spPr>
          <a:xfrm>
            <a:off x="754380" y="2283714"/>
            <a:ext cx="2160270" cy="905256"/>
          </a:xfrm>
          <a:prstGeom prst="rect">
            <a:avLst/>
          </a:prstGeom>
          <a:noFill/>
          <a:ln/>
        </p:spPr>
        <p:txBody>
          <a:bodyPr wrap="square" lIns="381" tIns="381" rIns="381" bIns="381" rtlCol="0" anchor="t"/>
          <a:lstStyle/>
          <a:p>
            <a:r>
              <a:rPr lang="en-US" dirty="0">
                <a:solidFill>
                  <a:schemeClr val="dk1"/>
                </a:solidFill>
                <a:latin typeface="Manrope"/>
              </a:rPr>
              <a:t>Name the policy issue or question the brief addresses.</a:t>
            </a:r>
          </a:p>
        </p:txBody>
      </p:sp>
      <p:sp>
        <p:nvSpPr>
          <p:cNvPr id="10" name="Shape 8"/>
          <p:cNvSpPr/>
          <p:nvPr/>
        </p:nvSpPr>
        <p:spPr>
          <a:xfrm>
            <a:off x="3326130" y="1748790"/>
            <a:ext cx="2503170" cy="1577340"/>
          </a:xfrm>
          <a:prstGeom prst="roundRect">
            <a:avLst>
              <a:gd name="adj" fmla="val 2609"/>
            </a:avLst>
          </a:prstGeom>
          <a:solidFill>
            <a:srgbClr val="F8FAFD"/>
          </a:solidFill>
          <a:ln w="12700">
            <a:solidFill>
              <a:srgbClr val="C9D8EE"/>
            </a:solidFill>
            <a:prstDash val="solid"/>
          </a:ln>
        </p:spPr>
        <p:txBody>
          <a:bodyPr/>
          <a:lstStyle/>
          <a:p>
            <a:endParaRPr lang="ru-KZ"/>
          </a:p>
        </p:txBody>
      </p:sp>
      <p:sp>
        <p:nvSpPr>
          <p:cNvPr id="12" name="Text 10"/>
          <p:cNvSpPr/>
          <p:nvPr/>
        </p:nvSpPr>
        <p:spPr>
          <a:xfrm>
            <a:off x="3477006" y="1947672"/>
            <a:ext cx="288036" cy="116586"/>
          </a:xfrm>
          <a:prstGeom prst="rect">
            <a:avLst/>
          </a:prstGeom>
          <a:noFill/>
          <a:ln/>
        </p:spPr>
        <p:txBody>
          <a:bodyPr wrap="square" lIns="0" tIns="0" rIns="0" bIns="0" rtlCol="0" anchor="ctr"/>
          <a:lstStyle/>
          <a:p>
            <a:pPr algn="ctr"/>
            <a:r>
              <a:rPr lang="en-US" sz="825" b="1" dirty="0">
                <a:solidFill>
                  <a:srgbClr val="FFFFFF"/>
                </a:solidFill>
              </a:rPr>
              <a:t>2</a:t>
            </a:r>
            <a:endParaRPr lang="en-US" sz="825" dirty="0"/>
          </a:p>
        </p:txBody>
      </p:sp>
      <p:sp>
        <p:nvSpPr>
          <p:cNvPr id="13" name="Text 11"/>
          <p:cNvSpPr/>
          <p:nvPr/>
        </p:nvSpPr>
        <p:spPr>
          <a:xfrm>
            <a:off x="4135374" y="1885950"/>
            <a:ext cx="1054019" cy="178308"/>
          </a:xfrm>
          <a:prstGeom prst="rect">
            <a:avLst/>
          </a:prstGeom>
          <a:noFill/>
          <a:ln/>
        </p:spPr>
        <p:txBody>
          <a:bodyPr wrap="square" lIns="0" tIns="0" rIns="0" bIns="0" rtlCol="0" anchor="ctr"/>
          <a:lstStyle/>
          <a:p>
            <a:r>
              <a:rPr lang="en-US" b="1" dirty="0">
                <a:solidFill>
                  <a:schemeClr val="dk1"/>
                </a:solidFill>
                <a:latin typeface="Manrope"/>
              </a:rPr>
              <a:t>Relevance</a:t>
            </a:r>
          </a:p>
        </p:txBody>
      </p:sp>
      <p:sp>
        <p:nvSpPr>
          <p:cNvPr id="14" name="Text 12"/>
          <p:cNvSpPr/>
          <p:nvPr/>
        </p:nvSpPr>
        <p:spPr>
          <a:xfrm>
            <a:off x="3497580" y="2283714"/>
            <a:ext cx="2160270" cy="905256"/>
          </a:xfrm>
          <a:prstGeom prst="rect">
            <a:avLst/>
          </a:prstGeom>
          <a:noFill/>
          <a:ln/>
        </p:spPr>
        <p:txBody>
          <a:bodyPr wrap="square" lIns="381" tIns="381" rIns="381" bIns="381" rtlCol="0" anchor="t"/>
          <a:lstStyle/>
          <a:p>
            <a:r>
              <a:rPr lang="en-US" dirty="0">
                <a:solidFill>
                  <a:schemeClr val="dk1"/>
                </a:solidFill>
                <a:latin typeface="Manrope"/>
              </a:rPr>
              <a:t>Explain why the issue matters to the intended audience now.</a:t>
            </a:r>
          </a:p>
        </p:txBody>
      </p:sp>
      <p:sp>
        <p:nvSpPr>
          <p:cNvPr id="15" name="Shape 13"/>
          <p:cNvSpPr/>
          <p:nvPr/>
        </p:nvSpPr>
        <p:spPr>
          <a:xfrm>
            <a:off x="6069330" y="1748790"/>
            <a:ext cx="2503170" cy="1577340"/>
          </a:xfrm>
          <a:prstGeom prst="roundRect">
            <a:avLst>
              <a:gd name="adj" fmla="val 2609"/>
            </a:avLst>
          </a:prstGeom>
          <a:solidFill>
            <a:srgbClr val="F8FAFD"/>
          </a:solidFill>
          <a:ln w="12700">
            <a:solidFill>
              <a:srgbClr val="C9D8EE"/>
            </a:solidFill>
            <a:prstDash val="solid"/>
          </a:ln>
        </p:spPr>
        <p:txBody>
          <a:bodyPr/>
          <a:lstStyle/>
          <a:p>
            <a:endParaRPr lang="ru-KZ"/>
          </a:p>
        </p:txBody>
      </p:sp>
      <p:sp>
        <p:nvSpPr>
          <p:cNvPr id="17" name="Text 15"/>
          <p:cNvSpPr/>
          <p:nvPr/>
        </p:nvSpPr>
        <p:spPr>
          <a:xfrm>
            <a:off x="6220206" y="1947672"/>
            <a:ext cx="288036" cy="116586"/>
          </a:xfrm>
          <a:prstGeom prst="rect">
            <a:avLst/>
          </a:prstGeom>
          <a:noFill/>
          <a:ln/>
        </p:spPr>
        <p:txBody>
          <a:bodyPr wrap="square" lIns="0" tIns="0" rIns="0" bIns="0" rtlCol="0" anchor="ctr"/>
          <a:lstStyle/>
          <a:p>
            <a:pPr algn="ctr"/>
            <a:r>
              <a:rPr lang="en-US" sz="825" b="1" dirty="0">
                <a:solidFill>
                  <a:srgbClr val="FFFFFF"/>
                </a:solidFill>
              </a:rPr>
              <a:t>3</a:t>
            </a:r>
            <a:endParaRPr lang="en-US" sz="825" dirty="0"/>
          </a:p>
        </p:txBody>
      </p:sp>
      <p:sp>
        <p:nvSpPr>
          <p:cNvPr id="18" name="Text 16"/>
          <p:cNvSpPr/>
          <p:nvPr/>
        </p:nvSpPr>
        <p:spPr>
          <a:xfrm>
            <a:off x="6924380" y="1858518"/>
            <a:ext cx="1015017" cy="178308"/>
          </a:xfrm>
          <a:prstGeom prst="rect">
            <a:avLst/>
          </a:prstGeom>
          <a:noFill/>
          <a:ln/>
        </p:spPr>
        <p:txBody>
          <a:bodyPr wrap="square" lIns="0" tIns="0" rIns="0" bIns="0" rtlCol="0" anchor="ctr"/>
          <a:lstStyle/>
          <a:p>
            <a:r>
              <a:rPr lang="en-US" b="1" dirty="0">
                <a:solidFill>
                  <a:schemeClr val="dk1"/>
                </a:solidFill>
                <a:latin typeface="Manrope"/>
              </a:rPr>
              <a:t>Direction</a:t>
            </a:r>
          </a:p>
        </p:txBody>
      </p:sp>
      <p:sp>
        <p:nvSpPr>
          <p:cNvPr id="19" name="Text 17"/>
          <p:cNvSpPr/>
          <p:nvPr/>
        </p:nvSpPr>
        <p:spPr>
          <a:xfrm>
            <a:off x="6240780" y="2283714"/>
            <a:ext cx="2160270" cy="905256"/>
          </a:xfrm>
          <a:prstGeom prst="rect">
            <a:avLst/>
          </a:prstGeom>
          <a:noFill/>
          <a:ln/>
        </p:spPr>
        <p:txBody>
          <a:bodyPr wrap="square" lIns="381" tIns="381" rIns="381" bIns="381" rtlCol="0" anchor="t"/>
          <a:lstStyle/>
          <a:p>
            <a:r>
              <a:rPr lang="en-US" dirty="0">
                <a:solidFill>
                  <a:schemeClr val="dk1"/>
                </a:solidFill>
                <a:latin typeface="Manrope"/>
              </a:rPr>
              <a:t>Signal what the brief will examine or argue.</a:t>
            </a:r>
          </a:p>
        </p:txBody>
      </p:sp>
      <p:sp>
        <p:nvSpPr>
          <p:cNvPr id="20" name="Shape 18"/>
          <p:cNvSpPr/>
          <p:nvPr/>
        </p:nvSpPr>
        <p:spPr>
          <a:xfrm>
            <a:off x="1200150" y="3669030"/>
            <a:ext cx="6720840" cy="493776"/>
          </a:xfrm>
          <a:prstGeom prst="roundRect">
            <a:avLst/>
          </a:prstGeom>
          <a:solidFill>
            <a:srgbClr val="EEF4FD"/>
          </a:solidFill>
          <a:ln w="12700">
            <a:solidFill>
              <a:srgbClr val="D7E4F5"/>
            </a:solidFill>
            <a:prstDash val="solid"/>
          </a:ln>
        </p:spPr>
        <p:txBody>
          <a:bodyPr/>
          <a:lstStyle/>
          <a:p>
            <a:endParaRPr lang="ru-KZ"/>
          </a:p>
        </p:txBody>
      </p:sp>
      <p:sp>
        <p:nvSpPr>
          <p:cNvPr id="21" name="Text 19"/>
          <p:cNvSpPr/>
          <p:nvPr/>
        </p:nvSpPr>
        <p:spPr>
          <a:xfrm>
            <a:off x="1405890" y="3819906"/>
            <a:ext cx="6309360" cy="171450"/>
          </a:xfrm>
          <a:prstGeom prst="rect">
            <a:avLst/>
          </a:prstGeom>
          <a:noFill/>
          <a:ln/>
        </p:spPr>
        <p:txBody>
          <a:bodyPr wrap="square" lIns="0" tIns="0" rIns="0" bIns="0" rtlCol="0" anchor="ctr"/>
          <a:lstStyle/>
          <a:p>
            <a:pPr algn="ctr"/>
            <a:r>
              <a:rPr lang="en-US" b="1" dirty="0">
                <a:solidFill>
                  <a:schemeClr val="tx2">
                    <a:lumMod val="50000"/>
                  </a:schemeClr>
                </a:solidFill>
                <a:latin typeface="Manrope"/>
              </a:rPr>
              <a:t>Keep it brief: context belongs here only if it helps the reader understand the policy problem.</a:t>
            </a:r>
          </a:p>
        </p:txBody>
      </p:sp>
      <p:sp>
        <p:nvSpPr>
          <p:cNvPr id="23" name="Text 21"/>
          <p:cNvSpPr/>
          <p:nvPr/>
        </p:nvSpPr>
        <p:spPr>
          <a:xfrm>
            <a:off x="8332470" y="4855464"/>
            <a:ext cx="205740" cy="123444"/>
          </a:xfrm>
          <a:prstGeom prst="rect">
            <a:avLst/>
          </a:prstGeom>
          <a:noFill/>
          <a:ln/>
        </p:spPr>
        <p:txBody>
          <a:bodyPr wrap="square" lIns="0" tIns="0" rIns="0" bIns="0" rtlCol="0" anchor="ctr"/>
          <a:lstStyle/>
          <a:p>
            <a:pPr algn="r"/>
            <a:r>
              <a:rPr lang="en-US" sz="525" dirty="0">
                <a:solidFill>
                  <a:srgbClr val="AAB3BE"/>
                </a:solidFill>
              </a:rPr>
              <a:t>10</a:t>
            </a:r>
            <a:endParaRPr lang="en-US" sz="5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4350" y="377190"/>
            <a:ext cx="8092440" cy="308610"/>
          </a:xfrm>
          <a:prstGeom prst="rect">
            <a:avLst/>
          </a:prstGeom>
          <a:noFill/>
          <a:ln/>
        </p:spPr>
        <p:txBody>
          <a:bodyPr wrap="square" lIns="0" tIns="0" rIns="0" bIns="0" rtlCol="0" anchor="ctr"/>
          <a:lstStyle/>
          <a:p>
            <a:r>
              <a:rPr lang="en-US" sz="2000" b="1" dirty="0">
                <a:solidFill>
                  <a:schemeClr val="dk1"/>
                </a:solidFill>
                <a:latin typeface="Manrope"/>
              </a:rPr>
              <a:t>Context &amp; Importance of the Problem</a:t>
            </a:r>
          </a:p>
        </p:txBody>
      </p:sp>
      <p:sp>
        <p:nvSpPr>
          <p:cNvPr id="3" name="Text 1"/>
          <p:cNvSpPr/>
          <p:nvPr/>
        </p:nvSpPr>
        <p:spPr>
          <a:xfrm>
            <a:off x="514350" y="740664"/>
            <a:ext cx="8023860" cy="260604"/>
          </a:xfrm>
          <a:prstGeom prst="rect">
            <a:avLst/>
          </a:prstGeom>
          <a:noFill/>
          <a:ln/>
        </p:spPr>
        <p:txBody>
          <a:bodyPr wrap="square" lIns="0" tIns="0" rIns="0" bIns="0" rtlCol="0" anchor="ctr"/>
          <a:lstStyle/>
          <a:p>
            <a:r>
              <a:rPr lang="en-US" i="1" dirty="0">
                <a:solidFill>
                  <a:schemeClr val="dk1"/>
                </a:solidFill>
                <a:latin typeface="Manrope"/>
              </a:rPr>
              <a:t>Establish that a specific policy problem exists and requires attention.</a:t>
            </a:r>
          </a:p>
        </p:txBody>
      </p:sp>
      <p:sp>
        <p:nvSpPr>
          <p:cNvPr id="4" name="Shape 2"/>
          <p:cNvSpPr/>
          <p:nvPr/>
        </p:nvSpPr>
        <p:spPr>
          <a:xfrm>
            <a:off x="548640" y="1165860"/>
            <a:ext cx="2571750" cy="2366010"/>
          </a:xfrm>
          <a:prstGeom prst="roundRect">
            <a:avLst>
              <a:gd name="adj" fmla="val 1739"/>
            </a:avLst>
          </a:prstGeom>
          <a:solidFill>
            <a:srgbClr val="F8FAFD"/>
          </a:solidFill>
          <a:ln w="12700">
            <a:solidFill>
              <a:srgbClr val="C9D8EE"/>
            </a:solidFill>
            <a:prstDash val="solid"/>
          </a:ln>
        </p:spPr>
        <p:txBody>
          <a:bodyPr/>
          <a:lstStyle/>
          <a:p>
            <a:endParaRPr lang="ru-KZ"/>
          </a:p>
        </p:txBody>
      </p:sp>
      <p:sp>
        <p:nvSpPr>
          <p:cNvPr id="6" name="Text 4"/>
          <p:cNvSpPr/>
          <p:nvPr/>
        </p:nvSpPr>
        <p:spPr>
          <a:xfrm>
            <a:off x="699516" y="1364742"/>
            <a:ext cx="288036" cy="116586"/>
          </a:xfrm>
          <a:prstGeom prst="rect">
            <a:avLst/>
          </a:prstGeom>
          <a:noFill/>
          <a:ln/>
        </p:spPr>
        <p:txBody>
          <a:bodyPr wrap="square" lIns="0" tIns="0" rIns="0" bIns="0" rtlCol="0" anchor="ctr"/>
          <a:lstStyle/>
          <a:p>
            <a:pPr algn="ctr"/>
            <a:r>
              <a:rPr lang="en-US" sz="825" b="1" dirty="0">
                <a:solidFill>
                  <a:srgbClr val="FFFFFF"/>
                </a:solidFill>
              </a:rPr>
              <a:t>1</a:t>
            </a:r>
            <a:endParaRPr lang="en-US" sz="825" dirty="0"/>
          </a:p>
        </p:txBody>
      </p:sp>
      <p:sp>
        <p:nvSpPr>
          <p:cNvPr id="7" name="Text 5"/>
          <p:cNvSpPr/>
          <p:nvPr/>
        </p:nvSpPr>
        <p:spPr>
          <a:xfrm>
            <a:off x="1069848" y="1316736"/>
            <a:ext cx="1899666" cy="205740"/>
          </a:xfrm>
          <a:prstGeom prst="rect">
            <a:avLst/>
          </a:prstGeom>
          <a:noFill/>
          <a:ln/>
        </p:spPr>
        <p:txBody>
          <a:bodyPr wrap="square" lIns="0" tIns="0" rIns="0" bIns="0" rtlCol="0" anchor="ctr"/>
          <a:lstStyle/>
          <a:p>
            <a:r>
              <a:rPr lang="en-US" b="1" dirty="0">
                <a:solidFill>
                  <a:schemeClr val="dk1"/>
                </a:solidFill>
                <a:latin typeface="Manrope"/>
              </a:rPr>
              <a:t>Define the problem</a:t>
            </a:r>
          </a:p>
        </p:txBody>
      </p:sp>
      <p:sp>
        <p:nvSpPr>
          <p:cNvPr id="8" name="Text 6"/>
          <p:cNvSpPr/>
          <p:nvPr/>
        </p:nvSpPr>
        <p:spPr>
          <a:xfrm>
            <a:off x="720090" y="1700784"/>
            <a:ext cx="2228850" cy="1693926"/>
          </a:xfrm>
          <a:prstGeom prst="rect">
            <a:avLst/>
          </a:prstGeom>
          <a:noFill/>
          <a:ln/>
        </p:spPr>
        <p:txBody>
          <a:bodyPr wrap="square" lIns="381" tIns="381" rIns="381" bIns="381" rtlCol="0" anchor="t"/>
          <a:lstStyle/>
          <a:p>
            <a:r>
              <a:rPr lang="en-US" dirty="0">
                <a:solidFill>
                  <a:schemeClr val="dk1"/>
                </a:solidFill>
                <a:latin typeface="Manrope"/>
              </a:rPr>
              <a:t>State the issue precisely. Avoid describing a broad topic when the brief needs a policy problem.</a:t>
            </a:r>
          </a:p>
        </p:txBody>
      </p:sp>
      <p:sp>
        <p:nvSpPr>
          <p:cNvPr id="9" name="Shape 7"/>
          <p:cNvSpPr/>
          <p:nvPr/>
        </p:nvSpPr>
        <p:spPr>
          <a:xfrm>
            <a:off x="3278124" y="1165860"/>
            <a:ext cx="2571750" cy="2366010"/>
          </a:xfrm>
          <a:prstGeom prst="roundRect">
            <a:avLst>
              <a:gd name="adj" fmla="val 1739"/>
            </a:avLst>
          </a:prstGeom>
          <a:solidFill>
            <a:srgbClr val="F8FAFD"/>
          </a:solidFill>
          <a:ln w="12700">
            <a:solidFill>
              <a:srgbClr val="C9D8EE"/>
            </a:solidFill>
            <a:prstDash val="solid"/>
          </a:ln>
        </p:spPr>
        <p:txBody>
          <a:bodyPr/>
          <a:lstStyle/>
          <a:p>
            <a:endParaRPr lang="ru-KZ"/>
          </a:p>
        </p:txBody>
      </p:sp>
      <p:sp>
        <p:nvSpPr>
          <p:cNvPr id="11" name="Text 9"/>
          <p:cNvSpPr/>
          <p:nvPr/>
        </p:nvSpPr>
        <p:spPr>
          <a:xfrm>
            <a:off x="3429000" y="1364742"/>
            <a:ext cx="288036" cy="116586"/>
          </a:xfrm>
          <a:prstGeom prst="rect">
            <a:avLst/>
          </a:prstGeom>
          <a:noFill/>
          <a:ln/>
        </p:spPr>
        <p:txBody>
          <a:bodyPr wrap="square" lIns="0" tIns="0" rIns="0" bIns="0" rtlCol="0" anchor="ctr"/>
          <a:lstStyle/>
          <a:p>
            <a:pPr algn="ctr"/>
            <a:r>
              <a:rPr lang="en-US" sz="825" b="1" dirty="0">
                <a:solidFill>
                  <a:srgbClr val="FFFFFF"/>
                </a:solidFill>
              </a:rPr>
              <a:t>2</a:t>
            </a:r>
            <a:endParaRPr lang="en-US" sz="825" dirty="0"/>
          </a:p>
        </p:txBody>
      </p:sp>
      <p:sp>
        <p:nvSpPr>
          <p:cNvPr id="12" name="Text 10"/>
          <p:cNvSpPr/>
          <p:nvPr/>
        </p:nvSpPr>
        <p:spPr>
          <a:xfrm>
            <a:off x="3799332" y="1316736"/>
            <a:ext cx="1899666" cy="205740"/>
          </a:xfrm>
          <a:prstGeom prst="rect">
            <a:avLst/>
          </a:prstGeom>
          <a:noFill/>
          <a:ln/>
        </p:spPr>
        <p:txBody>
          <a:bodyPr wrap="square" lIns="0" tIns="0" rIns="0" bIns="0" rtlCol="0" anchor="ctr"/>
          <a:lstStyle/>
          <a:p>
            <a:r>
              <a:rPr lang="en-US" b="1" dirty="0">
                <a:solidFill>
                  <a:schemeClr val="dk1"/>
                </a:solidFill>
                <a:latin typeface="Manrope"/>
              </a:rPr>
              <a:t>Explain why it exists</a:t>
            </a:r>
          </a:p>
        </p:txBody>
      </p:sp>
      <p:sp>
        <p:nvSpPr>
          <p:cNvPr id="13" name="Text 11"/>
          <p:cNvSpPr/>
          <p:nvPr/>
        </p:nvSpPr>
        <p:spPr>
          <a:xfrm>
            <a:off x="3449574" y="1700784"/>
            <a:ext cx="2228850" cy="1693926"/>
          </a:xfrm>
          <a:prstGeom prst="rect">
            <a:avLst/>
          </a:prstGeom>
          <a:noFill/>
          <a:ln/>
        </p:spPr>
        <p:txBody>
          <a:bodyPr wrap="square" lIns="381" tIns="381" rIns="381" bIns="381" rtlCol="0" anchor="t"/>
          <a:lstStyle/>
          <a:p>
            <a:r>
              <a:rPr lang="en-US" dirty="0">
                <a:solidFill>
                  <a:schemeClr val="dk1"/>
                </a:solidFill>
                <a:latin typeface="Manrope"/>
              </a:rPr>
              <a:t>Summarise the most relevant causes, conditions, or affected groups. Include only context needed to understand the problem.</a:t>
            </a:r>
          </a:p>
        </p:txBody>
      </p:sp>
      <p:sp>
        <p:nvSpPr>
          <p:cNvPr id="14" name="Shape 12"/>
          <p:cNvSpPr/>
          <p:nvPr/>
        </p:nvSpPr>
        <p:spPr>
          <a:xfrm>
            <a:off x="6007608" y="1165860"/>
            <a:ext cx="2571750" cy="2366010"/>
          </a:xfrm>
          <a:prstGeom prst="roundRect">
            <a:avLst>
              <a:gd name="adj" fmla="val 1739"/>
            </a:avLst>
          </a:prstGeom>
          <a:solidFill>
            <a:srgbClr val="F8FAFD"/>
          </a:solidFill>
          <a:ln w="12700">
            <a:solidFill>
              <a:srgbClr val="C9D8EE"/>
            </a:solidFill>
            <a:prstDash val="solid"/>
          </a:ln>
        </p:spPr>
        <p:txBody>
          <a:bodyPr/>
          <a:lstStyle/>
          <a:p>
            <a:endParaRPr lang="ru-KZ"/>
          </a:p>
        </p:txBody>
      </p:sp>
      <p:sp>
        <p:nvSpPr>
          <p:cNvPr id="17" name="Text 15"/>
          <p:cNvSpPr/>
          <p:nvPr/>
        </p:nvSpPr>
        <p:spPr>
          <a:xfrm>
            <a:off x="6253456" y="1316736"/>
            <a:ext cx="2175026" cy="219456"/>
          </a:xfrm>
          <a:prstGeom prst="rect">
            <a:avLst/>
          </a:prstGeom>
          <a:noFill/>
          <a:ln/>
        </p:spPr>
        <p:txBody>
          <a:bodyPr wrap="square" lIns="0" tIns="0" rIns="0" bIns="0" rtlCol="0" anchor="ctr"/>
          <a:lstStyle/>
          <a:p>
            <a:r>
              <a:rPr lang="en-US" b="1" dirty="0">
                <a:solidFill>
                  <a:schemeClr val="dk1"/>
                </a:solidFill>
                <a:latin typeface="Manrope"/>
              </a:rPr>
              <a:t>Show why it matters now</a:t>
            </a:r>
          </a:p>
        </p:txBody>
      </p:sp>
      <p:sp>
        <p:nvSpPr>
          <p:cNvPr id="18" name="Text 16"/>
          <p:cNvSpPr/>
          <p:nvPr/>
        </p:nvSpPr>
        <p:spPr>
          <a:xfrm>
            <a:off x="6179058" y="1700784"/>
            <a:ext cx="2228850" cy="1693926"/>
          </a:xfrm>
          <a:prstGeom prst="rect">
            <a:avLst/>
          </a:prstGeom>
          <a:noFill/>
          <a:ln/>
        </p:spPr>
        <p:txBody>
          <a:bodyPr wrap="square" lIns="381" tIns="381" rIns="381" bIns="381" rtlCol="0" anchor="t"/>
          <a:lstStyle/>
          <a:p>
            <a:r>
              <a:rPr lang="en-US" dirty="0">
                <a:solidFill>
                  <a:schemeClr val="dk1"/>
                </a:solidFill>
                <a:latin typeface="Manrope"/>
              </a:rPr>
              <a:t>Establish scale, urgency, consequences, and policy relevance. Make clear what may happen if the issue is not addressed.</a:t>
            </a:r>
          </a:p>
        </p:txBody>
      </p:sp>
      <p:sp>
        <p:nvSpPr>
          <p:cNvPr id="19" name="Text 17"/>
          <p:cNvSpPr/>
          <p:nvPr/>
        </p:nvSpPr>
        <p:spPr>
          <a:xfrm>
            <a:off x="754380" y="3806190"/>
            <a:ext cx="7612380" cy="308610"/>
          </a:xfrm>
          <a:prstGeom prst="rect">
            <a:avLst/>
          </a:prstGeom>
          <a:noFill/>
          <a:ln/>
        </p:spPr>
        <p:txBody>
          <a:bodyPr wrap="square" lIns="0" tIns="0" rIns="0" bIns="0" rtlCol="0" anchor="ctr"/>
          <a:lstStyle/>
          <a:p>
            <a:pPr algn="ctr"/>
            <a:r>
              <a:rPr lang="en-US" b="1" dirty="0">
                <a:solidFill>
                  <a:schemeClr val="tx2">
                    <a:lumMod val="50000"/>
                  </a:schemeClr>
                </a:solidFill>
                <a:latin typeface="Manrope"/>
              </a:rPr>
              <a:t>A strong problem section leads naturally to the evidence and, ultimately, to the recommendations.</a:t>
            </a:r>
          </a:p>
        </p:txBody>
      </p:sp>
      <p:sp>
        <p:nvSpPr>
          <p:cNvPr id="21" name="Text 19"/>
          <p:cNvSpPr/>
          <p:nvPr/>
        </p:nvSpPr>
        <p:spPr>
          <a:xfrm>
            <a:off x="8332470" y="4855464"/>
            <a:ext cx="205740" cy="123444"/>
          </a:xfrm>
          <a:prstGeom prst="rect">
            <a:avLst/>
          </a:prstGeom>
          <a:noFill/>
          <a:ln/>
        </p:spPr>
        <p:txBody>
          <a:bodyPr wrap="square" lIns="0" tIns="0" rIns="0" bIns="0" rtlCol="0" anchor="ctr"/>
          <a:lstStyle/>
          <a:p>
            <a:pPr algn="r"/>
            <a:r>
              <a:rPr lang="en-US" sz="525" dirty="0">
                <a:solidFill>
                  <a:srgbClr val="AAB3BE"/>
                </a:solidFill>
              </a:rPr>
              <a:t>11</a:t>
            </a:r>
            <a:endParaRPr lang="en-US" sz="5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4350" y="377190"/>
            <a:ext cx="8092440" cy="308610"/>
          </a:xfrm>
          <a:prstGeom prst="rect">
            <a:avLst/>
          </a:prstGeom>
          <a:noFill/>
          <a:ln/>
        </p:spPr>
        <p:txBody>
          <a:bodyPr wrap="square" lIns="0" tIns="0" rIns="0" bIns="0" rtlCol="0" anchor="ctr"/>
          <a:lstStyle/>
          <a:p>
            <a:r>
              <a:rPr lang="en-US" sz="2000" b="1" dirty="0">
                <a:solidFill>
                  <a:schemeClr val="dk1"/>
                </a:solidFill>
                <a:latin typeface="Manrope"/>
              </a:rPr>
              <a:t>Examination of Findings</a:t>
            </a:r>
          </a:p>
        </p:txBody>
      </p:sp>
      <p:sp>
        <p:nvSpPr>
          <p:cNvPr id="3" name="Text 1"/>
          <p:cNvSpPr/>
          <p:nvPr/>
        </p:nvSpPr>
        <p:spPr>
          <a:xfrm>
            <a:off x="514350" y="740664"/>
            <a:ext cx="8023860" cy="260604"/>
          </a:xfrm>
          <a:prstGeom prst="rect">
            <a:avLst/>
          </a:prstGeom>
          <a:noFill/>
          <a:ln/>
        </p:spPr>
        <p:txBody>
          <a:bodyPr wrap="square" lIns="0" tIns="0" rIns="0" bIns="0" rtlCol="0" anchor="ctr"/>
          <a:lstStyle/>
          <a:p>
            <a:r>
              <a:rPr lang="en-US" i="1" dirty="0">
                <a:solidFill>
                  <a:schemeClr val="dk1"/>
                </a:solidFill>
                <a:latin typeface="Manrope"/>
              </a:rPr>
              <a:t>Turn research evidence into information a decision-maker can use.</a:t>
            </a:r>
          </a:p>
        </p:txBody>
      </p:sp>
      <p:sp>
        <p:nvSpPr>
          <p:cNvPr id="4" name="Text 2"/>
          <p:cNvSpPr/>
          <p:nvPr/>
        </p:nvSpPr>
        <p:spPr>
          <a:xfrm>
            <a:off x="562356" y="1062990"/>
            <a:ext cx="8023860" cy="308610"/>
          </a:xfrm>
          <a:prstGeom prst="rect">
            <a:avLst/>
          </a:prstGeom>
          <a:noFill/>
          <a:ln/>
        </p:spPr>
        <p:txBody>
          <a:bodyPr wrap="square" lIns="0" tIns="0" rIns="0" bIns="0" rtlCol="0" anchor="ctr"/>
          <a:lstStyle/>
          <a:p>
            <a:r>
              <a:rPr lang="en-US" sz="1350" dirty="0">
                <a:solidFill>
                  <a:srgbClr val="26374D"/>
                </a:solidFill>
              </a:rPr>
              <a:t>Do more than report data. Select, interpret, and connect the evidence to the policy problem.</a:t>
            </a:r>
            <a:endParaRPr lang="en-US" sz="1350" dirty="0"/>
          </a:p>
        </p:txBody>
      </p:sp>
      <p:sp>
        <p:nvSpPr>
          <p:cNvPr id="5" name="Shape 3"/>
          <p:cNvSpPr/>
          <p:nvPr/>
        </p:nvSpPr>
        <p:spPr>
          <a:xfrm>
            <a:off x="548640" y="1543050"/>
            <a:ext cx="1885950" cy="1817370"/>
          </a:xfrm>
          <a:prstGeom prst="roundRect">
            <a:avLst>
              <a:gd name="adj" fmla="val 2264"/>
            </a:avLst>
          </a:prstGeom>
          <a:solidFill>
            <a:srgbClr val="F8FAFD"/>
          </a:solidFill>
          <a:ln w="12700">
            <a:solidFill>
              <a:srgbClr val="C9D8EE"/>
            </a:solidFill>
            <a:prstDash val="solid"/>
          </a:ln>
        </p:spPr>
        <p:txBody>
          <a:bodyPr/>
          <a:lstStyle/>
          <a:p>
            <a:endParaRPr lang="ru-KZ"/>
          </a:p>
        </p:txBody>
      </p:sp>
      <p:sp>
        <p:nvSpPr>
          <p:cNvPr id="7" name="Text 5"/>
          <p:cNvSpPr/>
          <p:nvPr/>
        </p:nvSpPr>
        <p:spPr>
          <a:xfrm>
            <a:off x="699516" y="1741932"/>
            <a:ext cx="288036" cy="116586"/>
          </a:xfrm>
          <a:prstGeom prst="rect">
            <a:avLst/>
          </a:prstGeom>
          <a:noFill/>
          <a:ln/>
        </p:spPr>
        <p:txBody>
          <a:bodyPr wrap="square" lIns="0" tIns="0" rIns="0" bIns="0" rtlCol="0" anchor="ctr"/>
          <a:lstStyle/>
          <a:p>
            <a:pPr algn="ctr"/>
            <a:r>
              <a:rPr lang="en-US" sz="825" b="1" dirty="0">
                <a:solidFill>
                  <a:srgbClr val="FFFFFF"/>
                </a:solidFill>
              </a:rPr>
              <a:t>1</a:t>
            </a:r>
            <a:endParaRPr lang="en-US" sz="825" dirty="0"/>
          </a:p>
        </p:txBody>
      </p:sp>
      <p:sp>
        <p:nvSpPr>
          <p:cNvPr id="8" name="Text 6"/>
          <p:cNvSpPr/>
          <p:nvPr/>
        </p:nvSpPr>
        <p:spPr>
          <a:xfrm>
            <a:off x="1069848" y="1693926"/>
            <a:ext cx="1213866" cy="205740"/>
          </a:xfrm>
          <a:prstGeom prst="rect">
            <a:avLst/>
          </a:prstGeom>
          <a:noFill/>
          <a:ln/>
        </p:spPr>
        <p:txBody>
          <a:bodyPr wrap="square" lIns="0" tIns="0" rIns="0" bIns="0" rtlCol="0" anchor="ctr"/>
          <a:lstStyle/>
          <a:p>
            <a:r>
              <a:rPr lang="en-US" b="1" dirty="0">
                <a:solidFill>
                  <a:schemeClr val="dk1"/>
                </a:solidFill>
                <a:latin typeface="Manrope"/>
              </a:rPr>
              <a:t>Select</a:t>
            </a:r>
          </a:p>
        </p:txBody>
      </p:sp>
      <p:sp>
        <p:nvSpPr>
          <p:cNvPr id="9" name="Text 7"/>
          <p:cNvSpPr/>
          <p:nvPr/>
        </p:nvSpPr>
        <p:spPr>
          <a:xfrm>
            <a:off x="720090" y="2077974"/>
            <a:ext cx="1543050" cy="1145286"/>
          </a:xfrm>
          <a:prstGeom prst="rect">
            <a:avLst/>
          </a:prstGeom>
          <a:noFill/>
          <a:ln/>
        </p:spPr>
        <p:txBody>
          <a:bodyPr wrap="square" lIns="381" tIns="381" rIns="381" bIns="381" rtlCol="0" anchor="t"/>
          <a:lstStyle/>
          <a:p>
            <a:r>
              <a:rPr lang="en-US" dirty="0">
                <a:solidFill>
                  <a:schemeClr val="dk1"/>
                </a:solidFill>
                <a:latin typeface="Manrope"/>
              </a:rPr>
              <a:t>Prioritise the findings that are most relevant to the policy question.</a:t>
            </a:r>
          </a:p>
        </p:txBody>
      </p:sp>
      <p:sp>
        <p:nvSpPr>
          <p:cNvPr id="10" name="Shape 8"/>
          <p:cNvSpPr/>
          <p:nvPr/>
        </p:nvSpPr>
        <p:spPr>
          <a:xfrm>
            <a:off x="2592324" y="1543050"/>
            <a:ext cx="1885950" cy="1817370"/>
          </a:xfrm>
          <a:prstGeom prst="roundRect">
            <a:avLst>
              <a:gd name="adj" fmla="val 2264"/>
            </a:avLst>
          </a:prstGeom>
          <a:solidFill>
            <a:srgbClr val="F8FAFD"/>
          </a:solidFill>
          <a:ln w="12700">
            <a:solidFill>
              <a:srgbClr val="C9D8EE"/>
            </a:solidFill>
            <a:prstDash val="solid"/>
          </a:ln>
        </p:spPr>
        <p:txBody>
          <a:bodyPr/>
          <a:lstStyle/>
          <a:p>
            <a:endParaRPr lang="ru-KZ"/>
          </a:p>
        </p:txBody>
      </p:sp>
      <p:sp>
        <p:nvSpPr>
          <p:cNvPr id="12" name="Text 10"/>
          <p:cNvSpPr/>
          <p:nvPr/>
        </p:nvSpPr>
        <p:spPr>
          <a:xfrm>
            <a:off x="2743200" y="1741932"/>
            <a:ext cx="288036" cy="116586"/>
          </a:xfrm>
          <a:prstGeom prst="rect">
            <a:avLst/>
          </a:prstGeom>
          <a:noFill/>
          <a:ln/>
        </p:spPr>
        <p:txBody>
          <a:bodyPr wrap="square" lIns="0" tIns="0" rIns="0" bIns="0" rtlCol="0" anchor="ctr"/>
          <a:lstStyle/>
          <a:p>
            <a:pPr algn="ctr"/>
            <a:r>
              <a:rPr lang="en-US" sz="825" b="1" dirty="0">
                <a:solidFill>
                  <a:srgbClr val="FFFFFF"/>
                </a:solidFill>
              </a:rPr>
              <a:t>2</a:t>
            </a:r>
            <a:endParaRPr lang="en-US" sz="825" dirty="0"/>
          </a:p>
        </p:txBody>
      </p:sp>
      <p:sp>
        <p:nvSpPr>
          <p:cNvPr id="13" name="Text 11"/>
          <p:cNvSpPr/>
          <p:nvPr/>
        </p:nvSpPr>
        <p:spPr>
          <a:xfrm>
            <a:off x="3113532" y="1693926"/>
            <a:ext cx="1213866" cy="205740"/>
          </a:xfrm>
          <a:prstGeom prst="rect">
            <a:avLst/>
          </a:prstGeom>
          <a:noFill/>
          <a:ln/>
        </p:spPr>
        <p:txBody>
          <a:bodyPr wrap="square" lIns="0" tIns="0" rIns="0" bIns="0" rtlCol="0" anchor="ctr"/>
          <a:lstStyle/>
          <a:p>
            <a:r>
              <a:rPr lang="en-US" b="1" dirty="0">
                <a:solidFill>
                  <a:schemeClr val="dk1"/>
                </a:solidFill>
                <a:latin typeface="Manrope"/>
              </a:rPr>
              <a:t>Explain</a:t>
            </a:r>
          </a:p>
        </p:txBody>
      </p:sp>
      <p:sp>
        <p:nvSpPr>
          <p:cNvPr id="14" name="Text 12"/>
          <p:cNvSpPr/>
          <p:nvPr/>
        </p:nvSpPr>
        <p:spPr>
          <a:xfrm>
            <a:off x="2763774" y="2077974"/>
            <a:ext cx="1543050" cy="1145286"/>
          </a:xfrm>
          <a:prstGeom prst="rect">
            <a:avLst/>
          </a:prstGeom>
          <a:noFill/>
          <a:ln/>
        </p:spPr>
        <p:txBody>
          <a:bodyPr wrap="square" lIns="381" tIns="381" rIns="381" bIns="381" rtlCol="0" anchor="t"/>
          <a:lstStyle/>
          <a:p>
            <a:r>
              <a:rPr lang="en-US" dirty="0">
                <a:solidFill>
                  <a:schemeClr val="dk1"/>
                </a:solidFill>
                <a:latin typeface="Manrope"/>
              </a:rPr>
              <a:t>Present data and research in clear, accessible language.</a:t>
            </a:r>
          </a:p>
        </p:txBody>
      </p:sp>
      <p:sp>
        <p:nvSpPr>
          <p:cNvPr id="15" name="Shape 13"/>
          <p:cNvSpPr/>
          <p:nvPr/>
        </p:nvSpPr>
        <p:spPr>
          <a:xfrm>
            <a:off x="4636008" y="1543050"/>
            <a:ext cx="1885950" cy="1817370"/>
          </a:xfrm>
          <a:prstGeom prst="roundRect">
            <a:avLst>
              <a:gd name="adj" fmla="val 2264"/>
            </a:avLst>
          </a:prstGeom>
          <a:solidFill>
            <a:srgbClr val="F8FAFD"/>
          </a:solidFill>
          <a:ln w="12700">
            <a:solidFill>
              <a:srgbClr val="C9D8EE"/>
            </a:solidFill>
            <a:prstDash val="solid"/>
          </a:ln>
        </p:spPr>
        <p:txBody>
          <a:bodyPr/>
          <a:lstStyle/>
          <a:p>
            <a:endParaRPr lang="ru-KZ"/>
          </a:p>
        </p:txBody>
      </p:sp>
      <p:sp>
        <p:nvSpPr>
          <p:cNvPr id="18" name="Text 16"/>
          <p:cNvSpPr/>
          <p:nvPr/>
        </p:nvSpPr>
        <p:spPr>
          <a:xfrm>
            <a:off x="5157216" y="1693926"/>
            <a:ext cx="1213866" cy="205740"/>
          </a:xfrm>
          <a:prstGeom prst="rect">
            <a:avLst/>
          </a:prstGeom>
          <a:noFill/>
          <a:ln/>
        </p:spPr>
        <p:txBody>
          <a:bodyPr wrap="square" lIns="0" tIns="0" rIns="0" bIns="0" rtlCol="0" anchor="ctr"/>
          <a:lstStyle/>
          <a:p>
            <a:r>
              <a:rPr lang="en-US" b="1" dirty="0">
                <a:solidFill>
                  <a:schemeClr val="dk1"/>
                </a:solidFill>
                <a:latin typeface="Manrope"/>
              </a:rPr>
              <a:t>Interpret</a:t>
            </a:r>
          </a:p>
        </p:txBody>
      </p:sp>
      <p:sp>
        <p:nvSpPr>
          <p:cNvPr id="19" name="Text 17"/>
          <p:cNvSpPr/>
          <p:nvPr/>
        </p:nvSpPr>
        <p:spPr>
          <a:xfrm>
            <a:off x="4807458" y="2077974"/>
            <a:ext cx="1543050" cy="1145286"/>
          </a:xfrm>
          <a:prstGeom prst="rect">
            <a:avLst/>
          </a:prstGeom>
          <a:noFill/>
          <a:ln/>
        </p:spPr>
        <p:txBody>
          <a:bodyPr wrap="square" lIns="381" tIns="381" rIns="381" bIns="381" rtlCol="0" anchor="t"/>
          <a:lstStyle/>
          <a:p>
            <a:r>
              <a:rPr lang="en-US" dirty="0">
                <a:solidFill>
                  <a:schemeClr val="dk1"/>
                </a:solidFill>
                <a:latin typeface="Manrope"/>
              </a:rPr>
              <a:t>Explain what the evidence means rather than leaving the reader to infer it.</a:t>
            </a:r>
          </a:p>
        </p:txBody>
      </p:sp>
      <p:sp>
        <p:nvSpPr>
          <p:cNvPr id="20" name="Shape 18"/>
          <p:cNvSpPr/>
          <p:nvPr/>
        </p:nvSpPr>
        <p:spPr>
          <a:xfrm>
            <a:off x="6679692" y="1543050"/>
            <a:ext cx="1885950" cy="1817370"/>
          </a:xfrm>
          <a:prstGeom prst="roundRect">
            <a:avLst>
              <a:gd name="adj" fmla="val 2264"/>
            </a:avLst>
          </a:prstGeom>
          <a:solidFill>
            <a:srgbClr val="F8FAFD"/>
          </a:solidFill>
          <a:ln w="12700">
            <a:solidFill>
              <a:srgbClr val="C9D8EE"/>
            </a:solidFill>
            <a:prstDash val="solid"/>
          </a:ln>
        </p:spPr>
        <p:txBody>
          <a:bodyPr/>
          <a:lstStyle/>
          <a:p>
            <a:endParaRPr lang="ru-KZ"/>
          </a:p>
        </p:txBody>
      </p:sp>
      <p:sp>
        <p:nvSpPr>
          <p:cNvPr id="22" name="Text 20"/>
          <p:cNvSpPr/>
          <p:nvPr/>
        </p:nvSpPr>
        <p:spPr>
          <a:xfrm>
            <a:off x="6830568" y="1741932"/>
            <a:ext cx="288036" cy="116586"/>
          </a:xfrm>
          <a:prstGeom prst="rect">
            <a:avLst/>
          </a:prstGeom>
          <a:noFill/>
          <a:ln/>
        </p:spPr>
        <p:txBody>
          <a:bodyPr wrap="square" lIns="0" tIns="0" rIns="0" bIns="0" rtlCol="0" anchor="ctr"/>
          <a:lstStyle/>
          <a:p>
            <a:pPr algn="ctr"/>
            <a:r>
              <a:rPr lang="en-US" sz="825" b="1" dirty="0">
                <a:solidFill>
                  <a:srgbClr val="FFFFFF"/>
                </a:solidFill>
              </a:rPr>
              <a:t>4</a:t>
            </a:r>
            <a:endParaRPr lang="en-US" sz="825" dirty="0"/>
          </a:p>
        </p:txBody>
      </p:sp>
      <p:sp>
        <p:nvSpPr>
          <p:cNvPr id="23" name="Text 21"/>
          <p:cNvSpPr/>
          <p:nvPr/>
        </p:nvSpPr>
        <p:spPr>
          <a:xfrm>
            <a:off x="7200900" y="1693926"/>
            <a:ext cx="1213866" cy="205740"/>
          </a:xfrm>
          <a:prstGeom prst="rect">
            <a:avLst/>
          </a:prstGeom>
          <a:noFill/>
          <a:ln/>
        </p:spPr>
        <p:txBody>
          <a:bodyPr wrap="square" lIns="0" tIns="0" rIns="0" bIns="0" rtlCol="0" anchor="ctr"/>
          <a:lstStyle/>
          <a:p>
            <a:r>
              <a:rPr lang="en-US" b="1" dirty="0">
                <a:solidFill>
                  <a:schemeClr val="dk1"/>
                </a:solidFill>
                <a:latin typeface="Manrope"/>
              </a:rPr>
              <a:t>Qualify</a:t>
            </a:r>
          </a:p>
        </p:txBody>
      </p:sp>
      <p:sp>
        <p:nvSpPr>
          <p:cNvPr id="24" name="Text 22"/>
          <p:cNvSpPr/>
          <p:nvPr/>
        </p:nvSpPr>
        <p:spPr>
          <a:xfrm>
            <a:off x="6851142" y="2077974"/>
            <a:ext cx="1543050" cy="1145286"/>
          </a:xfrm>
          <a:prstGeom prst="rect">
            <a:avLst/>
          </a:prstGeom>
          <a:noFill/>
          <a:ln/>
        </p:spPr>
        <p:txBody>
          <a:bodyPr wrap="square" lIns="381" tIns="381" rIns="381" bIns="381" rtlCol="0" anchor="t"/>
          <a:lstStyle/>
          <a:p>
            <a:r>
              <a:rPr lang="en-US" dirty="0">
                <a:solidFill>
                  <a:schemeClr val="dk1"/>
                </a:solidFill>
                <a:latin typeface="Manrope"/>
              </a:rPr>
              <a:t>Acknowledge uncertainty, limitations, or competing explanations where relevant.</a:t>
            </a:r>
          </a:p>
        </p:txBody>
      </p:sp>
      <p:sp>
        <p:nvSpPr>
          <p:cNvPr id="25" name="Text 23"/>
          <p:cNvSpPr/>
          <p:nvPr/>
        </p:nvSpPr>
        <p:spPr>
          <a:xfrm>
            <a:off x="1371600" y="3737610"/>
            <a:ext cx="6377940" cy="329184"/>
          </a:xfrm>
          <a:prstGeom prst="rect">
            <a:avLst/>
          </a:prstGeom>
          <a:noFill/>
          <a:ln/>
        </p:spPr>
        <p:txBody>
          <a:bodyPr wrap="square" lIns="0" tIns="0" rIns="0" bIns="0" rtlCol="0" anchor="ctr"/>
          <a:lstStyle/>
          <a:p>
            <a:pPr algn="ctr"/>
            <a:r>
              <a:rPr lang="en-US" b="1" dirty="0">
                <a:solidFill>
                  <a:schemeClr val="tx2">
                    <a:lumMod val="50000"/>
                  </a:schemeClr>
                </a:solidFill>
                <a:latin typeface="Manrope"/>
              </a:rPr>
              <a:t>Evidence  →  Interpretation  →  Policy implication</a:t>
            </a:r>
          </a:p>
        </p:txBody>
      </p:sp>
      <p:sp>
        <p:nvSpPr>
          <p:cNvPr id="27" name="Text 25"/>
          <p:cNvSpPr/>
          <p:nvPr/>
        </p:nvSpPr>
        <p:spPr>
          <a:xfrm>
            <a:off x="8332470" y="4855464"/>
            <a:ext cx="205740" cy="123444"/>
          </a:xfrm>
          <a:prstGeom prst="rect">
            <a:avLst/>
          </a:prstGeom>
          <a:noFill/>
          <a:ln/>
        </p:spPr>
        <p:txBody>
          <a:bodyPr wrap="square" lIns="0" tIns="0" rIns="0" bIns="0" rtlCol="0" anchor="ctr"/>
          <a:lstStyle/>
          <a:p>
            <a:pPr algn="r"/>
            <a:r>
              <a:rPr lang="en-US" sz="525" dirty="0">
                <a:solidFill>
                  <a:srgbClr val="AAB3BE"/>
                </a:solidFill>
              </a:rPr>
              <a:t>12</a:t>
            </a:r>
            <a:endParaRPr lang="en-US" sz="5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4350" y="377190"/>
            <a:ext cx="8092440" cy="308610"/>
          </a:xfrm>
          <a:prstGeom prst="rect">
            <a:avLst/>
          </a:prstGeom>
          <a:noFill/>
          <a:ln/>
        </p:spPr>
        <p:txBody>
          <a:bodyPr wrap="square" lIns="0" tIns="0" rIns="0" bIns="0" rtlCol="0" anchor="ctr"/>
          <a:lstStyle/>
          <a:p>
            <a:r>
              <a:rPr lang="en-US" sz="2000" b="1" dirty="0">
                <a:solidFill>
                  <a:schemeClr val="dk1"/>
                </a:solidFill>
                <a:latin typeface="Manrope"/>
              </a:rPr>
              <a:t>Conclusions &amp; Recommendations</a:t>
            </a:r>
          </a:p>
        </p:txBody>
      </p:sp>
      <p:sp>
        <p:nvSpPr>
          <p:cNvPr id="3" name="Text 1"/>
          <p:cNvSpPr/>
          <p:nvPr/>
        </p:nvSpPr>
        <p:spPr>
          <a:xfrm>
            <a:off x="514350" y="740664"/>
            <a:ext cx="8023860" cy="260604"/>
          </a:xfrm>
          <a:prstGeom prst="rect">
            <a:avLst/>
          </a:prstGeom>
          <a:noFill/>
          <a:ln/>
        </p:spPr>
        <p:txBody>
          <a:bodyPr wrap="square" lIns="0" tIns="0" rIns="0" bIns="0" rtlCol="0" anchor="ctr"/>
          <a:lstStyle/>
          <a:p>
            <a:r>
              <a:rPr lang="en-US" i="1" dirty="0">
                <a:solidFill>
                  <a:schemeClr val="dk1"/>
                </a:solidFill>
                <a:latin typeface="Manrope"/>
              </a:rPr>
              <a:t>Move from what the evidence shows to what should be done.</a:t>
            </a:r>
          </a:p>
        </p:txBody>
      </p:sp>
      <p:sp>
        <p:nvSpPr>
          <p:cNvPr id="4" name="Text 2"/>
          <p:cNvSpPr/>
          <p:nvPr/>
        </p:nvSpPr>
        <p:spPr>
          <a:xfrm>
            <a:off x="562356" y="1062990"/>
            <a:ext cx="8023860" cy="342900"/>
          </a:xfrm>
          <a:prstGeom prst="rect">
            <a:avLst/>
          </a:prstGeom>
          <a:noFill/>
          <a:ln/>
        </p:spPr>
        <p:txBody>
          <a:bodyPr wrap="square" lIns="0" tIns="0" rIns="0" bIns="0" rtlCol="0" anchor="ctr"/>
          <a:lstStyle/>
          <a:p>
            <a:r>
              <a:rPr lang="en-US" dirty="0">
                <a:solidFill>
                  <a:schemeClr val="dk1"/>
                </a:solidFill>
                <a:latin typeface="Manrope"/>
              </a:rPr>
              <a:t>Recommendations should follow logically from the findings and identify realistic, evidence-based action.</a:t>
            </a:r>
          </a:p>
        </p:txBody>
      </p:sp>
      <p:sp>
        <p:nvSpPr>
          <p:cNvPr id="5" name="Shape 3"/>
          <p:cNvSpPr/>
          <p:nvPr/>
        </p:nvSpPr>
        <p:spPr>
          <a:xfrm>
            <a:off x="582930" y="1587627"/>
            <a:ext cx="2434590" cy="1817370"/>
          </a:xfrm>
          <a:prstGeom prst="roundRect">
            <a:avLst>
              <a:gd name="adj" fmla="val 2264"/>
            </a:avLst>
          </a:prstGeom>
          <a:solidFill>
            <a:srgbClr val="F8FAFD"/>
          </a:solidFill>
          <a:ln w="12700">
            <a:solidFill>
              <a:srgbClr val="C9D8EE"/>
            </a:solidFill>
            <a:prstDash val="solid"/>
          </a:ln>
        </p:spPr>
        <p:txBody>
          <a:bodyPr/>
          <a:lstStyle/>
          <a:p>
            <a:endParaRPr lang="ru-KZ"/>
          </a:p>
        </p:txBody>
      </p:sp>
      <p:sp>
        <p:nvSpPr>
          <p:cNvPr id="7" name="Text 5"/>
          <p:cNvSpPr/>
          <p:nvPr/>
        </p:nvSpPr>
        <p:spPr>
          <a:xfrm>
            <a:off x="733806" y="1762506"/>
            <a:ext cx="288036" cy="116586"/>
          </a:xfrm>
          <a:prstGeom prst="rect">
            <a:avLst/>
          </a:prstGeom>
          <a:noFill/>
          <a:ln/>
        </p:spPr>
        <p:txBody>
          <a:bodyPr wrap="square" lIns="0" tIns="0" rIns="0" bIns="0" rtlCol="0" anchor="ctr"/>
          <a:lstStyle/>
          <a:p>
            <a:pPr algn="ctr"/>
            <a:r>
              <a:rPr lang="en-US" sz="825" b="1" dirty="0">
                <a:solidFill>
                  <a:srgbClr val="FFFFFF"/>
                </a:solidFill>
              </a:rPr>
              <a:t>1</a:t>
            </a:r>
            <a:endParaRPr lang="en-US" sz="825" dirty="0"/>
          </a:p>
        </p:txBody>
      </p:sp>
      <p:sp>
        <p:nvSpPr>
          <p:cNvPr id="8" name="Text 6"/>
          <p:cNvSpPr/>
          <p:nvPr/>
        </p:nvSpPr>
        <p:spPr>
          <a:xfrm>
            <a:off x="1502834" y="1714500"/>
            <a:ext cx="767998" cy="226314"/>
          </a:xfrm>
          <a:prstGeom prst="rect">
            <a:avLst/>
          </a:prstGeom>
          <a:noFill/>
          <a:ln/>
        </p:spPr>
        <p:txBody>
          <a:bodyPr wrap="square" lIns="0" tIns="0" rIns="0" bIns="0" rtlCol="0" anchor="ctr"/>
          <a:lstStyle/>
          <a:p>
            <a:r>
              <a:rPr lang="en-US" b="1" dirty="0">
                <a:solidFill>
                  <a:schemeClr val="dk1"/>
                </a:solidFill>
                <a:latin typeface="Manrope"/>
              </a:rPr>
              <a:t>Who?</a:t>
            </a:r>
          </a:p>
        </p:txBody>
      </p:sp>
      <p:sp>
        <p:nvSpPr>
          <p:cNvPr id="9" name="Text 7"/>
          <p:cNvSpPr/>
          <p:nvPr/>
        </p:nvSpPr>
        <p:spPr>
          <a:xfrm>
            <a:off x="754380" y="2098547"/>
            <a:ext cx="2231504" cy="1165861"/>
          </a:xfrm>
          <a:prstGeom prst="rect">
            <a:avLst/>
          </a:prstGeom>
          <a:noFill/>
          <a:ln/>
        </p:spPr>
        <p:txBody>
          <a:bodyPr wrap="square" lIns="381" tIns="381" rIns="381" bIns="381" rtlCol="0" anchor="t"/>
          <a:lstStyle/>
          <a:p>
            <a:r>
              <a:rPr lang="en-US" dirty="0">
                <a:solidFill>
                  <a:schemeClr val="dk1"/>
                </a:solidFill>
                <a:latin typeface="Manrope"/>
              </a:rPr>
              <a:t>Identify the actor responsible for taking action: government, institution, employer, professional body, or another stakeholder.</a:t>
            </a:r>
          </a:p>
        </p:txBody>
      </p:sp>
      <p:sp>
        <p:nvSpPr>
          <p:cNvPr id="10" name="Shape 8"/>
          <p:cNvSpPr/>
          <p:nvPr/>
        </p:nvSpPr>
        <p:spPr>
          <a:xfrm>
            <a:off x="3346704" y="1563624"/>
            <a:ext cx="2434590" cy="1817370"/>
          </a:xfrm>
          <a:prstGeom prst="roundRect">
            <a:avLst>
              <a:gd name="adj" fmla="val 2264"/>
            </a:avLst>
          </a:prstGeom>
          <a:solidFill>
            <a:srgbClr val="F8FAFD"/>
          </a:solidFill>
          <a:ln w="12700">
            <a:solidFill>
              <a:srgbClr val="C9D8EE"/>
            </a:solidFill>
            <a:prstDash val="solid"/>
          </a:ln>
        </p:spPr>
        <p:txBody>
          <a:bodyPr/>
          <a:lstStyle/>
          <a:p>
            <a:endParaRPr lang="ru-KZ"/>
          </a:p>
        </p:txBody>
      </p:sp>
      <p:sp>
        <p:nvSpPr>
          <p:cNvPr id="12" name="Text 10"/>
          <p:cNvSpPr/>
          <p:nvPr/>
        </p:nvSpPr>
        <p:spPr>
          <a:xfrm>
            <a:off x="3497580" y="1762506"/>
            <a:ext cx="288036" cy="116586"/>
          </a:xfrm>
          <a:prstGeom prst="rect">
            <a:avLst/>
          </a:prstGeom>
          <a:noFill/>
          <a:ln/>
        </p:spPr>
        <p:txBody>
          <a:bodyPr wrap="square" lIns="0" tIns="0" rIns="0" bIns="0" rtlCol="0" anchor="ctr"/>
          <a:lstStyle/>
          <a:p>
            <a:pPr algn="ctr"/>
            <a:r>
              <a:rPr lang="en-US" sz="825" b="1" dirty="0">
                <a:solidFill>
                  <a:srgbClr val="FFFFFF"/>
                </a:solidFill>
              </a:rPr>
              <a:t>2</a:t>
            </a:r>
            <a:endParaRPr lang="en-US" sz="825" dirty="0"/>
          </a:p>
        </p:txBody>
      </p:sp>
      <p:sp>
        <p:nvSpPr>
          <p:cNvPr id="13" name="Text 11"/>
          <p:cNvSpPr/>
          <p:nvPr/>
        </p:nvSpPr>
        <p:spPr>
          <a:xfrm>
            <a:off x="4162600" y="1714500"/>
            <a:ext cx="938105" cy="164592"/>
          </a:xfrm>
          <a:prstGeom prst="rect">
            <a:avLst/>
          </a:prstGeom>
          <a:noFill/>
          <a:ln/>
        </p:spPr>
        <p:txBody>
          <a:bodyPr wrap="square" lIns="0" tIns="0" rIns="0" bIns="0" rtlCol="0" anchor="ctr"/>
          <a:lstStyle/>
          <a:p>
            <a:r>
              <a:rPr lang="en-US" b="1" dirty="0">
                <a:solidFill>
                  <a:schemeClr val="dk1"/>
                </a:solidFill>
                <a:latin typeface="Manrope"/>
              </a:rPr>
              <a:t>Do what?</a:t>
            </a:r>
          </a:p>
        </p:txBody>
      </p:sp>
      <p:sp>
        <p:nvSpPr>
          <p:cNvPr id="14" name="Text 12"/>
          <p:cNvSpPr/>
          <p:nvPr/>
        </p:nvSpPr>
        <p:spPr>
          <a:xfrm>
            <a:off x="3518154" y="2098548"/>
            <a:ext cx="2091690" cy="1145286"/>
          </a:xfrm>
          <a:prstGeom prst="rect">
            <a:avLst/>
          </a:prstGeom>
          <a:noFill/>
          <a:ln/>
        </p:spPr>
        <p:txBody>
          <a:bodyPr wrap="square" lIns="381" tIns="381" rIns="381" bIns="381" rtlCol="0" anchor="t"/>
          <a:lstStyle/>
          <a:p>
            <a:r>
              <a:rPr lang="en-US" dirty="0">
                <a:solidFill>
                  <a:schemeClr val="dk1"/>
                </a:solidFill>
                <a:latin typeface="Manrope"/>
              </a:rPr>
              <a:t>Use a specific action verb. Avoid vague recommendations such as “raise awareness” unless you explain how.</a:t>
            </a:r>
          </a:p>
        </p:txBody>
      </p:sp>
      <p:sp>
        <p:nvSpPr>
          <p:cNvPr id="15" name="Shape 13"/>
          <p:cNvSpPr/>
          <p:nvPr/>
        </p:nvSpPr>
        <p:spPr>
          <a:xfrm>
            <a:off x="6110478" y="1563624"/>
            <a:ext cx="2434590" cy="1817370"/>
          </a:xfrm>
          <a:prstGeom prst="roundRect">
            <a:avLst>
              <a:gd name="adj" fmla="val 2264"/>
            </a:avLst>
          </a:prstGeom>
          <a:solidFill>
            <a:srgbClr val="F8FAFD"/>
          </a:solidFill>
          <a:ln w="12700">
            <a:solidFill>
              <a:srgbClr val="C9D8EE"/>
            </a:solidFill>
            <a:prstDash val="solid"/>
          </a:ln>
        </p:spPr>
        <p:txBody>
          <a:bodyPr/>
          <a:lstStyle/>
          <a:p>
            <a:endParaRPr lang="ru-KZ"/>
          </a:p>
        </p:txBody>
      </p:sp>
      <p:sp>
        <p:nvSpPr>
          <p:cNvPr id="17" name="Text 15"/>
          <p:cNvSpPr/>
          <p:nvPr/>
        </p:nvSpPr>
        <p:spPr>
          <a:xfrm>
            <a:off x="6261354" y="1762506"/>
            <a:ext cx="288036" cy="116586"/>
          </a:xfrm>
          <a:prstGeom prst="rect">
            <a:avLst/>
          </a:prstGeom>
          <a:noFill/>
          <a:ln/>
        </p:spPr>
        <p:txBody>
          <a:bodyPr wrap="square" lIns="0" tIns="0" rIns="0" bIns="0" rtlCol="0" anchor="ctr"/>
          <a:lstStyle/>
          <a:p>
            <a:pPr algn="ctr"/>
            <a:r>
              <a:rPr lang="en-US" sz="825" b="1" dirty="0">
                <a:solidFill>
                  <a:srgbClr val="FFFFFF"/>
                </a:solidFill>
              </a:rPr>
              <a:t>3</a:t>
            </a:r>
            <a:endParaRPr lang="en-US" sz="825" dirty="0"/>
          </a:p>
        </p:txBody>
      </p:sp>
      <p:sp>
        <p:nvSpPr>
          <p:cNvPr id="18" name="Text 16"/>
          <p:cNvSpPr/>
          <p:nvPr/>
        </p:nvSpPr>
        <p:spPr>
          <a:xfrm>
            <a:off x="6631686" y="1714500"/>
            <a:ext cx="1628250" cy="205740"/>
          </a:xfrm>
          <a:prstGeom prst="rect">
            <a:avLst/>
          </a:prstGeom>
          <a:noFill/>
          <a:ln/>
        </p:spPr>
        <p:txBody>
          <a:bodyPr wrap="square" lIns="0" tIns="0" rIns="0" bIns="0" rtlCol="0" anchor="ctr"/>
          <a:lstStyle/>
          <a:p>
            <a:r>
              <a:rPr lang="en-US" b="1" dirty="0">
                <a:solidFill>
                  <a:schemeClr val="dk1"/>
                </a:solidFill>
                <a:latin typeface="Manrope"/>
              </a:rPr>
              <a:t>To achieve what?</a:t>
            </a:r>
          </a:p>
        </p:txBody>
      </p:sp>
      <p:sp>
        <p:nvSpPr>
          <p:cNvPr id="19" name="Text 17"/>
          <p:cNvSpPr/>
          <p:nvPr/>
        </p:nvSpPr>
        <p:spPr>
          <a:xfrm>
            <a:off x="6281928" y="2098548"/>
            <a:ext cx="2091690" cy="1145286"/>
          </a:xfrm>
          <a:prstGeom prst="rect">
            <a:avLst/>
          </a:prstGeom>
          <a:noFill/>
          <a:ln/>
        </p:spPr>
        <p:txBody>
          <a:bodyPr wrap="square" lIns="381" tIns="381" rIns="381" bIns="381" rtlCol="0" anchor="t"/>
          <a:lstStyle/>
          <a:p>
            <a:r>
              <a:rPr lang="en-US" dirty="0">
                <a:solidFill>
                  <a:schemeClr val="dk1"/>
                </a:solidFill>
                <a:latin typeface="Manrope"/>
              </a:rPr>
              <a:t>State the intended policy outcome and make the link back to the evidence.</a:t>
            </a:r>
          </a:p>
        </p:txBody>
      </p:sp>
      <p:sp>
        <p:nvSpPr>
          <p:cNvPr id="21" name="Text 19"/>
          <p:cNvSpPr/>
          <p:nvPr/>
        </p:nvSpPr>
        <p:spPr>
          <a:xfrm>
            <a:off x="1543050" y="3854196"/>
            <a:ext cx="6035040" cy="192024"/>
          </a:xfrm>
          <a:prstGeom prst="rect">
            <a:avLst/>
          </a:prstGeom>
          <a:noFill/>
          <a:ln/>
        </p:spPr>
        <p:txBody>
          <a:bodyPr wrap="square" lIns="0" tIns="0" rIns="0" bIns="0" rtlCol="0" anchor="ctr"/>
          <a:lstStyle/>
          <a:p>
            <a:pPr algn="ctr"/>
            <a:r>
              <a:rPr lang="en-US" b="1" dirty="0">
                <a:solidFill>
                  <a:schemeClr val="tx2">
                    <a:lumMod val="50000"/>
                  </a:schemeClr>
                </a:solidFill>
                <a:latin typeface="Manrope"/>
              </a:rPr>
              <a:t>Strong recommendation = Actor + Action + Intended outcome</a:t>
            </a:r>
          </a:p>
        </p:txBody>
      </p:sp>
      <p:sp>
        <p:nvSpPr>
          <p:cNvPr id="23" name="Text 21"/>
          <p:cNvSpPr/>
          <p:nvPr/>
        </p:nvSpPr>
        <p:spPr>
          <a:xfrm>
            <a:off x="8332470" y="4855464"/>
            <a:ext cx="205740" cy="123444"/>
          </a:xfrm>
          <a:prstGeom prst="rect">
            <a:avLst/>
          </a:prstGeom>
          <a:noFill/>
          <a:ln/>
        </p:spPr>
        <p:txBody>
          <a:bodyPr wrap="square" lIns="0" tIns="0" rIns="0" bIns="0" rtlCol="0" anchor="ctr"/>
          <a:lstStyle/>
          <a:p>
            <a:pPr algn="r"/>
            <a:r>
              <a:rPr lang="en-US" sz="525" dirty="0">
                <a:solidFill>
                  <a:srgbClr val="AAB3BE"/>
                </a:solidFill>
              </a:rPr>
              <a:t>13</a:t>
            </a:r>
            <a:endParaRPr lang="en-US" sz="5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2356" y="329184"/>
            <a:ext cx="4937760" cy="288036"/>
          </a:xfrm>
          <a:prstGeom prst="rect">
            <a:avLst/>
          </a:prstGeom>
          <a:noFill/>
          <a:ln/>
        </p:spPr>
        <p:txBody>
          <a:bodyPr wrap="square" lIns="0" tIns="0" rIns="0" bIns="0" rtlCol="0" anchor="ctr"/>
          <a:lstStyle/>
          <a:p>
            <a:r>
              <a:rPr lang="en-US" sz="2000" b="1" dirty="0">
                <a:solidFill>
                  <a:schemeClr val="dk1"/>
                </a:solidFill>
                <a:latin typeface="Manrope"/>
              </a:rPr>
              <a:t>Typical Structure of a Policy Brief</a:t>
            </a:r>
          </a:p>
        </p:txBody>
      </p:sp>
      <p:sp>
        <p:nvSpPr>
          <p:cNvPr id="3" name="Text 1"/>
          <p:cNvSpPr/>
          <p:nvPr/>
        </p:nvSpPr>
        <p:spPr>
          <a:xfrm>
            <a:off x="562355" y="672084"/>
            <a:ext cx="7598665" cy="240030"/>
          </a:xfrm>
          <a:prstGeom prst="rect">
            <a:avLst/>
          </a:prstGeom>
          <a:noFill/>
          <a:ln/>
        </p:spPr>
        <p:txBody>
          <a:bodyPr wrap="square" lIns="0" tIns="0" rIns="0" bIns="0" rtlCol="0" anchor="ctr"/>
          <a:lstStyle/>
          <a:p>
            <a:r>
              <a:rPr lang="en-US" i="1" dirty="0">
                <a:solidFill>
                  <a:schemeClr val="dk1"/>
                </a:solidFill>
                <a:latin typeface="Manrope"/>
              </a:rPr>
              <a:t>There is no single fixed format, but effective briefs usually contain these core elements.</a:t>
            </a:r>
          </a:p>
        </p:txBody>
      </p:sp>
      <p:sp>
        <p:nvSpPr>
          <p:cNvPr id="4" name="Shape 2"/>
          <p:cNvSpPr/>
          <p:nvPr/>
        </p:nvSpPr>
        <p:spPr>
          <a:xfrm>
            <a:off x="562356" y="1062990"/>
            <a:ext cx="8023860" cy="425196"/>
          </a:xfrm>
          <a:prstGeom prst="roundRect">
            <a:avLst>
              <a:gd name="adj" fmla="val 12903"/>
            </a:avLst>
          </a:prstGeom>
          <a:solidFill>
            <a:srgbClr val="102B4C"/>
          </a:solidFill>
          <a:ln w="12700">
            <a:solidFill>
              <a:srgbClr val="102B4C"/>
            </a:solidFill>
            <a:prstDash val="solid"/>
          </a:ln>
        </p:spPr>
        <p:txBody>
          <a:bodyPr/>
          <a:lstStyle/>
          <a:p>
            <a:endParaRPr lang="ru-KZ"/>
          </a:p>
        </p:txBody>
      </p:sp>
      <p:sp>
        <p:nvSpPr>
          <p:cNvPr id="5" name="Text 3"/>
          <p:cNvSpPr/>
          <p:nvPr/>
        </p:nvSpPr>
        <p:spPr>
          <a:xfrm>
            <a:off x="740664" y="1159002"/>
            <a:ext cx="685800" cy="123444"/>
          </a:xfrm>
          <a:prstGeom prst="rect">
            <a:avLst/>
          </a:prstGeom>
          <a:noFill/>
          <a:ln/>
        </p:spPr>
        <p:txBody>
          <a:bodyPr wrap="square" lIns="0" tIns="0" rIns="0" bIns="0" rtlCol="0" anchor="ctr"/>
          <a:lstStyle/>
          <a:p>
            <a:r>
              <a:rPr lang="en-US" b="1" dirty="0">
                <a:solidFill>
                  <a:schemeClr val="bg1"/>
                </a:solidFill>
                <a:latin typeface="Manrope"/>
              </a:rPr>
              <a:t>TITLE</a:t>
            </a:r>
          </a:p>
        </p:txBody>
      </p:sp>
      <p:sp>
        <p:nvSpPr>
          <p:cNvPr id="6" name="Text 4"/>
          <p:cNvSpPr/>
          <p:nvPr/>
        </p:nvSpPr>
        <p:spPr>
          <a:xfrm>
            <a:off x="1440180" y="1138428"/>
            <a:ext cx="6720840" cy="164592"/>
          </a:xfrm>
          <a:prstGeom prst="rect">
            <a:avLst/>
          </a:prstGeom>
          <a:noFill/>
          <a:ln/>
        </p:spPr>
        <p:txBody>
          <a:bodyPr wrap="square" lIns="0" tIns="0" rIns="0" bIns="0" rtlCol="0" anchor="ctr"/>
          <a:lstStyle/>
          <a:p>
            <a:r>
              <a:rPr lang="en-US" b="1" dirty="0">
                <a:solidFill>
                  <a:schemeClr val="bg1"/>
                </a:solidFill>
                <a:latin typeface="Manrope"/>
              </a:rPr>
              <a:t>Engaging and informative — tells the reader what the brief is about</a:t>
            </a:r>
          </a:p>
        </p:txBody>
      </p:sp>
      <p:sp>
        <p:nvSpPr>
          <p:cNvPr id="7" name="Shape 5"/>
          <p:cNvSpPr/>
          <p:nvPr/>
        </p:nvSpPr>
        <p:spPr>
          <a:xfrm>
            <a:off x="562356" y="1591056"/>
            <a:ext cx="8023860" cy="589788"/>
          </a:xfrm>
          <a:prstGeom prst="roundRect">
            <a:avLst>
              <a:gd name="adj" fmla="val 6977"/>
            </a:avLst>
          </a:prstGeom>
          <a:solidFill>
            <a:srgbClr val="DCEAF8"/>
          </a:solidFill>
          <a:ln w="12700">
            <a:solidFill>
              <a:srgbClr val="C8DDF3"/>
            </a:solidFill>
            <a:prstDash val="solid"/>
          </a:ln>
        </p:spPr>
        <p:txBody>
          <a:bodyPr/>
          <a:lstStyle/>
          <a:p>
            <a:endParaRPr lang="ru-KZ"/>
          </a:p>
        </p:txBody>
      </p:sp>
      <p:sp>
        <p:nvSpPr>
          <p:cNvPr id="8" name="Text 6"/>
          <p:cNvSpPr/>
          <p:nvPr/>
        </p:nvSpPr>
        <p:spPr>
          <a:xfrm>
            <a:off x="726725" y="1726989"/>
            <a:ext cx="2569018" cy="246888"/>
          </a:xfrm>
          <a:prstGeom prst="rect">
            <a:avLst/>
          </a:prstGeom>
          <a:noFill/>
          <a:ln/>
        </p:spPr>
        <p:txBody>
          <a:bodyPr wrap="square" lIns="0" tIns="0" rIns="0" bIns="0" rtlCol="0" anchor="ctr"/>
          <a:lstStyle/>
          <a:p>
            <a:r>
              <a:rPr lang="en-US" b="1" dirty="0">
                <a:solidFill>
                  <a:schemeClr val="dk1"/>
                </a:solidFill>
                <a:latin typeface="Manrope"/>
              </a:rPr>
              <a:t>EXECUTIVE SUMMARY </a:t>
            </a:r>
          </a:p>
          <a:p>
            <a:r>
              <a:rPr lang="en-US" b="1" dirty="0">
                <a:solidFill>
                  <a:schemeClr val="dk1"/>
                </a:solidFill>
                <a:latin typeface="Manrope"/>
              </a:rPr>
              <a:t>about 10%</a:t>
            </a:r>
          </a:p>
        </p:txBody>
      </p:sp>
      <p:sp>
        <p:nvSpPr>
          <p:cNvPr id="9" name="Text 7"/>
          <p:cNvSpPr/>
          <p:nvPr/>
        </p:nvSpPr>
        <p:spPr>
          <a:xfrm>
            <a:off x="3188970" y="1693925"/>
            <a:ext cx="5428692" cy="279951"/>
          </a:xfrm>
          <a:prstGeom prst="rect">
            <a:avLst/>
          </a:prstGeom>
          <a:noFill/>
          <a:ln/>
        </p:spPr>
        <p:txBody>
          <a:bodyPr wrap="square" lIns="0" tIns="0" rIns="0" bIns="0" rtlCol="0" anchor="ctr"/>
          <a:lstStyle/>
          <a:p>
            <a:r>
              <a:rPr lang="en-US" dirty="0">
                <a:solidFill>
                  <a:schemeClr val="dk1"/>
                </a:solidFill>
                <a:latin typeface="Manrope"/>
              </a:rPr>
              <a:t>A concise overview of the problem, key findings and main recommendations.</a:t>
            </a:r>
          </a:p>
        </p:txBody>
      </p:sp>
      <p:sp>
        <p:nvSpPr>
          <p:cNvPr id="10" name="Shape 8"/>
          <p:cNvSpPr/>
          <p:nvPr/>
        </p:nvSpPr>
        <p:spPr>
          <a:xfrm>
            <a:off x="557784" y="2311146"/>
            <a:ext cx="2846070" cy="740664"/>
          </a:xfrm>
          <a:prstGeom prst="roundRect">
            <a:avLst>
              <a:gd name="adj" fmla="val 5556"/>
            </a:avLst>
          </a:prstGeom>
          <a:solidFill>
            <a:srgbClr val="EAF2FB"/>
          </a:solidFill>
          <a:ln w="12700">
            <a:solidFill>
              <a:srgbClr val="D5E3F2"/>
            </a:solidFill>
            <a:prstDash val="solid"/>
          </a:ln>
        </p:spPr>
        <p:txBody>
          <a:bodyPr/>
          <a:lstStyle/>
          <a:p>
            <a:endParaRPr lang="ru-KZ"/>
          </a:p>
        </p:txBody>
      </p:sp>
      <p:sp>
        <p:nvSpPr>
          <p:cNvPr id="11" name="Text 9"/>
          <p:cNvSpPr/>
          <p:nvPr/>
        </p:nvSpPr>
        <p:spPr>
          <a:xfrm>
            <a:off x="740664" y="2221992"/>
            <a:ext cx="1993615" cy="329184"/>
          </a:xfrm>
          <a:prstGeom prst="rect">
            <a:avLst/>
          </a:prstGeom>
          <a:noFill/>
          <a:ln/>
        </p:spPr>
        <p:txBody>
          <a:bodyPr wrap="square" lIns="0" tIns="0" rIns="0" bIns="0" rtlCol="0" anchor="ctr"/>
          <a:lstStyle/>
          <a:p>
            <a:r>
              <a:rPr lang="en-US" sz="1200" b="1" dirty="0">
                <a:solidFill>
                  <a:schemeClr val="dk1"/>
                </a:solidFill>
                <a:latin typeface="Manrope"/>
              </a:rPr>
              <a:t>INTRODUCTION   10–15%</a:t>
            </a:r>
          </a:p>
        </p:txBody>
      </p:sp>
      <p:sp>
        <p:nvSpPr>
          <p:cNvPr id="12" name="Text 10"/>
          <p:cNvSpPr/>
          <p:nvPr/>
        </p:nvSpPr>
        <p:spPr>
          <a:xfrm>
            <a:off x="630936" y="2571750"/>
            <a:ext cx="2846070" cy="418338"/>
          </a:xfrm>
          <a:prstGeom prst="rect">
            <a:avLst/>
          </a:prstGeom>
          <a:noFill/>
          <a:ln/>
        </p:spPr>
        <p:txBody>
          <a:bodyPr wrap="square" lIns="0" tIns="0" rIns="0" bIns="0" rtlCol="0" anchor="ctr"/>
          <a:lstStyle/>
          <a:p>
            <a:r>
              <a:rPr lang="en-US" sz="1200" dirty="0">
                <a:solidFill>
                  <a:schemeClr val="dk1"/>
                </a:solidFill>
                <a:latin typeface="Manrope"/>
              </a:rPr>
              <a:t>Establishes the issue, explains why it matters and creates curiosity about the brief.</a:t>
            </a:r>
          </a:p>
        </p:txBody>
      </p:sp>
      <p:sp>
        <p:nvSpPr>
          <p:cNvPr id="13" name="Shape 11"/>
          <p:cNvSpPr/>
          <p:nvPr/>
        </p:nvSpPr>
        <p:spPr>
          <a:xfrm>
            <a:off x="562356" y="3113532"/>
            <a:ext cx="2846070" cy="534924"/>
          </a:xfrm>
          <a:prstGeom prst="roundRect">
            <a:avLst>
              <a:gd name="adj" fmla="val 7692"/>
            </a:avLst>
          </a:prstGeom>
          <a:solidFill>
            <a:srgbClr val="F4F7FB"/>
          </a:solidFill>
          <a:ln w="12700">
            <a:solidFill>
              <a:srgbClr val="D5E3F2"/>
            </a:solidFill>
            <a:prstDash val="solid"/>
          </a:ln>
        </p:spPr>
        <p:txBody>
          <a:bodyPr/>
          <a:lstStyle/>
          <a:p>
            <a:endParaRPr lang="ru-KZ"/>
          </a:p>
        </p:txBody>
      </p:sp>
      <p:sp>
        <p:nvSpPr>
          <p:cNvPr id="14" name="Text 12"/>
          <p:cNvSpPr/>
          <p:nvPr/>
        </p:nvSpPr>
        <p:spPr>
          <a:xfrm>
            <a:off x="726725" y="3161538"/>
            <a:ext cx="1920240" cy="150876"/>
          </a:xfrm>
          <a:prstGeom prst="rect">
            <a:avLst/>
          </a:prstGeom>
          <a:noFill/>
          <a:ln/>
        </p:spPr>
        <p:txBody>
          <a:bodyPr wrap="square" lIns="0" tIns="0" rIns="0" bIns="0" rtlCol="0" anchor="ctr"/>
          <a:lstStyle/>
          <a:p>
            <a:r>
              <a:rPr lang="en-US" sz="1200" b="1" dirty="0">
                <a:solidFill>
                  <a:schemeClr val="dk1"/>
                </a:solidFill>
                <a:latin typeface="Manrope"/>
              </a:rPr>
              <a:t>METHODOLOGY 5–10%</a:t>
            </a:r>
          </a:p>
        </p:txBody>
      </p:sp>
      <p:sp>
        <p:nvSpPr>
          <p:cNvPr id="15" name="Text 13"/>
          <p:cNvSpPr/>
          <p:nvPr/>
        </p:nvSpPr>
        <p:spPr>
          <a:xfrm>
            <a:off x="726725" y="3406865"/>
            <a:ext cx="2663190" cy="150876"/>
          </a:xfrm>
          <a:prstGeom prst="rect">
            <a:avLst/>
          </a:prstGeom>
          <a:noFill/>
          <a:ln/>
        </p:spPr>
        <p:txBody>
          <a:bodyPr wrap="square" lIns="0" tIns="0" rIns="0" bIns="0" rtlCol="0" anchor="ctr"/>
          <a:lstStyle/>
          <a:p>
            <a:r>
              <a:rPr lang="en-US" sz="1200" dirty="0">
                <a:solidFill>
                  <a:schemeClr val="dk1"/>
                </a:solidFill>
                <a:latin typeface="Manrope"/>
              </a:rPr>
              <a:t>Briefly explains the evidence base or approach.</a:t>
            </a:r>
          </a:p>
        </p:txBody>
      </p:sp>
      <p:sp>
        <p:nvSpPr>
          <p:cNvPr id="16" name="Shape 14"/>
          <p:cNvSpPr/>
          <p:nvPr/>
        </p:nvSpPr>
        <p:spPr>
          <a:xfrm>
            <a:off x="3545586" y="2290572"/>
            <a:ext cx="5040630" cy="1357884"/>
          </a:xfrm>
          <a:prstGeom prst="roundRect">
            <a:avLst>
              <a:gd name="adj" fmla="val 3030"/>
            </a:avLst>
          </a:prstGeom>
          <a:solidFill>
            <a:srgbClr val="CFE2F6"/>
          </a:solidFill>
          <a:ln w="12700">
            <a:solidFill>
              <a:srgbClr val="BDD6EE"/>
            </a:solidFill>
            <a:prstDash val="solid"/>
          </a:ln>
        </p:spPr>
        <p:txBody>
          <a:bodyPr/>
          <a:lstStyle/>
          <a:p>
            <a:endParaRPr lang="ru-KZ"/>
          </a:p>
        </p:txBody>
      </p:sp>
      <p:sp>
        <p:nvSpPr>
          <p:cNvPr id="17" name="Text 15"/>
          <p:cNvSpPr/>
          <p:nvPr/>
        </p:nvSpPr>
        <p:spPr>
          <a:xfrm>
            <a:off x="3758184" y="2420874"/>
            <a:ext cx="4491990" cy="171450"/>
          </a:xfrm>
          <a:prstGeom prst="rect">
            <a:avLst/>
          </a:prstGeom>
          <a:noFill/>
          <a:ln/>
        </p:spPr>
        <p:txBody>
          <a:bodyPr wrap="square" lIns="0" tIns="0" rIns="0" bIns="0" rtlCol="0" anchor="ctr"/>
          <a:lstStyle/>
          <a:p>
            <a:r>
              <a:rPr lang="en-US" sz="1200" b="1" dirty="0">
                <a:solidFill>
                  <a:schemeClr val="dk1"/>
                </a:solidFill>
                <a:latin typeface="Manrope"/>
              </a:rPr>
              <a:t>FINDINGS / RESULTS &amp; CONCLUSIONS about 30%</a:t>
            </a:r>
          </a:p>
        </p:txBody>
      </p:sp>
      <p:sp>
        <p:nvSpPr>
          <p:cNvPr id="18" name="Text 16"/>
          <p:cNvSpPr/>
          <p:nvPr/>
        </p:nvSpPr>
        <p:spPr>
          <a:xfrm>
            <a:off x="3758184" y="2688336"/>
            <a:ext cx="4354830" cy="493776"/>
          </a:xfrm>
          <a:prstGeom prst="rect">
            <a:avLst/>
          </a:prstGeom>
          <a:noFill/>
          <a:ln/>
        </p:spPr>
        <p:txBody>
          <a:bodyPr wrap="square" lIns="0" tIns="0" rIns="0" bIns="0" rtlCol="0" anchor="ctr"/>
          <a:lstStyle/>
          <a:p>
            <a:r>
              <a:rPr lang="en-US" sz="1200" dirty="0">
                <a:solidFill>
                  <a:schemeClr val="dk1"/>
                </a:solidFill>
                <a:latin typeface="Manrope"/>
              </a:rPr>
              <a:t>Presents and interprets the most relevant evidence. Select only findings that help the reader understand the policy problem and its implications.</a:t>
            </a:r>
          </a:p>
        </p:txBody>
      </p:sp>
      <p:sp>
        <p:nvSpPr>
          <p:cNvPr id="20" name="Shape 18"/>
          <p:cNvSpPr/>
          <p:nvPr/>
        </p:nvSpPr>
        <p:spPr>
          <a:xfrm>
            <a:off x="562356" y="3785616"/>
            <a:ext cx="8023860" cy="521208"/>
          </a:xfrm>
          <a:prstGeom prst="roundRect">
            <a:avLst>
              <a:gd name="adj" fmla="val 7895"/>
            </a:avLst>
          </a:prstGeom>
          <a:solidFill>
            <a:srgbClr val="5B8FE5"/>
          </a:solidFill>
          <a:ln w="12700">
            <a:solidFill>
              <a:srgbClr val="5B8FE5"/>
            </a:solidFill>
            <a:prstDash val="solid"/>
          </a:ln>
        </p:spPr>
        <p:txBody>
          <a:bodyPr/>
          <a:lstStyle/>
          <a:p>
            <a:endParaRPr lang="ru-KZ"/>
          </a:p>
        </p:txBody>
      </p:sp>
      <p:sp>
        <p:nvSpPr>
          <p:cNvPr id="21" name="Text 19"/>
          <p:cNvSpPr/>
          <p:nvPr/>
        </p:nvSpPr>
        <p:spPr>
          <a:xfrm>
            <a:off x="740664" y="3922776"/>
            <a:ext cx="2880360" cy="150876"/>
          </a:xfrm>
          <a:prstGeom prst="rect">
            <a:avLst/>
          </a:prstGeom>
          <a:noFill/>
          <a:ln/>
        </p:spPr>
        <p:txBody>
          <a:bodyPr wrap="square" lIns="0" tIns="0" rIns="0" bIns="0" rtlCol="0" anchor="ctr"/>
          <a:lstStyle/>
          <a:p>
            <a:r>
              <a:rPr lang="en-US" sz="1200" b="1" dirty="0">
                <a:solidFill>
                  <a:schemeClr val="bg1"/>
                </a:solidFill>
                <a:latin typeface="Manrope"/>
              </a:rPr>
              <a:t>IMPLICATIONS / RECOMMENDATIONS about 30%</a:t>
            </a:r>
          </a:p>
        </p:txBody>
      </p:sp>
      <p:sp>
        <p:nvSpPr>
          <p:cNvPr id="22" name="Text 20"/>
          <p:cNvSpPr/>
          <p:nvPr/>
        </p:nvSpPr>
        <p:spPr>
          <a:xfrm>
            <a:off x="3669030" y="3909060"/>
            <a:ext cx="4948632" cy="203510"/>
          </a:xfrm>
          <a:prstGeom prst="rect">
            <a:avLst/>
          </a:prstGeom>
          <a:noFill/>
          <a:ln/>
        </p:spPr>
        <p:txBody>
          <a:bodyPr wrap="square" lIns="0" tIns="0" rIns="0" bIns="0" rtlCol="0" anchor="ctr"/>
          <a:lstStyle/>
          <a:p>
            <a:r>
              <a:rPr lang="en-US" sz="1200" dirty="0">
                <a:solidFill>
                  <a:schemeClr val="bg1"/>
                </a:solidFill>
                <a:latin typeface="Manrope"/>
              </a:rPr>
              <a:t>Translates the evidence into clear policy implications and specific actions.</a:t>
            </a:r>
          </a:p>
        </p:txBody>
      </p:sp>
      <p:sp>
        <p:nvSpPr>
          <p:cNvPr id="23" name="Shape 21"/>
          <p:cNvSpPr/>
          <p:nvPr/>
        </p:nvSpPr>
        <p:spPr>
          <a:xfrm>
            <a:off x="562356" y="4402836"/>
            <a:ext cx="8023860" cy="329184"/>
          </a:xfrm>
          <a:prstGeom prst="roundRect">
            <a:avLst>
              <a:gd name="adj" fmla="val 10417"/>
            </a:avLst>
          </a:prstGeom>
          <a:solidFill>
            <a:srgbClr val="EEF3F8"/>
          </a:solidFill>
          <a:ln w="12700">
            <a:solidFill>
              <a:srgbClr val="DCE5EE"/>
            </a:solidFill>
            <a:prstDash val="solid"/>
          </a:ln>
        </p:spPr>
        <p:txBody>
          <a:bodyPr/>
          <a:lstStyle/>
          <a:p>
            <a:endParaRPr lang="ru-KZ"/>
          </a:p>
        </p:txBody>
      </p:sp>
      <p:sp>
        <p:nvSpPr>
          <p:cNvPr id="24" name="Text 22"/>
          <p:cNvSpPr/>
          <p:nvPr/>
        </p:nvSpPr>
        <p:spPr>
          <a:xfrm>
            <a:off x="740664" y="4498848"/>
            <a:ext cx="2743200" cy="123444"/>
          </a:xfrm>
          <a:prstGeom prst="rect">
            <a:avLst/>
          </a:prstGeom>
          <a:noFill/>
          <a:ln/>
        </p:spPr>
        <p:txBody>
          <a:bodyPr wrap="square" lIns="0" tIns="0" rIns="0" bIns="0" rtlCol="0" anchor="ctr"/>
          <a:lstStyle/>
          <a:p>
            <a:r>
              <a:rPr lang="en-US" sz="1200" b="1" dirty="0">
                <a:solidFill>
                  <a:schemeClr val="dk1"/>
                </a:solidFill>
                <a:latin typeface="Manrope"/>
              </a:rPr>
              <a:t>REFERENCES / USEFUL RESOURCES    about 10%</a:t>
            </a:r>
          </a:p>
        </p:txBody>
      </p:sp>
      <p:sp>
        <p:nvSpPr>
          <p:cNvPr id="25" name="Text 23"/>
          <p:cNvSpPr/>
          <p:nvPr/>
        </p:nvSpPr>
        <p:spPr>
          <a:xfrm>
            <a:off x="3669030" y="4485132"/>
            <a:ext cx="4046220" cy="137160"/>
          </a:xfrm>
          <a:prstGeom prst="rect">
            <a:avLst/>
          </a:prstGeom>
          <a:noFill/>
          <a:ln/>
        </p:spPr>
        <p:txBody>
          <a:bodyPr wrap="square" lIns="0" tIns="0" rIns="0" bIns="0" rtlCol="0" anchor="ctr"/>
          <a:lstStyle/>
          <a:p>
            <a:r>
              <a:rPr lang="en-US" sz="1200" dirty="0">
                <a:solidFill>
                  <a:schemeClr val="dk1"/>
                </a:solidFill>
                <a:latin typeface="Manrope"/>
              </a:rPr>
              <a:t>Keep sources selective, credible and easy to follow up.</a:t>
            </a:r>
          </a:p>
        </p:txBody>
      </p:sp>
      <p:sp>
        <p:nvSpPr>
          <p:cNvPr id="26" name="Text 24"/>
          <p:cNvSpPr/>
          <p:nvPr/>
        </p:nvSpPr>
        <p:spPr>
          <a:xfrm>
            <a:off x="5861081" y="130302"/>
            <a:ext cx="3086100" cy="336042"/>
          </a:xfrm>
          <a:prstGeom prst="rect">
            <a:avLst/>
          </a:prstGeom>
          <a:noFill/>
          <a:ln/>
        </p:spPr>
        <p:txBody>
          <a:bodyPr wrap="square" lIns="0" tIns="0" rIns="0" bIns="0" rtlCol="0" anchor="ctr"/>
          <a:lstStyle/>
          <a:p>
            <a:pPr algn="r"/>
            <a:r>
              <a:rPr lang="en-US" sz="1000" i="1" dirty="0">
                <a:solidFill>
                  <a:schemeClr val="dk1"/>
                </a:solidFill>
                <a:latin typeface="Manrope"/>
              </a:rPr>
              <a:t>Percentages are indicative rather than fixed rules.</a:t>
            </a:r>
          </a:p>
        </p:txBody>
      </p:sp>
      <p:sp>
        <p:nvSpPr>
          <p:cNvPr id="27" name="Slide Number Placeholder 0"/>
          <p:cNvSpPr>
            <a:spLocks noGrp="1"/>
          </p:cNvSpPr>
          <p:nvPr>
            <p:ph type="sldNum" sz="quarter" idx="4294967295"/>
          </p:nvPr>
        </p:nvSpPr>
        <p:spPr>
          <a:xfrm>
            <a:off x="11658600" y="6492240"/>
            <a:ext cx="182880" cy="13716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550" kern="1200">
                <a:solidFill>
                  <a:srgbClr val="A9B1B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88036"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3" name="Shape 1"/>
          <p:cNvSpPr/>
          <p:nvPr/>
        </p:nvSpPr>
        <p:spPr>
          <a:xfrm>
            <a:off x="493776"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4" name="Shape 2"/>
          <p:cNvSpPr/>
          <p:nvPr/>
        </p:nvSpPr>
        <p:spPr>
          <a:xfrm>
            <a:off x="699516"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5" name="Shape 3"/>
          <p:cNvSpPr/>
          <p:nvPr/>
        </p:nvSpPr>
        <p:spPr>
          <a:xfrm>
            <a:off x="905256"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6" name="Shape 4"/>
          <p:cNvSpPr/>
          <p:nvPr/>
        </p:nvSpPr>
        <p:spPr>
          <a:xfrm>
            <a:off x="1110996"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7" name="Shape 5"/>
          <p:cNvSpPr/>
          <p:nvPr/>
        </p:nvSpPr>
        <p:spPr>
          <a:xfrm>
            <a:off x="425196" y="4677156"/>
            <a:ext cx="54864" cy="54864"/>
          </a:xfrm>
          <a:prstGeom prst="ellipse">
            <a:avLst/>
          </a:prstGeom>
          <a:solidFill>
            <a:srgbClr val="0B284A"/>
          </a:solidFill>
          <a:ln w="12700">
            <a:solidFill>
              <a:srgbClr val="0B284A"/>
            </a:solidFill>
            <a:prstDash val="solid"/>
          </a:ln>
        </p:spPr>
        <p:txBody>
          <a:bodyPr/>
          <a:lstStyle/>
          <a:p>
            <a:endParaRPr lang="ru-KZ"/>
          </a:p>
        </p:txBody>
      </p:sp>
      <p:sp>
        <p:nvSpPr>
          <p:cNvPr id="8" name="Shape 6"/>
          <p:cNvSpPr/>
          <p:nvPr/>
        </p:nvSpPr>
        <p:spPr>
          <a:xfrm>
            <a:off x="630936" y="4677156"/>
            <a:ext cx="54864" cy="54864"/>
          </a:xfrm>
          <a:prstGeom prst="ellipse">
            <a:avLst/>
          </a:prstGeom>
          <a:solidFill>
            <a:srgbClr val="0B284A"/>
          </a:solidFill>
          <a:ln w="12700">
            <a:solidFill>
              <a:srgbClr val="0B284A"/>
            </a:solidFill>
            <a:prstDash val="solid"/>
          </a:ln>
        </p:spPr>
        <p:txBody>
          <a:bodyPr/>
          <a:lstStyle/>
          <a:p>
            <a:endParaRPr lang="ru-KZ"/>
          </a:p>
        </p:txBody>
      </p:sp>
      <p:sp>
        <p:nvSpPr>
          <p:cNvPr id="9" name="Shape 7"/>
          <p:cNvSpPr/>
          <p:nvPr/>
        </p:nvSpPr>
        <p:spPr>
          <a:xfrm>
            <a:off x="836676" y="4677156"/>
            <a:ext cx="54864" cy="54864"/>
          </a:xfrm>
          <a:prstGeom prst="ellipse">
            <a:avLst/>
          </a:prstGeom>
          <a:solidFill>
            <a:srgbClr val="0B284A"/>
          </a:solidFill>
          <a:ln w="12700">
            <a:solidFill>
              <a:srgbClr val="0B284A"/>
            </a:solidFill>
            <a:prstDash val="solid"/>
          </a:ln>
        </p:spPr>
        <p:txBody>
          <a:bodyPr/>
          <a:lstStyle/>
          <a:p>
            <a:endParaRPr lang="ru-KZ"/>
          </a:p>
        </p:txBody>
      </p:sp>
      <p:sp>
        <p:nvSpPr>
          <p:cNvPr id="10" name="Shape 8"/>
          <p:cNvSpPr/>
          <p:nvPr/>
        </p:nvSpPr>
        <p:spPr>
          <a:xfrm>
            <a:off x="1042416" y="4677156"/>
            <a:ext cx="54864" cy="54864"/>
          </a:xfrm>
          <a:prstGeom prst="ellipse">
            <a:avLst/>
          </a:prstGeom>
          <a:solidFill>
            <a:srgbClr val="0B284A"/>
          </a:solidFill>
          <a:ln w="12700">
            <a:solidFill>
              <a:srgbClr val="0B284A"/>
            </a:solidFill>
            <a:prstDash val="solid"/>
          </a:ln>
        </p:spPr>
        <p:txBody>
          <a:bodyPr/>
          <a:lstStyle/>
          <a:p>
            <a:endParaRPr lang="ru-KZ"/>
          </a:p>
        </p:txBody>
      </p:sp>
      <p:sp>
        <p:nvSpPr>
          <p:cNvPr id="11" name="Shape 9"/>
          <p:cNvSpPr/>
          <p:nvPr/>
        </p:nvSpPr>
        <p:spPr>
          <a:xfrm>
            <a:off x="7920990"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12" name="Shape 10"/>
          <p:cNvSpPr/>
          <p:nvPr/>
        </p:nvSpPr>
        <p:spPr>
          <a:xfrm>
            <a:off x="8126730"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13" name="Shape 11"/>
          <p:cNvSpPr/>
          <p:nvPr/>
        </p:nvSpPr>
        <p:spPr>
          <a:xfrm>
            <a:off x="8332470"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14" name="Shape 12"/>
          <p:cNvSpPr/>
          <p:nvPr/>
        </p:nvSpPr>
        <p:spPr>
          <a:xfrm>
            <a:off x="8538210"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15" name="Shape 13"/>
          <p:cNvSpPr/>
          <p:nvPr/>
        </p:nvSpPr>
        <p:spPr>
          <a:xfrm>
            <a:off x="8743950" y="4855464"/>
            <a:ext cx="54864" cy="54864"/>
          </a:xfrm>
          <a:prstGeom prst="ellipse">
            <a:avLst/>
          </a:prstGeom>
          <a:solidFill>
            <a:srgbClr val="0B284A"/>
          </a:solidFill>
          <a:ln w="12700">
            <a:solidFill>
              <a:srgbClr val="0B284A"/>
            </a:solidFill>
            <a:prstDash val="solid"/>
          </a:ln>
        </p:spPr>
        <p:txBody>
          <a:bodyPr/>
          <a:lstStyle/>
          <a:p>
            <a:endParaRPr lang="ru-KZ"/>
          </a:p>
        </p:txBody>
      </p:sp>
      <p:sp>
        <p:nvSpPr>
          <p:cNvPr id="16" name="Shape 14"/>
          <p:cNvSpPr/>
          <p:nvPr/>
        </p:nvSpPr>
        <p:spPr>
          <a:xfrm>
            <a:off x="8058150" y="4677156"/>
            <a:ext cx="54864" cy="54864"/>
          </a:xfrm>
          <a:prstGeom prst="ellipse">
            <a:avLst/>
          </a:prstGeom>
          <a:solidFill>
            <a:srgbClr val="0B284A"/>
          </a:solidFill>
          <a:ln w="12700">
            <a:solidFill>
              <a:srgbClr val="0B284A"/>
            </a:solidFill>
            <a:prstDash val="solid"/>
          </a:ln>
        </p:spPr>
        <p:txBody>
          <a:bodyPr/>
          <a:lstStyle/>
          <a:p>
            <a:endParaRPr lang="ru-KZ"/>
          </a:p>
        </p:txBody>
      </p:sp>
      <p:sp>
        <p:nvSpPr>
          <p:cNvPr id="17" name="Shape 15"/>
          <p:cNvSpPr/>
          <p:nvPr/>
        </p:nvSpPr>
        <p:spPr>
          <a:xfrm>
            <a:off x="8263890" y="4677156"/>
            <a:ext cx="54864" cy="54864"/>
          </a:xfrm>
          <a:prstGeom prst="ellipse">
            <a:avLst/>
          </a:prstGeom>
          <a:solidFill>
            <a:srgbClr val="0B284A"/>
          </a:solidFill>
          <a:ln w="12700">
            <a:solidFill>
              <a:srgbClr val="0B284A"/>
            </a:solidFill>
            <a:prstDash val="solid"/>
          </a:ln>
        </p:spPr>
        <p:txBody>
          <a:bodyPr/>
          <a:lstStyle/>
          <a:p>
            <a:endParaRPr lang="ru-KZ"/>
          </a:p>
        </p:txBody>
      </p:sp>
      <p:sp>
        <p:nvSpPr>
          <p:cNvPr id="18" name="Shape 16"/>
          <p:cNvSpPr/>
          <p:nvPr/>
        </p:nvSpPr>
        <p:spPr>
          <a:xfrm>
            <a:off x="8469630" y="4677156"/>
            <a:ext cx="54864" cy="54864"/>
          </a:xfrm>
          <a:prstGeom prst="ellipse">
            <a:avLst/>
          </a:prstGeom>
          <a:solidFill>
            <a:srgbClr val="0B284A"/>
          </a:solidFill>
          <a:ln w="12700">
            <a:solidFill>
              <a:srgbClr val="0B284A"/>
            </a:solidFill>
            <a:prstDash val="solid"/>
          </a:ln>
        </p:spPr>
        <p:txBody>
          <a:bodyPr/>
          <a:lstStyle/>
          <a:p>
            <a:endParaRPr lang="ru-KZ"/>
          </a:p>
        </p:txBody>
      </p:sp>
      <p:sp>
        <p:nvSpPr>
          <p:cNvPr id="19" name="Shape 17"/>
          <p:cNvSpPr/>
          <p:nvPr/>
        </p:nvSpPr>
        <p:spPr>
          <a:xfrm>
            <a:off x="8675370" y="4677156"/>
            <a:ext cx="54864" cy="54864"/>
          </a:xfrm>
          <a:prstGeom prst="ellipse">
            <a:avLst/>
          </a:prstGeom>
          <a:solidFill>
            <a:srgbClr val="0B284A"/>
          </a:solidFill>
          <a:ln w="12700">
            <a:solidFill>
              <a:srgbClr val="0B284A"/>
            </a:solidFill>
            <a:prstDash val="solid"/>
          </a:ln>
        </p:spPr>
        <p:txBody>
          <a:bodyPr/>
          <a:lstStyle/>
          <a:p>
            <a:endParaRPr lang="ru-KZ"/>
          </a:p>
        </p:txBody>
      </p:sp>
      <p:sp>
        <p:nvSpPr>
          <p:cNvPr id="21" name="Text 19"/>
          <p:cNvSpPr/>
          <p:nvPr/>
        </p:nvSpPr>
        <p:spPr>
          <a:xfrm>
            <a:off x="8881110" y="4910328"/>
            <a:ext cx="102870" cy="102870"/>
          </a:xfrm>
          <a:prstGeom prst="rect">
            <a:avLst/>
          </a:prstGeom>
          <a:noFill/>
          <a:ln/>
        </p:spPr>
        <p:txBody>
          <a:bodyPr wrap="square" rtlCol="0" anchor="ctr"/>
          <a:lstStyle/>
          <a:p>
            <a:pPr algn="r"/>
            <a:r>
              <a:rPr lang="en-US" sz="413" dirty="0">
                <a:solidFill>
                  <a:srgbClr val="A9B0BA"/>
                </a:solidFill>
              </a:rPr>
              <a:t>9</a:t>
            </a:r>
            <a:endParaRPr lang="en-US" sz="413" dirty="0"/>
          </a:p>
        </p:txBody>
      </p:sp>
      <p:sp>
        <p:nvSpPr>
          <p:cNvPr id="22" name="Text 20"/>
          <p:cNvSpPr/>
          <p:nvPr/>
        </p:nvSpPr>
        <p:spPr>
          <a:xfrm>
            <a:off x="569214" y="164592"/>
            <a:ext cx="8023860" cy="329184"/>
          </a:xfrm>
          <a:prstGeom prst="rect">
            <a:avLst/>
          </a:prstGeom>
          <a:noFill/>
          <a:ln/>
        </p:spPr>
        <p:txBody>
          <a:bodyPr wrap="square" lIns="0" tIns="0" rIns="0" bIns="0" rtlCol="0" anchor="ctr"/>
          <a:lstStyle/>
          <a:p>
            <a:r>
              <a:rPr lang="en-US" sz="2000" b="1" dirty="0">
                <a:solidFill>
                  <a:schemeClr val="dk1"/>
                </a:solidFill>
                <a:latin typeface="Manrope"/>
              </a:rPr>
              <a:t>Check Your Understanding: True or False?</a:t>
            </a:r>
          </a:p>
        </p:txBody>
      </p:sp>
      <p:sp>
        <p:nvSpPr>
          <p:cNvPr id="23" name="Text 21"/>
          <p:cNvSpPr/>
          <p:nvPr/>
        </p:nvSpPr>
        <p:spPr>
          <a:xfrm>
            <a:off x="548640" y="589788"/>
            <a:ext cx="7886700" cy="288036"/>
          </a:xfrm>
          <a:prstGeom prst="rect">
            <a:avLst/>
          </a:prstGeom>
          <a:noFill/>
          <a:ln/>
        </p:spPr>
        <p:txBody>
          <a:bodyPr wrap="square" lIns="0" tIns="0" rIns="0" bIns="0" rtlCol="0" anchor="ctr"/>
          <a:lstStyle/>
          <a:p>
            <a:r>
              <a:rPr lang="en-US" i="1" dirty="0">
                <a:solidFill>
                  <a:schemeClr val="dk1"/>
                </a:solidFill>
                <a:latin typeface="Manrope"/>
              </a:rPr>
              <a:t>Decide whether each statement is true or false. Justify your answer.</a:t>
            </a:r>
          </a:p>
        </p:txBody>
      </p:sp>
      <p:sp>
        <p:nvSpPr>
          <p:cNvPr id="25" name="Text 23"/>
          <p:cNvSpPr/>
          <p:nvPr/>
        </p:nvSpPr>
        <p:spPr>
          <a:xfrm>
            <a:off x="603504" y="1248156"/>
            <a:ext cx="329184" cy="205740"/>
          </a:xfrm>
          <a:prstGeom prst="rect">
            <a:avLst/>
          </a:prstGeom>
          <a:noFill/>
          <a:ln/>
        </p:spPr>
        <p:txBody>
          <a:bodyPr wrap="square" lIns="0" tIns="0" rIns="0" bIns="0" rtlCol="0" anchor="ctr"/>
          <a:lstStyle/>
          <a:p>
            <a:pPr algn="ctr"/>
            <a:r>
              <a:rPr lang="en-US" sz="975" b="1" dirty="0">
                <a:solidFill>
                  <a:srgbClr val="FFFFFF"/>
                </a:solidFill>
              </a:rPr>
              <a:t>1</a:t>
            </a:r>
            <a:endParaRPr lang="en-US" sz="975" dirty="0"/>
          </a:p>
        </p:txBody>
      </p:sp>
      <p:sp>
        <p:nvSpPr>
          <p:cNvPr id="26" name="Text 24"/>
          <p:cNvSpPr/>
          <p:nvPr/>
        </p:nvSpPr>
        <p:spPr>
          <a:xfrm>
            <a:off x="1083564" y="1207008"/>
            <a:ext cx="737235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1. If the executive summary clearly presents the main findings, recommendations can be omitted because they appear later in the brief.</a:t>
            </a:r>
          </a:p>
        </p:txBody>
      </p:sp>
      <p:sp>
        <p:nvSpPr>
          <p:cNvPr id="28" name="Text 26"/>
          <p:cNvSpPr/>
          <p:nvPr/>
        </p:nvSpPr>
        <p:spPr>
          <a:xfrm>
            <a:off x="603504" y="1783080"/>
            <a:ext cx="329184" cy="205740"/>
          </a:xfrm>
          <a:prstGeom prst="rect">
            <a:avLst/>
          </a:prstGeom>
          <a:noFill/>
          <a:ln/>
        </p:spPr>
        <p:txBody>
          <a:bodyPr wrap="square" lIns="0" tIns="0" rIns="0" bIns="0" rtlCol="0" anchor="ctr"/>
          <a:lstStyle/>
          <a:p>
            <a:pPr algn="ctr"/>
            <a:r>
              <a:rPr lang="en-US" sz="975" b="1">
                <a:solidFill>
                  <a:srgbClr val="FFFFFF"/>
                </a:solidFill>
              </a:rPr>
              <a:t>2</a:t>
            </a:r>
            <a:endParaRPr lang="en-US" sz="975" dirty="0"/>
          </a:p>
        </p:txBody>
      </p:sp>
      <p:sp>
        <p:nvSpPr>
          <p:cNvPr id="29" name="Text 27"/>
          <p:cNvSpPr/>
          <p:nvPr/>
        </p:nvSpPr>
        <p:spPr>
          <a:xfrm>
            <a:off x="1083564" y="1741932"/>
            <a:ext cx="737235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2. A policy brief may present strong evidence that a problem exists but still be ineffective if it does not establish why the issue requires policy attention.</a:t>
            </a:r>
          </a:p>
        </p:txBody>
      </p:sp>
      <p:sp>
        <p:nvSpPr>
          <p:cNvPr id="31" name="Text 29"/>
          <p:cNvSpPr/>
          <p:nvPr/>
        </p:nvSpPr>
        <p:spPr>
          <a:xfrm>
            <a:off x="603504" y="2318004"/>
            <a:ext cx="329184" cy="205740"/>
          </a:xfrm>
          <a:prstGeom prst="rect">
            <a:avLst/>
          </a:prstGeom>
          <a:noFill/>
          <a:ln/>
        </p:spPr>
        <p:txBody>
          <a:bodyPr wrap="square" lIns="0" tIns="0" rIns="0" bIns="0" rtlCol="0" anchor="ctr"/>
          <a:lstStyle/>
          <a:p>
            <a:pPr algn="ctr"/>
            <a:r>
              <a:rPr lang="en-US" sz="975" b="1" dirty="0">
                <a:solidFill>
                  <a:srgbClr val="FFFFFF"/>
                </a:solidFill>
              </a:rPr>
              <a:t>3</a:t>
            </a:r>
            <a:endParaRPr lang="en-US" sz="975" dirty="0"/>
          </a:p>
        </p:txBody>
      </p:sp>
      <p:sp>
        <p:nvSpPr>
          <p:cNvPr id="32" name="Text 30"/>
          <p:cNvSpPr/>
          <p:nvPr/>
        </p:nvSpPr>
        <p:spPr>
          <a:xfrm>
            <a:off x="1083564" y="2276856"/>
            <a:ext cx="737235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3. Evidence that is methodologically important in a research article should also be explained in detail in a policy brief to demonstrate credibility.</a:t>
            </a:r>
          </a:p>
        </p:txBody>
      </p:sp>
      <p:sp>
        <p:nvSpPr>
          <p:cNvPr id="35" name="Text 33"/>
          <p:cNvSpPr/>
          <p:nvPr/>
        </p:nvSpPr>
        <p:spPr>
          <a:xfrm>
            <a:off x="1083564" y="2811780"/>
            <a:ext cx="737235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4. A finding becomes policy-relevant when the writer explains what it means for the problem and for possible action.</a:t>
            </a:r>
          </a:p>
        </p:txBody>
      </p:sp>
      <p:sp>
        <p:nvSpPr>
          <p:cNvPr id="37" name="Text 35"/>
          <p:cNvSpPr/>
          <p:nvPr/>
        </p:nvSpPr>
        <p:spPr>
          <a:xfrm>
            <a:off x="603504" y="3387852"/>
            <a:ext cx="329184" cy="205740"/>
          </a:xfrm>
          <a:prstGeom prst="rect">
            <a:avLst/>
          </a:prstGeom>
          <a:noFill/>
          <a:ln/>
        </p:spPr>
        <p:txBody>
          <a:bodyPr wrap="square" lIns="0" tIns="0" rIns="0" bIns="0" rtlCol="0" anchor="ctr"/>
          <a:lstStyle/>
          <a:p>
            <a:pPr algn="ctr"/>
            <a:r>
              <a:rPr lang="en-US" sz="975" b="1" dirty="0">
                <a:solidFill>
                  <a:srgbClr val="FFFFFF"/>
                </a:solidFill>
              </a:rPr>
              <a:t>5</a:t>
            </a:r>
            <a:endParaRPr lang="en-US" sz="975" dirty="0"/>
          </a:p>
        </p:txBody>
      </p:sp>
      <p:sp>
        <p:nvSpPr>
          <p:cNvPr id="38" name="Text 36"/>
          <p:cNvSpPr/>
          <p:nvPr/>
        </p:nvSpPr>
        <p:spPr>
          <a:xfrm>
            <a:off x="1083564" y="3346704"/>
            <a:ext cx="7372350" cy="425196"/>
          </a:xfrm>
          <a:prstGeom prst="rect">
            <a:avLst/>
          </a:prstGeom>
          <a:noFill/>
          <a:ln/>
        </p:spPr>
        <p:txBody>
          <a:bodyPr wrap="square" lIns="191" tIns="191" rIns="191" bIns="191" rtlCol="0" anchor="ctr">
            <a:normAutofit lnSpcReduction="10000"/>
          </a:bodyPr>
          <a:lstStyle/>
          <a:p>
            <a:r>
              <a:rPr lang="en-US" dirty="0">
                <a:solidFill>
                  <a:schemeClr val="dk1"/>
                </a:solidFill>
                <a:latin typeface="Manrope"/>
              </a:rPr>
              <a:t>5. f the evidence strongly supports a particular conclusion, persuasive language is more important than acknowledging limitations or uncertainty.</a:t>
            </a:r>
          </a:p>
        </p:txBody>
      </p:sp>
      <p:sp>
        <p:nvSpPr>
          <p:cNvPr id="40" name="Text 38"/>
          <p:cNvSpPr/>
          <p:nvPr/>
        </p:nvSpPr>
        <p:spPr>
          <a:xfrm>
            <a:off x="603504" y="3922776"/>
            <a:ext cx="329184" cy="205740"/>
          </a:xfrm>
          <a:prstGeom prst="rect">
            <a:avLst/>
          </a:prstGeom>
          <a:noFill/>
          <a:ln/>
        </p:spPr>
        <p:txBody>
          <a:bodyPr wrap="square" lIns="0" tIns="0" rIns="0" bIns="0" rtlCol="0" anchor="ctr"/>
          <a:lstStyle/>
          <a:p>
            <a:pPr algn="ctr"/>
            <a:r>
              <a:rPr lang="en-US" sz="975" b="1" dirty="0">
                <a:solidFill>
                  <a:srgbClr val="FFFFFF"/>
                </a:solidFill>
              </a:rPr>
              <a:t>6</a:t>
            </a:r>
            <a:endParaRPr lang="en-US" sz="975" dirty="0"/>
          </a:p>
        </p:txBody>
      </p:sp>
      <p:sp>
        <p:nvSpPr>
          <p:cNvPr id="41" name="Text 39"/>
          <p:cNvSpPr/>
          <p:nvPr/>
        </p:nvSpPr>
        <p:spPr>
          <a:xfrm>
            <a:off x="1083564" y="3881628"/>
            <a:ext cx="7372350" cy="425196"/>
          </a:xfrm>
          <a:prstGeom prst="rect">
            <a:avLst/>
          </a:prstGeom>
          <a:noFill/>
          <a:ln/>
        </p:spPr>
        <p:txBody>
          <a:bodyPr wrap="square" lIns="191" tIns="191" rIns="191" bIns="191" rtlCol="0" anchor="ctr">
            <a:normAutofit/>
          </a:bodyPr>
          <a:lstStyle/>
          <a:p>
            <a:r>
              <a:rPr lang="en-US" dirty="0">
                <a:solidFill>
                  <a:schemeClr val="dk1"/>
                </a:solidFill>
                <a:latin typeface="Manrope"/>
              </a:rPr>
              <a:t>6. There is one fixed structure and percentage distribution that all policy briefs must follow.</a:t>
            </a:r>
          </a:p>
        </p:txBody>
      </p:sp>
      <p:sp>
        <p:nvSpPr>
          <p:cNvPr id="42" name="Shape 40"/>
          <p:cNvSpPr/>
          <p:nvPr/>
        </p:nvSpPr>
        <p:spPr>
          <a:xfrm>
            <a:off x="603504" y="4443984"/>
            <a:ext cx="7852410" cy="0"/>
          </a:xfrm>
          <a:prstGeom prst="line">
            <a:avLst/>
          </a:prstGeom>
          <a:noFill/>
          <a:ln w="12700">
            <a:solidFill>
              <a:srgbClr val="D8E2F0"/>
            </a:solidFill>
            <a:prstDash val="solid"/>
          </a:ln>
        </p:spPr>
        <p:txBody>
          <a:bodyPr/>
          <a:lstStyle/>
          <a:p>
            <a:endParaRPr lang="ru-KZ"/>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3776" y="154305"/>
            <a:ext cx="4937760" cy="308610"/>
          </a:xfrm>
          <a:prstGeom prst="rect">
            <a:avLst/>
          </a:prstGeom>
          <a:noFill/>
          <a:ln/>
        </p:spPr>
        <p:txBody>
          <a:bodyPr wrap="square" lIns="0" tIns="0" rIns="0" bIns="0" rtlCol="0" anchor="ctr"/>
          <a:lstStyle/>
          <a:p>
            <a:r>
              <a:rPr lang="en-US" sz="2000" b="1" dirty="0">
                <a:solidFill>
                  <a:schemeClr val="dk1"/>
                </a:solidFill>
                <a:latin typeface="Manrope"/>
              </a:rPr>
              <a:t>Writing Style: Dos and Don’ts</a:t>
            </a:r>
          </a:p>
        </p:txBody>
      </p:sp>
      <p:sp>
        <p:nvSpPr>
          <p:cNvPr id="3" name="Text 1"/>
          <p:cNvSpPr/>
          <p:nvPr/>
        </p:nvSpPr>
        <p:spPr>
          <a:xfrm>
            <a:off x="493776" y="569214"/>
            <a:ext cx="8092440" cy="274320"/>
          </a:xfrm>
          <a:prstGeom prst="rect">
            <a:avLst/>
          </a:prstGeom>
          <a:noFill/>
          <a:ln/>
        </p:spPr>
        <p:txBody>
          <a:bodyPr wrap="square" lIns="0" tIns="0" rIns="0" bIns="0" rtlCol="0" anchor="ctr"/>
          <a:lstStyle/>
          <a:p>
            <a:r>
              <a:rPr lang="en-US" i="1" dirty="0">
                <a:solidFill>
                  <a:schemeClr val="dk1"/>
                </a:solidFill>
                <a:latin typeface="Manrope"/>
              </a:rPr>
              <a:t>In pairs, decide which choices make a policy brief clear, credible, and useful to decision-makers.</a:t>
            </a:r>
          </a:p>
        </p:txBody>
      </p:sp>
      <p:sp>
        <p:nvSpPr>
          <p:cNvPr id="4" name="Shape 2"/>
          <p:cNvSpPr/>
          <p:nvPr/>
        </p:nvSpPr>
        <p:spPr>
          <a:xfrm>
            <a:off x="486691" y="947635"/>
            <a:ext cx="3943350" cy="377190"/>
          </a:xfrm>
          <a:prstGeom prst="roundRect">
            <a:avLst>
              <a:gd name="adj" fmla="val 9091"/>
            </a:avLst>
          </a:prstGeom>
          <a:solidFill>
            <a:srgbClr val="5E8FDF"/>
          </a:solidFill>
          <a:ln w="12700">
            <a:solidFill>
              <a:srgbClr val="5E8FDF"/>
            </a:solidFill>
            <a:prstDash val="solid"/>
          </a:ln>
        </p:spPr>
        <p:txBody>
          <a:bodyPr/>
          <a:lstStyle/>
          <a:p>
            <a:endParaRPr lang="ru-KZ"/>
          </a:p>
        </p:txBody>
      </p:sp>
      <p:sp>
        <p:nvSpPr>
          <p:cNvPr id="5" name="Shape 3"/>
          <p:cNvSpPr/>
          <p:nvPr/>
        </p:nvSpPr>
        <p:spPr>
          <a:xfrm>
            <a:off x="4704588" y="969213"/>
            <a:ext cx="3943350" cy="377190"/>
          </a:xfrm>
          <a:prstGeom prst="roundRect">
            <a:avLst>
              <a:gd name="adj" fmla="val 9091"/>
            </a:avLst>
          </a:prstGeom>
          <a:solidFill>
            <a:srgbClr val="0B294D"/>
          </a:solidFill>
          <a:ln w="12700">
            <a:solidFill>
              <a:srgbClr val="0B294D"/>
            </a:solidFill>
            <a:prstDash val="solid"/>
          </a:ln>
        </p:spPr>
        <p:txBody>
          <a:bodyPr/>
          <a:lstStyle/>
          <a:p>
            <a:endParaRPr lang="ru-KZ"/>
          </a:p>
        </p:txBody>
      </p:sp>
      <p:sp>
        <p:nvSpPr>
          <p:cNvPr id="6" name="Text 4"/>
          <p:cNvSpPr/>
          <p:nvPr/>
        </p:nvSpPr>
        <p:spPr>
          <a:xfrm>
            <a:off x="390803" y="1048373"/>
            <a:ext cx="3943350" cy="150876"/>
          </a:xfrm>
          <a:prstGeom prst="rect">
            <a:avLst/>
          </a:prstGeom>
          <a:noFill/>
          <a:ln/>
        </p:spPr>
        <p:txBody>
          <a:bodyPr wrap="square" lIns="0" tIns="0" rIns="0" bIns="0" rtlCol="0" anchor="ctr"/>
          <a:lstStyle/>
          <a:p>
            <a:pPr algn="ctr"/>
            <a:r>
              <a:rPr lang="en-US" b="1" dirty="0">
                <a:solidFill>
                  <a:schemeClr val="bg1"/>
                </a:solidFill>
                <a:latin typeface="Manrope"/>
              </a:rPr>
              <a:t>DO</a:t>
            </a:r>
          </a:p>
        </p:txBody>
      </p:sp>
      <p:sp>
        <p:nvSpPr>
          <p:cNvPr id="7" name="Text 5"/>
          <p:cNvSpPr/>
          <p:nvPr/>
        </p:nvSpPr>
        <p:spPr>
          <a:xfrm>
            <a:off x="4642866" y="1114425"/>
            <a:ext cx="3943350" cy="150876"/>
          </a:xfrm>
          <a:prstGeom prst="rect">
            <a:avLst/>
          </a:prstGeom>
          <a:noFill/>
          <a:ln/>
        </p:spPr>
        <p:txBody>
          <a:bodyPr wrap="square" lIns="0" tIns="0" rIns="0" bIns="0" rtlCol="0" anchor="ctr"/>
          <a:lstStyle/>
          <a:p>
            <a:pPr algn="ctr"/>
            <a:r>
              <a:rPr lang="en-US" b="1" dirty="0">
                <a:solidFill>
                  <a:schemeClr val="bg1"/>
                </a:solidFill>
                <a:latin typeface="Manrope"/>
              </a:rPr>
              <a:t>DON’T</a:t>
            </a:r>
          </a:p>
        </p:txBody>
      </p:sp>
      <p:sp>
        <p:nvSpPr>
          <p:cNvPr id="8" name="Shape 6"/>
          <p:cNvSpPr/>
          <p:nvPr/>
        </p:nvSpPr>
        <p:spPr>
          <a:xfrm>
            <a:off x="486691" y="1538390"/>
            <a:ext cx="3943350" cy="617220"/>
          </a:xfrm>
          <a:prstGeom prst="roundRect">
            <a:avLst>
              <a:gd name="adj" fmla="val 4444"/>
            </a:avLst>
          </a:prstGeom>
          <a:solidFill>
            <a:srgbClr val="EEF3FA"/>
          </a:solidFill>
          <a:ln w="8890">
            <a:solidFill>
              <a:srgbClr val="D8E2EF"/>
            </a:solidFill>
            <a:prstDash val="solid"/>
          </a:ln>
        </p:spPr>
        <p:txBody>
          <a:bodyPr/>
          <a:lstStyle/>
          <a:p>
            <a:endParaRPr lang="ru-KZ"/>
          </a:p>
        </p:txBody>
      </p:sp>
      <p:sp>
        <p:nvSpPr>
          <p:cNvPr id="9" name="Shape 7"/>
          <p:cNvSpPr/>
          <p:nvPr/>
        </p:nvSpPr>
        <p:spPr>
          <a:xfrm>
            <a:off x="603504" y="1679518"/>
            <a:ext cx="41148" cy="370332"/>
          </a:xfrm>
          <a:prstGeom prst="rect">
            <a:avLst/>
          </a:prstGeom>
          <a:solidFill>
            <a:srgbClr val="5E8FDF"/>
          </a:solidFill>
          <a:ln w="12700">
            <a:solidFill>
              <a:srgbClr val="5E8FDF"/>
            </a:solidFill>
            <a:prstDash val="solid"/>
          </a:ln>
        </p:spPr>
        <p:txBody>
          <a:bodyPr/>
          <a:lstStyle/>
          <a:p>
            <a:endParaRPr lang="ru-KZ"/>
          </a:p>
        </p:txBody>
      </p:sp>
      <p:sp>
        <p:nvSpPr>
          <p:cNvPr id="10" name="Text 8"/>
          <p:cNvSpPr/>
          <p:nvPr/>
        </p:nvSpPr>
        <p:spPr>
          <a:xfrm>
            <a:off x="757892" y="1565348"/>
            <a:ext cx="3566160" cy="171450"/>
          </a:xfrm>
          <a:prstGeom prst="rect">
            <a:avLst/>
          </a:prstGeom>
          <a:noFill/>
          <a:ln/>
        </p:spPr>
        <p:txBody>
          <a:bodyPr wrap="square" lIns="0" tIns="0" rIns="0" bIns="0" rtlCol="0" anchor="ctr"/>
          <a:lstStyle/>
          <a:p>
            <a:r>
              <a:rPr lang="en-US" sz="1200" b="1" dirty="0">
                <a:solidFill>
                  <a:schemeClr val="dk1"/>
                </a:solidFill>
                <a:latin typeface="Manrope"/>
              </a:rPr>
              <a:t>Be concise and focused</a:t>
            </a:r>
          </a:p>
        </p:txBody>
      </p:sp>
      <p:sp>
        <p:nvSpPr>
          <p:cNvPr id="11" name="Text 9"/>
          <p:cNvSpPr/>
          <p:nvPr/>
        </p:nvSpPr>
        <p:spPr>
          <a:xfrm>
            <a:off x="767993" y="1837944"/>
            <a:ext cx="3566160" cy="233172"/>
          </a:xfrm>
          <a:prstGeom prst="rect">
            <a:avLst/>
          </a:prstGeom>
          <a:noFill/>
          <a:ln/>
        </p:spPr>
        <p:txBody>
          <a:bodyPr wrap="square" lIns="0" tIns="0" rIns="0" bIns="0" rtlCol="0" anchor="ctr"/>
          <a:lstStyle/>
          <a:p>
            <a:r>
              <a:rPr lang="en-US" sz="1100" dirty="0">
                <a:solidFill>
                  <a:schemeClr val="dk1"/>
                </a:solidFill>
                <a:latin typeface="Manrope"/>
              </a:rPr>
              <a:t>Prioritize the information the reader needs to understand the issue and act.</a:t>
            </a:r>
          </a:p>
        </p:txBody>
      </p:sp>
      <p:sp>
        <p:nvSpPr>
          <p:cNvPr id="12" name="Shape 10"/>
          <p:cNvSpPr/>
          <p:nvPr/>
        </p:nvSpPr>
        <p:spPr>
          <a:xfrm>
            <a:off x="4701242" y="1549908"/>
            <a:ext cx="3943350" cy="617220"/>
          </a:xfrm>
          <a:prstGeom prst="roundRect">
            <a:avLst>
              <a:gd name="adj" fmla="val 4444"/>
            </a:avLst>
          </a:prstGeom>
          <a:solidFill>
            <a:srgbClr val="EEF3FA"/>
          </a:solidFill>
          <a:ln w="8890">
            <a:solidFill>
              <a:srgbClr val="D8E2EF"/>
            </a:solidFill>
            <a:prstDash val="solid"/>
          </a:ln>
        </p:spPr>
        <p:txBody>
          <a:bodyPr/>
          <a:lstStyle/>
          <a:p>
            <a:endParaRPr lang="ru-KZ"/>
          </a:p>
        </p:txBody>
      </p:sp>
      <p:sp>
        <p:nvSpPr>
          <p:cNvPr id="13" name="Shape 11"/>
          <p:cNvSpPr/>
          <p:nvPr/>
        </p:nvSpPr>
        <p:spPr>
          <a:xfrm>
            <a:off x="4767870" y="1654899"/>
            <a:ext cx="41148" cy="370332"/>
          </a:xfrm>
          <a:prstGeom prst="rect">
            <a:avLst/>
          </a:prstGeom>
          <a:solidFill>
            <a:srgbClr val="0B294D"/>
          </a:solidFill>
          <a:ln w="12700">
            <a:solidFill>
              <a:srgbClr val="0B294D"/>
            </a:solidFill>
            <a:prstDash val="solid"/>
          </a:ln>
        </p:spPr>
        <p:txBody>
          <a:bodyPr/>
          <a:lstStyle/>
          <a:p>
            <a:endParaRPr lang="ru-KZ"/>
          </a:p>
        </p:txBody>
      </p:sp>
      <p:sp>
        <p:nvSpPr>
          <p:cNvPr id="14" name="Text 12"/>
          <p:cNvSpPr/>
          <p:nvPr/>
        </p:nvSpPr>
        <p:spPr>
          <a:xfrm>
            <a:off x="4944618" y="1613865"/>
            <a:ext cx="3566160" cy="171450"/>
          </a:xfrm>
          <a:prstGeom prst="rect">
            <a:avLst/>
          </a:prstGeom>
          <a:noFill/>
          <a:ln/>
        </p:spPr>
        <p:txBody>
          <a:bodyPr wrap="square" lIns="0" tIns="0" rIns="0" bIns="0" rtlCol="0" anchor="ctr"/>
          <a:lstStyle/>
          <a:p>
            <a:r>
              <a:rPr lang="en-US" sz="1200" b="1" dirty="0">
                <a:solidFill>
                  <a:schemeClr val="dk1"/>
                </a:solidFill>
                <a:latin typeface="Manrope"/>
              </a:rPr>
              <a:t>Rely on unexplained jargon</a:t>
            </a:r>
          </a:p>
        </p:txBody>
      </p:sp>
      <p:sp>
        <p:nvSpPr>
          <p:cNvPr id="15" name="Text 13"/>
          <p:cNvSpPr/>
          <p:nvPr/>
        </p:nvSpPr>
        <p:spPr>
          <a:xfrm>
            <a:off x="4937760" y="1860753"/>
            <a:ext cx="3566160" cy="233172"/>
          </a:xfrm>
          <a:prstGeom prst="rect">
            <a:avLst/>
          </a:prstGeom>
          <a:noFill/>
          <a:ln/>
        </p:spPr>
        <p:txBody>
          <a:bodyPr wrap="square" lIns="0" tIns="0" rIns="0" bIns="0" rtlCol="0" anchor="ctr"/>
          <a:lstStyle/>
          <a:p>
            <a:r>
              <a:rPr lang="en-US" sz="1100" dirty="0">
                <a:solidFill>
                  <a:schemeClr val="dk1"/>
                </a:solidFill>
                <a:latin typeface="Manrope"/>
              </a:rPr>
              <a:t>Specialist terminology can make the brief inaccessible to decision-makers.</a:t>
            </a:r>
          </a:p>
        </p:txBody>
      </p:sp>
      <p:sp>
        <p:nvSpPr>
          <p:cNvPr id="16" name="Shape 14"/>
          <p:cNvSpPr/>
          <p:nvPr/>
        </p:nvSpPr>
        <p:spPr>
          <a:xfrm>
            <a:off x="493776" y="2400300"/>
            <a:ext cx="3943350" cy="617220"/>
          </a:xfrm>
          <a:prstGeom prst="roundRect">
            <a:avLst>
              <a:gd name="adj" fmla="val 4444"/>
            </a:avLst>
          </a:prstGeom>
          <a:solidFill>
            <a:srgbClr val="EEF3FA"/>
          </a:solidFill>
          <a:ln w="8890">
            <a:solidFill>
              <a:srgbClr val="D8E2EF"/>
            </a:solidFill>
            <a:prstDash val="solid"/>
          </a:ln>
        </p:spPr>
        <p:txBody>
          <a:bodyPr/>
          <a:lstStyle/>
          <a:p>
            <a:endParaRPr lang="ru-KZ"/>
          </a:p>
        </p:txBody>
      </p:sp>
      <p:sp>
        <p:nvSpPr>
          <p:cNvPr id="17" name="Shape 15"/>
          <p:cNvSpPr/>
          <p:nvPr/>
        </p:nvSpPr>
        <p:spPr>
          <a:xfrm>
            <a:off x="603504" y="2523744"/>
            <a:ext cx="41148" cy="370332"/>
          </a:xfrm>
          <a:prstGeom prst="rect">
            <a:avLst/>
          </a:prstGeom>
          <a:solidFill>
            <a:srgbClr val="5E8FDF"/>
          </a:solidFill>
          <a:ln w="12700">
            <a:solidFill>
              <a:srgbClr val="5E8FDF"/>
            </a:solidFill>
            <a:prstDash val="solid"/>
          </a:ln>
        </p:spPr>
        <p:txBody>
          <a:bodyPr/>
          <a:lstStyle/>
          <a:p>
            <a:endParaRPr lang="ru-KZ"/>
          </a:p>
        </p:txBody>
      </p:sp>
      <p:sp>
        <p:nvSpPr>
          <p:cNvPr id="18" name="Text 16"/>
          <p:cNvSpPr/>
          <p:nvPr/>
        </p:nvSpPr>
        <p:spPr>
          <a:xfrm>
            <a:off x="733806" y="2482596"/>
            <a:ext cx="3566160" cy="171450"/>
          </a:xfrm>
          <a:prstGeom prst="rect">
            <a:avLst/>
          </a:prstGeom>
          <a:noFill/>
          <a:ln/>
        </p:spPr>
        <p:txBody>
          <a:bodyPr wrap="square" lIns="0" tIns="0" rIns="0" bIns="0" rtlCol="0" anchor="ctr"/>
          <a:lstStyle/>
          <a:p>
            <a:r>
              <a:rPr lang="en-US" sz="1200" b="1" dirty="0">
                <a:solidFill>
                  <a:schemeClr val="dk1"/>
                </a:solidFill>
                <a:latin typeface="Manrope"/>
              </a:rPr>
              <a:t>Write for a professional, non-specialist audience</a:t>
            </a:r>
          </a:p>
        </p:txBody>
      </p:sp>
      <p:sp>
        <p:nvSpPr>
          <p:cNvPr id="19" name="Text 17"/>
          <p:cNvSpPr/>
          <p:nvPr/>
        </p:nvSpPr>
        <p:spPr>
          <a:xfrm>
            <a:off x="733806" y="2763774"/>
            <a:ext cx="3566160" cy="233172"/>
          </a:xfrm>
          <a:prstGeom prst="rect">
            <a:avLst/>
          </a:prstGeom>
          <a:noFill/>
          <a:ln/>
        </p:spPr>
        <p:txBody>
          <a:bodyPr wrap="square" lIns="0" tIns="0" rIns="0" bIns="0" rtlCol="0" anchor="ctr"/>
          <a:lstStyle/>
          <a:p>
            <a:r>
              <a:rPr lang="en-US" sz="1100" dirty="0">
                <a:solidFill>
                  <a:schemeClr val="dk1"/>
                </a:solidFill>
                <a:latin typeface="Manrope"/>
              </a:rPr>
              <a:t>Explain technical ideas clearly and remove unnecessary academic detail.</a:t>
            </a:r>
          </a:p>
        </p:txBody>
      </p:sp>
      <p:sp>
        <p:nvSpPr>
          <p:cNvPr id="20" name="Shape 18"/>
          <p:cNvSpPr/>
          <p:nvPr/>
        </p:nvSpPr>
        <p:spPr>
          <a:xfrm>
            <a:off x="4704588" y="2400300"/>
            <a:ext cx="3943350" cy="617220"/>
          </a:xfrm>
          <a:prstGeom prst="roundRect">
            <a:avLst>
              <a:gd name="adj" fmla="val 4444"/>
            </a:avLst>
          </a:prstGeom>
          <a:solidFill>
            <a:srgbClr val="EEF3FA"/>
          </a:solidFill>
          <a:ln w="8890">
            <a:solidFill>
              <a:srgbClr val="D8E2EF"/>
            </a:solidFill>
            <a:prstDash val="solid"/>
          </a:ln>
        </p:spPr>
        <p:txBody>
          <a:bodyPr/>
          <a:lstStyle/>
          <a:p>
            <a:endParaRPr lang="ru-KZ"/>
          </a:p>
        </p:txBody>
      </p:sp>
      <p:sp>
        <p:nvSpPr>
          <p:cNvPr id="21" name="Shape 19"/>
          <p:cNvSpPr/>
          <p:nvPr/>
        </p:nvSpPr>
        <p:spPr>
          <a:xfrm>
            <a:off x="4814316" y="2523744"/>
            <a:ext cx="41148" cy="370332"/>
          </a:xfrm>
          <a:prstGeom prst="rect">
            <a:avLst/>
          </a:prstGeom>
          <a:solidFill>
            <a:srgbClr val="0B294D"/>
          </a:solidFill>
          <a:ln w="12700">
            <a:solidFill>
              <a:srgbClr val="0B294D"/>
            </a:solidFill>
            <a:prstDash val="solid"/>
          </a:ln>
        </p:spPr>
        <p:txBody>
          <a:bodyPr/>
          <a:lstStyle/>
          <a:p>
            <a:endParaRPr lang="ru-KZ"/>
          </a:p>
        </p:txBody>
      </p:sp>
      <p:sp>
        <p:nvSpPr>
          <p:cNvPr id="22" name="Text 20"/>
          <p:cNvSpPr/>
          <p:nvPr/>
        </p:nvSpPr>
        <p:spPr>
          <a:xfrm>
            <a:off x="4944618" y="2489454"/>
            <a:ext cx="3566160" cy="171450"/>
          </a:xfrm>
          <a:prstGeom prst="rect">
            <a:avLst/>
          </a:prstGeom>
          <a:noFill/>
          <a:ln/>
        </p:spPr>
        <p:txBody>
          <a:bodyPr wrap="square" lIns="0" tIns="0" rIns="0" bIns="0" rtlCol="0" anchor="ctr"/>
          <a:lstStyle/>
          <a:p>
            <a:r>
              <a:rPr lang="en-US" sz="1200" b="1" dirty="0">
                <a:solidFill>
                  <a:schemeClr val="dk1"/>
                </a:solidFill>
                <a:latin typeface="Manrope"/>
              </a:rPr>
              <a:t>Use dramatic or exaggerated claims</a:t>
            </a:r>
          </a:p>
        </p:txBody>
      </p:sp>
      <p:sp>
        <p:nvSpPr>
          <p:cNvPr id="23" name="Text 21"/>
          <p:cNvSpPr/>
          <p:nvPr/>
        </p:nvSpPr>
        <p:spPr>
          <a:xfrm>
            <a:off x="4944618" y="2688336"/>
            <a:ext cx="3566160" cy="233172"/>
          </a:xfrm>
          <a:prstGeom prst="rect">
            <a:avLst/>
          </a:prstGeom>
          <a:noFill/>
          <a:ln/>
        </p:spPr>
        <p:txBody>
          <a:bodyPr wrap="square" lIns="0" tIns="0" rIns="0" bIns="0" rtlCol="0" anchor="ctr"/>
          <a:lstStyle/>
          <a:p>
            <a:r>
              <a:rPr lang="en-US" sz="1100" dirty="0">
                <a:solidFill>
                  <a:schemeClr val="dk1"/>
                </a:solidFill>
                <a:latin typeface="Manrope"/>
              </a:rPr>
              <a:t>Persuasion should come from credible evidence, not sensational language.</a:t>
            </a:r>
          </a:p>
        </p:txBody>
      </p:sp>
      <p:sp>
        <p:nvSpPr>
          <p:cNvPr id="24" name="Shape 22"/>
          <p:cNvSpPr/>
          <p:nvPr/>
        </p:nvSpPr>
        <p:spPr>
          <a:xfrm>
            <a:off x="493776" y="3099816"/>
            <a:ext cx="3943350" cy="617220"/>
          </a:xfrm>
          <a:prstGeom prst="roundRect">
            <a:avLst>
              <a:gd name="adj" fmla="val 4444"/>
            </a:avLst>
          </a:prstGeom>
          <a:solidFill>
            <a:srgbClr val="EEF3FA"/>
          </a:solidFill>
          <a:ln w="8890">
            <a:solidFill>
              <a:srgbClr val="D8E2EF"/>
            </a:solidFill>
            <a:prstDash val="solid"/>
          </a:ln>
        </p:spPr>
        <p:txBody>
          <a:bodyPr/>
          <a:lstStyle/>
          <a:p>
            <a:endParaRPr lang="ru-KZ"/>
          </a:p>
        </p:txBody>
      </p:sp>
      <p:sp>
        <p:nvSpPr>
          <p:cNvPr id="25" name="Shape 23"/>
          <p:cNvSpPr/>
          <p:nvPr/>
        </p:nvSpPr>
        <p:spPr>
          <a:xfrm>
            <a:off x="603504" y="3223260"/>
            <a:ext cx="41148" cy="370332"/>
          </a:xfrm>
          <a:prstGeom prst="rect">
            <a:avLst/>
          </a:prstGeom>
          <a:solidFill>
            <a:srgbClr val="5E8FDF"/>
          </a:solidFill>
          <a:ln w="12700">
            <a:solidFill>
              <a:srgbClr val="5E8FDF"/>
            </a:solidFill>
            <a:prstDash val="solid"/>
          </a:ln>
        </p:spPr>
        <p:txBody>
          <a:bodyPr/>
          <a:lstStyle/>
          <a:p>
            <a:endParaRPr lang="ru-KZ"/>
          </a:p>
        </p:txBody>
      </p:sp>
      <p:sp>
        <p:nvSpPr>
          <p:cNvPr id="26" name="Text 24"/>
          <p:cNvSpPr/>
          <p:nvPr/>
        </p:nvSpPr>
        <p:spPr>
          <a:xfrm>
            <a:off x="733806" y="3188970"/>
            <a:ext cx="3566160" cy="171450"/>
          </a:xfrm>
          <a:prstGeom prst="rect">
            <a:avLst/>
          </a:prstGeom>
          <a:noFill/>
          <a:ln/>
        </p:spPr>
        <p:txBody>
          <a:bodyPr wrap="square" lIns="0" tIns="0" rIns="0" bIns="0" rtlCol="0" anchor="ctr"/>
          <a:lstStyle/>
          <a:p>
            <a:r>
              <a:rPr lang="en-US" sz="1200" b="1" dirty="0">
                <a:solidFill>
                  <a:schemeClr val="dk1"/>
                </a:solidFill>
                <a:latin typeface="Manrope"/>
              </a:rPr>
              <a:t>Prefer active, direct sentences</a:t>
            </a:r>
          </a:p>
        </p:txBody>
      </p:sp>
      <p:sp>
        <p:nvSpPr>
          <p:cNvPr id="27" name="Text 25"/>
          <p:cNvSpPr/>
          <p:nvPr/>
        </p:nvSpPr>
        <p:spPr>
          <a:xfrm>
            <a:off x="733806" y="3387852"/>
            <a:ext cx="3566160" cy="233172"/>
          </a:xfrm>
          <a:prstGeom prst="rect">
            <a:avLst/>
          </a:prstGeom>
          <a:noFill/>
          <a:ln/>
        </p:spPr>
        <p:txBody>
          <a:bodyPr wrap="square" lIns="0" tIns="0" rIns="0" bIns="0" rtlCol="0" anchor="ctr"/>
          <a:lstStyle/>
          <a:p>
            <a:r>
              <a:rPr lang="en-US" sz="1100" dirty="0">
                <a:solidFill>
                  <a:schemeClr val="dk1"/>
                </a:solidFill>
                <a:latin typeface="Manrope"/>
              </a:rPr>
              <a:t>Make the actor and the action easy to identify.</a:t>
            </a:r>
          </a:p>
        </p:txBody>
      </p:sp>
      <p:sp>
        <p:nvSpPr>
          <p:cNvPr id="28" name="Shape 26"/>
          <p:cNvSpPr/>
          <p:nvPr/>
        </p:nvSpPr>
        <p:spPr>
          <a:xfrm>
            <a:off x="4704588" y="3099816"/>
            <a:ext cx="3943350" cy="617220"/>
          </a:xfrm>
          <a:prstGeom prst="roundRect">
            <a:avLst>
              <a:gd name="adj" fmla="val 4444"/>
            </a:avLst>
          </a:prstGeom>
          <a:solidFill>
            <a:srgbClr val="EEF3FA"/>
          </a:solidFill>
          <a:ln w="8890">
            <a:solidFill>
              <a:srgbClr val="D8E2EF"/>
            </a:solidFill>
            <a:prstDash val="solid"/>
          </a:ln>
        </p:spPr>
        <p:txBody>
          <a:bodyPr/>
          <a:lstStyle/>
          <a:p>
            <a:endParaRPr lang="ru-KZ"/>
          </a:p>
        </p:txBody>
      </p:sp>
      <p:sp>
        <p:nvSpPr>
          <p:cNvPr id="29" name="Shape 27"/>
          <p:cNvSpPr/>
          <p:nvPr/>
        </p:nvSpPr>
        <p:spPr>
          <a:xfrm>
            <a:off x="4814316" y="3223260"/>
            <a:ext cx="41148" cy="370332"/>
          </a:xfrm>
          <a:prstGeom prst="rect">
            <a:avLst/>
          </a:prstGeom>
          <a:solidFill>
            <a:srgbClr val="0B294D"/>
          </a:solidFill>
          <a:ln w="12700">
            <a:solidFill>
              <a:srgbClr val="0B294D"/>
            </a:solidFill>
            <a:prstDash val="solid"/>
          </a:ln>
        </p:spPr>
        <p:txBody>
          <a:bodyPr/>
          <a:lstStyle/>
          <a:p>
            <a:endParaRPr lang="ru-KZ"/>
          </a:p>
        </p:txBody>
      </p:sp>
      <p:sp>
        <p:nvSpPr>
          <p:cNvPr id="30" name="Text 28"/>
          <p:cNvSpPr/>
          <p:nvPr/>
        </p:nvSpPr>
        <p:spPr>
          <a:xfrm>
            <a:off x="4944618" y="3188970"/>
            <a:ext cx="3566160" cy="171450"/>
          </a:xfrm>
          <a:prstGeom prst="rect">
            <a:avLst/>
          </a:prstGeom>
          <a:noFill/>
          <a:ln/>
        </p:spPr>
        <p:txBody>
          <a:bodyPr wrap="square" lIns="0" tIns="0" rIns="0" bIns="0" rtlCol="0" anchor="ctr"/>
          <a:lstStyle/>
          <a:p>
            <a:r>
              <a:rPr lang="en-US" sz="1200" b="1" dirty="0">
                <a:solidFill>
                  <a:schemeClr val="dk1"/>
                </a:solidFill>
                <a:latin typeface="Manrope"/>
              </a:rPr>
              <a:t>Repeat the same point unnecessarily</a:t>
            </a:r>
          </a:p>
        </p:txBody>
      </p:sp>
      <p:sp>
        <p:nvSpPr>
          <p:cNvPr id="31" name="Text 29"/>
          <p:cNvSpPr/>
          <p:nvPr/>
        </p:nvSpPr>
        <p:spPr>
          <a:xfrm>
            <a:off x="4944618" y="3387852"/>
            <a:ext cx="3566160" cy="233172"/>
          </a:xfrm>
          <a:prstGeom prst="rect">
            <a:avLst/>
          </a:prstGeom>
          <a:noFill/>
          <a:ln/>
        </p:spPr>
        <p:txBody>
          <a:bodyPr wrap="square" lIns="0" tIns="0" rIns="0" bIns="0" rtlCol="0" anchor="ctr"/>
          <a:lstStyle/>
          <a:p>
            <a:r>
              <a:rPr lang="en-US" sz="1100" dirty="0">
                <a:solidFill>
                  <a:schemeClr val="dk1"/>
                </a:solidFill>
                <a:latin typeface="Manrope"/>
              </a:rPr>
              <a:t>Front-load key messages, then use later sections to develop and support them.</a:t>
            </a:r>
          </a:p>
        </p:txBody>
      </p:sp>
      <p:sp>
        <p:nvSpPr>
          <p:cNvPr id="32" name="Shape 30"/>
          <p:cNvSpPr/>
          <p:nvPr/>
        </p:nvSpPr>
        <p:spPr>
          <a:xfrm>
            <a:off x="493776" y="3799332"/>
            <a:ext cx="3943350" cy="617220"/>
          </a:xfrm>
          <a:prstGeom prst="roundRect">
            <a:avLst>
              <a:gd name="adj" fmla="val 4444"/>
            </a:avLst>
          </a:prstGeom>
          <a:solidFill>
            <a:srgbClr val="EEF3FA"/>
          </a:solidFill>
          <a:ln w="8890">
            <a:solidFill>
              <a:srgbClr val="D8E2EF"/>
            </a:solidFill>
            <a:prstDash val="solid"/>
          </a:ln>
        </p:spPr>
        <p:txBody>
          <a:bodyPr/>
          <a:lstStyle/>
          <a:p>
            <a:endParaRPr lang="ru-KZ"/>
          </a:p>
        </p:txBody>
      </p:sp>
      <p:sp>
        <p:nvSpPr>
          <p:cNvPr id="33" name="Shape 31"/>
          <p:cNvSpPr/>
          <p:nvPr/>
        </p:nvSpPr>
        <p:spPr>
          <a:xfrm>
            <a:off x="603504" y="3922776"/>
            <a:ext cx="41148" cy="370332"/>
          </a:xfrm>
          <a:prstGeom prst="rect">
            <a:avLst/>
          </a:prstGeom>
          <a:solidFill>
            <a:srgbClr val="5E8FDF"/>
          </a:solidFill>
          <a:ln w="12700">
            <a:solidFill>
              <a:srgbClr val="5E8FDF"/>
            </a:solidFill>
            <a:prstDash val="solid"/>
          </a:ln>
        </p:spPr>
        <p:txBody>
          <a:bodyPr/>
          <a:lstStyle/>
          <a:p>
            <a:endParaRPr lang="ru-KZ"/>
          </a:p>
        </p:txBody>
      </p:sp>
      <p:sp>
        <p:nvSpPr>
          <p:cNvPr id="34" name="Text 32"/>
          <p:cNvSpPr/>
          <p:nvPr/>
        </p:nvSpPr>
        <p:spPr>
          <a:xfrm>
            <a:off x="733806" y="3888486"/>
            <a:ext cx="3566160" cy="171450"/>
          </a:xfrm>
          <a:prstGeom prst="rect">
            <a:avLst/>
          </a:prstGeom>
          <a:noFill/>
          <a:ln/>
        </p:spPr>
        <p:txBody>
          <a:bodyPr wrap="square" lIns="0" tIns="0" rIns="0" bIns="0" rtlCol="0" anchor="ctr"/>
          <a:lstStyle/>
          <a:p>
            <a:r>
              <a:rPr lang="en-US" sz="1200" b="1" dirty="0">
                <a:solidFill>
                  <a:schemeClr val="dk1"/>
                </a:solidFill>
                <a:latin typeface="Manrope"/>
              </a:rPr>
              <a:t>Use strong verbs</a:t>
            </a:r>
          </a:p>
        </p:txBody>
      </p:sp>
      <p:sp>
        <p:nvSpPr>
          <p:cNvPr id="35" name="Text 33"/>
          <p:cNvSpPr/>
          <p:nvPr/>
        </p:nvSpPr>
        <p:spPr>
          <a:xfrm>
            <a:off x="733806" y="4087368"/>
            <a:ext cx="3566160" cy="233172"/>
          </a:xfrm>
          <a:prstGeom prst="rect">
            <a:avLst/>
          </a:prstGeom>
          <a:noFill/>
          <a:ln/>
        </p:spPr>
        <p:txBody>
          <a:bodyPr wrap="square" lIns="0" tIns="0" rIns="0" bIns="0" rtlCol="0" anchor="ctr"/>
          <a:lstStyle/>
          <a:p>
            <a:r>
              <a:rPr lang="en-US" sz="1100" dirty="0">
                <a:solidFill>
                  <a:schemeClr val="dk1"/>
                </a:solidFill>
                <a:latin typeface="Manrope"/>
              </a:rPr>
              <a:t>Prefer “the study examines…” to “an examination of…” when the verb is clearer.</a:t>
            </a:r>
          </a:p>
        </p:txBody>
      </p:sp>
      <p:sp>
        <p:nvSpPr>
          <p:cNvPr id="36" name="Shape 34"/>
          <p:cNvSpPr/>
          <p:nvPr/>
        </p:nvSpPr>
        <p:spPr>
          <a:xfrm>
            <a:off x="4704588" y="3799332"/>
            <a:ext cx="3943350" cy="617220"/>
          </a:xfrm>
          <a:prstGeom prst="roundRect">
            <a:avLst>
              <a:gd name="adj" fmla="val 4444"/>
            </a:avLst>
          </a:prstGeom>
          <a:solidFill>
            <a:srgbClr val="EEF3FA"/>
          </a:solidFill>
          <a:ln w="8890">
            <a:solidFill>
              <a:srgbClr val="D8E2EF"/>
            </a:solidFill>
            <a:prstDash val="solid"/>
          </a:ln>
        </p:spPr>
        <p:txBody>
          <a:bodyPr/>
          <a:lstStyle/>
          <a:p>
            <a:endParaRPr lang="ru-KZ"/>
          </a:p>
        </p:txBody>
      </p:sp>
      <p:sp>
        <p:nvSpPr>
          <p:cNvPr id="37" name="Shape 35"/>
          <p:cNvSpPr/>
          <p:nvPr/>
        </p:nvSpPr>
        <p:spPr>
          <a:xfrm>
            <a:off x="4814316" y="3922776"/>
            <a:ext cx="41148" cy="370332"/>
          </a:xfrm>
          <a:prstGeom prst="rect">
            <a:avLst/>
          </a:prstGeom>
          <a:solidFill>
            <a:srgbClr val="0B294D"/>
          </a:solidFill>
          <a:ln w="12700">
            <a:solidFill>
              <a:srgbClr val="0B294D"/>
            </a:solidFill>
            <a:prstDash val="solid"/>
          </a:ln>
        </p:spPr>
        <p:txBody>
          <a:bodyPr/>
          <a:lstStyle/>
          <a:p>
            <a:endParaRPr lang="ru-KZ"/>
          </a:p>
        </p:txBody>
      </p:sp>
      <p:sp>
        <p:nvSpPr>
          <p:cNvPr id="38" name="Text 36"/>
          <p:cNvSpPr/>
          <p:nvPr/>
        </p:nvSpPr>
        <p:spPr>
          <a:xfrm>
            <a:off x="4944618" y="3888486"/>
            <a:ext cx="3566160" cy="171450"/>
          </a:xfrm>
          <a:prstGeom prst="rect">
            <a:avLst/>
          </a:prstGeom>
          <a:noFill/>
          <a:ln/>
        </p:spPr>
        <p:txBody>
          <a:bodyPr wrap="square" lIns="0" tIns="0" rIns="0" bIns="0" rtlCol="0" anchor="ctr"/>
          <a:lstStyle/>
          <a:p>
            <a:r>
              <a:rPr lang="en-US" sz="1200" b="1" dirty="0">
                <a:solidFill>
                  <a:schemeClr val="dk1"/>
                </a:solidFill>
                <a:latin typeface="Manrope"/>
              </a:rPr>
              <a:t>Use complexity to sound authoritative</a:t>
            </a:r>
          </a:p>
        </p:txBody>
      </p:sp>
      <p:sp>
        <p:nvSpPr>
          <p:cNvPr id="39" name="Text 37"/>
          <p:cNvSpPr/>
          <p:nvPr/>
        </p:nvSpPr>
        <p:spPr>
          <a:xfrm>
            <a:off x="4944618" y="4087368"/>
            <a:ext cx="3566160" cy="233172"/>
          </a:xfrm>
          <a:prstGeom prst="rect">
            <a:avLst/>
          </a:prstGeom>
          <a:noFill/>
          <a:ln/>
        </p:spPr>
        <p:txBody>
          <a:bodyPr wrap="square" lIns="0" tIns="0" rIns="0" bIns="0" rtlCol="0" anchor="ctr"/>
          <a:lstStyle/>
          <a:p>
            <a:r>
              <a:rPr lang="en-US" sz="1100" dirty="0">
                <a:solidFill>
                  <a:schemeClr val="dk1"/>
                </a:solidFill>
                <a:latin typeface="Manrope"/>
              </a:rPr>
              <a:t>Dense academic sentences can hide the policy message rather than strengthen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4350" y="120692"/>
            <a:ext cx="5281083" cy="260604"/>
          </a:xfrm>
          <a:prstGeom prst="rect">
            <a:avLst/>
          </a:prstGeom>
          <a:noFill/>
          <a:ln/>
        </p:spPr>
        <p:txBody>
          <a:bodyPr wrap="square" lIns="0" tIns="0" rIns="0" bIns="0" rtlCol="0" anchor="ctr"/>
          <a:lstStyle/>
          <a:p>
            <a:r>
              <a:rPr lang="en-US" sz="2000" b="1" dirty="0">
                <a:solidFill>
                  <a:schemeClr val="dk1"/>
                </a:solidFill>
                <a:latin typeface="Manrope"/>
              </a:rPr>
              <a:t>Spot the Style Problems</a:t>
            </a:r>
          </a:p>
        </p:txBody>
      </p:sp>
      <p:sp>
        <p:nvSpPr>
          <p:cNvPr id="3" name="Text 1"/>
          <p:cNvSpPr/>
          <p:nvPr/>
        </p:nvSpPr>
        <p:spPr>
          <a:xfrm>
            <a:off x="514350" y="480060"/>
            <a:ext cx="8092440" cy="308610"/>
          </a:xfrm>
          <a:prstGeom prst="rect">
            <a:avLst/>
          </a:prstGeom>
          <a:noFill/>
          <a:ln/>
        </p:spPr>
        <p:txBody>
          <a:bodyPr wrap="square" lIns="0" tIns="0" rIns="0" bIns="0" rtlCol="0" anchor="ctr"/>
          <a:lstStyle/>
          <a:p>
            <a:r>
              <a:rPr lang="en-US" i="1" dirty="0">
                <a:solidFill>
                  <a:schemeClr val="dk1"/>
                </a:solidFill>
                <a:latin typeface="Manrope"/>
              </a:rPr>
              <a:t>Work in pairs. Identify all the policy-brief style problems in each sentence. Some contain more than one violation. </a:t>
            </a:r>
          </a:p>
        </p:txBody>
      </p:sp>
      <p:sp>
        <p:nvSpPr>
          <p:cNvPr id="4" name="Text 2"/>
          <p:cNvSpPr/>
          <p:nvPr/>
        </p:nvSpPr>
        <p:spPr>
          <a:xfrm>
            <a:off x="514350" y="925830"/>
            <a:ext cx="185166" cy="178308"/>
          </a:xfrm>
          <a:prstGeom prst="rect">
            <a:avLst/>
          </a:prstGeom>
          <a:solidFill>
            <a:srgbClr val="2F69C5"/>
          </a:solidFill>
          <a:ln>
            <a:solidFill>
              <a:srgbClr val="2F69C5"/>
            </a:solidFill>
          </a:ln>
        </p:spPr>
        <p:txBody>
          <a:bodyPr wrap="square" lIns="0" tIns="0" rIns="0" bIns="0" rtlCol="0" anchor="ctr"/>
          <a:lstStyle/>
          <a:p>
            <a:pPr algn="ctr"/>
            <a:r>
              <a:rPr lang="en-US" b="1" dirty="0">
                <a:solidFill>
                  <a:srgbClr val="FFFFFF"/>
                </a:solidFill>
              </a:rPr>
              <a:t>A</a:t>
            </a:r>
            <a:endParaRPr lang="en-US" dirty="0"/>
          </a:p>
        </p:txBody>
      </p:sp>
      <p:sp>
        <p:nvSpPr>
          <p:cNvPr id="5" name="Text 3"/>
          <p:cNvSpPr/>
          <p:nvPr/>
        </p:nvSpPr>
        <p:spPr>
          <a:xfrm>
            <a:off x="761238" y="918972"/>
            <a:ext cx="1783080" cy="192024"/>
          </a:xfrm>
          <a:prstGeom prst="rect">
            <a:avLst/>
          </a:prstGeom>
          <a:noFill/>
          <a:ln/>
        </p:spPr>
        <p:txBody>
          <a:bodyPr wrap="square" lIns="0" tIns="0" rIns="0" bIns="0" rtlCol="0" anchor="ctr"/>
          <a:lstStyle/>
          <a:p>
            <a:r>
              <a:rPr lang="en-US" sz="1200" dirty="0">
                <a:solidFill>
                  <a:schemeClr val="dk1"/>
                </a:solidFill>
                <a:latin typeface="Manrope"/>
              </a:rPr>
              <a:t>Unnecessary wordiness</a:t>
            </a:r>
          </a:p>
        </p:txBody>
      </p:sp>
      <p:sp>
        <p:nvSpPr>
          <p:cNvPr id="6" name="Text 4"/>
          <p:cNvSpPr/>
          <p:nvPr/>
        </p:nvSpPr>
        <p:spPr>
          <a:xfrm>
            <a:off x="2606040" y="925830"/>
            <a:ext cx="185166" cy="178308"/>
          </a:xfrm>
          <a:prstGeom prst="rect">
            <a:avLst/>
          </a:prstGeom>
          <a:solidFill>
            <a:srgbClr val="2F69C5"/>
          </a:solidFill>
          <a:ln>
            <a:solidFill>
              <a:srgbClr val="2F69C5"/>
            </a:solidFill>
          </a:ln>
        </p:spPr>
        <p:txBody>
          <a:bodyPr wrap="square" lIns="0" tIns="0" rIns="0" bIns="0" rtlCol="0" anchor="ctr"/>
          <a:lstStyle/>
          <a:p>
            <a:pPr algn="ctr"/>
            <a:r>
              <a:rPr lang="en-US" b="1" dirty="0">
                <a:solidFill>
                  <a:srgbClr val="FFFFFF"/>
                </a:solidFill>
              </a:rPr>
              <a:t>B</a:t>
            </a:r>
            <a:endParaRPr lang="en-US" dirty="0"/>
          </a:p>
        </p:txBody>
      </p:sp>
      <p:sp>
        <p:nvSpPr>
          <p:cNvPr id="7" name="Text 5"/>
          <p:cNvSpPr/>
          <p:nvPr/>
        </p:nvSpPr>
        <p:spPr>
          <a:xfrm>
            <a:off x="2870073" y="881930"/>
            <a:ext cx="1783080" cy="192024"/>
          </a:xfrm>
          <a:prstGeom prst="rect">
            <a:avLst/>
          </a:prstGeom>
          <a:noFill/>
          <a:ln/>
        </p:spPr>
        <p:txBody>
          <a:bodyPr wrap="square" lIns="0" tIns="0" rIns="0" bIns="0" rtlCol="0" anchor="ctr"/>
          <a:lstStyle/>
          <a:p>
            <a:r>
              <a:rPr lang="en-US" sz="1200" dirty="0">
                <a:solidFill>
                  <a:schemeClr val="dk1"/>
                </a:solidFill>
                <a:latin typeface="Manrope"/>
              </a:rPr>
              <a:t>Academic / specialist jargon</a:t>
            </a:r>
          </a:p>
        </p:txBody>
      </p:sp>
      <p:sp>
        <p:nvSpPr>
          <p:cNvPr id="8" name="Text 6"/>
          <p:cNvSpPr/>
          <p:nvPr/>
        </p:nvSpPr>
        <p:spPr>
          <a:xfrm>
            <a:off x="4697730" y="925830"/>
            <a:ext cx="185166" cy="178308"/>
          </a:xfrm>
          <a:prstGeom prst="rect">
            <a:avLst/>
          </a:prstGeom>
          <a:solidFill>
            <a:srgbClr val="2F69C5"/>
          </a:solidFill>
          <a:ln>
            <a:solidFill>
              <a:srgbClr val="2F69C5"/>
            </a:solidFill>
          </a:ln>
        </p:spPr>
        <p:txBody>
          <a:bodyPr wrap="square" lIns="0" tIns="0" rIns="0" bIns="0" rtlCol="0" anchor="ctr"/>
          <a:lstStyle/>
          <a:p>
            <a:pPr algn="ctr"/>
            <a:r>
              <a:rPr lang="en-US" b="1" dirty="0">
                <a:solidFill>
                  <a:srgbClr val="FFFFFF"/>
                </a:solidFill>
              </a:rPr>
              <a:t>C</a:t>
            </a:r>
            <a:endParaRPr lang="en-US" dirty="0"/>
          </a:p>
        </p:txBody>
      </p:sp>
      <p:sp>
        <p:nvSpPr>
          <p:cNvPr id="9" name="Text 7"/>
          <p:cNvSpPr/>
          <p:nvPr/>
        </p:nvSpPr>
        <p:spPr>
          <a:xfrm>
            <a:off x="4944618" y="918972"/>
            <a:ext cx="1783080" cy="192024"/>
          </a:xfrm>
          <a:prstGeom prst="rect">
            <a:avLst/>
          </a:prstGeom>
          <a:noFill/>
          <a:ln/>
        </p:spPr>
        <p:txBody>
          <a:bodyPr wrap="square" lIns="0" tIns="0" rIns="0" bIns="0" rtlCol="0" anchor="ctr"/>
          <a:lstStyle/>
          <a:p>
            <a:r>
              <a:rPr lang="en-US" sz="1200" dirty="0">
                <a:solidFill>
                  <a:schemeClr val="dk1"/>
                </a:solidFill>
                <a:latin typeface="Manrope"/>
              </a:rPr>
              <a:t>Overly complex structure</a:t>
            </a:r>
          </a:p>
        </p:txBody>
      </p:sp>
      <p:sp>
        <p:nvSpPr>
          <p:cNvPr id="10" name="Text 8"/>
          <p:cNvSpPr/>
          <p:nvPr/>
        </p:nvSpPr>
        <p:spPr>
          <a:xfrm>
            <a:off x="6789420" y="925830"/>
            <a:ext cx="185166" cy="178308"/>
          </a:xfrm>
          <a:prstGeom prst="rect">
            <a:avLst/>
          </a:prstGeom>
          <a:solidFill>
            <a:srgbClr val="2F69C5"/>
          </a:solidFill>
          <a:ln>
            <a:solidFill>
              <a:srgbClr val="2F69C5"/>
            </a:solidFill>
          </a:ln>
        </p:spPr>
        <p:txBody>
          <a:bodyPr wrap="square" lIns="0" tIns="0" rIns="0" bIns="0" rtlCol="0" anchor="ctr"/>
          <a:lstStyle/>
          <a:p>
            <a:pPr algn="ctr"/>
            <a:r>
              <a:rPr lang="en-US" b="1" dirty="0">
                <a:solidFill>
                  <a:srgbClr val="FFFFFF"/>
                </a:solidFill>
              </a:rPr>
              <a:t>D</a:t>
            </a:r>
            <a:endParaRPr lang="en-US" dirty="0"/>
          </a:p>
        </p:txBody>
      </p:sp>
      <p:sp>
        <p:nvSpPr>
          <p:cNvPr id="11" name="Text 9"/>
          <p:cNvSpPr/>
          <p:nvPr/>
        </p:nvSpPr>
        <p:spPr>
          <a:xfrm>
            <a:off x="7036307" y="918972"/>
            <a:ext cx="1976459" cy="185166"/>
          </a:xfrm>
          <a:prstGeom prst="rect">
            <a:avLst/>
          </a:prstGeom>
          <a:noFill/>
          <a:ln/>
        </p:spPr>
        <p:txBody>
          <a:bodyPr wrap="square" lIns="0" tIns="0" rIns="0" bIns="0" rtlCol="0" anchor="ctr"/>
          <a:lstStyle/>
          <a:p>
            <a:r>
              <a:rPr lang="en-US" sz="1200" dirty="0">
                <a:solidFill>
                  <a:schemeClr val="dk1"/>
                </a:solidFill>
                <a:latin typeface="Manrope"/>
              </a:rPr>
              <a:t>Weak or nominalized verbs</a:t>
            </a:r>
          </a:p>
        </p:txBody>
      </p:sp>
      <p:sp>
        <p:nvSpPr>
          <p:cNvPr id="12" name="Text 10"/>
          <p:cNvSpPr/>
          <p:nvPr/>
        </p:nvSpPr>
        <p:spPr>
          <a:xfrm>
            <a:off x="514350" y="1213866"/>
            <a:ext cx="185166" cy="178308"/>
          </a:xfrm>
          <a:prstGeom prst="rect">
            <a:avLst/>
          </a:prstGeom>
          <a:solidFill>
            <a:srgbClr val="2F69C5"/>
          </a:solidFill>
          <a:ln>
            <a:solidFill>
              <a:srgbClr val="2F69C5"/>
            </a:solidFill>
          </a:ln>
        </p:spPr>
        <p:txBody>
          <a:bodyPr wrap="square" lIns="0" tIns="0" rIns="0" bIns="0" rtlCol="0" anchor="ctr"/>
          <a:lstStyle/>
          <a:p>
            <a:pPr algn="ctr"/>
            <a:r>
              <a:rPr lang="en-US" b="1" dirty="0">
                <a:solidFill>
                  <a:srgbClr val="FFFFFF"/>
                </a:solidFill>
              </a:rPr>
              <a:t>E</a:t>
            </a:r>
            <a:endParaRPr lang="en-US" dirty="0"/>
          </a:p>
        </p:txBody>
      </p:sp>
      <p:sp>
        <p:nvSpPr>
          <p:cNvPr id="13" name="Text 11"/>
          <p:cNvSpPr/>
          <p:nvPr/>
        </p:nvSpPr>
        <p:spPr>
          <a:xfrm>
            <a:off x="761238" y="1207008"/>
            <a:ext cx="1783080" cy="192024"/>
          </a:xfrm>
          <a:prstGeom prst="rect">
            <a:avLst/>
          </a:prstGeom>
          <a:noFill/>
          <a:ln/>
        </p:spPr>
        <p:txBody>
          <a:bodyPr wrap="square" lIns="0" tIns="0" rIns="0" bIns="0" rtlCol="0" anchor="ctr"/>
          <a:lstStyle/>
          <a:p>
            <a:r>
              <a:rPr lang="en-US" sz="1200" dirty="0">
                <a:solidFill>
                  <a:schemeClr val="dk1"/>
                </a:solidFill>
                <a:latin typeface="Manrope"/>
              </a:rPr>
              <a:t>Passive / indirect wording</a:t>
            </a:r>
          </a:p>
        </p:txBody>
      </p:sp>
      <p:sp>
        <p:nvSpPr>
          <p:cNvPr id="14" name="Text 12"/>
          <p:cNvSpPr/>
          <p:nvPr/>
        </p:nvSpPr>
        <p:spPr>
          <a:xfrm>
            <a:off x="2606040" y="1213866"/>
            <a:ext cx="185166" cy="178308"/>
          </a:xfrm>
          <a:prstGeom prst="rect">
            <a:avLst/>
          </a:prstGeom>
          <a:solidFill>
            <a:srgbClr val="2F69C5"/>
          </a:solidFill>
          <a:ln>
            <a:solidFill>
              <a:srgbClr val="2F69C5"/>
            </a:solidFill>
          </a:ln>
        </p:spPr>
        <p:txBody>
          <a:bodyPr wrap="square" lIns="0" tIns="0" rIns="0" bIns="0" rtlCol="0" anchor="ctr"/>
          <a:lstStyle/>
          <a:p>
            <a:pPr algn="ctr"/>
            <a:r>
              <a:rPr lang="en-US" b="1" dirty="0">
                <a:solidFill>
                  <a:srgbClr val="FFFFFF"/>
                </a:solidFill>
              </a:rPr>
              <a:t>F</a:t>
            </a:r>
            <a:endParaRPr lang="en-US" dirty="0"/>
          </a:p>
        </p:txBody>
      </p:sp>
      <p:sp>
        <p:nvSpPr>
          <p:cNvPr id="15" name="Text 13"/>
          <p:cNvSpPr/>
          <p:nvPr/>
        </p:nvSpPr>
        <p:spPr>
          <a:xfrm>
            <a:off x="2852928" y="1309878"/>
            <a:ext cx="1783080" cy="192024"/>
          </a:xfrm>
          <a:prstGeom prst="rect">
            <a:avLst/>
          </a:prstGeom>
          <a:noFill/>
          <a:ln/>
        </p:spPr>
        <p:txBody>
          <a:bodyPr wrap="square" lIns="0" tIns="0" rIns="0" bIns="0" rtlCol="0" anchor="ctr"/>
          <a:lstStyle/>
          <a:p>
            <a:r>
              <a:rPr lang="en-US" sz="1200" dirty="0">
                <a:solidFill>
                  <a:schemeClr val="dk1"/>
                </a:solidFill>
                <a:latin typeface="Manrope"/>
              </a:rPr>
              <a:t>Dramatic or exaggerated claim</a:t>
            </a:r>
          </a:p>
        </p:txBody>
      </p:sp>
      <p:sp>
        <p:nvSpPr>
          <p:cNvPr id="16" name="Text 14"/>
          <p:cNvSpPr/>
          <p:nvPr/>
        </p:nvSpPr>
        <p:spPr>
          <a:xfrm>
            <a:off x="4697730" y="1213866"/>
            <a:ext cx="185166" cy="178308"/>
          </a:xfrm>
          <a:prstGeom prst="rect">
            <a:avLst/>
          </a:prstGeom>
          <a:solidFill>
            <a:srgbClr val="2F69C5"/>
          </a:solidFill>
          <a:ln>
            <a:solidFill>
              <a:srgbClr val="2F69C5"/>
            </a:solidFill>
          </a:ln>
        </p:spPr>
        <p:txBody>
          <a:bodyPr wrap="square" lIns="0" tIns="0" rIns="0" bIns="0" rtlCol="0" anchor="ctr"/>
          <a:lstStyle/>
          <a:p>
            <a:pPr algn="ctr"/>
            <a:r>
              <a:rPr lang="en-US" b="1" dirty="0">
                <a:solidFill>
                  <a:srgbClr val="FFFFFF"/>
                </a:solidFill>
              </a:rPr>
              <a:t>G</a:t>
            </a:r>
            <a:endParaRPr lang="en-US" dirty="0"/>
          </a:p>
        </p:txBody>
      </p:sp>
      <p:sp>
        <p:nvSpPr>
          <p:cNvPr id="17" name="Text 15"/>
          <p:cNvSpPr/>
          <p:nvPr/>
        </p:nvSpPr>
        <p:spPr>
          <a:xfrm>
            <a:off x="4944618" y="1207008"/>
            <a:ext cx="1783080" cy="192024"/>
          </a:xfrm>
          <a:prstGeom prst="rect">
            <a:avLst/>
          </a:prstGeom>
          <a:noFill/>
          <a:ln/>
        </p:spPr>
        <p:txBody>
          <a:bodyPr wrap="square" lIns="0" tIns="0" rIns="0" bIns="0" rtlCol="0" anchor="ctr"/>
          <a:lstStyle/>
          <a:p>
            <a:r>
              <a:rPr lang="en-US" sz="1200" dirty="0">
                <a:solidFill>
                  <a:schemeClr val="dk1"/>
                </a:solidFill>
                <a:latin typeface="Manrope"/>
              </a:rPr>
              <a:t>Unnecessary repetition</a:t>
            </a:r>
          </a:p>
        </p:txBody>
      </p:sp>
      <p:sp>
        <p:nvSpPr>
          <p:cNvPr id="18" name="Text 16"/>
          <p:cNvSpPr/>
          <p:nvPr/>
        </p:nvSpPr>
        <p:spPr>
          <a:xfrm>
            <a:off x="6789420" y="1213866"/>
            <a:ext cx="185166" cy="178308"/>
          </a:xfrm>
          <a:prstGeom prst="rect">
            <a:avLst/>
          </a:prstGeom>
          <a:solidFill>
            <a:srgbClr val="2F69C5"/>
          </a:solidFill>
          <a:ln>
            <a:solidFill>
              <a:srgbClr val="2F69C5"/>
            </a:solidFill>
          </a:ln>
        </p:spPr>
        <p:txBody>
          <a:bodyPr wrap="square" lIns="0" tIns="0" rIns="0" bIns="0" rtlCol="0" anchor="ctr"/>
          <a:lstStyle/>
          <a:p>
            <a:pPr algn="ctr"/>
            <a:r>
              <a:rPr lang="en-US" b="1" dirty="0">
                <a:solidFill>
                  <a:srgbClr val="FFFFFF"/>
                </a:solidFill>
              </a:rPr>
              <a:t>H</a:t>
            </a:r>
            <a:endParaRPr lang="en-US" dirty="0"/>
          </a:p>
        </p:txBody>
      </p:sp>
      <p:sp>
        <p:nvSpPr>
          <p:cNvPr id="19" name="Text 17"/>
          <p:cNvSpPr/>
          <p:nvPr/>
        </p:nvSpPr>
        <p:spPr>
          <a:xfrm>
            <a:off x="7036308" y="1207008"/>
            <a:ext cx="1783080" cy="192024"/>
          </a:xfrm>
          <a:prstGeom prst="rect">
            <a:avLst/>
          </a:prstGeom>
          <a:noFill/>
          <a:ln/>
        </p:spPr>
        <p:txBody>
          <a:bodyPr wrap="square" lIns="0" tIns="0" rIns="0" bIns="0" rtlCol="0" anchor="ctr"/>
          <a:lstStyle/>
          <a:p>
            <a:r>
              <a:rPr lang="en-US" sz="1200" dirty="0">
                <a:solidFill>
                  <a:schemeClr val="dk1"/>
                </a:solidFill>
                <a:latin typeface="Manrope"/>
              </a:rPr>
              <a:t>Unsupported certainty</a:t>
            </a:r>
          </a:p>
        </p:txBody>
      </p:sp>
      <p:sp>
        <p:nvSpPr>
          <p:cNvPr id="20" name="Shape 18"/>
          <p:cNvSpPr/>
          <p:nvPr/>
        </p:nvSpPr>
        <p:spPr>
          <a:xfrm>
            <a:off x="514350" y="1604772"/>
            <a:ext cx="8092440" cy="493776"/>
          </a:xfrm>
          <a:prstGeom prst="roundRect">
            <a:avLst>
              <a:gd name="adj" fmla="val 5556"/>
            </a:avLst>
          </a:prstGeom>
          <a:solidFill>
            <a:srgbClr val="EDF3FB"/>
          </a:solidFill>
          <a:ln w="8890">
            <a:solidFill>
              <a:srgbClr val="D6E0EC"/>
            </a:solidFill>
            <a:prstDash val="solid"/>
          </a:ln>
        </p:spPr>
        <p:txBody>
          <a:bodyPr/>
          <a:lstStyle/>
          <a:p>
            <a:endParaRPr lang="ru-KZ"/>
          </a:p>
        </p:txBody>
      </p:sp>
      <p:sp>
        <p:nvSpPr>
          <p:cNvPr id="21" name="Text 19"/>
          <p:cNvSpPr/>
          <p:nvPr/>
        </p:nvSpPr>
        <p:spPr>
          <a:xfrm>
            <a:off x="644652" y="1721358"/>
            <a:ext cx="192024" cy="192024"/>
          </a:xfrm>
          <a:prstGeom prst="rect">
            <a:avLst/>
          </a:prstGeom>
          <a:noFill/>
          <a:ln/>
        </p:spPr>
        <p:txBody>
          <a:bodyPr wrap="square" lIns="0" tIns="0" rIns="0" bIns="0" rtlCol="0" anchor="ctr"/>
          <a:lstStyle/>
          <a:p>
            <a:pPr algn="ctr"/>
            <a:r>
              <a:rPr lang="en-US" b="1" dirty="0">
                <a:solidFill>
                  <a:srgbClr val="2F69C5"/>
                </a:solidFill>
              </a:rPr>
              <a:t>1</a:t>
            </a:r>
            <a:endParaRPr lang="en-US" dirty="0"/>
          </a:p>
        </p:txBody>
      </p:sp>
      <p:sp>
        <p:nvSpPr>
          <p:cNvPr id="22" name="Text 20"/>
          <p:cNvSpPr/>
          <p:nvPr/>
        </p:nvSpPr>
        <p:spPr>
          <a:xfrm>
            <a:off x="932688" y="1673352"/>
            <a:ext cx="7440930" cy="349758"/>
          </a:xfrm>
          <a:prstGeom prst="rect">
            <a:avLst/>
          </a:prstGeom>
          <a:noFill/>
          <a:ln/>
        </p:spPr>
        <p:txBody>
          <a:bodyPr wrap="square" lIns="191" tIns="191" rIns="191" bIns="191" rtlCol="0" anchor="ctr"/>
          <a:lstStyle/>
          <a:p>
            <a:r>
              <a:rPr lang="en-US" sz="1200" dirty="0">
                <a:solidFill>
                  <a:schemeClr val="dk1"/>
                </a:solidFill>
                <a:latin typeface="Manrope"/>
              </a:rPr>
              <a:t>The implementation of comprehensive workforce-development initiatives is of considerable importance for the facilitation of employee adaptation to AI-driven transformations.</a:t>
            </a:r>
          </a:p>
        </p:txBody>
      </p:sp>
      <p:sp>
        <p:nvSpPr>
          <p:cNvPr id="23" name="Shape 21"/>
          <p:cNvSpPr/>
          <p:nvPr/>
        </p:nvSpPr>
        <p:spPr>
          <a:xfrm>
            <a:off x="514350" y="2167128"/>
            <a:ext cx="8092440" cy="493776"/>
          </a:xfrm>
          <a:prstGeom prst="roundRect">
            <a:avLst>
              <a:gd name="adj" fmla="val 5556"/>
            </a:avLst>
          </a:prstGeom>
          <a:solidFill>
            <a:srgbClr val="F6F8FB"/>
          </a:solidFill>
          <a:ln w="8890">
            <a:solidFill>
              <a:srgbClr val="D6E0EC"/>
            </a:solidFill>
            <a:prstDash val="solid"/>
          </a:ln>
        </p:spPr>
        <p:txBody>
          <a:bodyPr/>
          <a:lstStyle/>
          <a:p>
            <a:endParaRPr lang="ru-KZ"/>
          </a:p>
        </p:txBody>
      </p:sp>
      <p:sp>
        <p:nvSpPr>
          <p:cNvPr id="24" name="Text 22"/>
          <p:cNvSpPr/>
          <p:nvPr/>
        </p:nvSpPr>
        <p:spPr>
          <a:xfrm>
            <a:off x="644652" y="2283714"/>
            <a:ext cx="192024" cy="192024"/>
          </a:xfrm>
          <a:prstGeom prst="rect">
            <a:avLst/>
          </a:prstGeom>
          <a:noFill/>
          <a:ln/>
        </p:spPr>
        <p:txBody>
          <a:bodyPr wrap="square" lIns="0" tIns="0" rIns="0" bIns="0" rtlCol="0" anchor="ctr"/>
          <a:lstStyle/>
          <a:p>
            <a:pPr algn="ctr"/>
            <a:r>
              <a:rPr lang="en-US" b="1" dirty="0">
                <a:solidFill>
                  <a:srgbClr val="2F69C5"/>
                </a:solidFill>
              </a:rPr>
              <a:t>2</a:t>
            </a:r>
            <a:endParaRPr lang="en-US" dirty="0"/>
          </a:p>
        </p:txBody>
      </p:sp>
      <p:sp>
        <p:nvSpPr>
          <p:cNvPr id="25" name="Text 23"/>
          <p:cNvSpPr/>
          <p:nvPr/>
        </p:nvSpPr>
        <p:spPr>
          <a:xfrm>
            <a:off x="932688" y="2235708"/>
            <a:ext cx="7440930" cy="349758"/>
          </a:xfrm>
          <a:prstGeom prst="rect">
            <a:avLst/>
          </a:prstGeom>
          <a:noFill/>
          <a:ln/>
        </p:spPr>
        <p:txBody>
          <a:bodyPr wrap="square" lIns="191" tIns="191" rIns="191" bIns="191" rtlCol="0" anchor="ctr"/>
          <a:lstStyle/>
          <a:p>
            <a:r>
              <a:rPr lang="en-US" sz="1200" dirty="0">
                <a:solidFill>
                  <a:schemeClr val="dk1"/>
                </a:solidFill>
                <a:latin typeface="Manrope"/>
              </a:rPr>
              <a:t>AI will undoubtedly transform every profession, and governments must act immediately before it is too late.</a:t>
            </a:r>
          </a:p>
        </p:txBody>
      </p:sp>
      <p:sp>
        <p:nvSpPr>
          <p:cNvPr id="26" name="Shape 24"/>
          <p:cNvSpPr/>
          <p:nvPr/>
        </p:nvSpPr>
        <p:spPr>
          <a:xfrm>
            <a:off x="514350" y="2729484"/>
            <a:ext cx="8092440" cy="493776"/>
          </a:xfrm>
          <a:prstGeom prst="roundRect">
            <a:avLst>
              <a:gd name="adj" fmla="val 5556"/>
            </a:avLst>
          </a:prstGeom>
          <a:solidFill>
            <a:srgbClr val="EDF3FB"/>
          </a:solidFill>
          <a:ln w="8890">
            <a:solidFill>
              <a:srgbClr val="D6E0EC"/>
            </a:solidFill>
            <a:prstDash val="solid"/>
          </a:ln>
        </p:spPr>
        <p:txBody>
          <a:bodyPr/>
          <a:lstStyle/>
          <a:p>
            <a:endParaRPr lang="ru-KZ"/>
          </a:p>
        </p:txBody>
      </p:sp>
      <p:sp>
        <p:nvSpPr>
          <p:cNvPr id="27" name="Text 25"/>
          <p:cNvSpPr/>
          <p:nvPr/>
        </p:nvSpPr>
        <p:spPr>
          <a:xfrm>
            <a:off x="644652" y="2846070"/>
            <a:ext cx="192024" cy="192024"/>
          </a:xfrm>
          <a:prstGeom prst="rect">
            <a:avLst/>
          </a:prstGeom>
          <a:noFill/>
          <a:ln/>
        </p:spPr>
        <p:txBody>
          <a:bodyPr wrap="square" lIns="0" tIns="0" rIns="0" bIns="0" rtlCol="0" anchor="ctr"/>
          <a:lstStyle/>
          <a:p>
            <a:pPr algn="ctr"/>
            <a:r>
              <a:rPr lang="en-US" b="1" dirty="0">
                <a:solidFill>
                  <a:srgbClr val="2F69C5"/>
                </a:solidFill>
              </a:rPr>
              <a:t>3</a:t>
            </a:r>
            <a:endParaRPr lang="en-US" dirty="0"/>
          </a:p>
        </p:txBody>
      </p:sp>
      <p:sp>
        <p:nvSpPr>
          <p:cNvPr id="28" name="Text 26"/>
          <p:cNvSpPr/>
          <p:nvPr/>
        </p:nvSpPr>
        <p:spPr>
          <a:xfrm>
            <a:off x="932688" y="2798064"/>
            <a:ext cx="7440930" cy="349758"/>
          </a:xfrm>
          <a:prstGeom prst="rect">
            <a:avLst/>
          </a:prstGeom>
          <a:noFill/>
          <a:ln/>
        </p:spPr>
        <p:txBody>
          <a:bodyPr wrap="square" lIns="191" tIns="191" rIns="191" bIns="191" rtlCol="0" anchor="ctr"/>
          <a:lstStyle/>
          <a:p>
            <a:r>
              <a:rPr lang="en-US" sz="1200" dirty="0">
                <a:solidFill>
                  <a:schemeClr val="dk1"/>
                </a:solidFill>
                <a:latin typeface="Manrope"/>
              </a:rPr>
              <a:t>A consideration of the development and subsequent implementation of appropriate training programmes should be undertaken by relevant policymakers.</a:t>
            </a:r>
          </a:p>
        </p:txBody>
      </p:sp>
      <p:sp>
        <p:nvSpPr>
          <p:cNvPr id="29" name="Shape 27"/>
          <p:cNvSpPr/>
          <p:nvPr/>
        </p:nvSpPr>
        <p:spPr>
          <a:xfrm>
            <a:off x="514350" y="3291840"/>
            <a:ext cx="8092440" cy="493776"/>
          </a:xfrm>
          <a:prstGeom prst="roundRect">
            <a:avLst>
              <a:gd name="adj" fmla="val 5556"/>
            </a:avLst>
          </a:prstGeom>
          <a:solidFill>
            <a:srgbClr val="F6F8FB"/>
          </a:solidFill>
          <a:ln w="8890">
            <a:solidFill>
              <a:srgbClr val="D6E0EC"/>
            </a:solidFill>
            <a:prstDash val="solid"/>
          </a:ln>
        </p:spPr>
        <p:txBody>
          <a:bodyPr/>
          <a:lstStyle/>
          <a:p>
            <a:endParaRPr lang="ru-KZ"/>
          </a:p>
        </p:txBody>
      </p:sp>
      <p:sp>
        <p:nvSpPr>
          <p:cNvPr id="30" name="Text 28"/>
          <p:cNvSpPr/>
          <p:nvPr/>
        </p:nvSpPr>
        <p:spPr>
          <a:xfrm>
            <a:off x="644652" y="3408426"/>
            <a:ext cx="192024" cy="192024"/>
          </a:xfrm>
          <a:prstGeom prst="rect">
            <a:avLst/>
          </a:prstGeom>
          <a:noFill/>
          <a:ln/>
        </p:spPr>
        <p:txBody>
          <a:bodyPr wrap="square" lIns="0" tIns="0" rIns="0" bIns="0" rtlCol="0" anchor="ctr"/>
          <a:lstStyle/>
          <a:p>
            <a:pPr algn="ctr"/>
            <a:r>
              <a:rPr lang="en-US" b="1" dirty="0">
                <a:solidFill>
                  <a:srgbClr val="2F69C5"/>
                </a:solidFill>
              </a:rPr>
              <a:t>4</a:t>
            </a:r>
            <a:endParaRPr lang="en-US" dirty="0"/>
          </a:p>
        </p:txBody>
      </p:sp>
      <p:sp>
        <p:nvSpPr>
          <p:cNvPr id="31" name="Text 29"/>
          <p:cNvSpPr/>
          <p:nvPr/>
        </p:nvSpPr>
        <p:spPr>
          <a:xfrm>
            <a:off x="932688" y="3360420"/>
            <a:ext cx="7440930" cy="349758"/>
          </a:xfrm>
          <a:prstGeom prst="rect">
            <a:avLst/>
          </a:prstGeom>
          <a:noFill/>
          <a:ln/>
        </p:spPr>
        <p:txBody>
          <a:bodyPr wrap="square" lIns="191" tIns="191" rIns="191" bIns="191" rtlCol="0" anchor="ctr"/>
          <a:lstStyle/>
          <a:p>
            <a:r>
              <a:rPr lang="en-US" sz="1200" dirty="0">
                <a:solidFill>
                  <a:schemeClr val="dk1"/>
                </a:solidFill>
                <a:latin typeface="Manrope"/>
              </a:rPr>
              <a:t>Recent evidence highlights the growing importance of AI skills. AI skills are becoming increasingly important for workers. Therefore, developing AI skills should be an important policy priority.</a:t>
            </a:r>
          </a:p>
        </p:txBody>
      </p:sp>
      <p:sp>
        <p:nvSpPr>
          <p:cNvPr id="32" name="Shape 30"/>
          <p:cNvSpPr/>
          <p:nvPr/>
        </p:nvSpPr>
        <p:spPr>
          <a:xfrm>
            <a:off x="514350" y="3854196"/>
            <a:ext cx="8092440" cy="493776"/>
          </a:xfrm>
          <a:prstGeom prst="roundRect">
            <a:avLst>
              <a:gd name="adj" fmla="val 5556"/>
            </a:avLst>
          </a:prstGeom>
          <a:solidFill>
            <a:srgbClr val="EDF3FB"/>
          </a:solidFill>
          <a:ln w="8890">
            <a:solidFill>
              <a:srgbClr val="D6E0EC"/>
            </a:solidFill>
            <a:prstDash val="solid"/>
          </a:ln>
        </p:spPr>
        <p:txBody>
          <a:bodyPr/>
          <a:lstStyle/>
          <a:p>
            <a:endParaRPr lang="ru-KZ"/>
          </a:p>
        </p:txBody>
      </p:sp>
      <p:sp>
        <p:nvSpPr>
          <p:cNvPr id="33" name="Text 31"/>
          <p:cNvSpPr/>
          <p:nvPr/>
        </p:nvSpPr>
        <p:spPr>
          <a:xfrm>
            <a:off x="644652" y="3970782"/>
            <a:ext cx="192024" cy="192024"/>
          </a:xfrm>
          <a:prstGeom prst="rect">
            <a:avLst/>
          </a:prstGeom>
          <a:noFill/>
          <a:ln/>
        </p:spPr>
        <p:txBody>
          <a:bodyPr wrap="square" lIns="0" tIns="0" rIns="0" bIns="0" rtlCol="0" anchor="ctr"/>
          <a:lstStyle/>
          <a:p>
            <a:pPr algn="ctr"/>
            <a:r>
              <a:rPr lang="en-US" b="1" dirty="0">
                <a:solidFill>
                  <a:srgbClr val="2F69C5"/>
                </a:solidFill>
              </a:rPr>
              <a:t>5</a:t>
            </a:r>
            <a:endParaRPr lang="en-US" dirty="0"/>
          </a:p>
        </p:txBody>
      </p:sp>
      <p:sp>
        <p:nvSpPr>
          <p:cNvPr id="34" name="Text 32"/>
          <p:cNvSpPr/>
          <p:nvPr/>
        </p:nvSpPr>
        <p:spPr>
          <a:xfrm>
            <a:off x="932688" y="3922776"/>
            <a:ext cx="7440930" cy="349758"/>
          </a:xfrm>
          <a:prstGeom prst="rect">
            <a:avLst/>
          </a:prstGeom>
          <a:noFill/>
          <a:ln/>
        </p:spPr>
        <p:txBody>
          <a:bodyPr wrap="square" lIns="191" tIns="191" rIns="191" bIns="191" rtlCol="0" anchor="ctr"/>
          <a:lstStyle/>
          <a:p>
            <a:r>
              <a:rPr lang="en-US" sz="1200" dirty="0">
                <a:solidFill>
                  <a:schemeClr val="dk1"/>
                </a:solidFill>
                <a:latin typeface="Manrope"/>
              </a:rPr>
              <a:t>The operationalization of cross-sectoral reskilling mechanisms may facilitate the amelioration of labour-market mismatches resulting from technological disruption.</a:t>
            </a:r>
          </a:p>
        </p:txBody>
      </p:sp>
      <p:sp>
        <p:nvSpPr>
          <p:cNvPr id="36" name="Text 34"/>
          <p:cNvSpPr/>
          <p:nvPr/>
        </p:nvSpPr>
        <p:spPr>
          <a:xfrm>
            <a:off x="1474470" y="4478274"/>
            <a:ext cx="6960870" cy="219456"/>
          </a:xfrm>
          <a:prstGeom prst="rect">
            <a:avLst/>
          </a:prstGeom>
          <a:noFill/>
          <a:ln/>
        </p:spPr>
        <p:txBody>
          <a:bodyPr wrap="square" lIns="0" tIns="0" rIns="0" bIns="0" rtlCol="0" anchor="ctr"/>
          <a:lstStyle/>
          <a:p>
            <a:endParaRPr lang="en-US" sz="563" dirty="0"/>
          </a:p>
        </p:txBody>
      </p:sp>
      <p:sp>
        <p:nvSpPr>
          <p:cNvPr id="37" name="Slide Number Placeholder 0"/>
          <p:cNvSpPr>
            <a:spLocks noGrp="1"/>
          </p:cNvSpPr>
          <p:nvPr>
            <p:ph type="sldNum" sz="quarter" idx="4294967295"/>
          </p:nvPr>
        </p:nvSpPr>
        <p:spPr>
          <a:xfrm>
            <a:off x="11841480" y="6492240"/>
            <a:ext cx="800000" cy="30000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4350" y="240030"/>
            <a:ext cx="8092440" cy="308610"/>
          </a:xfrm>
          <a:prstGeom prst="rect">
            <a:avLst/>
          </a:prstGeom>
          <a:noFill/>
          <a:ln/>
        </p:spPr>
        <p:txBody>
          <a:bodyPr wrap="square" lIns="0" tIns="0" rIns="0" bIns="0" rtlCol="0" anchor="ctr"/>
          <a:lstStyle/>
          <a:p>
            <a:r>
              <a:rPr lang="en-US" sz="2000" b="1" dirty="0">
                <a:solidFill>
                  <a:schemeClr val="dk1"/>
                </a:solidFill>
                <a:latin typeface="Manrope"/>
              </a:rPr>
              <a:t>From Academic to Policy-Friendly Language</a:t>
            </a:r>
          </a:p>
        </p:txBody>
      </p:sp>
      <p:sp>
        <p:nvSpPr>
          <p:cNvPr id="3" name="Text 1"/>
          <p:cNvSpPr/>
          <p:nvPr/>
        </p:nvSpPr>
        <p:spPr>
          <a:xfrm>
            <a:off x="514350" y="603504"/>
            <a:ext cx="7955280" cy="288036"/>
          </a:xfrm>
          <a:prstGeom prst="rect">
            <a:avLst/>
          </a:prstGeom>
          <a:noFill/>
          <a:ln/>
        </p:spPr>
        <p:txBody>
          <a:bodyPr wrap="square" lIns="0" tIns="0" rIns="0" bIns="0" rtlCol="0" anchor="ctr"/>
          <a:lstStyle/>
          <a:p>
            <a:r>
              <a:rPr lang="en-US" i="1" dirty="0">
                <a:solidFill>
                  <a:schemeClr val="dk1"/>
                </a:solidFill>
                <a:latin typeface="Manrope"/>
              </a:rPr>
              <a:t>Policy briefs should be accessible to non-specialist readers. Replace each word or phrase with a clearer alternative.</a:t>
            </a:r>
          </a:p>
        </p:txBody>
      </p:sp>
      <p:sp>
        <p:nvSpPr>
          <p:cNvPr id="4" name="Shape 2"/>
          <p:cNvSpPr/>
          <p:nvPr/>
        </p:nvSpPr>
        <p:spPr>
          <a:xfrm>
            <a:off x="548640" y="1014984"/>
            <a:ext cx="3874770" cy="329184"/>
          </a:xfrm>
          <a:prstGeom prst="rect">
            <a:avLst/>
          </a:prstGeom>
          <a:solidFill>
            <a:srgbClr val="5D91E3"/>
          </a:solidFill>
          <a:ln w="12700">
            <a:solidFill>
              <a:srgbClr val="5D91E3"/>
            </a:solidFill>
            <a:prstDash val="solid"/>
          </a:ln>
        </p:spPr>
        <p:txBody>
          <a:bodyPr/>
          <a:lstStyle/>
          <a:p>
            <a:endParaRPr lang="ru-KZ"/>
          </a:p>
        </p:txBody>
      </p:sp>
      <p:sp>
        <p:nvSpPr>
          <p:cNvPr id="5" name="Shape 3"/>
          <p:cNvSpPr/>
          <p:nvPr/>
        </p:nvSpPr>
        <p:spPr>
          <a:xfrm>
            <a:off x="4560570" y="1014984"/>
            <a:ext cx="4011930" cy="329184"/>
          </a:xfrm>
          <a:prstGeom prst="rect">
            <a:avLst/>
          </a:prstGeom>
          <a:solidFill>
            <a:srgbClr val="0B2A50"/>
          </a:solidFill>
          <a:ln w="12700">
            <a:solidFill>
              <a:srgbClr val="0B2A50"/>
            </a:solidFill>
            <a:prstDash val="solid"/>
          </a:ln>
        </p:spPr>
        <p:txBody>
          <a:bodyPr/>
          <a:lstStyle/>
          <a:p>
            <a:endParaRPr lang="ru-KZ"/>
          </a:p>
        </p:txBody>
      </p:sp>
      <p:sp>
        <p:nvSpPr>
          <p:cNvPr id="6" name="Text 4"/>
          <p:cNvSpPr/>
          <p:nvPr/>
        </p:nvSpPr>
        <p:spPr>
          <a:xfrm>
            <a:off x="617220" y="1090422"/>
            <a:ext cx="3737610" cy="137160"/>
          </a:xfrm>
          <a:prstGeom prst="rect">
            <a:avLst/>
          </a:prstGeom>
          <a:noFill/>
          <a:ln/>
        </p:spPr>
        <p:txBody>
          <a:bodyPr wrap="square" lIns="0" tIns="0" rIns="0" bIns="0" rtlCol="0" anchor="ctr"/>
          <a:lstStyle/>
          <a:p>
            <a:pPr algn="ctr"/>
            <a:r>
              <a:rPr lang="en-US" b="1" dirty="0">
                <a:solidFill>
                  <a:schemeClr val="bg1"/>
                </a:solidFill>
                <a:latin typeface="Manrope"/>
              </a:rPr>
              <a:t>ACADEMIC / FORMAL</a:t>
            </a:r>
          </a:p>
        </p:txBody>
      </p:sp>
      <p:sp>
        <p:nvSpPr>
          <p:cNvPr id="7" name="Text 5"/>
          <p:cNvSpPr/>
          <p:nvPr/>
        </p:nvSpPr>
        <p:spPr>
          <a:xfrm>
            <a:off x="4629150" y="1090422"/>
            <a:ext cx="3874770" cy="137160"/>
          </a:xfrm>
          <a:prstGeom prst="rect">
            <a:avLst/>
          </a:prstGeom>
          <a:noFill/>
          <a:ln/>
        </p:spPr>
        <p:txBody>
          <a:bodyPr wrap="square" lIns="0" tIns="0" rIns="0" bIns="0" rtlCol="0" anchor="ctr"/>
          <a:lstStyle/>
          <a:p>
            <a:pPr algn="ctr"/>
            <a:r>
              <a:rPr lang="en-US" b="1" dirty="0">
                <a:solidFill>
                  <a:schemeClr val="bg1"/>
                </a:solidFill>
                <a:latin typeface="Manrope"/>
              </a:rPr>
              <a:t>CLEARER ALTERNATIVE</a:t>
            </a:r>
          </a:p>
        </p:txBody>
      </p:sp>
      <p:sp>
        <p:nvSpPr>
          <p:cNvPr id="8" name="Shape 6"/>
          <p:cNvSpPr/>
          <p:nvPr/>
        </p:nvSpPr>
        <p:spPr>
          <a:xfrm>
            <a:off x="548640" y="1385316"/>
            <a:ext cx="3874770" cy="246888"/>
          </a:xfrm>
          <a:prstGeom prst="rect">
            <a:avLst/>
          </a:prstGeom>
          <a:solidFill>
            <a:srgbClr val="F7F9FC"/>
          </a:solidFill>
          <a:ln w="6350">
            <a:solidFill>
              <a:srgbClr val="DCE5F1"/>
            </a:solidFill>
            <a:prstDash val="solid"/>
          </a:ln>
        </p:spPr>
        <p:txBody>
          <a:bodyPr/>
          <a:lstStyle/>
          <a:p>
            <a:endParaRPr lang="ru-KZ"/>
          </a:p>
        </p:txBody>
      </p:sp>
      <p:sp>
        <p:nvSpPr>
          <p:cNvPr id="9" name="Shape 7"/>
          <p:cNvSpPr/>
          <p:nvPr/>
        </p:nvSpPr>
        <p:spPr>
          <a:xfrm>
            <a:off x="4560570" y="1385316"/>
            <a:ext cx="4011930" cy="246888"/>
          </a:xfrm>
          <a:prstGeom prst="rect">
            <a:avLst/>
          </a:prstGeom>
          <a:solidFill>
            <a:srgbClr val="F7F9FC"/>
          </a:solidFill>
          <a:ln w="6350">
            <a:solidFill>
              <a:srgbClr val="DCE5F1"/>
            </a:solidFill>
            <a:prstDash val="solid"/>
          </a:ln>
        </p:spPr>
        <p:txBody>
          <a:bodyPr/>
          <a:lstStyle/>
          <a:p>
            <a:endParaRPr lang="ru-KZ"/>
          </a:p>
        </p:txBody>
      </p:sp>
      <p:sp>
        <p:nvSpPr>
          <p:cNvPr id="10" name="Text 8"/>
          <p:cNvSpPr/>
          <p:nvPr/>
        </p:nvSpPr>
        <p:spPr>
          <a:xfrm>
            <a:off x="706374" y="1433322"/>
            <a:ext cx="3531870" cy="130302"/>
          </a:xfrm>
          <a:prstGeom prst="rect">
            <a:avLst/>
          </a:prstGeom>
          <a:noFill/>
          <a:ln/>
        </p:spPr>
        <p:txBody>
          <a:bodyPr wrap="square" lIns="0" tIns="0" rIns="0" bIns="0" rtlCol="0" anchor="ctr"/>
          <a:lstStyle/>
          <a:p>
            <a:r>
              <a:rPr lang="en-US" dirty="0">
                <a:solidFill>
                  <a:schemeClr val="dk1"/>
                </a:solidFill>
                <a:latin typeface="Manrope"/>
              </a:rPr>
              <a:t>operationalize</a:t>
            </a:r>
          </a:p>
        </p:txBody>
      </p:sp>
      <p:sp>
        <p:nvSpPr>
          <p:cNvPr id="12" name="Shape 10"/>
          <p:cNvSpPr/>
          <p:nvPr/>
        </p:nvSpPr>
        <p:spPr>
          <a:xfrm>
            <a:off x="548640" y="1632204"/>
            <a:ext cx="3874770" cy="246888"/>
          </a:xfrm>
          <a:prstGeom prst="rect">
            <a:avLst/>
          </a:prstGeom>
          <a:solidFill>
            <a:srgbClr val="EEF3FA"/>
          </a:solidFill>
          <a:ln w="6350">
            <a:solidFill>
              <a:srgbClr val="DCE5F1"/>
            </a:solidFill>
            <a:prstDash val="solid"/>
          </a:ln>
        </p:spPr>
        <p:txBody>
          <a:bodyPr/>
          <a:lstStyle/>
          <a:p>
            <a:endParaRPr lang="ru-KZ"/>
          </a:p>
        </p:txBody>
      </p:sp>
      <p:sp>
        <p:nvSpPr>
          <p:cNvPr id="13" name="Shape 11"/>
          <p:cNvSpPr/>
          <p:nvPr/>
        </p:nvSpPr>
        <p:spPr>
          <a:xfrm>
            <a:off x="4560570" y="1632204"/>
            <a:ext cx="4011930" cy="246888"/>
          </a:xfrm>
          <a:prstGeom prst="rect">
            <a:avLst/>
          </a:prstGeom>
          <a:solidFill>
            <a:srgbClr val="EEF3FA"/>
          </a:solidFill>
          <a:ln w="6350">
            <a:solidFill>
              <a:srgbClr val="DCE5F1"/>
            </a:solidFill>
            <a:prstDash val="solid"/>
          </a:ln>
        </p:spPr>
        <p:txBody>
          <a:bodyPr/>
          <a:lstStyle/>
          <a:p>
            <a:endParaRPr lang="ru-KZ"/>
          </a:p>
        </p:txBody>
      </p:sp>
      <p:sp>
        <p:nvSpPr>
          <p:cNvPr id="14" name="Text 12"/>
          <p:cNvSpPr/>
          <p:nvPr/>
        </p:nvSpPr>
        <p:spPr>
          <a:xfrm>
            <a:off x="706374" y="1680210"/>
            <a:ext cx="3531870" cy="130302"/>
          </a:xfrm>
          <a:prstGeom prst="rect">
            <a:avLst/>
          </a:prstGeom>
          <a:noFill/>
          <a:ln/>
        </p:spPr>
        <p:txBody>
          <a:bodyPr wrap="square" lIns="0" tIns="0" rIns="0" bIns="0" rtlCol="0" anchor="ctr"/>
          <a:lstStyle/>
          <a:p>
            <a:r>
              <a:rPr lang="en-US" dirty="0">
                <a:solidFill>
                  <a:schemeClr val="dk1"/>
                </a:solidFill>
                <a:latin typeface="Manrope"/>
              </a:rPr>
              <a:t>facilitate</a:t>
            </a:r>
          </a:p>
        </p:txBody>
      </p:sp>
      <p:sp>
        <p:nvSpPr>
          <p:cNvPr id="16" name="Shape 14"/>
          <p:cNvSpPr/>
          <p:nvPr/>
        </p:nvSpPr>
        <p:spPr>
          <a:xfrm>
            <a:off x="548640" y="1879092"/>
            <a:ext cx="3874770" cy="246888"/>
          </a:xfrm>
          <a:prstGeom prst="rect">
            <a:avLst/>
          </a:prstGeom>
          <a:solidFill>
            <a:srgbClr val="F7F9FC"/>
          </a:solidFill>
          <a:ln w="6350">
            <a:solidFill>
              <a:srgbClr val="DCE5F1"/>
            </a:solidFill>
            <a:prstDash val="solid"/>
          </a:ln>
        </p:spPr>
        <p:txBody>
          <a:bodyPr/>
          <a:lstStyle/>
          <a:p>
            <a:endParaRPr lang="ru-KZ"/>
          </a:p>
        </p:txBody>
      </p:sp>
      <p:sp>
        <p:nvSpPr>
          <p:cNvPr id="17" name="Shape 15"/>
          <p:cNvSpPr/>
          <p:nvPr/>
        </p:nvSpPr>
        <p:spPr>
          <a:xfrm>
            <a:off x="4560570" y="1879092"/>
            <a:ext cx="4011930" cy="246888"/>
          </a:xfrm>
          <a:prstGeom prst="rect">
            <a:avLst/>
          </a:prstGeom>
          <a:solidFill>
            <a:srgbClr val="F7F9FC"/>
          </a:solidFill>
          <a:ln w="6350">
            <a:solidFill>
              <a:srgbClr val="DCE5F1"/>
            </a:solidFill>
            <a:prstDash val="solid"/>
          </a:ln>
        </p:spPr>
        <p:txBody>
          <a:bodyPr/>
          <a:lstStyle/>
          <a:p>
            <a:endParaRPr lang="ru-KZ"/>
          </a:p>
        </p:txBody>
      </p:sp>
      <p:sp>
        <p:nvSpPr>
          <p:cNvPr id="18" name="Text 16"/>
          <p:cNvSpPr/>
          <p:nvPr/>
        </p:nvSpPr>
        <p:spPr>
          <a:xfrm>
            <a:off x="706374" y="1927098"/>
            <a:ext cx="3531870" cy="130302"/>
          </a:xfrm>
          <a:prstGeom prst="rect">
            <a:avLst/>
          </a:prstGeom>
          <a:noFill/>
          <a:ln/>
        </p:spPr>
        <p:txBody>
          <a:bodyPr wrap="square" lIns="0" tIns="0" rIns="0" bIns="0" rtlCol="0" anchor="ctr"/>
          <a:lstStyle/>
          <a:p>
            <a:r>
              <a:rPr lang="en-US" dirty="0" err="1">
                <a:solidFill>
                  <a:schemeClr val="dk1"/>
                </a:solidFill>
                <a:latin typeface="Manrope"/>
              </a:rPr>
              <a:t>endeavour</a:t>
            </a:r>
            <a:endParaRPr lang="en-US" dirty="0">
              <a:solidFill>
                <a:schemeClr val="dk1"/>
              </a:solidFill>
              <a:latin typeface="Manrope"/>
            </a:endParaRPr>
          </a:p>
        </p:txBody>
      </p:sp>
      <p:sp>
        <p:nvSpPr>
          <p:cNvPr id="20" name="Shape 18"/>
          <p:cNvSpPr/>
          <p:nvPr/>
        </p:nvSpPr>
        <p:spPr>
          <a:xfrm>
            <a:off x="548640" y="2125980"/>
            <a:ext cx="3874770" cy="246888"/>
          </a:xfrm>
          <a:prstGeom prst="rect">
            <a:avLst/>
          </a:prstGeom>
          <a:solidFill>
            <a:srgbClr val="EEF3FA"/>
          </a:solidFill>
          <a:ln w="6350">
            <a:solidFill>
              <a:srgbClr val="DCE5F1"/>
            </a:solidFill>
            <a:prstDash val="solid"/>
          </a:ln>
        </p:spPr>
        <p:txBody>
          <a:bodyPr/>
          <a:lstStyle/>
          <a:p>
            <a:endParaRPr lang="ru-KZ"/>
          </a:p>
        </p:txBody>
      </p:sp>
      <p:sp>
        <p:nvSpPr>
          <p:cNvPr id="21" name="Shape 19"/>
          <p:cNvSpPr/>
          <p:nvPr/>
        </p:nvSpPr>
        <p:spPr>
          <a:xfrm>
            <a:off x="4560570" y="2125980"/>
            <a:ext cx="4011930" cy="246888"/>
          </a:xfrm>
          <a:prstGeom prst="rect">
            <a:avLst/>
          </a:prstGeom>
          <a:solidFill>
            <a:srgbClr val="EEF3FA"/>
          </a:solidFill>
          <a:ln w="6350">
            <a:solidFill>
              <a:srgbClr val="DCE5F1"/>
            </a:solidFill>
            <a:prstDash val="solid"/>
          </a:ln>
        </p:spPr>
        <p:txBody>
          <a:bodyPr/>
          <a:lstStyle/>
          <a:p>
            <a:endParaRPr lang="ru-KZ"/>
          </a:p>
        </p:txBody>
      </p:sp>
      <p:sp>
        <p:nvSpPr>
          <p:cNvPr id="22" name="Text 20"/>
          <p:cNvSpPr/>
          <p:nvPr/>
        </p:nvSpPr>
        <p:spPr>
          <a:xfrm>
            <a:off x="706374" y="2173986"/>
            <a:ext cx="3531870" cy="130302"/>
          </a:xfrm>
          <a:prstGeom prst="rect">
            <a:avLst/>
          </a:prstGeom>
          <a:noFill/>
          <a:ln/>
        </p:spPr>
        <p:txBody>
          <a:bodyPr wrap="square" lIns="0" tIns="0" rIns="0" bIns="0" rtlCol="0" anchor="ctr"/>
          <a:lstStyle/>
          <a:p>
            <a:r>
              <a:rPr lang="en-US" dirty="0">
                <a:solidFill>
                  <a:schemeClr val="dk1"/>
                </a:solidFill>
                <a:latin typeface="Manrope"/>
              </a:rPr>
              <a:t>ascertain</a:t>
            </a:r>
          </a:p>
        </p:txBody>
      </p:sp>
      <p:sp>
        <p:nvSpPr>
          <p:cNvPr id="24" name="Shape 22"/>
          <p:cNvSpPr/>
          <p:nvPr/>
        </p:nvSpPr>
        <p:spPr>
          <a:xfrm>
            <a:off x="548640" y="2372868"/>
            <a:ext cx="3874770" cy="246888"/>
          </a:xfrm>
          <a:prstGeom prst="rect">
            <a:avLst/>
          </a:prstGeom>
          <a:solidFill>
            <a:srgbClr val="F7F9FC"/>
          </a:solidFill>
          <a:ln w="6350">
            <a:solidFill>
              <a:srgbClr val="DCE5F1"/>
            </a:solidFill>
            <a:prstDash val="solid"/>
          </a:ln>
        </p:spPr>
        <p:txBody>
          <a:bodyPr/>
          <a:lstStyle/>
          <a:p>
            <a:endParaRPr lang="ru-KZ"/>
          </a:p>
        </p:txBody>
      </p:sp>
      <p:sp>
        <p:nvSpPr>
          <p:cNvPr id="25" name="Shape 23"/>
          <p:cNvSpPr/>
          <p:nvPr/>
        </p:nvSpPr>
        <p:spPr>
          <a:xfrm>
            <a:off x="4560570" y="2372868"/>
            <a:ext cx="4011930" cy="246888"/>
          </a:xfrm>
          <a:prstGeom prst="rect">
            <a:avLst/>
          </a:prstGeom>
          <a:solidFill>
            <a:srgbClr val="F7F9FC"/>
          </a:solidFill>
          <a:ln w="6350">
            <a:solidFill>
              <a:srgbClr val="DCE5F1"/>
            </a:solidFill>
            <a:prstDash val="solid"/>
          </a:ln>
        </p:spPr>
        <p:txBody>
          <a:bodyPr/>
          <a:lstStyle/>
          <a:p>
            <a:endParaRPr lang="ru-KZ"/>
          </a:p>
        </p:txBody>
      </p:sp>
      <p:sp>
        <p:nvSpPr>
          <p:cNvPr id="26" name="Text 24"/>
          <p:cNvSpPr/>
          <p:nvPr/>
        </p:nvSpPr>
        <p:spPr>
          <a:xfrm>
            <a:off x="706374" y="2420874"/>
            <a:ext cx="3531870" cy="130302"/>
          </a:xfrm>
          <a:prstGeom prst="rect">
            <a:avLst/>
          </a:prstGeom>
          <a:noFill/>
          <a:ln/>
        </p:spPr>
        <p:txBody>
          <a:bodyPr wrap="square" lIns="0" tIns="0" rIns="0" bIns="0" rtlCol="0" anchor="ctr"/>
          <a:lstStyle/>
          <a:p>
            <a:r>
              <a:rPr lang="en-US" dirty="0">
                <a:solidFill>
                  <a:schemeClr val="dk1"/>
                </a:solidFill>
                <a:latin typeface="Manrope"/>
              </a:rPr>
              <a:t>ameliorate</a:t>
            </a:r>
          </a:p>
        </p:txBody>
      </p:sp>
      <p:sp>
        <p:nvSpPr>
          <p:cNvPr id="28" name="Shape 26"/>
          <p:cNvSpPr/>
          <p:nvPr/>
        </p:nvSpPr>
        <p:spPr>
          <a:xfrm>
            <a:off x="548640" y="2619756"/>
            <a:ext cx="3874770" cy="246888"/>
          </a:xfrm>
          <a:prstGeom prst="rect">
            <a:avLst/>
          </a:prstGeom>
          <a:solidFill>
            <a:srgbClr val="EEF3FA"/>
          </a:solidFill>
          <a:ln w="6350">
            <a:solidFill>
              <a:srgbClr val="DCE5F1"/>
            </a:solidFill>
            <a:prstDash val="solid"/>
          </a:ln>
        </p:spPr>
        <p:txBody>
          <a:bodyPr/>
          <a:lstStyle/>
          <a:p>
            <a:endParaRPr lang="ru-KZ"/>
          </a:p>
        </p:txBody>
      </p:sp>
      <p:sp>
        <p:nvSpPr>
          <p:cNvPr id="29" name="Shape 27"/>
          <p:cNvSpPr/>
          <p:nvPr/>
        </p:nvSpPr>
        <p:spPr>
          <a:xfrm>
            <a:off x="4560570" y="2619756"/>
            <a:ext cx="4011930" cy="246888"/>
          </a:xfrm>
          <a:prstGeom prst="rect">
            <a:avLst/>
          </a:prstGeom>
          <a:solidFill>
            <a:srgbClr val="EEF3FA"/>
          </a:solidFill>
          <a:ln w="6350">
            <a:solidFill>
              <a:srgbClr val="DCE5F1"/>
            </a:solidFill>
            <a:prstDash val="solid"/>
          </a:ln>
        </p:spPr>
        <p:txBody>
          <a:bodyPr/>
          <a:lstStyle/>
          <a:p>
            <a:endParaRPr lang="ru-KZ"/>
          </a:p>
        </p:txBody>
      </p:sp>
      <p:sp>
        <p:nvSpPr>
          <p:cNvPr id="30" name="Text 28"/>
          <p:cNvSpPr/>
          <p:nvPr/>
        </p:nvSpPr>
        <p:spPr>
          <a:xfrm>
            <a:off x="706374" y="2667762"/>
            <a:ext cx="3531870" cy="130302"/>
          </a:xfrm>
          <a:prstGeom prst="rect">
            <a:avLst/>
          </a:prstGeom>
          <a:noFill/>
          <a:ln/>
        </p:spPr>
        <p:txBody>
          <a:bodyPr wrap="square" lIns="0" tIns="0" rIns="0" bIns="0" rtlCol="0" anchor="ctr"/>
          <a:lstStyle/>
          <a:p>
            <a:r>
              <a:rPr lang="en-US" dirty="0">
                <a:solidFill>
                  <a:schemeClr val="dk1"/>
                </a:solidFill>
                <a:latin typeface="Manrope"/>
              </a:rPr>
              <a:t>adverse</a:t>
            </a:r>
          </a:p>
        </p:txBody>
      </p:sp>
      <p:sp>
        <p:nvSpPr>
          <p:cNvPr id="32" name="Shape 30"/>
          <p:cNvSpPr/>
          <p:nvPr/>
        </p:nvSpPr>
        <p:spPr>
          <a:xfrm>
            <a:off x="548640" y="2866644"/>
            <a:ext cx="3874770" cy="246888"/>
          </a:xfrm>
          <a:prstGeom prst="rect">
            <a:avLst/>
          </a:prstGeom>
          <a:solidFill>
            <a:srgbClr val="F7F9FC"/>
          </a:solidFill>
          <a:ln w="6350">
            <a:solidFill>
              <a:srgbClr val="DCE5F1"/>
            </a:solidFill>
            <a:prstDash val="solid"/>
          </a:ln>
        </p:spPr>
        <p:txBody>
          <a:bodyPr/>
          <a:lstStyle/>
          <a:p>
            <a:endParaRPr lang="ru-KZ"/>
          </a:p>
        </p:txBody>
      </p:sp>
      <p:sp>
        <p:nvSpPr>
          <p:cNvPr id="33" name="Shape 31"/>
          <p:cNvSpPr/>
          <p:nvPr/>
        </p:nvSpPr>
        <p:spPr>
          <a:xfrm>
            <a:off x="4560570" y="2866644"/>
            <a:ext cx="4011930" cy="246888"/>
          </a:xfrm>
          <a:prstGeom prst="rect">
            <a:avLst/>
          </a:prstGeom>
          <a:solidFill>
            <a:srgbClr val="F7F9FC"/>
          </a:solidFill>
          <a:ln w="6350">
            <a:solidFill>
              <a:srgbClr val="DCE5F1"/>
            </a:solidFill>
            <a:prstDash val="solid"/>
          </a:ln>
        </p:spPr>
        <p:txBody>
          <a:bodyPr/>
          <a:lstStyle/>
          <a:p>
            <a:endParaRPr lang="ru-KZ"/>
          </a:p>
        </p:txBody>
      </p:sp>
      <p:sp>
        <p:nvSpPr>
          <p:cNvPr id="34" name="Text 32"/>
          <p:cNvSpPr/>
          <p:nvPr/>
        </p:nvSpPr>
        <p:spPr>
          <a:xfrm>
            <a:off x="706374" y="2914650"/>
            <a:ext cx="3531870" cy="130302"/>
          </a:xfrm>
          <a:prstGeom prst="rect">
            <a:avLst/>
          </a:prstGeom>
          <a:noFill/>
          <a:ln/>
        </p:spPr>
        <p:txBody>
          <a:bodyPr wrap="square" lIns="0" tIns="0" rIns="0" bIns="0" rtlCol="0" anchor="ctr"/>
          <a:lstStyle/>
          <a:p>
            <a:r>
              <a:rPr lang="en-US" dirty="0">
                <a:solidFill>
                  <a:schemeClr val="dk1"/>
                </a:solidFill>
                <a:latin typeface="Manrope"/>
              </a:rPr>
              <a:t>commence</a:t>
            </a:r>
          </a:p>
        </p:txBody>
      </p:sp>
      <p:sp>
        <p:nvSpPr>
          <p:cNvPr id="36" name="Shape 34"/>
          <p:cNvSpPr/>
          <p:nvPr/>
        </p:nvSpPr>
        <p:spPr>
          <a:xfrm>
            <a:off x="548640" y="3113532"/>
            <a:ext cx="3874770" cy="246888"/>
          </a:xfrm>
          <a:prstGeom prst="rect">
            <a:avLst/>
          </a:prstGeom>
          <a:solidFill>
            <a:srgbClr val="EEF3FA"/>
          </a:solidFill>
          <a:ln w="6350">
            <a:solidFill>
              <a:srgbClr val="DCE5F1"/>
            </a:solidFill>
            <a:prstDash val="solid"/>
          </a:ln>
        </p:spPr>
        <p:txBody>
          <a:bodyPr/>
          <a:lstStyle/>
          <a:p>
            <a:endParaRPr lang="ru-KZ"/>
          </a:p>
        </p:txBody>
      </p:sp>
      <p:sp>
        <p:nvSpPr>
          <p:cNvPr id="37" name="Shape 35"/>
          <p:cNvSpPr/>
          <p:nvPr/>
        </p:nvSpPr>
        <p:spPr>
          <a:xfrm>
            <a:off x="4560570" y="3113532"/>
            <a:ext cx="4011930" cy="246888"/>
          </a:xfrm>
          <a:prstGeom prst="rect">
            <a:avLst/>
          </a:prstGeom>
          <a:solidFill>
            <a:srgbClr val="EEF3FA"/>
          </a:solidFill>
          <a:ln w="6350">
            <a:solidFill>
              <a:srgbClr val="DCE5F1"/>
            </a:solidFill>
            <a:prstDash val="solid"/>
          </a:ln>
        </p:spPr>
        <p:txBody>
          <a:bodyPr/>
          <a:lstStyle/>
          <a:p>
            <a:endParaRPr lang="ru-KZ"/>
          </a:p>
        </p:txBody>
      </p:sp>
      <p:sp>
        <p:nvSpPr>
          <p:cNvPr id="38" name="Text 36"/>
          <p:cNvSpPr/>
          <p:nvPr/>
        </p:nvSpPr>
        <p:spPr>
          <a:xfrm>
            <a:off x="706374" y="3161538"/>
            <a:ext cx="3531870" cy="130302"/>
          </a:xfrm>
          <a:prstGeom prst="rect">
            <a:avLst/>
          </a:prstGeom>
          <a:noFill/>
          <a:ln/>
        </p:spPr>
        <p:txBody>
          <a:bodyPr wrap="square" lIns="0" tIns="0" rIns="0" bIns="0" rtlCol="0" anchor="ctr"/>
          <a:lstStyle/>
          <a:p>
            <a:r>
              <a:rPr lang="en-US" dirty="0">
                <a:solidFill>
                  <a:schemeClr val="dk1"/>
                </a:solidFill>
                <a:latin typeface="Manrope"/>
              </a:rPr>
              <a:t>in the vicinity of</a:t>
            </a:r>
          </a:p>
        </p:txBody>
      </p:sp>
      <p:sp>
        <p:nvSpPr>
          <p:cNvPr id="40" name="Shape 38"/>
          <p:cNvSpPr/>
          <p:nvPr/>
        </p:nvSpPr>
        <p:spPr>
          <a:xfrm>
            <a:off x="548640" y="3360420"/>
            <a:ext cx="3874770" cy="246888"/>
          </a:xfrm>
          <a:prstGeom prst="rect">
            <a:avLst/>
          </a:prstGeom>
          <a:solidFill>
            <a:srgbClr val="F7F9FC"/>
          </a:solidFill>
          <a:ln w="6350">
            <a:solidFill>
              <a:srgbClr val="DCE5F1"/>
            </a:solidFill>
            <a:prstDash val="solid"/>
          </a:ln>
        </p:spPr>
        <p:txBody>
          <a:bodyPr/>
          <a:lstStyle/>
          <a:p>
            <a:endParaRPr lang="ru-KZ"/>
          </a:p>
        </p:txBody>
      </p:sp>
      <p:sp>
        <p:nvSpPr>
          <p:cNvPr id="41" name="Shape 39"/>
          <p:cNvSpPr/>
          <p:nvPr/>
        </p:nvSpPr>
        <p:spPr>
          <a:xfrm>
            <a:off x="4560570" y="3360420"/>
            <a:ext cx="4011930" cy="246888"/>
          </a:xfrm>
          <a:prstGeom prst="rect">
            <a:avLst/>
          </a:prstGeom>
          <a:solidFill>
            <a:srgbClr val="F7F9FC"/>
          </a:solidFill>
          <a:ln w="6350">
            <a:solidFill>
              <a:srgbClr val="DCE5F1"/>
            </a:solidFill>
            <a:prstDash val="solid"/>
          </a:ln>
        </p:spPr>
        <p:txBody>
          <a:bodyPr/>
          <a:lstStyle/>
          <a:p>
            <a:endParaRPr lang="ru-KZ"/>
          </a:p>
        </p:txBody>
      </p:sp>
      <p:sp>
        <p:nvSpPr>
          <p:cNvPr id="42" name="Text 40"/>
          <p:cNvSpPr/>
          <p:nvPr/>
        </p:nvSpPr>
        <p:spPr>
          <a:xfrm>
            <a:off x="706374" y="3408426"/>
            <a:ext cx="3531870" cy="130302"/>
          </a:xfrm>
          <a:prstGeom prst="rect">
            <a:avLst/>
          </a:prstGeom>
          <a:noFill/>
          <a:ln/>
        </p:spPr>
        <p:txBody>
          <a:bodyPr wrap="square" lIns="0" tIns="0" rIns="0" bIns="0" rtlCol="0" anchor="ctr"/>
          <a:lstStyle/>
          <a:p>
            <a:r>
              <a:rPr lang="en-US" dirty="0">
                <a:solidFill>
                  <a:schemeClr val="dk1"/>
                </a:solidFill>
                <a:latin typeface="Manrope"/>
              </a:rPr>
              <a:t>expeditiously</a:t>
            </a:r>
          </a:p>
        </p:txBody>
      </p:sp>
      <p:sp>
        <p:nvSpPr>
          <p:cNvPr id="44" name="Shape 42"/>
          <p:cNvSpPr/>
          <p:nvPr/>
        </p:nvSpPr>
        <p:spPr>
          <a:xfrm>
            <a:off x="548640" y="3607308"/>
            <a:ext cx="3874770" cy="246888"/>
          </a:xfrm>
          <a:prstGeom prst="rect">
            <a:avLst/>
          </a:prstGeom>
          <a:solidFill>
            <a:srgbClr val="EEF3FA"/>
          </a:solidFill>
          <a:ln w="6350">
            <a:solidFill>
              <a:srgbClr val="DCE5F1"/>
            </a:solidFill>
            <a:prstDash val="solid"/>
          </a:ln>
        </p:spPr>
        <p:txBody>
          <a:bodyPr/>
          <a:lstStyle/>
          <a:p>
            <a:endParaRPr lang="ru-KZ"/>
          </a:p>
        </p:txBody>
      </p:sp>
      <p:sp>
        <p:nvSpPr>
          <p:cNvPr id="45" name="Shape 43"/>
          <p:cNvSpPr/>
          <p:nvPr/>
        </p:nvSpPr>
        <p:spPr>
          <a:xfrm>
            <a:off x="4560570" y="3607308"/>
            <a:ext cx="4011930" cy="246888"/>
          </a:xfrm>
          <a:prstGeom prst="rect">
            <a:avLst/>
          </a:prstGeom>
          <a:solidFill>
            <a:srgbClr val="EEF3FA"/>
          </a:solidFill>
          <a:ln w="6350">
            <a:solidFill>
              <a:srgbClr val="DCE5F1"/>
            </a:solidFill>
            <a:prstDash val="solid"/>
          </a:ln>
        </p:spPr>
        <p:txBody>
          <a:bodyPr/>
          <a:lstStyle/>
          <a:p>
            <a:endParaRPr lang="ru-KZ"/>
          </a:p>
        </p:txBody>
      </p:sp>
      <p:sp>
        <p:nvSpPr>
          <p:cNvPr id="46" name="Text 44"/>
          <p:cNvSpPr/>
          <p:nvPr/>
        </p:nvSpPr>
        <p:spPr>
          <a:xfrm>
            <a:off x="706374" y="3655314"/>
            <a:ext cx="3531870" cy="130302"/>
          </a:xfrm>
          <a:prstGeom prst="rect">
            <a:avLst/>
          </a:prstGeom>
          <a:noFill/>
          <a:ln/>
        </p:spPr>
        <p:txBody>
          <a:bodyPr wrap="square" lIns="0" tIns="0" rIns="0" bIns="0" rtlCol="0" anchor="ctr"/>
          <a:lstStyle/>
          <a:p>
            <a:r>
              <a:rPr lang="en-US" dirty="0">
                <a:solidFill>
                  <a:schemeClr val="dk1"/>
                </a:solidFill>
                <a:latin typeface="Manrope"/>
              </a:rPr>
              <a:t>aggregate</a:t>
            </a:r>
          </a:p>
        </p:txBody>
      </p:sp>
      <p:sp>
        <p:nvSpPr>
          <p:cNvPr id="48" name="Shape 46"/>
          <p:cNvSpPr/>
          <p:nvPr/>
        </p:nvSpPr>
        <p:spPr>
          <a:xfrm>
            <a:off x="548640" y="3854196"/>
            <a:ext cx="3874770" cy="246888"/>
          </a:xfrm>
          <a:prstGeom prst="rect">
            <a:avLst/>
          </a:prstGeom>
          <a:solidFill>
            <a:srgbClr val="F7F9FC"/>
          </a:solidFill>
          <a:ln w="6350">
            <a:solidFill>
              <a:srgbClr val="DCE5F1"/>
            </a:solidFill>
            <a:prstDash val="solid"/>
          </a:ln>
        </p:spPr>
        <p:txBody>
          <a:bodyPr/>
          <a:lstStyle/>
          <a:p>
            <a:endParaRPr lang="ru-KZ"/>
          </a:p>
        </p:txBody>
      </p:sp>
      <p:sp>
        <p:nvSpPr>
          <p:cNvPr id="49" name="Shape 47"/>
          <p:cNvSpPr/>
          <p:nvPr/>
        </p:nvSpPr>
        <p:spPr>
          <a:xfrm>
            <a:off x="4560570" y="3854196"/>
            <a:ext cx="4011930" cy="246888"/>
          </a:xfrm>
          <a:prstGeom prst="rect">
            <a:avLst/>
          </a:prstGeom>
          <a:solidFill>
            <a:srgbClr val="F7F9FC"/>
          </a:solidFill>
          <a:ln w="6350">
            <a:solidFill>
              <a:srgbClr val="DCE5F1"/>
            </a:solidFill>
            <a:prstDash val="solid"/>
          </a:ln>
        </p:spPr>
        <p:txBody>
          <a:bodyPr/>
          <a:lstStyle/>
          <a:p>
            <a:endParaRPr lang="ru-KZ"/>
          </a:p>
        </p:txBody>
      </p:sp>
      <p:sp>
        <p:nvSpPr>
          <p:cNvPr id="50" name="Text 48"/>
          <p:cNvSpPr/>
          <p:nvPr/>
        </p:nvSpPr>
        <p:spPr>
          <a:xfrm>
            <a:off x="706374" y="3902202"/>
            <a:ext cx="3531870" cy="130302"/>
          </a:xfrm>
          <a:prstGeom prst="rect">
            <a:avLst/>
          </a:prstGeom>
          <a:noFill/>
          <a:ln/>
        </p:spPr>
        <p:txBody>
          <a:bodyPr wrap="square" lIns="0" tIns="0" rIns="0" bIns="0" rtlCol="0" anchor="ctr"/>
          <a:lstStyle/>
          <a:p>
            <a:r>
              <a:rPr lang="en-US" dirty="0">
                <a:solidFill>
                  <a:schemeClr val="dk1"/>
                </a:solidFill>
                <a:latin typeface="Manrope"/>
              </a:rPr>
              <a:t>corroborate</a:t>
            </a:r>
          </a:p>
        </p:txBody>
      </p:sp>
      <p:sp>
        <p:nvSpPr>
          <p:cNvPr id="52" name="Shape 50"/>
          <p:cNvSpPr/>
          <p:nvPr/>
        </p:nvSpPr>
        <p:spPr>
          <a:xfrm>
            <a:off x="548640" y="4251960"/>
            <a:ext cx="8023860" cy="493776"/>
          </a:xfrm>
          <a:prstGeom prst="roundRect">
            <a:avLst>
              <a:gd name="adj" fmla="val 8333"/>
            </a:avLst>
          </a:prstGeom>
          <a:solidFill>
            <a:srgbClr val="F5F8FC"/>
          </a:solidFill>
          <a:ln w="12700">
            <a:solidFill>
              <a:srgbClr val="BCD0EA"/>
            </a:solidFill>
            <a:prstDash val="solid"/>
          </a:ln>
        </p:spPr>
        <p:txBody>
          <a:bodyPr/>
          <a:lstStyle/>
          <a:p>
            <a:endParaRPr lang="ru-KZ"/>
          </a:p>
        </p:txBody>
      </p:sp>
      <p:sp>
        <p:nvSpPr>
          <p:cNvPr id="53" name="Text 51"/>
          <p:cNvSpPr/>
          <p:nvPr/>
        </p:nvSpPr>
        <p:spPr>
          <a:xfrm>
            <a:off x="720090" y="4402836"/>
            <a:ext cx="7680960" cy="164592"/>
          </a:xfrm>
          <a:prstGeom prst="rect">
            <a:avLst/>
          </a:prstGeom>
          <a:noFill/>
          <a:ln/>
        </p:spPr>
        <p:txBody>
          <a:bodyPr wrap="square" lIns="0" tIns="0" rIns="0" bIns="0" rtlCol="0" anchor="ctr"/>
          <a:lstStyle/>
          <a:p>
            <a:r>
              <a:rPr lang="en-US" b="1" dirty="0">
                <a:solidFill>
                  <a:schemeClr val="dk1"/>
                </a:solidFill>
                <a:latin typeface="Manrope"/>
              </a:rPr>
              <a:t>Discuss</a:t>
            </a:r>
            <a:r>
              <a:rPr lang="en-US" dirty="0">
                <a:solidFill>
                  <a:schemeClr val="dk1"/>
                </a:solidFill>
                <a:latin typeface="Manrope"/>
              </a:rPr>
              <a:t>: Are formal or academic words always inappropriate in a policy brief? Why / why not?</a:t>
            </a:r>
          </a:p>
        </p:txBody>
      </p:sp>
      <p:sp>
        <p:nvSpPr>
          <p:cNvPr id="55" name="Shape 53"/>
          <p:cNvSpPr/>
          <p:nvPr/>
        </p:nvSpPr>
        <p:spPr>
          <a:xfrm>
            <a:off x="308610"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56" name="Shape 54"/>
          <p:cNvSpPr/>
          <p:nvPr/>
        </p:nvSpPr>
        <p:spPr>
          <a:xfrm>
            <a:off x="7989570"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57" name="Shape 55"/>
          <p:cNvSpPr/>
          <p:nvPr/>
        </p:nvSpPr>
        <p:spPr>
          <a:xfrm>
            <a:off x="500634"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58" name="Shape 56"/>
          <p:cNvSpPr/>
          <p:nvPr/>
        </p:nvSpPr>
        <p:spPr>
          <a:xfrm>
            <a:off x="8181594"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59" name="Shape 57"/>
          <p:cNvSpPr/>
          <p:nvPr/>
        </p:nvSpPr>
        <p:spPr>
          <a:xfrm>
            <a:off x="692658"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60" name="Shape 58"/>
          <p:cNvSpPr/>
          <p:nvPr/>
        </p:nvSpPr>
        <p:spPr>
          <a:xfrm>
            <a:off x="8373618"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61" name="Shape 59"/>
          <p:cNvSpPr/>
          <p:nvPr/>
        </p:nvSpPr>
        <p:spPr>
          <a:xfrm>
            <a:off x="884682"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62" name="Shape 60"/>
          <p:cNvSpPr/>
          <p:nvPr/>
        </p:nvSpPr>
        <p:spPr>
          <a:xfrm>
            <a:off x="8565642"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63" name="Shape 61"/>
          <p:cNvSpPr/>
          <p:nvPr/>
        </p:nvSpPr>
        <p:spPr>
          <a:xfrm>
            <a:off x="1076706" y="4855464"/>
            <a:ext cx="48006" cy="48006"/>
          </a:xfrm>
          <a:prstGeom prst="ellipse">
            <a:avLst/>
          </a:prstGeom>
          <a:solidFill>
            <a:srgbClr val="0B2A50"/>
          </a:solidFill>
          <a:ln w="12700">
            <a:solidFill>
              <a:srgbClr val="0B2A50"/>
            </a:solidFill>
            <a:prstDash val="solid"/>
          </a:ln>
        </p:spPr>
        <p:txBody>
          <a:bodyPr/>
          <a:lstStyle/>
          <a:p>
            <a:endParaRPr lang="ru-KZ"/>
          </a:p>
        </p:txBody>
      </p:sp>
      <p:sp>
        <p:nvSpPr>
          <p:cNvPr id="64" name="Shape 62"/>
          <p:cNvSpPr/>
          <p:nvPr/>
        </p:nvSpPr>
        <p:spPr>
          <a:xfrm>
            <a:off x="8757666" y="4855464"/>
            <a:ext cx="48006" cy="48006"/>
          </a:xfrm>
          <a:prstGeom prst="ellipse">
            <a:avLst/>
          </a:prstGeom>
          <a:solidFill>
            <a:srgbClr val="0B2A50"/>
          </a:solidFill>
          <a:ln w="12700">
            <a:solidFill>
              <a:srgbClr val="0B2A50"/>
            </a:solidFill>
            <a:prstDash val="solid"/>
          </a:ln>
        </p:spPr>
        <p:txBody>
          <a:bodyPr/>
          <a:lstStyle/>
          <a:p>
            <a:endParaRPr lang="ru-KZ"/>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3776" y="260604"/>
            <a:ext cx="8092440" cy="288036"/>
          </a:xfrm>
          <a:prstGeom prst="rect">
            <a:avLst/>
          </a:prstGeom>
          <a:noFill/>
          <a:ln/>
        </p:spPr>
        <p:txBody>
          <a:bodyPr wrap="square" lIns="0" tIns="0" rIns="0" bIns="0" rtlCol="0" anchor="ctr"/>
          <a:lstStyle/>
          <a:p>
            <a:r>
              <a:rPr lang="en-US" sz="2000" b="1" dirty="0" err="1">
                <a:solidFill>
                  <a:schemeClr val="dk1"/>
                </a:solidFill>
                <a:latin typeface="Manrope"/>
              </a:rPr>
              <a:t>Analyse</a:t>
            </a:r>
            <a:r>
              <a:rPr lang="en-US" sz="2000" b="1" dirty="0">
                <a:solidFill>
                  <a:schemeClr val="dk1"/>
                </a:solidFill>
                <a:latin typeface="Manrope"/>
              </a:rPr>
              <a:t> a</a:t>
            </a:r>
            <a:r>
              <a:rPr lang="ru-RU" sz="2000" b="1" dirty="0">
                <a:solidFill>
                  <a:schemeClr val="dk1"/>
                </a:solidFill>
                <a:latin typeface="Manrope"/>
              </a:rPr>
              <a:t> </a:t>
            </a:r>
            <a:r>
              <a:rPr lang="en-US" sz="2000" b="1" dirty="0">
                <a:solidFill>
                  <a:schemeClr val="dk1"/>
                </a:solidFill>
                <a:latin typeface="Manrope"/>
              </a:rPr>
              <a:t>Policy Brief</a:t>
            </a:r>
          </a:p>
        </p:txBody>
      </p:sp>
      <p:sp>
        <p:nvSpPr>
          <p:cNvPr id="3" name="Text 1"/>
          <p:cNvSpPr/>
          <p:nvPr/>
        </p:nvSpPr>
        <p:spPr>
          <a:xfrm>
            <a:off x="493776" y="603504"/>
            <a:ext cx="8023860" cy="260604"/>
          </a:xfrm>
          <a:prstGeom prst="rect">
            <a:avLst/>
          </a:prstGeom>
          <a:noFill/>
          <a:ln/>
        </p:spPr>
        <p:txBody>
          <a:bodyPr wrap="square" lIns="0" tIns="0" rIns="0" bIns="0" rtlCol="0" anchor="ctr"/>
          <a:lstStyle/>
          <a:p>
            <a:r>
              <a:rPr lang="en-US" i="1" dirty="0">
                <a:solidFill>
                  <a:schemeClr val="dk1"/>
                </a:solidFill>
                <a:latin typeface="Manrope"/>
              </a:rPr>
              <a:t>Skim page 1 for 60 seconds. </a:t>
            </a:r>
          </a:p>
        </p:txBody>
      </p:sp>
      <p:pic>
        <p:nvPicPr>
          <p:cNvPr id="5" name="Image 0" descr="/mnt/data/oecd_analysis_deck/oecd_p1.png"/>
          <p:cNvPicPr>
            <a:picLocks noChangeAspect="1"/>
          </p:cNvPicPr>
          <p:nvPr/>
        </p:nvPicPr>
        <p:blipFill>
          <a:blip r:embed="rId3"/>
          <a:stretch>
            <a:fillRect/>
          </a:stretch>
        </p:blipFill>
        <p:spPr>
          <a:xfrm>
            <a:off x="493776" y="1204804"/>
            <a:ext cx="2228850" cy="3152231"/>
          </a:xfrm>
          <a:prstGeom prst="rect">
            <a:avLst/>
          </a:prstGeom>
        </p:spPr>
      </p:pic>
      <p:sp>
        <p:nvSpPr>
          <p:cNvPr id="6" name="Shape 3"/>
          <p:cNvSpPr/>
          <p:nvPr/>
        </p:nvSpPr>
        <p:spPr>
          <a:xfrm>
            <a:off x="2983230" y="946404"/>
            <a:ext cx="2777490" cy="809244"/>
          </a:xfrm>
          <a:prstGeom prst="roundRect">
            <a:avLst>
              <a:gd name="adj" fmla="val 3390"/>
            </a:avLst>
          </a:prstGeom>
          <a:solidFill>
            <a:srgbClr val="EEF3FA"/>
          </a:solidFill>
          <a:ln w="12700">
            <a:solidFill>
              <a:srgbClr val="D9E3F0"/>
            </a:solidFill>
            <a:prstDash val="solid"/>
          </a:ln>
        </p:spPr>
        <p:txBody>
          <a:bodyPr/>
          <a:lstStyle/>
          <a:p>
            <a:endParaRPr lang="ru-KZ"/>
          </a:p>
        </p:txBody>
      </p:sp>
      <p:sp>
        <p:nvSpPr>
          <p:cNvPr id="7" name="Shape 4"/>
          <p:cNvSpPr/>
          <p:nvPr/>
        </p:nvSpPr>
        <p:spPr>
          <a:xfrm>
            <a:off x="3106674" y="1069848"/>
            <a:ext cx="288036" cy="288036"/>
          </a:xfrm>
          <a:prstGeom prst="ellipse">
            <a:avLst/>
          </a:prstGeom>
          <a:solidFill>
            <a:srgbClr val="0B294B"/>
          </a:solidFill>
          <a:ln w="12700">
            <a:solidFill>
              <a:srgbClr val="0B294B"/>
            </a:solidFill>
            <a:prstDash val="solid"/>
          </a:ln>
        </p:spPr>
        <p:txBody>
          <a:bodyPr/>
          <a:lstStyle/>
          <a:p>
            <a:endParaRPr lang="ru-KZ"/>
          </a:p>
        </p:txBody>
      </p:sp>
      <p:sp>
        <p:nvSpPr>
          <p:cNvPr id="8" name="Text 5"/>
          <p:cNvSpPr/>
          <p:nvPr/>
        </p:nvSpPr>
        <p:spPr>
          <a:xfrm>
            <a:off x="3106674" y="1114425"/>
            <a:ext cx="288036" cy="137160"/>
          </a:xfrm>
          <a:prstGeom prst="rect">
            <a:avLst/>
          </a:prstGeom>
          <a:noFill/>
          <a:ln/>
        </p:spPr>
        <p:txBody>
          <a:bodyPr wrap="square" lIns="0" tIns="0" rIns="0" bIns="0" rtlCol="0" anchor="ctr"/>
          <a:lstStyle/>
          <a:p>
            <a:pPr algn="ctr"/>
            <a:r>
              <a:rPr lang="en-US" b="1" dirty="0">
                <a:solidFill>
                  <a:srgbClr val="FFFFFF"/>
                </a:solidFill>
              </a:rPr>
              <a:t>1</a:t>
            </a:r>
            <a:endParaRPr lang="en-US" dirty="0"/>
          </a:p>
        </p:txBody>
      </p:sp>
      <p:sp>
        <p:nvSpPr>
          <p:cNvPr id="9" name="Text 6"/>
          <p:cNvSpPr/>
          <p:nvPr/>
        </p:nvSpPr>
        <p:spPr>
          <a:xfrm>
            <a:off x="3497580" y="1069848"/>
            <a:ext cx="2125980" cy="589788"/>
          </a:xfrm>
          <a:prstGeom prst="rect">
            <a:avLst/>
          </a:prstGeom>
          <a:noFill/>
          <a:ln/>
        </p:spPr>
        <p:txBody>
          <a:bodyPr wrap="square" lIns="191" tIns="191" rIns="191" bIns="191" rtlCol="0" anchor="ctr"/>
          <a:lstStyle/>
          <a:p>
            <a:r>
              <a:rPr lang="en-US" dirty="0">
                <a:solidFill>
                  <a:schemeClr val="dk1"/>
                </a:solidFill>
                <a:latin typeface="Manrope"/>
              </a:rPr>
              <a:t>Who produced the brief, and who is its likely target audience?</a:t>
            </a:r>
          </a:p>
        </p:txBody>
      </p:sp>
      <p:sp>
        <p:nvSpPr>
          <p:cNvPr id="10" name="Shape 7"/>
          <p:cNvSpPr/>
          <p:nvPr/>
        </p:nvSpPr>
        <p:spPr>
          <a:xfrm>
            <a:off x="5932170" y="946404"/>
            <a:ext cx="2708910" cy="809244"/>
          </a:xfrm>
          <a:prstGeom prst="roundRect">
            <a:avLst>
              <a:gd name="adj" fmla="val 3390"/>
            </a:avLst>
          </a:prstGeom>
          <a:solidFill>
            <a:srgbClr val="EEF3FA"/>
          </a:solidFill>
          <a:ln w="12700">
            <a:solidFill>
              <a:srgbClr val="D9E3F0"/>
            </a:solidFill>
            <a:prstDash val="solid"/>
          </a:ln>
        </p:spPr>
        <p:txBody>
          <a:bodyPr/>
          <a:lstStyle/>
          <a:p>
            <a:endParaRPr lang="ru-KZ"/>
          </a:p>
        </p:txBody>
      </p:sp>
      <p:sp>
        <p:nvSpPr>
          <p:cNvPr id="11" name="Shape 8"/>
          <p:cNvSpPr/>
          <p:nvPr/>
        </p:nvSpPr>
        <p:spPr>
          <a:xfrm>
            <a:off x="6055614" y="1069848"/>
            <a:ext cx="288036" cy="288036"/>
          </a:xfrm>
          <a:prstGeom prst="ellipse">
            <a:avLst/>
          </a:prstGeom>
          <a:solidFill>
            <a:srgbClr val="0B294B"/>
          </a:solidFill>
          <a:ln w="12700">
            <a:solidFill>
              <a:srgbClr val="0B294B"/>
            </a:solidFill>
            <a:prstDash val="solid"/>
          </a:ln>
        </p:spPr>
        <p:txBody>
          <a:bodyPr/>
          <a:lstStyle/>
          <a:p>
            <a:endParaRPr lang="ru-KZ"/>
          </a:p>
        </p:txBody>
      </p:sp>
      <p:sp>
        <p:nvSpPr>
          <p:cNvPr id="12" name="Text 9"/>
          <p:cNvSpPr/>
          <p:nvPr/>
        </p:nvSpPr>
        <p:spPr>
          <a:xfrm>
            <a:off x="6055614" y="1114425"/>
            <a:ext cx="288036" cy="137160"/>
          </a:xfrm>
          <a:prstGeom prst="rect">
            <a:avLst/>
          </a:prstGeom>
          <a:noFill/>
          <a:ln/>
        </p:spPr>
        <p:txBody>
          <a:bodyPr wrap="square" lIns="0" tIns="0" rIns="0" bIns="0" rtlCol="0" anchor="ctr"/>
          <a:lstStyle/>
          <a:p>
            <a:pPr algn="ctr"/>
            <a:r>
              <a:rPr lang="en-US" b="1" dirty="0">
                <a:solidFill>
                  <a:srgbClr val="FFFFFF"/>
                </a:solidFill>
              </a:rPr>
              <a:t>2</a:t>
            </a:r>
            <a:endParaRPr lang="en-US" dirty="0"/>
          </a:p>
        </p:txBody>
      </p:sp>
      <p:sp>
        <p:nvSpPr>
          <p:cNvPr id="13" name="Text 10"/>
          <p:cNvSpPr/>
          <p:nvPr/>
        </p:nvSpPr>
        <p:spPr>
          <a:xfrm>
            <a:off x="6446520" y="1069848"/>
            <a:ext cx="2057400" cy="589788"/>
          </a:xfrm>
          <a:prstGeom prst="rect">
            <a:avLst/>
          </a:prstGeom>
          <a:noFill/>
          <a:ln/>
        </p:spPr>
        <p:txBody>
          <a:bodyPr wrap="square" lIns="191" tIns="191" rIns="191" bIns="191" rtlCol="0" anchor="ctr"/>
          <a:lstStyle/>
          <a:p>
            <a:r>
              <a:rPr lang="en-US" dirty="0">
                <a:solidFill>
                  <a:schemeClr val="dk1"/>
                </a:solidFill>
                <a:latin typeface="Manrope"/>
              </a:rPr>
              <a:t>What policy issue does the title immediately establish?</a:t>
            </a:r>
          </a:p>
        </p:txBody>
      </p:sp>
      <p:sp>
        <p:nvSpPr>
          <p:cNvPr id="14" name="Shape 11"/>
          <p:cNvSpPr/>
          <p:nvPr/>
        </p:nvSpPr>
        <p:spPr>
          <a:xfrm>
            <a:off x="2983230" y="1933956"/>
            <a:ext cx="2777490" cy="809244"/>
          </a:xfrm>
          <a:prstGeom prst="roundRect">
            <a:avLst>
              <a:gd name="adj" fmla="val 3390"/>
            </a:avLst>
          </a:prstGeom>
          <a:solidFill>
            <a:srgbClr val="EEF3FA"/>
          </a:solidFill>
          <a:ln w="12700">
            <a:solidFill>
              <a:srgbClr val="D9E3F0"/>
            </a:solidFill>
            <a:prstDash val="solid"/>
          </a:ln>
        </p:spPr>
        <p:txBody>
          <a:bodyPr/>
          <a:lstStyle/>
          <a:p>
            <a:endParaRPr lang="ru-KZ"/>
          </a:p>
        </p:txBody>
      </p:sp>
      <p:sp>
        <p:nvSpPr>
          <p:cNvPr id="15" name="Shape 12"/>
          <p:cNvSpPr/>
          <p:nvPr/>
        </p:nvSpPr>
        <p:spPr>
          <a:xfrm>
            <a:off x="3106674" y="2057400"/>
            <a:ext cx="288036" cy="288036"/>
          </a:xfrm>
          <a:prstGeom prst="ellipse">
            <a:avLst/>
          </a:prstGeom>
          <a:solidFill>
            <a:srgbClr val="0B294B"/>
          </a:solidFill>
          <a:ln w="12700">
            <a:solidFill>
              <a:srgbClr val="0B294B"/>
            </a:solidFill>
            <a:prstDash val="solid"/>
          </a:ln>
        </p:spPr>
        <p:txBody>
          <a:bodyPr/>
          <a:lstStyle/>
          <a:p>
            <a:endParaRPr lang="ru-KZ"/>
          </a:p>
        </p:txBody>
      </p:sp>
      <p:sp>
        <p:nvSpPr>
          <p:cNvPr id="16" name="Text 13"/>
          <p:cNvSpPr/>
          <p:nvPr/>
        </p:nvSpPr>
        <p:spPr>
          <a:xfrm>
            <a:off x="3106674" y="2101977"/>
            <a:ext cx="288036" cy="137160"/>
          </a:xfrm>
          <a:prstGeom prst="rect">
            <a:avLst/>
          </a:prstGeom>
          <a:noFill/>
          <a:ln/>
        </p:spPr>
        <p:txBody>
          <a:bodyPr wrap="square" lIns="0" tIns="0" rIns="0" bIns="0" rtlCol="0" anchor="ctr"/>
          <a:lstStyle/>
          <a:p>
            <a:pPr algn="ctr"/>
            <a:r>
              <a:rPr lang="en-US" b="1" dirty="0">
                <a:solidFill>
                  <a:srgbClr val="FFFFFF"/>
                </a:solidFill>
              </a:rPr>
              <a:t>3</a:t>
            </a:r>
            <a:endParaRPr lang="en-US" dirty="0"/>
          </a:p>
        </p:txBody>
      </p:sp>
      <p:sp>
        <p:nvSpPr>
          <p:cNvPr id="17" name="Text 14"/>
          <p:cNvSpPr/>
          <p:nvPr/>
        </p:nvSpPr>
        <p:spPr>
          <a:xfrm>
            <a:off x="3497580" y="2057400"/>
            <a:ext cx="2125980" cy="589788"/>
          </a:xfrm>
          <a:prstGeom prst="rect">
            <a:avLst/>
          </a:prstGeom>
          <a:noFill/>
          <a:ln/>
        </p:spPr>
        <p:txBody>
          <a:bodyPr wrap="square" lIns="191" tIns="191" rIns="191" bIns="191" rtlCol="0" anchor="ctr"/>
          <a:lstStyle/>
          <a:p>
            <a:r>
              <a:rPr lang="en-US" dirty="0">
                <a:solidFill>
                  <a:schemeClr val="dk1"/>
                </a:solidFill>
                <a:latin typeface="Manrope"/>
              </a:rPr>
              <a:t>Where has the writer placed the most important information?</a:t>
            </a:r>
          </a:p>
        </p:txBody>
      </p:sp>
      <p:sp>
        <p:nvSpPr>
          <p:cNvPr id="18" name="Shape 15"/>
          <p:cNvSpPr/>
          <p:nvPr/>
        </p:nvSpPr>
        <p:spPr>
          <a:xfrm>
            <a:off x="5932170" y="1933956"/>
            <a:ext cx="2708910" cy="809244"/>
          </a:xfrm>
          <a:prstGeom prst="roundRect">
            <a:avLst>
              <a:gd name="adj" fmla="val 3390"/>
            </a:avLst>
          </a:prstGeom>
          <a:solidFill>
            <a:srgbClr val="EEF3FA"/>
          </a:solidFill>
          <a:ln w="12700">
            <a:solidFill>
              <a:srgbClr val="D9E3F0"/>
            </a:solidFill>
            <a:prstDash val="solid"/>
          </a:ln>
        </p:spPr>
        <p:txBody>
          <a:bodyPr/>
          <a:lstStyle/>
          <a:p>
            <a:endParaRPr lang="ru-KZ"/>
          </a:p>
        </p:txBody>
      </p:sp>
      <p:sp>
        <p:nvSpPr>
          <p:cNvPr id="19" name="Shape 16"/>
          <p:cNvSpPr/>
          <p:nvPr/>
        </p:nvSpPr>
        <p:spPr>
          <a:xfrm>
            <a:off x="6055614" y="2057400"/>
            <a:ext cx="288036" cy="288036"/>
          </a:xfrm>
          <a:prstGeom prst="ellipse">
            <a:avLst/>
          </a:prstGeom>
          <a:solidFill>
            <a:srgbClr val="0B294B"/>
          </a:solidFill>
          <a:ln w="12700">
            <a:solidFill>
              <a:srgbClr val="0B294B"/>
            </a:solidFill>
            <a:prstDash val="solid"/>
          </a:ln>
        </p:spPr>
        <p:txBody>
          <a:bodyPr/>
          <a:lstStyle/>
          <a:p>
            <a:endParaRPr lang="ru-KZ"/>
          </a:p>
        </p:txBody>
      </p:sp>
      <p:sp>
        <p:nvSpPr>
          <p:cNvPr id="20" name="Text 17"/>
          <p:cNvSpPr/>
          <p:nvPr/>
        </p:nvSpPr>
        <p:spPr>
          <a:xfrm>
            <a:off x="6055614" y="2101977"/>
            <a:ext cx="288036" cy="137160"/>
          </a:xfrm>
          <a:prstGeom prst="rect">
            <a:avLst/>
          </a:prstGeom>
          <a:noFill/>
          <a:ln/>
        </p:spPr>
        <p:txBody>
          <a:bodyPr wrap="square" lIns="0" tIns="0" rIns="0" bIns="0" rtlCol="0" anchor="ctr"/>
          <a:lstStyle/>
          <a:p>
            <a:pPr algn="ctr"/>
            <a:r>
              <a:rPr lang="en-US" b="1" dirty="0">
                <a:solidFill>
                  <a:srgbClr val="FFFFFF"/>
                </a:solidFill>
              </a:rPr>
              <a:t>4</a:t>
            </a:r>
            <a:endParaRPr lang="en-US" dirty="0"/>
          </a:p>
        </p:txBody>
      </p:sp>
      <p:sp>
        <p:nvSpPr>
          <p:cNvPr id="21" name="Text 18"/>
          <p:cNvSpPr/>
          <p:nvPr/>
        </p:nvSpPr>
        <p:spPr>
          <a:xfrm>
            <a:off x="6446520" y="2057400"/>
            <a:ext cx="2057400" cy="589788"/>
          </a:xfrm>
          <a:prstGeom prst="rect">
            <a:avLst/>
          </a:prstGeom>
          <a:noFill/>
          <a:ln/>
        </p:spPr>
        <p:txBody>
          <a:bodyPr wrap="square" lIns="191" tIns="191" rIns="191" bIns="191" rtlCol="0" anchor="ctr"/>
          <a:lstStyle/>
          <a:p>
            <a:r>
              <a:rPr lang="en-US" dirty="0">
                <a:solidFill>
                  <a:schemeClr val="dk1"/>
                </a:solidFill>
                <a:latin typeface="Manrope"/>
              </a:rPr>
              <a:t>If you had only</a:t>
            </a:r>
            <a:r>
              <a:rPr lang="ru-RU" dirty="0">
                <a:solidFill>
                  <a:schemeClr val="dk1"/>
                </a:solidFill>
                <a:latin typeface="Manrope"/>
              </a:rPr>
              <a:t> 30 </a:t>
            </a:r>
            <a:r>
              <a:rPr lang="en-US" dirty="0">
                <a:solidFill>
                  <a:schemeClr val="dk1"/>
                </a:solidFill>
                <a:latin typeface="Manrope"/>
              </a:rPr>
              <a:t>seconds, what would you read first?</a:t>
            </a:r>
          </a:p>
        </p:txBody>
      </p:sp>
      <p:sp>
        <p:nvSpPr>
          <p:cNvPr id="22" name="Shape 19"/>
          <p:cNvSpPr/>
          <p:nvPr/>
        </p:nvSpPr>
        <p:spPr>
          <a:xfrm>
            <a:off x="2983230" y="2921508"/>
            <a:ext cx="5657850" cy="809244"/>
          </a:xfrm>
          <a:prstGeom prst="roundRect">
            <a:avLst>
              <a:gd name="adj" fmla="val 3390"/>
            </a:avLst>
          </a:prstGeom>
          <a:solidFill>
            <a:srgbClr val="EEF3FA"/>
          </a:solidFill>
          <a:ln w="12700">
            <a:solidFill>
              <a:srgbClr val="D9E3F0"/>
            </a:solidFill>
            <a:prstDash val="solid"/>
          </a:ln>
        </p:spPr>
        <p:txBody>
          <a:bodyPr/>
          <a:lstStyle/>
          <a:p>
            <a:endParaRPr lang="ru-KZ"/>
          </a:p>
        </p:txBody>
      </p:sp>
      <p:sp>
        <p:nvSpPr>
          <p:cNvPr id="23" name="Shape 20"/>
          <p:cNvSpPr/>
          <p:nvPr/>
        </p:nvSpPr>
        <p:spPr>
          <a:xfrm>
            <a:off x="3106674" y="3044952"/>
            <a:ext cx="288036" cy="288036"/>
          </a:xfrm>
          <a:prstGeom prst="ellipse">
            <a:avLst/>
          </a:prstGeom>
          <a:solidFill>
            <a:srgbClr val="0B294B"/>
          </a:solidFill>
          <a:ln w="12700">
            <a:solidFill>
              <a:srgbClr val="0B294B"/>
            </a:solidFill>
            <a:prstDash val="solid"/>
          </a:ln>
        </p:spPr>
        <p:txBody>
          <a:bodyPr/>
          <a:lstStyle/>
          <a:p>
            <a:endParaRPr lang="ru-KZ"/>
          </a:p>
        </p:txBody>
      </p:sp>
      <p:sp>
        <p:nvSpPr>
          <p:cNvPr id="24" name="Text 21"/>
          <p:cNvSpPr/>
          <p:nvPr/>
        </p:nvSpPr>
        <p:spPr>
          <a:xfrm>
            <a:off x="3106674" y="3089529"/>
            <a:ext cx="288036" cy="137160"/>
          </a:xfrm>
          <a:prstGeom prst="rect">
            <a:avLst/>
          </a:prstGeom>
          <a:noFill/>
          <a:ln/>
        </p:spPr>
        <p:txBody>
          <a:bodyPr wrap="square" lIns="0" tIns="0" rIns="0" bIns="0" rtlCol="0" anchor="ctr"/>
          <a:lstStyle/>
          <a:p>
            <a:pPr algn="ctr"/>
            <a:r>
              <a:rPr lang="en-US" b="1" dirty="0">
                <a:solidFill>
                  <a:srgbClr val="FFFFFF"/>
                </a:solidFill>
              </a:rPr>
              <a:t>5</a:t>
            </a:r>
            <a:endParaRPr lang="en-US" dirty="0"/>
          </a:p>
        </p:txBody>
      </p:sp>
      <p:sp>
        <p:nvSpPr>
          <p:cNvPr id="25" name="Text 22"/>
          <p:cNvSpPr/>
          <p:nvPr/>
        </p:nvSpPr>
        <p:spPr>
          <a:xfrm>
            <a:off x="3497580" y="3044952"/>
            <a:ext cx="5006340" cy="589788"/>
          </a:xfrm>
          <a:prstGeom prst="rect">
            <a:avLst/>
          </a:prstGeom>
          <a:noFill/>
          <a:ln/>
        </p:spPr>
        <p:txBody>
          <a:bodyPr wrap="square" lIns="191" tIns="191" rIns="191" bIns="191" rtlCol="0" anchor="ctr"/>
          <a:lstStyle/>
          <a:p>
            <a:r>
              <a:rPr lang="en-US" dirty="0">
                <a:solidFill>
                  <a:schemeClr val="dk1"/>
                </a:solidFill>
                <a:latin typeface="Manrope"/>
              </a:rPr>
              <a:t>What features make the first page easy to scan?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3776" y="260604"/>
            <a:ext cx="8092440" cy="288036"/>
          </a:xfrm>
          <a:prstGeom prst="rect">
            <a:avLst/>
          </a:prstGeom>
          <a:noFill/>
          <a:ln/>
        </p:spPr>
        <p:txBody>
          <a:bodyPr wrap="square" lIns="0" tIns="0" rIns="0" bIns="0" rtlCol="0" anchor="ctr"/>
          <a:lstStyle/>
          <a:p>
            <a:r>
              <a:rPr lang="en-US" sz="2000" b="1" dirty="0">
                <a:solidFill>
                  <a:schemeClr val="dk1"/>
                </a:solidFill>
                <a:latin typeface="Manrope"/>
              </a:rPr>
              <a:t>Deconstruct the Key Findings</a:t>
            </a:r>
          </a:p>
        </p:txBody>
      </p:sp>
      <p:sp>
        <p:nvSpPr>
          <p:cNvPr id="3" name="Text 1"/>
          <p:cNvSpPr/>
          <p:nvPr/>
        </p:nvSpPr>
        <p:spPr>
          <a:xfrm>
            <a:off x="493776" y="603504"/>
            <a:ext cx="8023860" cy="260604"/>
          </a:xfrm>
          <a:prstGeom prst="rect">
            <a:avLst/>
          </a:prstGeom>
          <a:noFill/>
          <a:ln/>
        </p:spPr>
        <p:txBody>
          <a:bodyPr wrap="square" lIns="0" tIns="0" rIns="0" bIns="0" rtlCol="0" anchor="ctr"/>
          <a:lstStyle/>
          <a:p>
            <a:r>
              <a:rPr lang="en-US" i="1" dirty="0">
                <a:solidFill>
                  <a:schemeClr val="dk1"/>
                </a:solidFill>
                <a:latin typeface="Manrope"/>
              </a:rPr>
              <a:t>Read the four Key findings on page 1. Match each finding to its main rhetorical function.</a:t>
            </a:r>
          </a:p>
        </p:txBody>
      </p:sp>
      <p:sp>
        <p:nvSpPr>
          <p:cNvPr id="5" name="Shape 3"/>
          <p:cNvSpPr/>
          <p:nvPr/>
        </p:nvSpPr>
        <p:spPr>
          <a:xfrm>
            <a:off x="582930" y="994410"/>
            <a:ext cx="3566160" cy="534924"/>
          </a:xfrm>
          <a:prstGeom prst="roundRect">
            <a:avLst/>
          </a:prstGeom>
          <a:solidFill>
            <a:srgbClr val="F7F9FC"/>
          </a:solidFill>
          <a:ln w="12700">
            <a:solidFill>
              <a:srgbClr val="D9E3F0"/>
            </a:solidFill>
            <a:prstDash val="solid"/>
          </a:ln>
        </p:spPr>
        <p:txBody>
          <a:bodyPr/>
          <a:lstStyle/>
          <a:p>
            <a:endParaRPr lang="ru-KZ"/>
          </a:p>
        </p:txBody>
      </p:sp>
      <p:sp>
        <p:nvSpPr>
          <p:cNvPr id="6" name="Text 4"/>
          <p:cNvSpPr/>
          <p:nvPr/>
        </p:nvSpPr>
        <p:spPr>
          <a:xfrm>
            <a:off x="699516" y="1110996"/>
            <a:ext cx="240030" cy="171450"/>
          </a:xfrm>
          <a:prstGeom prst="rect">
            <a:avLst/>
          </a:prstGeom>
          <a:noFill/>
          <a:ln/>
        </p:spPr>
        <p:txBody>
          <a:bodyPr wrap="square" lIns="0" tIns="0" rIns="0" bIns="0" rtlCol="0" anchor="ctr"/>
          <a:lstStyle/>
          <a:p>
            <a:r>
              <a:rPr lang="en-US" sz="1125" b="1" dirty="0">
                <a:solidFill>
                  <a:srgbClr val="5F93E6"/>
                </a:solidFill>
              </a:rPr>
              <a:t>A</a:t>
            </a:r>
            <a:endParaRPr lang="en-US" sz="1125" dirty="0"/>
          </a:p>
        </p:txBody>
      </p:sp>
      <p:sp>
        <p:nvSpPr>
          <p:cNvPr id="8" name="Shape 6"/>
          <p:cNvSpPr/>
          <p:nvPr/>
        </p:nvSpPr>
        <p:spPr>
          <a:xfrm>
            <a:off x="582930" y="1714500"/>
            <a:ext cx="3566160" cy="534924"/>
          </a:xfrm>
          <a:prstGeom prst="roundRect">
            <a:avLst/>
          </a:prstGeom>
          <a:solidFill>
            <a:srgbClr val="EEF3FA"/>
          </a:solidFill>
          <a:ln w="12700">
            <a:solidFill>
              <a:srgbClr val="D9E3F0"/>
            </a:solidFill>
            <a:prstDash val="solid"/>
          </a:ln>
        </p:spPr>
        <p:txBody>
          <a:bodyPr/>
          <a:lstStyle/>
          <a:p>
            <a:endParaRPr lang="ru-KZ"/>
          </a:p>
        </p:txBody>
      </p:sp>
      <p:sp>
        <p:nvSpPr>
          <p:cNvPr id="9" name="Text 7"/>
          <p:cNvSpPr/>
          <p:nvPr/>
        </p:nvSpPr>
        <p:spPr>
          <a:xfrm>
            <a:off x="699516" y="1831086"/>
            <a:ext cx="240030" cy="171450"/>
          </a:xfrm>
          <a:prstGeom prst="rect">
            <a:avLst/>
          </a:prstGeom>
          <a:noFill/>
          <a:ln/>
        </p:spPr>
        <p:txBody>
          <a:bodyPr wrap="square" lIns="0" tIns="0" rIns="0" bIns="0" rtlCol="0" anchor="ctr"/>
          <a:lstStyle/>
          <a:p>
            <a:r>
              <a:rPr lang="en-US" sz="1125" b="1" dirty="0">
                <a:solidFill>
                  <a:srgbClr val="5F93E6"/>
                </a:solidFill>
              </a:rPr>
              <a:t>B</a:t>
            </a:r>
            <a:endParaRPr lang="en-US" sz="1125" dirty="0"/>
          </a:p>
        </p:txBody>
      </p:sp>
      <p:sp>
        <p:nvSpPr>
          <p:cNvPr id="10" name="Text 8"/>
          <p:cNvSpPr/>
          <p:nvPr/>
        </p:nvSpPr>
        <p:spPr>
          <a:xfrm>
            <a:off x="1014984" y="1113541"/>
            <a:ext cx="2914650" cy="260604"/>
          </a:xfrm>
          <a:prstGeom prst="rect">
            <a:avLst/>
          </a:prstGeom>
          <a:noFill/>
          <a:ln/>
        </p:spPr>
        <p:txBody>
          <a:bodyPr wrap="square" lIns="0" tIns="0" rIns="0" bIns="0" rtlCol="0" anchor="ctr"/>
          <a:lstStyle/>
          <a:p>
            <a:r>
              <a:rPr lang="en-US" dirty="0">
                <a:solidFill>
                  <a:schemeClr val="dk1"/>
                </a:solidFill>
                <a:latin typeface="Manrope"/>
              </a:rPr>
              <a:t>Provides headline quantitative evidence</a:t>
            </a:r>
          </a:p>
        </p:txBody>
      </p:sp>
      <p:sp>
        <p:nvSpPr>
          <p:cNvPr id="11" name="Shape 9"/>
          <p:cNvSpPr/>
          <p:nvPr/>
        </p:nvSpPr>
        <p:spPr>
          <a:xfrm>
            <a:off x="582930" y="2434590"/>
            <a:ext cx="3566160" cy="534924"/>
          </a:xfrm>
          <a:prstGeom prst="roundRect">
            <a:avLst/>
          </a:prstGeom>
          <a:solidFill>
            <a:srgbClr val="F7F9FC"/>
          </a:solidFill>
          <a:ln w="12700">
            <a:solidFill>
              <a:srgbClr val="D9E3F0"/>
            </a:solidFill>
            <a:prstDash val="solid"/>
          </a:ln>
        </p:spPr>
        <p:txBody>
          <a:bodyPr/>
          <a:lstStyle/>
          <a:p>
            <a:endParaRPr lang="ru-KZ"/>
          </a:p>
        </p:txBody>
      </p:sp>
      <p:sp>
        <p:nvSpPr>
          <p:cNvPr id="12" name="Text 10"/>
          <p:cNvSpPr/>
          <p:nvPr/>
        </p:nvSpPr>
        <p:spPr>
          <a:xfrm>
            <a:off x="699516" y="2551176"/>
            <a:ext cx="240030" cy="171450"/>
          </a:xfrm>
          <a:prstGeom prst="rect">
            <a:avLst/>
          </a:prstGeom>
          <a:noFill/>
          <a:ln/>
        </p:spPr>
        <p:txBody>
          <a:bodyPr wrap="square" lIns="0" tIns="0" rIns="0" bIns="0" rtlCol="0" anchor="ctr"/>
          <a:lstStyle/>
          <a:p>
            <a:r>
              <a:rPr lang="en-US" sz="1125" b="1" dirty="0">
                <a:solidFill>
                  <a:srgbClr val="5F93E6"/>
                </a:solidFill>
              </a:rPr>
              <a:t>C</a:t>
            </a:r>
            <a:endParaRPr lang="en-US" sz="1125" dirty="0"/>
          </a:p>
        </p:txBody>
      </p:sp>
      <p:sp>
        <p:nvSpPr>
          <p:cNvPr id="13" name="Text 11"/>
          <p:cNvSpPr/>
          <p:nvPr/>
        </p:nvSpPr>
        <p:spPr>
          <a:xfrm>
            <a:off x="939503" y="1779716"/>
            <a:ext cx="2914650" cy="260604"/>
          </a:xfrm>
          <a:prstGeom prst="rect">
            <a:avLst/>
          </a:prstGeom>
          <a:noFill/>
          <a:ln/>
        </p:spPr>
        <p:txBody>
          <a:bodyPr wrap="square" lIns="0" tIns="0" rIns="0" bIns="0" rtlCol="0" anchor="ctr"/>
          <a:lstStyle/>
          <a:p>
            <a:r>
              <a:rPr lang="en-US" dirty="0">
                <a:solidFill>
                  <a:schemeClr val="dk1"/>
                </a:solidFill>
                <a:latin typeface="Manrope"/>
              </a:rPr>
              <a:t>Introduces a contrasting finding</a:t>
            </a:r>
          </a:p>
        </p:txBody>
      </p:sp>
      <p:sp>
        <p:nvSpPr>
          <p:cNvPr id="14" name="Shape 12"/>
          <p:cNvSpPr/>
          <p:nvPr/>
        </p:nvSpPr>
        <p:spPr>
          <a:xfrm>
            <a:off x="615279" y="3176246"/>
            <a:ext cx="3566160" cy="534924"/>
          </a:xfrm>
          <a:prstGeom prst="roundRect">
            <a:avLst/>
          </a:prstGeom>
          <a:solidFill>
            <a:srgbClr val="EEF3FA"/>
          </a:solidFill>
          <a:ln w="12700">
            <a:solidFill>
              <a:srgbClr val="D9E3F0"/>
            </a:solidFill>
            <a:prstDash val="solid"/>
          </a:ln>
        </p:spPr>
        <p:txBody>
          <a:bodyPr/>
          <a:lstStyle/>
          <a:p>
            <a:endParaRPr lang="ru-KZ"/>
          </a:p>
        </p:txBody>
      </p:sp>
      <p:sp>
        <p:nvSpPr>
          <p:cNvPr id="15" name="Text 13"/>
          <p:cNvSpPr/>
          <p:nvPr/>
        </p:nvSpPr>
        <p:spPr>
          <a:xfrm>
            <a:off x="699516" y="3271266"/>
            <a:ext cx="240030" cy="171450"/>
          </a:xfrm>
          <a:prstGeom prst="rect">
            <a:avLst/>
          </a:prstGeom>
          <a:noFill/>
          <a:ln/>
        </p:spPr>
        <p:txBody>
          <a:bodyPr wrap="square" lIns="0" tIns="0" rIns="0" bIns="0" rtlCol="0" anchor="ctr"/>
          <a:lstStyle/>
          <a:p>
            <a:r>
              <a:rPr lang="en-US" sz="1125" b="1" dirty="0">
                <a:solidFill>
                  <a:srgbClr val="5F93E6"/>
                </a:solidFill>
              </a:rPr>
              <a:t>D</a:t>
            </a:r>
            <a:endParaRPr lang="en-US" sz="1125" dirty="0"/>
          </a:p>
        </p:txBody>
      </p:sp>
      <p:sp>
        <p:nvSpPr>
          <p:cNvPr id="16" name="Text 14"/>
          <p:cNvSpPr/>
          <p:nvPr/>
        </p:nvSpPr>
        <p:spPr>
          <a:xfrm>
            <a:off x="939503" y="2586070"/>
            <a:ext cx="2914650" cy="260604"/>
          </a:xfrm>
          <a:prstGeom prst="rect">
            <a:avLst/>
          </a:prstGeom>
          <a:noFill/>
          <a:ln/>
        </p:spPr>
        <p:txBody>
          <a:bodyPr wrap="square" lIns="0" tIns="0" rIns="0" bIns="0" rtlCol="0" anchor="ctr"/>
          <a:lstStyle/>
          <a:p>
            <a:r>
              <a:rPr lang="en-US" dirty="0">
                <a:solidFill>
                  <a:schemeClr val="dk1"/>
                </a:solidFill>
                <a:latin typeface="Manrope"/>
              </a:rPr>
              <a:t>Qualifies the evidence and signals a policy need</a:t>
            </a:r>
          </a:p>
        </p:txBody>
      </p:sp>
      <p:sp>
        <p:nvSpPr>
          <p:cNvPr id="17" name="Text 15"/>
          <p:cNvSpPr/>
          <p:nvPr/>
        </p:nvSpPr>
        <p:spPr>
          <a:xfrm>
            <a:off x="4932363" y="1933956"/>
            <a:ext cx="1371600" cy="205740"/>
          </a:xfrm>
          <a:prstGeom prst="rect">
            <a:avLst/>
          </a:prstGeom>
          <a:noFill/>
          <a:ln/>
        </p:spPr>
        <p:txBody>
          <a:bodyPr wrap="square" lIns="0" tIns="0" rIns="0" bIns="0" rtlCol="0" anchor="ctr"/>
          <a:lstStyle/>
          <a:p>
            <a:r>
              <a:rPr lang="en-US" b="1" dirty="0">
                <a:solidFill>
                  <a:schemeClr val="dk1"/>
                </a:solidFill>
                <a:latin typeface="Manrope"/>
              </a:rPr>
              <a:t>Discuss</a:t>
            </a:r>
            <a:r>
              <a:rPr lang="en-US" sz="1125" b="1" dirty="0">
                <a:solidFill>
                  <a:srgbClr val="0B294B"/>
                </a:solidFill>
              </a:rPr>
              <a:t>:</a:t>
            </a:r>
            <a:endParaRPr lang="en-US" sz="1125" dirty="0"/>
          </a:p>
        </p:txBody>
      </p:sp>
      <p:sp>
        <p:nvSpPr>
          <p:cNvPr id="18" name="Text 16"/>
          <p:cNvSpPr/>
          <p:nvPr/>
        </p:nvSpPr>
        <p:spPr>
          <a:xfrm>
            <a:off x="4932363" y="2307717"/>
            <a:ext cx="3909060" cy="788670"/>
          </a:xfrm>
          <a:prstGeom prst="rect">
            <a:avLst/>
          </a:prstGeom>
          <a:noFill/>
          <a:ln/>
        </p:spPr>
        <p:txBody>
          <a:bodyPr wrap="square" lIns="286" tIns="286" rIns="286" bIns="286" rtlCol="0" anchor="ctr"/>
          <a:lstStyle/>
          <a:p>
            <a:r>
              <a:rPr lang="en-US" b="1" dirty="0">
                <a:solidFill>
                  <a:schemeClr val="dk1"/>
                </a:solidFill>
                <a:latin typeface="Manrope"/>
              </a:rPr>
              <a:t>Why did the authors select these four points for the first page rather than simply summarising everything in the brief?</a:t>
            </a:r>
          </a:p>
        </p:txBody>
      </p:sp>
      <p:sp>
        <p:nvSpPr>
          <p:cNvPr id="4" name="Text 5">
            <a:extLst>
              <a:ext uri="{FF2B5EF4-FFF2-40B4-BE49-F238E27FC236}">
                <a16:creationId xmlns:a16="http://schemas.microsoft.com/office/drawing/2014/main" id="{1BA44F4A-0A82-955C-A91D-B4007BDBDD6B}"/>
              </a:ext>
            </a:extLst>
          </p:cNvPr>
          <p:cNvSpPr/>
          <p:nvPr/>
        </p:nvSpPr>
        <p:spPr>
          <a:xfrm>
            <a:off x="907154" y="3272517"/>
            <a:ext cx="2914650" cy="260604"/>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dirty="0">
                <a:solidFill>
                  <a:schemeClr val="dk1"/>
                </a:solidFill>
                <a:latin typeface="Manrope"/>
              </a:rPr>
              <a:t>Establishes the overall issue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80060" y="233172"/>
            <a:ext cx="8023860" cy="260604"/>
          </a:xfrm>
          <a:prstGeom prst="rect">
            <a:avLst/>
          </a:prstGeom>
          <a:noFill/>
          <a:ln/>
        </p:spPr>
        <p:txBody>
          <a:bodyPr wrap="square" lIns="0" tIns="0" rIns="0" bIns="0" rtlCol="0" anchor="ctr"/>
          <a:lstStyle/>
          <a:p>
            <a:r>
              <a:rPr lang="en-US" b="1" dirty="0">
                <a:solidFill>
                  <a:schemeClr val="dk1"/>
                </a:solidFill>
                <a:latin typeface="Manrope"/>
              </a:rPr>
              <a:t>Read the insurance-company example on page 1 and reconstruct the change in work.</a:t>
            </a:r>
          </a:p>
        </p:txBody>
      </p:sp>
      <p:sp>
        <p:nvSpPr>
          <p:cNvPr id="5" name="Shape 3"/>
          <p:cNvSpPr/>
          <p:nvPr/>
        </p:nvSpPr>
        <p:spPr>
          <a:xfrm>
            <a:off x="514350" y="1200150"/>
            <a:ext cx="1851660" cy="1440180"/>
          </a:xfrm>
          <a:prstGeom prst="roundRect">
            <a:avLst/>
          </a:prstGeom>
          <a:solidFill>
            <a:srgbClr val="EEF3FA"/>
          </a:solidFill>
          <a:ln w="15240">
            <a:solidFill>
              <a:srgbClr val="D9E3F0"/>
            </a:solidFill>
            <a:prstDash val="solid"/>
          </a:ln>
        </p:spPr>
        <p:txBody>
          <a:bodyPr/>
          <a:lstStyle/>
          <a:p>
            <a:endParaRPr lang="ru-KZ"/>
          </a:p>
        </p:txBody>
      </p:sp>
      <p:sp>
        <p:nvSpPr>
          <p:cNvPr id="6" name="Text 4"/>
          <p:cNvSpPr/>
          <p:nvPr/>
        </p:nvSpPr>
        <p:spPr>
          <a:xfrm>
            <a:off x="637794" y="1357884"/>
            <a:ext cx="1604772" cy="192024"/>
          </a:xfrm>
          <a:prstGeom prst="rect">
            <a:avLst/>
          </a:prstGeom>
          <a:noFill/>
          <a:ln/>
        </p:spPr>
        <p:txBody>
          <a:bodyPr wrap="square" lIns="0" tIns="0" rIns="0" bIns="0" rtlCol="0" anchor="ctr"/>
          <a:lstStyle/>
          <a:p>
            <a:pPr algn="ctr"/>
            <a:r>
              <a:rPr lang="en-US" b="1" dirty="0">
                <a:solidFill>
                  <a:schemeClr val="dk1"/>
                </a:solidFill>
                <a:latin typeface="Manrope"/>
              </a:rPr>
              <a:t>BEFORE AI</a:t>
            </a:r>
          </a:p>
        </p:txBody>
      </p:sp>
      <p:sp>
        <p:nvSpPr>
          <p:cNvPr id="7" name="Text 5"/>
          <p:cNvSpPr/>
          <p:nvPr/>
        </p:nvSpPr>
        <p:spPr>
          <a:xfrm>
            <a:off x="665226" y="1748790"/>
            <a:ext cx="1549908" cy="480060"/>
          </a:xfrm>
          <a:prstGeom prst="rect">
            <a:avLst/>
          </a:prstGeom>
          <a:noFill/>
          <a:ln/>
        </p:spPr>
        <p:txBody>
          <a:bodyPr wrap="square" lIns="191" tIns="191" rIns="191" bIns="191" rtlCol="0" anchor="ctr"/>
          <a:lstStyle/>
          <a:p>
            <a:pPr algn="ctr"/>
            <a:r>
              <a:rPr lang="en-US" dirty="0">
                <a:solidFill>
                  <a:schemeClr val="dk1"/>
                </a:solidFill>
                <a:latin typeface="Manrope"/>
              </a:rPr>
              <a:t>What did sales agents do?</a:t>
            </a:r>
          </a:p>
        </p:txBody>
      </p:sp>
      <p:sp>
        <p:nvSpPr>
          <p:cNvPr id="8" name="Text 6"/>
          <p:cNvSpPr/>
          <p:nvPr/>
        </p:nvSpPr>
        <p:spPr>
          <a:xfrm>
            <a:off x="2379726" y="1728216"/>
            <a:ext cx="233172" cy="240030"/>
          </a:xfrm>
          <a:prstGeom prst="rect">
            <a:avLst/>
          </a:prstGeom>
          <a:noFill/>
          <a:ln/>
        </p:spPr>
        <p:txBody>
          <a:bodyPr wrap="square" lIns="0" tIns="0" rIns="0" bIns="0" rtlCol="0" anchor="ctr"/>
          <a:lstStyle/>
          <a:p>
            <a:pPr algn="ctr"/>
            <a:r>
              <a:rPr lang="en-US" sz="1875" b="1" dirty="0">
                <a:solidFill>
                  <a:srgbClr val="5F93E6"/>
                </a:solidFill>
              </a:rPr>
              <a:t>→</a:t>
            </a:r>
            <a:endParaRPr lang="en-US" sz="1875" dirty="0"/>
          </a:p>
        </p:txBody>
      </p:sp>
      <p:sp>
        <p:nvSpPr>
          <p:cNvPr id="9" name="Shape 7"/>
          <p:cNvSpPr/>
          <p:nvPr/>
        </p:nvSpPr>
        <p:spPr>
          <a:xfrm>
            <a:off x="2626614" y="1200150"/>
            <a:ext cx="1851660" cy="1440180"/>
          </a:xfrm>
          <a:prstGeom prst="roundRect">
            <a:avLst/>
          </a:prstGeom>
          <a:solidFill>
            <a:srgbClr val="EAF2FF"/>
          </a:solidFill>
          <a:ln w="15240">
            <a:solidFill>
              <a:srgbClr val="5F93E6"/>
            </a:solidFill>
            <a:prstDash val="solid"/>
          </a:ln>
        </p:spPr>
        <p:txBody>
          <a:bodyPr/>
          <a:lstStyle/>
          <a:p>
            <a:endParaRPr lang="ru-KZ"/>
          </a:p>
        </p:txBody>
      </p:sp>
      <p:sp>
        <p:nvSpPr>
          <p:cNvPr id="10" name="Text 8"/>
          <p:cNvSpPr/>
          <p:nvPr/>
        </p:nvSpPr>
        <p:spPr>
          <a:xfrm>
            <a:off x="2750058" y="1357884"/>
            <a:ext cx="1604772" cy="192024"/>
          </a:xfrm>
          <a:prstGeom prst="rect">
            <a:avLst/>
          </a:prstGeom>
          <a:noFill/>
          <a:ln/>
        </p:spPr>
        <p:txBody>
          <a:bodyPr wrap="square" lIns="0" tIns="0" rIns="0" bIns="0" rtlCol="0" anchor="ctr"/>
          <a:lstStyle/>
          <a:p>
            <a:pPr algn="ctr"/>
            <a:r>
              <a:rPr lang="en-US" b="1" dirty="0">
                <a:solidFill>
                  <a:schemeClr val="dk1"/>
                </a:solidFill>
                <a:latin typeface="Manrope"/>
              </a:rPr>
              <a:t>AI INTERVENTION</a:t>
            </a:r>
          </a:p>
        </p:txBody>
      </p:sp>
      <p:sp>
        <p:nvSpPr>
          <p:cNvPr id="11" name="Text 9"/>
          <p:cNvSpPr/>
          <p:nvPr/>
        </p:nvSpPr>
        <p:spPr>
          <a:xfrm>
            <a:off x="2777490" y="1748790"/>
            <a:ext cx="1549908" cy="480060"/>
          </a:xfrm>
          <a:prstGeom prst="rect">
            <a:avLst/>
          </a:prstGeom>
          <a:noFill/>
          <a:ln/>
        </p:spPr>
        <p:txBody>
          <a:bodyPr wrap="square" lIns="191" tIns="191" rIns="191" bIns="191" rtlCol="0" anchor="ctr"/>
          <a:lstStyle/>
          <a:p>
            <a:pPr algn="ctr"/>
            <a:r>
              <a:rPr lang="en-US" dirty="0">
                <a:solidFill>
                  <a:schemeClr val="dk1"/>
                </a:solidFill>
                <a:latin typeface="Manrope"/>
              </a:rPr>
              <a:t>What does the AI tool do?</a:t>
            </a:r>
          </a:p>
        </p:txBody>
      </p:sp>
      <p:sp>
        <p:nvSpPr>
          <p:cNvPr id="12" name="Text 10"/>
          <p:cNvSpPr/>
          <p:nvPr/>
        </p:nvSpPr>
        <p:spPr>
          <a:xfrm>
            <a:off x="4491990" y="1728216"/>
            <a:ext cx="233172" cy="240030"/>
          </a:xfrm>
          <a:prstGeom prst="rect">
            <a:avLst/>
          </a:prstGeom>
          <a:noFill/>
          <a:ln/>
        </p:spPr>
        <p:txBody>
          <a:bodyPr wrap="square" lIns="0" tIns="0" rIns="0" bIns="0" rtlCol="0" anchor="ctr"/>
          <a:lstStyle/>
          <a:p>
            <a:pPr algn="ctr"/>
            <a:r>
              <a:rPr lang="en-US" sz="1875" b="1" dirty="0">
                <a:solidFill>
                  <a:srgbClr val="5F93E6"/>
                </a:solidFill>
              </a:rPr>
              <a:t>→</a:t>
            </a:r>
            <a:endParaRPr lang="en-US" sz="1875" dirty="0"/>
          </a:p>
        </p:txBody>
      </p:sp>
      <p:sp>
        <p:nvSpPr>
          <p:cNvPr id="13" name="Shape 11"/>
          <p:cNvSpPr/>
          <p:nvPr/>
        </p:nvSpPr>
        <p:spPr>
          <a:xfrm>
            <a:off x="4738878" y="1200150"/>
            <a:ext cx="1851660" cy="1440180"/>
          </a:xfrm>
          <a:prstGeom prst="roundRect">
            <a:avLst/>
          </a:prstGeom>
          <a:solidFill>
            <a:srgbClr val="EEF3FA"/>
          </a:solidFill>
          <a:ln w="15240">
            <a:solidFill>
              <a:srgbClr val="D9E3F0"/>
            </a:solidFill>
            <a:prstDash val="solid"/>
          </a:ln>
        </p:spPr>
        <p:txBody>
          <a:bodyPr/>
          <a:lstStyle/>
          <a:p>
            <a:endParaRPr lang="ru-KZ"/>
          </a:p>
        </p:txBody>
      </p:sp>
      <p:sp>
        <p:nvSpPr>
          <p:cNvPr id="14" name="Text 12"/>
          <p:cNvSpPr/>
          <p:nvPr/>
        </p:nvSpPr>
        <p:spPr>
          <a:xfrm>
            <a:off x="4862322" y="1357884"/>
            <a:ext cx="1604772" cy="192024"/>
          </a:xfrm>
          <a:prstGeom prst="rect">
            <a:avLst/>
          </a:prstGeom>
          <a:noFill/>
          <a:ln/>
        </p:spPr>
        <p:txBody>
          <a:bodyPr wrap="square" lIns="0" tIns="0" rIns="0" bIns="0" rtlCol="0" anchor="ctr"/>
          <a:lstStyle/>
          <a:p>
            <a:pPr algn="ctr"/>
            <a:r>
              <a:rPr lang="en-US" b="1" dirty="0">
                <a:solidFill>
                  <a:schemeClr val="dk1"/>
                </a:solidFill>
                <a:latin typeface="Manrope"/>
              </a:rPr>
              <a:t>CHANGE IN TASKS</a:t>
            </a:r>
          </a:p>
        </p:txBody>
      </p:sp>
      <p:sp>
        <p:nvSpPr>
          <p:cNvPr id="15" name="Text 13"/>
          <p:cNvSpPr/>
          <p:nvPr/>
        </p:nvSpPr>
        <p:spPr>
          <a:xfrm>
            <a:off x="4889754" y="1748790"/>
            <a:ext cx="1549908" cy="480060"/>
          </a:xfrm>
          <a:prstGeom prst="rect">
            <a:avLst/>
          </a:prstGeom>
          <a:noFill/>
          <a:ln/>
        </p:spPr>
        <p:txBody>
          <a:bodyPr wrap="square" lIns="191" tIns="191" rIns="191" bIns="191" rtlCol="0" anchor="ctr"/>
          <a:lstStyle/>
          <a:p>
            <a:pPr algn="ctr"/>
            <a:r>
              <a:rPr lang="en-US" dirty="0">
                <a:solidFill>
                  <a:schemeClr val="dk1"/>
                </a:solidFill>
                <a:latin typeface="Manrope"/>
              </a:rPr>
              <a:t>What work is reduced or changed?</a:t>
            </a:r>
          </a:p>
        </p:txBody>
      </p:sp>
      <p:sp>
        <p:nvSpPr>
          <p:cNvPr id="16" name="Text 14"/>
          <p:cNvSpPr/>
          <p:nvPr/>
        </p:nvSpPr>
        <p:spPr>
          <a:xfrm>
            <a:off x="6604254" y="1728216"/>
            <a:ext cx="233172" cy="240030"/>
          </a:xfrm>
          <a:prstGeom prst="rect">
            <a:avLst/>
          </a:prstGeom>
          <a:noFill/>
          <a:ln/>
        </p:spPr>
        <p:txBody>
          <a:bodyPr wrap="square" lIns="0" tIns="0" rIns="0" bIns="0" rtlCol="0" anchor="ctr"/>
          <a:lstStyle/>
          <a:p>
            <a:pPr algn="ctr"/>
            <a:r>
              <a:rPr lang="en-US" sz="1875" b="1" dirty="0">
                <a:solidFill>
                  <a:srgbClr val="5F93E6"/>
                </a:solidFill>
              </a:rPr>
              <a:t>→</a:t>
            </a:r>
            <a:endParaRPr lang="en-US" sz="1875" dirty="0"/>
          </a:p>
        </p:txBody>
      </p:sp>
      <p:sp>
        <p:nvSpPr>
          <p:cNvPr id="17" name="Shape 15"/>
          <p:cNvSpPr/>
          <p:nvPr/>
        </p:nvSpPr>
        <p:spPr>
          <a:xfrm>
            <a:off x="6851142" y="1200150"/>
            <a:ext cx="1851660" cy="1440180"/>
          </a:xfrm>
          <a:prstGeom prst="roundRect">
            <a:avLst/>
          </a:prstGeom>
          <a:solidFill>
            <a:srgbClr val="EEF3FA"/>
          </a:solidFill>
          <a:ln w="15240">
            <a:solidFill>
              <a:srgbClr val="D9E3F0"/>
            </a:solidFill>
            <a:prstDash val="solid"/>
          </a:ln>
        </p:spPr>
        <p:txBody>
          <a:bodyPr/>
          <a:lstStyle/>
          <a:p>
            <a:endParaRPr lang="ru-KZ"/>
          </a:p>
        </p:txBody>
      </p:sp>
      <p:sp>
        <p:nvSpPr>
          <p:cNvPr id="18" name="Text 16"/>
          <p:cNvSpPr/>
          <p:nvPr/>
        </p:nvSpPr>
        <p:spPr>
          <a:xfrm>
            <a:off x="6974586" y="1357884"/>
            <a:ext cx="1604772" cy="192024"/>
          </a:xfrm>
          <a:prstGeom prst="rect">
            <a:avLst/>
          </a:prstGeom>
          <a:noFill/>
          <a:ln/>
        </p:spPr>
        <p:txBody>
          <a:bodyPr wrap="square" lIns="0" tIns="0" rIns="0" bIns="0" rtlCol="0" anchor="ctr"/>
          <a:lstStyle/>
          <a:p>
            <a:pPr algn="ctr"/>
            <a:r>
              <a:rPr lang="en-US" b="1" dirty="0">
                <a:solidFill>
                  <a:schemeClr val="dk1"/>
                </a:solidFill>
                <a:latin typeface="Manrope"/>
              </a:rPr>
              <a:t>CHANGE IN SKILLS</a:t>
            </a:r>
          </a:p>
        </p:txBody>
      </p:sp>
      <p:sp>
        <p:nvSpPr>
          <p:cNvPr id="19" name="Text 17"/>
          <p:cNvSpPr/>
          <p:nvPr/>
        </p:nvSpPr>
        <p:spPr>
          <a:xfrm>
            <a:off x="7002018" y="1748790"/>
            <a:ext cx="1549908" cy="480060"/>
          </a:xfrm>
          <a:prstGeom prst="rect">
            <a:avLst/>
          </a:prstGeom>
          <a:noFill/>
          <a:ln/>
        </p:spPr>
        <p:txBody>
          <a:bodyPr wrap="square" lIns="191" tIns="191" rIns="191" bIns="191" rtlCol="0" anchor="ctr"/>
          <a:lstStyle/>
          <a:p>
            <a:pPr algn="ctr"/>
            <a:r>
              <a:rPr lang="en-US" dirty="0">
                <a:solidFill>
                  <a:schemeClr val="dk1"/>
                </a:solidFill>
                <a:latin typeface="Manrope"/>
              </a:rPr>
              <a:t>Which human skills become more important?</a:t>
            </a:r>
          </a:p>
        </p:txBody>
      </p:sp>
      <p:sp>
        <p:nvSpPr>
          <p:cNvPr id="20" name="Shape 18"/>
          <p:cNvSpPr/>
          <p:nvPr/>
        </p:nvSpPr>
        <p:spPr>
          <a:xfrm>
            <a:off x="994410" y="3120390"/>
            <a:ext cx="7132320" cy="822960"/>
          </a:xfrm>
          <a:prstGeom prst="roundRect">
            <a:avLst/>
          </a:prstGeom>
          <a:solidFill>
            <a:srgbClr val="F8FAFD"/>
          </a:solidFill>
          <a:ln w="12700">
            <a:solidFill>
              <a:srgbClr val="D9E3F0"/>
            </a:solidFill>
            <a:prstDash val="solid"/>
          </a:ln>
        </p:spPr>
        <p:txBody>
          <a:bodyPr/>
          <a:lstStyle/>
          <a:p>
            <a:endParaRPr lang="ru-KZ"/>
          </a:p>
        </p:txBody>
      </p:sp>
      <p:sp>
        <p:nvSpPr>
          <p:cNvPr id="21" name="Text 19"/>
          <p:cNvSpPr/>
          <p:nvPr/>
        </p:nvSpPr>
        <p:spPr>
          <a:xfrm>
            <a:off x="1200150" y="3332988"/>
            <a:ext cx="6720840" cy="329184"/>
          </a:xfrm>
          <a:prstGeom prst="rect">
            <a:avLst/>
          </a:prstGeom>
          <a:noFill/>
          <a:ln/>
        </p:spPr>
        <p:txBody>
          <a:bodyPr wrap="square" lIns="0" tIns="0" rIns="0" bIns="0" rtlCol="0" anchor="ctr"/>
          <a:lstStyle/>
          <a:p>
            <a:pPr algn="ctr"/>
            <a:r>
              <a:rPr lang="en-US" b="1" dirty="0">
                <a:solidFill>
                  <a:schemeClr val="dk1"/>
                </a:solidFill>
                <a:latin typeface="Manrope"/>
              </a:rPr>
              <a:t>Why might the authors use this example before presenting their methodology and detailed data?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3776" y="260604"/>
            <a:ext cx="8092440" cy="288036"/>
          </a:xfrm>
          <a:prstGeom prst="rect">
            <a:avLst/>
          </a:prstGeom>
          <a:noFill/>
          <a:ln/>
        </p:spPr>
        <p:txBody>
          <a:bodyPr wrap="square" lIns="0" tIns="0" rIns="0" bIns="0" rtlCol="0" anchor="ctr"/>
          <a:lstStyle/>
          <a:p>
            <a:r>
              <a:rPr lang="en-US" sz="2000" b="1" dirty="0">
                <a:solidFill>
                  <a:schemeClr val="dk1"/>
                </a:solidFill>
                <a:latin typeface="Manrope"/>
              </a:rPr>
              <a:t>Map the Whole Brief</a:t>
            </a:r>
          </a:p>
        </p:txBody>
      </p:sp>
      <p:sp>
        <p:nvSpPr>
          <p:cNvPr id="3" name="Text 1"/>
          <p:cNvSpPr/>
          <p:nvPr/>
        </p:nvSpPr>
        <p:spPr>
          <a:xfrm>
            <a:off x="493776" y="603504"/>
            <a:ext cx="8023860" cy="260604"/>
          </a:xfrm>
          <a:prstGeom prst="rect">
            <a:avLst/>
          </a:prstGeom>
          <a:noFill/>
          <a:ln/>
        </p:spPr>
        <p:txBody>
          <a:bodyPr wrap="square" lIns="0" tIns="0" rIns="0" bIns="0" rtlCol="0" anchor="ctr"/>
          <a:lstStyle/>
          <a:p>
            <a:r>
              <a:rPr lang="en-US" i="1" dirty="0">
                <a:solidFill>
                  <a:schemeClr val="dk1"/>
                </a:solidFill>
                <a:latin typeface="Manrope"/>
              </a:rPr>
              <a:t>Skim all six pages. Locate each function — do not assume the headings will match the textbook labels.</a:t>
            </a:r>
          </a:p>
        </p:txBody>
      </p:sp>
      <p:sp>
        <p:nvSpPr>
          <p:cNvPr id="5" name="Shape 3"/>
          <p:cNvSpPr/>
          <p:nvPr/>
        </p:nvSpPr>
        <p:spPr>
          <a:xfrm>
            <a:off x="582930" y="994410"/>
            <a:ext cx="3806190" cy="562356"/>
          </a:xfrm>
          <a:prstGeom prst="roundRect">
            <a:avLst/>
          </a:prstGeom>
          <a:solidFill>
            <a:srgbClr val="F8FAFD"/>
          </a:solidFill>
          <a:ln w="12700">
            <a:solidFill>
              <a:srgbClr val="D9E3F0"/>
            </a:solidFill>
            <a:prstDash val="solid"/>
          </a:ln>
        </p:spPr>
        <p:txBody>
          <a:bodyPr/>
          <a:lstStyle/>
          <a:p>
            <a:endParaRPr lang="ru-KZ"/>
          </a:p>
        </p:txBody>
      </p:sp>
      <p:sp>
        <p:nvSpPr>
          <p:cNvPr id="6" name="Text 4"/>
          <p:cNvSpPr/>
          <p:nvPr/>
        </p:nvSpPr>
        <p:spPr>
          <a:xfrm>
            <a:off x="706374" y="1131570"/>
            <a:ext cx="240030" cy="171450"/>
          </a:xfrm>
          <a:prstGeom prst="rect">
            <a:avLst/>
          </a:prstGeom>
          <a:noFill/>
          <a:ln/>
        </p:spPr>
        <p:txBody>
          <a:bodyPr wrap="square" lIns="0" tIns="0" rIns="0" bIns="0" rtlCol="0" anchor="ctr"/>
          <a:lstStyle/>
          <a:p>
            <a:r>
              <a:rPr lang="en-US" b="1" dirty="0">
                <a:solidFill>
                  <a:srgbClr val="5F93E6"/>
                </a:solidFill>
              </a:rPr>
              <a:t>1</a:t>
            </a:r>
            <a:endParaRPr lang="en-US" dirty="0"/>
          </a:p>
        </p:txBody>
      </p:sp>
      <p:sp>
        <p:nvSpPr>
          <p:cNvPr id="7" name="Text 5"/>
          <p:cNvSpPr/>
          <p:nvPr/>
        </p:nvSpPr>
        <p:spPr>
          <a:xfrm>
            <a:off x="1028700" y="1104138"/>
            <a:ext cx="3154680" cy="240030"/>
          </a:xfrm>
          <a:prstGeom prst="rect">
            <a:avLst/>
          </a:prstGeom>
          <a:noFill/>
          <a:ln/>
        </p:spPr>
        <p:txBody>
          <a:bodyPr wrap="square" lIns="0" tIns="0" rIns="0" bIns="0" rtlCol="0" anchor="ctr"/>
          <a:lstStyle/>
          <a:p>
            <a:r>
              <a:rPr lang="en-US" dirty="0">
                <a:solidFill>
                  <a:schemeClr val="dk1"/>
                </a:solidFill>
                <a:latin typeface="Manrope"/>
              </a:rPr>
              <a:t>Key messages / executive summary</a:t>
            </a:r>
          </a:p>
        </p:txBody>
      </p:sp>
      <p:sp>
        <p:nvSpPr>
          <p:cNvPr id="8" name="Shape 6"/>
          <p:cNvSpPr/>
          <p:nvPr/>
        </p:nvSpPr>
        <p:spPr>
          <a:xfrm>
            <a:off x="582930" y="1762506"/>
            <a:ext cx="3806190" cy="562356"/>
          </a:xfrm>
          <a:prstGeom prst="roundRect">
            <a:avLst/>
          </a:prstGeom>
          <a:solidFill>
            <a:srgbClr val="EEF3FA"/>
          </a:solidFill>
          <a:ln w="12700">
            <a:solidFill>
              <a:srgbClr val="D9E3F0"/>
            </a:solidFill>
            <a:prstDash val="solid"/>
          </a:ln>
        </p:spPr>
        <p:txBody>
          <a:bodyPr/>
          <a:lstStyle/>
          <a:p>
            <a:endParaRPr lang="ru-KZ"/>
          </a:p>
        </p:txBody>
      </p:sp>
      <p:sp>
        <p:nvSpPr>
          <p:cNvPr id="9" name="Text 7"/>
          <p:cNvSpPr/>
          <p:nvPr/>
        </p:nvSpPr>
        <p:spPr>
          <a:xfrm>
            <a:off x="706374" y="1899666"/>
            <a:ext cx="240030" cy="171450"/>
          </a:xfrm>
          <a:prstGeom prst="rect">
            <a:avLst/>
          </a:prstGeom>
          <a:noFill/>
          <a:ln/>
        </p:spPr>
        <p:txBody>
          <a:bodyPr wrap="square" lIns="0" tIns="0" rIns="0" bIns="0" rtlCol="0" anchor="ctr"/>
          <a:lstStyle/>
          <a:p>
            <a:r>
              <a:rPr lang="en-US" b="1" dirty="0">
                <a:solidFill>
                  <a:srgbClr val="5F93E6"/>
                </a:solidFill>
              </a:rPr>
              <a:t>2</a:t>
            </a:r>
            <a:endParaRPr lang="en-US" dirty="0"/>
          </a:p>
        </p:txBody>
      </p:sp>
      <p:sp>
        <p:nvSpPr>
          <p:cNvPr id="10" name="Text 8"/>
          <p:cNvSpPr/>
          <p:nvPr/>
        </p:nvSpPr>
        <p:spPr>
          <a:xfrm>
            <a:off x="1028700" y="1872234"/>
            <a:ext cx="3154680" cy="240030"/>
          </a:xfrm>
          <a:prstGeom prst="rect">
            <a:avLst/>
          </a:prstGeom>
          <a:noFill/>
          <a:ln/>
        </p:spPr>
        <p:txBody>
          <a:bodyPr wrap="square" lIns="0" tIns="0" rIns="0" bIns="0" rtlCol="0" anchor="ctr"/>
          <a:lstStyle/>
          <a:p>
            <a:r>
              <a:rPr lang="en-US" dirty="0">
                <a:solidFill>
                  <a:schemeClr val="dk1"/>
                </a:solidFill>
                <a:latin typeface="Manrope"/>
              </a:rPr>
              <a:t>Context and problem</a:t>
            </a:r>
          </a:p>
        </p:txBody>
      </p:sp>
      <p:sp>
        <p:nvSpPr>
          <p:cNvPr id="11" name="Shape 9"/>
          <p:cNvSpPr/>
          <p:nvPr/>
        </p:nvSpPr>
        <p:spPr>
          <a:xfrm>
            <a:off x="582930" y="2530602"/>
            <a:ext cx="3806190" cy="562356"/>
          </a:xfrm>
          <a:prstGeom prst="roundRect">
            <a:avLst/>
          </a:prstGeom>
          <a:solidFill>
            <a:srgbClr val="F8FAFD"/>
          </a:solidFill>
          <a:ln w="12700">
            <a:solidFill>
              <a:srgbClr val="D9E3F0"/>
            </a:solidFill>
            <a:prstDash val="solid"/>
          </a:ln>
        </p:spPr>
        <p:txBody>
          <a:bodyPr/>
          <a:lstStyle/>
          <a:p>
            <a:endParaRPr lang="ru-KZ"/>
          </a:p>
        </p:txBody>
      </p:sp>
      <p:sp>
        <p:nvSpPr>
          <p:cNvPr id="12" name="Text 10"/>
          <p:cNvSpPr/>
          <p:nvPr/>
        </p:nvSpPr>
        <p:spPr>
          <a:xfrm>
            <a:off x="706374" y="2667762"/>
            <a:ext cx="240030" cy="171450"/>
          </a:xfrm>
          <a:prstGeom prst="rect">
            <a:avLst/>
          </a:prstGeom>
          <a:noFill/>
          <a:ln/>
        </p:spPr>
        <p:txBody>
          <a:bodyPr wrap="square" lIns="0" tIns="0" rIns="0" bIns="0" rtlCol="0" anchor="ctr"/>
          <a:lstStyle/>
          <a:p>
            <a:r>
              <a:rPr lang="en-US" b="1" dirty="0">
                <a:solidFill>
                  <a:srgbClr val="5F93E6"/>
                </a:solidFill>
              </a:rPr>
              <a:t>3</a:t>
            </a:r>
            <a:endParaRPr lang="en-US" dirty="0"/>
          </a:p>
        </p:txBody>
      </p:sp>
      <p:sp>
        <p:nvSpPr>
          <p:cNvPr id="13" name="Text 11"/>
          <p:cNvSpPr/>
          <p:nvPr/>
        </p:nvSpPr>
        <p:spPr>
          <a:xfrm>
            <a:off x="1028700" y="2640330"/>
            <a:ext cx="3154680" cy="240030"/>
          </a:xfrm>
          <a:prstGeom prst="rect">
            <a:avLst/>
          </a:prstGeom>
          <a:noFill/>
          <a:ln/>
        </p:spPr>
        <p:txBody>
          <a:bodyPr wrap="square" lIns="0" tIns="0" rIns="0" bIns="0" rtlCol="0" anchor="ctr"/>
          <a:lstStyle/>
          <a:p>
            <a:r>
              <a:rPr lang="en-US" dirty="0">
                <a:solidFill>
                  <a:schemeClr val="dk1"/>
                </a:solidFill>
                <a:latin typeface="Manrope"/>
              </a:rPr>
              <a:t>Methodology</a:t>
            </a:r>
          </a:p>
        </p:txBody>
      </p:sp>
      <p:sp>
        <p:nvSpPr>
          <p:cNvPr id="14" name="Shape 12"/>
          <p:cNvSpPr/>
          <p:nvPr/>
        </p:nvSpPr>
        <p:spPr>
          <a:xfrm>
            <a:off x="582930" y="3298698"/>
            <a:ext cx="3806190" cy="562356"/>
          </a:xfrm>
          <a:prstGeom prst="roundRect">
            <a:avLst/>
          </a:prstGeom>
          <a:solidFill>
            <a:srgbClr val="EEF3FA"/>
          </a:solidFill>
          <a:ln w="12700">
            <a:solidFill>
              <a:srgbClr val="D9E3F0"/>
            </a:solidFill>
            <a:prstDash val="solid"/>
          </a:ln>
        </p:spPr>
        <p:txBody>
          <a:bodyPr/>
          <a:lstStyle/>
          <a:p>
            <a:endParaRPr lang="ru-KZ"/>
          </a:p>
        </p:txBody>
      </p:sp>
      <p:sp>
        <p:nvSpPr>
          <p:cNvPr id="15" name="Text 13"/>
          <p:cNvSpPr/>
          <p:nvPr/>
        </p:nvSpPr>
        <p:spPr>
          <a:xfrm>
            <a:off x="706374" y="3435858"/>
            <a:ext cx="240030" cy="171450"/>
          </a:xfrm>
          <a:prstGeom prst="rect">
            <a:avLst/>
          </a:prstGeom>
          <a:noFill/>
          <a:ln/>
        </p:spPr>
        <p:txBody>
          <a:bodyPr wrap="square" lIns="0" tIns="0" rIns="0" bIns="0" rtlCol="0" anchor="ctr"/>
          <a:lstStyle/>
          <a:p>
            <a:r>
              <a:rPr lang="en-US" b="1" dirty="0">
                <a:solidFill>
                  <a:srgbClr val="5F93E6"/>
                </a:solidFill>
              </a:rPr>
              <a:t>4</a:t>
            </a:r>
            <a:endParaRPr lang="en-US" dirty="0"/>
          </a:p>
        </p:txBody>
      </p:sp>
      <p:sp>
        <p:nvSpPr>
          <p:cNvPr id="16" name="Text 14"/>
          <p:cNvSpPr/>
          <p:nvPr/>
        </p:nvSpPr>
        <p:spPr>
          <a:xfrm>
            <a:off x="1028700" y="3408426"/>
            <a:ext cx="3154680" cy="240030"/>
          </a:xfrm>
          <a:prstGeom prst="rect">
            <a:avLst/>
          </a:prstGeom>
          <a:noFill/>
          <a:ln/>
        </p:spPr>
        <p:txBody>
          <a:bodyPr wrap="square" lIns="0" tIns="0" rIns="0" bIns="0" rtlCol="0" anchor="ctr"/>
          <a:lstStyle/>
          <a:p>
            <a:r>
              <a:rPr lang="en-US" dirty="0">
                <a:solidFill>
                  <a:schemeClr val="dk1"/>
                </a:solidFill>
                <a:latin typeface="Manrope"/>
              </a:rPr>
              <a:t>Findings and evidence</a:t>
            </a:r>
          </a:p>
        </p:txBody>
      </p:sp>
      <p:sp>
        <p:nvSpPr>
          <p:cNvPr id="17" name="Shape 15"/>
          <p:cNvSpPr/>
          <p:nvPr/>
        </p:nvSpPr>
        <p:spPr>
          <a:xfrm>
            <a:off x="4766310" y="994410"/>
            <a:ext cx="3806190" cy="562356"/>
          </a:xfrm>
          <a:prstGeom prst="roundRect">
            <a:avLst/>
          </a:prstGeom>
          <a:solidFill>
            <a:srgbClr val="F8FAFD"/>
          </a:solidFill>
          <a:ln w="12700">
            <a:solidFill>
              <a:srgbClr val="D9E3F0"/>
            </a:solidFill>
            <a:prstDash val="solid"/>
          </a:ln>
        </p:spPr>
        <p:txBody>
          <a:bodyPr/>
          <a:lstStyle/>
          <a:p>
            <a:endParaRPr lang="ru-KZ"/>
          </a:p>
        </p:txBody>
      </p:sp>
      <p:sp>
        <p:nvSpPr>
          <p:cNvPr id="18" name="Text 16"/>
          <p:cNvSpPr/>
          <p:nvPr/>
        </p:nvSpPr>
        <p:spPr>
          <a:xfrm>
            <a:off x="4889754" y="1131570"/>
            <a:ext cx="240030" cy="171450"/>
          </a:xfrm>
          <a:prstGeom prst="rect">
            <a:avLst/>
          </a:prstGeom>
          <a:noFill/>
          <a:ln/>
        </p:spPr>
        <p:txBody>
          <a:bodyPr wrap="square" lIns="0" tIns="0" rIns="0" bIns="0" rtlCol="0" anchor="ctr"/>
          <a:lstStyle/>
          <a:p>
            <a:r>
              <a:rPr lang="en-US" b="1" dirty="0">
                <a:solidFill>
                  <a:srgbClr val="5F93E6"/>
                </a:solidFill>
              </a:rPr>
              <a:t>5</a:t>
            </a:r>
            <a:endParaRPr lang="en-US" dirty="0"/>
          </a:p>
        </p:txBody>
      </p:sp>
      <p:sp>
        <p:nvSpPr>
          <p:cNvPr id="19" name="Text 17"/>
          <p:cNvSpPr/>
          <p:nvPr/>
        </p:nvSpPr>
        <p:spPr>
          <a:xfrm>
            <a:off x="5212080" y="1104138"/>
            <a:ext cx="3154680" cy="240030"/>
          </a:xfrm>
          <a:prstGeom prst="rect">
            <a:avLst/>
          </a:prstGeom>
          <a:noFill/>
          <a:ln/>
        </p:spPr>
        <p:txBody>
          <a:bodyPr wrap="square" lIns="0" tIns="0" rIns="0" bIns="0" rtlCol="0" anchor="ctr"/>
          <a:lstStyle/>
          <a:p>
            <a:r>
              <a:rPr lang="en-US" dirty="0">
                <a:solidFill>
                  <a:schemeClr val="dk1"/>
                </a:solidFill>
                <a:latin typeface="Manrope"/>
              </a:rPr>
              <a:t>Visual evidence</a:t>
            </a:r>
          </a:p>
        </p:txBody>
      </p:sp>
      <p:sp>
        <p:nvSpPr>
          <p:cNvPr id="20" name="Shape 18"/>
          <p:cNvSpPr/>
          <p:nvPr/>
        </p:nvSpPr>
        <p:spPr>
          <a:xfrm>
            <a:off x="4766310" y="1762506"/>
            <a:ext cx="3806190" cy="562356"/>
          </a:xfrm>
          <a:prstGeom prst="roundRect">
            <a:avLst/>
          </a:prstGeom>
          <a:solidFill>
            <a:srgbClr val="EEF3FA"/>
          </a:solidFill>
          <a:ln w="12700">
            <a:solidFill>
              <a:srgbClr val="D9E3F0"/>
            </a:solidFill>
            <a:prstDash val="solid"/>
          </a:ln>
        </p:spPr>
        <p:txBody>
          <a:bodyPr/>
          <a:lstStyle/>
          <a:p>
            <a:endParaRPr lang="ru-KZ"/>
          </a:p>
        </p:txBody>
      </p:sp>
      <p:sp>
        <p:nvSpPr>
          <p:cNvPr id="21" name="Text 19"/>
          <p:cNvSpPr/>
          <p:nvPr/>
        </p:nvSpPr>
        <p:spPr>
          <a:xfrm>
            <a:off x="4889754" y="1899666"/>
            <a:ext cx="240030" cy="171450"/>
          </a:xfrm>
          <a:prstGeom prst="rect">
            <a:avLst/>
          </a:prstGeom>
          <a:noFill/>
          <a:ln/>
        </p:spPr>
        <p:txBody>
          <a:bodyPr wrap="square" lIns="0" tIns="0" rIns="0" bIns="0" rtlCol="0" anchor="ctr"/>
          <a:lstStyle/>
          <a:p>
            <a:r>
              <a:rPr lang="en-US" b="1" dirty="0">
                <a:solidFill>
                  <a:srgbClr val="5F93E6"/>
                </a:solidFill>
              </a:rPr>
              <a:t>6</a:t>
            </a:r>
            <a:endParaRPr lang="en-US" dirty="0"/>
          </a:p>
        </p:txBody>
      </p:sp>
      <p:sp>
        <p:nvSpPr>
          <p:cNvPr id="22" name="Text 20"/>
          <p:cNvSpPr/>
          <p:nvPr/>
        </p:nvSpPr>
        <p:spPr>
          <a:xfrm>
            <a:off x="5212080" y="1872234"/>
            <a:ext cx="3154680" cy="240030"/>
          </a:xfrm>
          <a:prstGeom prst="rect">
            <a:avLst/>
          </a:prstGeom>
          <a:noFill/>
          <a:ln/>
        </p:spPr>
        <p:txBody>
          <a:bodyPr wrap="square" lIns="0" tIns="0" rIns="0" bIns="0" rtlCol="0" anchor="ctr"/>
          <a:lstStyle/>
          <a:p>
            <a:r>
              <a:rPr lang="en-US" dirty="0">
                <a:solidFill>
                  <a:schemeClr val="dk1"/>
                </a:solidFill>
                <a:latin typeface="Manrope"/>
              </a:rPr>
              <a:t>Policy implications</a:t>
            </a:r>
          </a:p>
        </p:txBody>
      </p:sp>
      <p:sp>
        <p:nvSpPr>
          <p:cNvPr id="23" name="Shape 21"/>
          <p:cNvSpPr/>
          <p:nvPr/>
        </p:nvSpPr>
        <p:spPr>
          <a:xfrm>
            <a:off x="4766310" y="2530602"/>
            <a:ext cx="3806190" cy="562356"/>
          </a:xfrm>
          <a:prstGeom prst="roundRect">
            <a:avLst/>
          </a:prstGeom>
          <a:solidFill>
            <a:srgbClr val="F8FAFD"/>
          </a:solidFill>
          <a:ln w="12700">
            <a:solidFill>
              <a:srgbClr val="D9E3F0"/>
            </a:solidFill>
            <a:prstDash val="solid"/>
          </a:ln>
        </p:spPr>
        <p:txBody>
          <a:bodyPr/>
          <a:lstStyle/>
          <a:p>
            <a:endParaRPr lang="ru-KZ"/>
          </a:p>
        </p:txBody>
      </p:sp>
      <p:sp>
        <p:nvSpPr>
          <p:cNvPr id="24" name="Text 22"/>
          <p:cNvSpPr/>
          <p:nvPr/>
        </p:nvSpPr>
        <p:spPr>
          <a:xfrm>
            <a:off x="4889754" y="2667762"/>
            <a:ext cx="240030" cy="171450"/>
          </a:xfrm>
          <a:prstGeom prst="rect">
            <a:avLst/>
          </a:prstGeom>
          <a:noFill/>
          <a:ln/>
        </p:spPr>
        <p:txBody>
          <a:bodyPr wrap="square" lIns="0" tIns="0" rIns="0" bIns="0" rtlCol="0" anchor="ctr"/>
          <a:lstStyle/>
          <a:p>
            <a:r>
              <a:rPr lang="en-US" b="1" dirty="0">
                <a:solidFill>
                  <a:srgbClr val="5F93E6"/>
                </a:solidFill>
              </a:rPr>
              <a:t>7</a:t>
            </a:r>
            <a:endParaRPr lang="en-US" dirty="0"/>
          </a:p>
        </p:txBody>
      </p:sp>
      <p:sp>
        <p:nvSpPr>
          <p:cNvPr id="25" name="Text 23"/>
          <p:cNvSpPr/>
          <p:nvPr/>
        </p:nvSpPr>
        <p:spPr>
          <a:xfrm>
            <a:off x="5212080" y="2640330"/>
            <a:ext cx="3154680" cy="240030"/>
          </a:xfrm>
          <a:prstGeom prst="rect">
            <a:avLst/>
          </a:prstGeom>
          <a:noFill/>
          <a:ln/>
        </p:spPr>
        <p:txBody>
          <a:bodyPr wrap="square" lIns="0" tIns="0" rIns="0" bIns="0" rtlCol="0" anchor="ctr"/>
          <a:lstStyle/>
          <a:p>
            <a:r>
              <a:rPr lang="en-US" dirty="0">
                <a:solidFill>
                  <a:schemeClr val="dk1"/>
                </a:solidFill>
                <a:latin typeface="Manrope"/>
              </a:rPr>
              <a:t>Recommendations / proposed responses</a:t>
            </a:r>
          </a:p>
        </p:txBody>
      </p:sp>
      <p:sp>
        <p:nvSpPr>
          <p:cNvPr id="29" name="Text 27"/>
          <p:cNvSpPr/>
          <p:nvPr/>
        </p:nvSpPr>
        <p:spPr>
          <a:xfrm>
            <a:off x="857250" y="4217670"/>
            <a:ext cx="7406640" cy="356616"/>
          </a:xfrm>
          <a:prstGeom prst="rect">
            <a:avLst/>
          </a:prstGeom>
          <a:noFill/>
          <a:ln/>
        </p:spPr>
        <p:txBody>
          <a:bodyPr wrap="square" lIns="0" tIns="0" rIns="0" bIns="0" rtlCol="0" anchor="ctr"/>
          <a:lstStyle/>
          <a:p>
            <a:pPr algn="ctr"/>
            <a:r>
              <a:rPr lang="en-US" sz="1350" b="1" dirty="0">
                <a:solidFill>
                  <a:srgbClr val="0B294B"/>
                </a:solidFill>
              </a:rPr>
              <a:t>Does the OECD brief follow exactly the structure we studied earlier? What is different?</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0070" y="164592"/>
            <a:ext cx="8023860" cy="308610"/>
          </a:xfrm>
          <a:prstGeom prst="rect">
            <a:avLst/>
          </a:prstGeom>
          <a:noFill/>
          <a:ln/>
        </p:spPr>
        <p:txBody>
          <a:bodyPr wrap="square" lIns="0" tIns="0" rIns="0" bIns="0" rtlCol="0" anchor="ctr"/>
          <a:lstStyle/>
          <a:p>
            <a:r>
              <a:rPr lang="en-US" sz="2000" b="1" dirty="0">
                <a:solidFill>
                  <a:schemeClr val="dk1"/>
                </a:solidFill>
                <a:latin typeface="Manrope"/>
              </a:rPr>
              <a:t>Midterm Assignment: Policy Brief</a:t>
            </a:r>
          </a:p>
        </p:txBody>
      </p:sp>
      <p:sp>
        <p:nvSpPr>
          <p:cNvPr id="3" name="Text 1"/>
          <p:cNvSpPr/>
          <p:nvPr/>
        </p:nvSpPr>
        <p:spPr>
          <a:xfrm>
            <a:off x="479020" y="658367"/>
            <a:ext cx="7886700" cy="288036"/>
          </a:xfrm>
          <a:prstGeom prst="rect">
            <a:avLst/>
          </a:prstGeom>
          <a:noFill/>
          <a:ln/>
        </p:spPr>
        <p:txBody>
          <a:bodyPr wrap="square" lIns="0" tIns="0" rIns="0" bIns="0" rtlCol="0" anchor="ctr"/>
          <a:lstStyle/>
          <a:p>
            <a:r>
              <a:rPr lang="en-US" i="1" dirty="0">
                <a:solidFill>
                  <a:schemeClr val="dk1"/>
                </a:solidFill>
                <a:latin typeface="Manrope"/>
              </a:rPr>
              <a:t>Work in groups to develop an evidence-based policy brief on the impact of AI in your professional field.</a:t>
            </a:r>
          </a:p>
        </p:txBody>
      </p:sp>
      <p:sp>
        <p:nvSpPr>
          <p:cNvPr id="4" name="Shape 2"/>
          <p:cNvSpPr/>
          <p:nvPr/>
        </p:nvSpPr>
        <p:spPr>
          <a:xfrm>
            <a:off x="589787" y="1083564"/>
            <a:ext cx="2335253" cy="3303062"/>
          </a:xfrm>
          <a:prstGeom prst="roundRect">
            <a:avLst>
              <a:gd name="adj" fmla="val 2000"/>
            </a:avLst>
          </a:prstGeom>
          <a:solidFill>
            <a:srgbClr val="0B2A4A"/>
          </a:solidFill>
          <a:ln w="12700">
            <a:solidFill>
              <a:srgbClr val="0B2A4A"/>
            </a:solidFill>
            <a:prstDash val="solid"/>
          </a:ln>
        </p:spPr>
        <p:txBody>
          <a:bodyPr/>
          <a:lstStyle/>
          <a:p>
            <a:endParaRPr lang="ru-KZ"/>
          </a:p>
        </p:txBody>
      </p:sp>
      <p:sp>
        <p:nvSpPr>
          <p:cNvPr id="5" name="Text 3"/>
          <p:cNvSpPr/>
          <p:nvPr/>
        </p:nvSpPr>
        <p:spPr>
          <a:xfrm>
            <a:off x="764667" y="1159210"/>
            <a:ext cx="1680210" cy="219456"/>
          </a:xfrm>
          <a:prstGeom prst="rect">
            <a:avLst/>
          </a:prstGeom>
          <a:noFill/>
          <a:ln/>
        </p:spPr>
        <p:txBody>
          <a:bodyPr wrap="square" lIns="0" tIns="0" rIns="0" bIns="0" rtlCol="0" anchor="ctr"/>
          <a:lstStyle/>
          <a:p>
            <a:r>
              <a:rPr lang="en-US" b="1" dirty="0">
                <a:solidFill>
                  <a:schemeClr val="bg1"/>
                </a:solidFill>
                <a:latin typeface="Manrope"/>
              </a:rPr>
              <a:t>YOUR TASK</a:t>
            </a:r>
          </a:p>
        </p:txBody>
      </p:sp>
      <p:sp>
        <p:nvSpPr>
          <p:cNvPr id="6" name="Text 4"/>
          <p:cNvSpPr/>
          <p:nvPr/>
        </p:nvSpPr>
        <p:spPr>
          <a:xfrm>
            <a:off x="708140" y="1447038"/>
            <a:ext cx="2098546" cy="994410"/>
          </a:xfrm>
          <a:prstGeom prst="rect">
            <a:avLst/>
          </a:prstGeom>
          <a:noFill/>
          <a:ln/>
        </p:spPr>
        <p:txBody>
          <a:bodyPr wrap="square" lIns="191" tIns="191" rIns="191" bIns="191" rtlCol="0" anchor="ctr"/>
          <a:lstStyle/>
          <a:p>
            <a:r>
              <a:rPr lang="en-US" sz="1200" b="1" dirty="0">
                <a:solidFill>
                  <a:schemeClr val="bg1"/>
                </a:solidFill>
                <a:latin typeface="Manrope"/>
              </a:rPr>
              <a:t>Create a short policy brief in PDF format that explains how AI is affecting your professional field and proposes evidence-based responses.</a:t>
            </a:r>
          </a:p>
        </p:txBody>
      </p:sp>
      <p:sp>
        <p:nvSpPr>
          <p:cNvPr id="7" name="Text 5"/>
          <p:cNvSpPr/>
          <p:nvPr/>
        </p:nvSpPr>
        <p:spPr>
          <a:xfrm>
            <a:off x="708140" y="2770631"/>
            <a:ext cx="1645920" cy="617220"/>
          </a:xfrm>
          <a:prstGeom prst="rect">
            <a:avLst/>
          </a:prstGeom>
          <a:noFill/>
          <a:ln/>
        </p:spPr>
        <p:txBody>
          <a:bodyPr wrap="square" lIns="0" tIns="0" rIns="0" bIns="0" rtlCol="0" anchor="ctr"/>
          <a:lstStyle/>
          <a:p>
            <a:r>
              <a:rPr lang="en-US" sz="1200" b="1" dirty="0">
                <a:solidFill>
                  <a:schemeClr val="bg1"/>
                </a:solidFill>
                <a:latin typeface="Manrope"/>
              </a:rPr>
              <a:t>Use relevant visuals where they help communicate evidence or key messages</a:t>
            </a:r>
            <a:r>
              <a:rPr lang="en-US" sz="1200" dirty="0">
                <a:solidFill>
                  <a:srgbClr val="E6EEF8"/>
                </a:solidFill>
              </a:rPr>
              <a:t>.</a:t>
            </a:r>
            <a:endParaRPr lang="en-US" sz="1200" dirty="0"/>
          </a:p>
        </p:txBody>
      </p:sp>
      <p:sp>
        <p:nvSpPr>
          <p:cNvPr id="8" name="Text 6"/>
          <p:cNvSpPr/>
          <p:nvPr/>
        </p:nvSpPr>
        <p:spPr>
          <a:xfrm>
            <a:off x="707101" y="3805985"/>
            <a:ext cx="1968244" cy="425196"/>
          </a:xfrm>
          <a:prstGeom prst="rect">
            <a:avLst/>
          </a:prstGeom>
          <a:noFill/>
          <a:ln/>
        </p:spPr>
        <p:txBody>
          <a:bodyPr wrap="square" lIns="0" tIns="0" rIns="0" bIns="0" rtlCol="0" anchor="ctr"/>
          <a:lstStyle/>
          <a:p>
            <a:r>
              <a:rPr lang="en-US" sz="1200" b="1" dirty="0">
                <a:solidFill>
                  <a:schemeClr val="bg1"/>
                </a:solidFill>
                <a:latin typeface="Manrope"/>
              </a:rPr>
              <a:t>Be</a:t>
            </a:r>
            <a:r>
              <a:rPr lang="en-US" sz="938" b="1" dirty="0">
                <a:solidFill>
                  <a:srgbClr val="FFFFFF"/>
                </a:solidFill>
              </a:rPr>
              <a:t> </a:t>
            </a:r>
            <a:r>
              <a:rPr lang="en-US" sz="1200" b="1" dirty="0">
                <a:solidFill>
                  <a:schemeClr val="bg1"/>
                </a:solidFill>
                <a:latin typeface="Manrope"/>
              </a:rPr>
              <a:t>ready to defend your policy choices and recommendations.</a:t>
            </a:r>
          </a:p>
        </p:txBody>
      </p:sp>
      <p:sp>
        <p:nvSpPr>
          <p:cNvPr id="9" name="Shape 7"/>
          <p:cNvSpPr/>
          <p:nvPr/>
        </p:nvSpPr>
        <p:spPr>
          <a:xfrm>
            <a:off x="3017520" y="1234440"/>
            <a:ext cx="5520690" cy="699516"/>
          </a:xfrm>
          <a:prstGeom prst="roundRect">
            <a:avLst>
              <a:gd name="adj" fmla="val 3922"/>
            </a:avLst>
          </a:prstGeom>
          <a:solidFill>
            <a:srgbClr val="EEF3FB"/>
          </a:solidFill>
          <a:ln w="12700">
            <a:solidFill>
              <a:srgbClr val="D9E4F5"/>
            </a:solidFill>
            <a:prstDash val="solid"/>
          </a:ln>
        </p:spPr>
        <p:txBody>
          <a:bodyPr/>
          <a:lstStyle/>
          <a:p>
            <a:endParaRPr lang="ru-KZ"/>
          </a:p>
        </p:txBody>
      </p:sp>
      <p:sp>
        <p:nvSpPr>
          <p:cNvPr id="10" name="Shape 8"/>
          <p:cNvSpPr/>
          <p:nvPr/>
        </p:nvSpPr>
        <p:spPr>
          <a:xfrm>
            <a:off x="3008218" y="1347805"/>
            <a:ext cx="377190" cy="377190"/>
          </a:xfrm>
          <a:prstGeom prst="ellipse">
            <a:avLst/>
          </a:prstGeom>
          <a:solidFill>
            <a:srgbClr val="5E91E6"/>
          </a:solidFill>
          <a:ln w="12700">
            <a:solidFill>
              <a:srgbClr val="5E91E6"/>
            </a:solidFill>
            <a:prstDash val="solid"/>
          </a:ln>
        </p:spPr>
        <p:txBody>
          <a:bodyPr/>
          <a:lstStyle/>
          <a:p>
            <a:endParaRPr lang="ru-KZ"/>
          </a:p>
        </p:txBody>
      </p:sp>
      <p:sp>
        <p:nvSpPr>
          <p:cNvPr id="11" name="Text 9"/>
          <p:cNvSpPr/>
          <p:nvPr/>
        </p:nvSpPr>
        <p:spPr>
          <a:xfrm>
            <a:off x="3017520" y="1447038"/>
            <a:ext cx="377190" cy="137160"/>
          </a:xfrm>
          <a:prstGeom prst="rect">
            <a:avLst/>
          </a:prstGeom>
          <a:noFill/>
          <a:ln/>
        </p:spPr>
        <p:txBody>
          <a:bodyPr wrap="square" lIns="0" tIns="0" rIns="0" bIns="0" rtlCol="0" anchor="ctr"/>
          <a:lstStyle/>
          <a:p>
            <a:pPr algn="ctr"/>
            <a:r>
              <a:rPr lang="en-US" sz="900" b="1" dirty="0">
                <a:solidFill>
                  <a:srgbClr val="FFFFFF"/>
                </a:solidFill>
              </a:rPr>
              <a:t>1</a:t>
            </a:r>
            <a:endParaRPr lang="en-US" sz="900" dirty="0"/>
          </a:p>
        </p:txBody>
      </p:sp>
      <p:sp>
        <p:nvSpPr>
          <p:cNvPr id="12" name="Text 10"/>
          <p:cNvSpPr/>
          <p:nvPr/>
        </p:nvSpPr>
        <p:spPr>
          <a:xfrm>
            <a:off x="3552444" y="1337310"/>
            <a:ext cx="1920240" cy="171450"/>
          </a:xfrm>
          <a:prstGeom prst="rect">
            <a:avLst/>
          </a:prstGeom>
          <a:noFill/>
          <a:ln/>
        </p:spPr>
        <p:txBody>
          <a:bodyPr wrap="square" lIns="0" tIns="0" rIns="0" bIns="0" rtlCol="0" anchor="ctr"/>
          <a:lstStyle/>
          <a:p>
            <a:r>
              <a:rPr lang="en-US" sz="1350" b="1" dirty="0">
                <a:solidFill>
                  <a:srgbClr val="0B294B"/>
                </a:solidFill>
              </a:rPr>
              <a:t>EMPLOYMENT RISKS</a:t>
            </a:r>
          </a:p>
        </p:txBody>
      </p:sp>
      <p:sp>
        <p:nvSpPr>
          <p:cNvPr id="13" name="Text 11"/>
          <p:cNvSpPr/>
          <p:nvPr/>
        </p:nvSpPr>
        <p:spPr>
          <a:xfrm>
            <a:off x="3552444" y="1529334"/>
            <a:ext cx="5078246" cy="377190"/>
          </a:xfrm>
          <a:prstGeom prst="rect">
            <a:avLst/>
          </a:prstGeom>
          <a:noFill/>
          <a:ln/>
        </p:spPr>
        <p:txBody>
          <a:bodyPr wrap="square" lIns="0" tIns="0" rIns="0" bIns="0" rtlCol="0" anchor="ctr"/>
          <a:lstStyle/>
          <a:p>
            <a:r>
              <a:rPr lang="en-US" dirty="0">
                <a:solidFill>
                  <a:schemeClr val="dk1"/>
                </a:solidFill>
                <a:latin typeface="Manrope"/>
              </a:rPr>
              <a:t>Identify 2–3 significant ways AI may affect employment, tasks, or job quality in your field.</a:t>
            </a:r>
          </a:p>
        </p:txBody>
      </p:sp>
      <p:sp>
        <p:nvSpPr>
          <p:cNvPr id="14" name="Shape 12"/>
          <p:cNvSpPr/>
          <p:nvPr/>
        </p:nvSpPr>
        <p:spPr>
          <a:xfrm>
            <a:off x="3017520" y="2016252"/>
            <a:ext cx="5520690" cy="699516"/>
          </a:xfrm>
          <a:prstGeom prst="roundRect">
            <a:avLst>
              <a:gd name="adj" fmla="val 3922"/>
            </a:avLst>
          </a:prstGeom>
          <a:solidFill>
            <a:srgbClr val="EEF3FB"/>
          </a:solidFill>
          <a:ln w="12700">
            <a:solidFill>
              <a:srgbClr val="D9E4F5"/>
            </a:solidFill>
            <a:prstDash val="solid"/>
          </a:ln>
        </p:spPr>
        <p:txBody>
          <a:bodyPr/>
          <a:lstStyle/>
          <a:p>
            <a:endParaRPr lang="ru-KZ"/>
          </a:p>
        </p:txBody>
      </p:sp>
      <p:sp>
        <p:nvSpPr>
          <p:cNvPr id="15" name="Shape 13"/>
          <p:cNvSpPr/>
          <p:nvPr/>
        </p:nvSpPr>
        <p:spPr>
          <a:xfrm>
            <a:off x="3017520" y="2167128"/>
            <a:ext cx="377190" cy="377190"/>
          </a:xfrm>
          <a:prstGeom prst="ellipse">
            <a:avLst/>
          </a:prstGeom>
          <a:solidFill>
            <a:srgbClr val="5E91E6"/>
          </a:solidFill>
          <a:ln w="12700">
            <a:solidFill>
              <a:srgbClr val="5E91E6"/>
            </a:solidFill>
            <a:prstDash val="solid"/>
          </a:ln>
        </p:spPr>
        <p:txBody>
          <a:bodyPr/>
          <a:lstStyle/>
          <a:p>
            <a:endParaRPr lang="ru-KZ"/>
          </a:p>
        </p:txBody>
      </p:sp>
      <p:sp>
        <p:nvSpPr>
          <p:cNvPr id="16" name="Text 14"/>
          <p:cNvSpPr/>
          <p:nvPr/>
        </p:nvSpPr>
        <p:spPr>
          <a:xfrm>
            <a:off x="3017520" y="2228850"/>
            <a:ext cx="377190" cy="137160"/>
          </a:xfrm>
          <a:prstGeom prst="rect">
            <a:avLst/>
          </a:prstGeom>
          <a:noFill/>
          <a:ln/>
        </p:spPr>
        <p:txBody>
          <a:bodyPr wrap="square" lIns="0" tIns="0" rIns="0" bIns="0" rtlCol="0" anchor="ctr"/>
          <a:lstStyle/>
          <a:p>
            <a:pPr algn="ctr"/>
            <a:r>
              <a:rPr lang="en-US" sz="900" b="1" dirty="0">
                <a:solidFill>
                  <a:srgbClr val="FFFFFF"/>
                </a:solidFill>
              </a:rPr>
              <a:t>2</a:t>
            </a:r>
            <a:endParaRPr lang="en-US" sz="900" dirty="0"/>
          </a:p>
        </p:txBody>
      </p:sp>
      <p:sp>
        <p:nvSpPr>
          <p:cNvPr id="17" name="Text 15"/>
          <p:cNvSpPr/>
          <p:nvPr/>
        </p:nvSpPr>
        <p:spPr>
          <a:xfrm>
            <a:off x="3552444" y="2119122"/>
            <a:ext cx="2656124" cy="102871"/>
          </a:xfrm>
          <a:prstGeom prst="rect">
            <a:avLst/>
          </a:prstGeom>
          <a:noFill/>
          <a:ln/>
        </p:spPr>
        <p:txBody>
          <a:bodyPr wrap="square" lIns="0" tIns="0" rIns="0" bIns="0" rtlCol="0" anchor="ctr"/>
          <a:lstStyle/>
          <a:p>
            <a:r>
              <a:rPr lang="en-US" sz="1350" b="1" dirty="0">
                <a:solidFill>
                  <a:srgbClr val="0B294B"/>
                </a:solidFill>
              </a:rPr>
              <a:t>FUTURE WORKFORCE SKILLS</a:t>
            </a:r>
          </a:p>
        </p:txBody>
      </p:sp>
      <p:sp>
        <p:nvSpPr>
          <p:cNvPr id="18" name="Text 16"/>
          <p:cNvSpPr/>
          <p:nvPr/>
        </p:nvSpPr>
        <p:spPr>
          <a:xfrm>
            <a:off x="3552444" y="2366011"/>
            <a:ext cx="4697730" cy="288036"/>
          </a:xfrm>
          <a:prstGeom prst="rect">
            <a:avLst/>
          </a:prstGeom>
          <a:noFill/>
          <a:ln/>
        </p:spPr>
        <p:txBody>
          <a:bodyPr wrap="square" lIns="0" tIns="0" rIns="0" bIns="0" rtlCol="0" anchor="ctr"/>
          <a:lstStyle/>
          <a:p>
            <a:r>
              <a:rPr lang="en-US" dirty="0">
                <a:solidFill>
                  <a:schemeClr val="dk1"/>
                </a:solidFill>
                <a:latin typeface="Manrope"/>
              </a:rPr>
              <a:t>Identify the cognitive, technical, and interpersonal skills workers will need as AI use expands.</a:t>
            </a:r>
          </a:p>
        </p:txBody>
      </p:sp>
      <p:sp>
        <p:nvSpPr>
          <p:cNvPr id="19" name="Shape 17"/>
          <p:cNvSpPr/>
          <p:nvPr/>
        </p:nvSpPr>
        <p:spPr>
          <a:xfrm>
            <a:off x="3017518" y="2798064"/>
            <a:ext cx="5520691" cy="699516"/>
          </a:xfrm>
          <a:prstGeom prst="roundRect">
            <a:avLst>
              <a:gd name="adj" fmla="val 3922"/>
            </a:avLst>
          </a:prstGeom>
          <a:solidFill>
            <a:srgbClr val="EEF3FB"/>
          </a:solidFill>
          <a:ln w="12700">
            <a:solidFill>
              <a:srgbClr val="D9E4F5"/>
            </a:solidFill>
            <a:prstDash val="solid"/>
          </a:ln>
        </p:spPr>
        <p:txBody>
          <a:bodyPr/>
          <a:lstStyle/>
          <a:p>
            <a:endParaRPr lang="ru-KZ"/>
          </a:p>
        </p:txBody>
      </p:sp>
      <p:sp>
        <p:nvSpPr>
          <p:cNvPr id="20" name="Shape 18"/>
          <p:cNvSpPr/>
          <p:nvPr/>
        </p:nvSpPr>
        <p:spPr>
          <a:xfrm>
            <a:off x="3017520" y="2948940"/>
            <a:ext cx="377190" cy="377190"/>
          </a:xfrm>
          <a:prstGeom prst="ellipse">
            <a:avLst/>
          </a:prstGeom>
          <a:solidFill>
            <a:srgbClr val="5E91E6"/>
          </a:solidFill>
          <a:ln w="12700">
            <a:solidFill>
              <a:srgbClr val="5E91E6"/>
            </a:solidFill>
            <a:prstDash val="solid"/>
          </a:ln>
        </p:spPr>
        <p:txBody>
          <a:bodyPr/>
          <a:lstStyle/>
          <a:p>
            <a:endParaRPr lang="ru-KZ"/>
          </a:p>
        </p:txBody>
      </p:sp>
      <p:sp>
        <p:nvSpPr>
          <p:cNvPr id="21" name="Text 19"/>
          <p:cNvSpPr/>
          <p:nvPr/>
        </p:nvSpPr>
        <p:spPr>
          <a:xfrm>
            <a:off x="3017520" y="3010662"/>
            <a:ext cx="377190" cy="137160"/>
          </a:xfrm>
          <a:prstGeom prst="rect">
            <a:avLst/>
          </a:prstGeom>
          <a:noFill/>
          <a:ln/>
        </p:spPr>
        <p:txBody>
          <a:bodyPr wrap="square" lIns="0" tIns="0" rIns="0" bIns="0" rtlCol="0" anchor="ctr"/>
          <a:lstStyle/>
          <a:p>
            <a:pPr algn="ctr"/>
            <a:r>
              <a:rPr lang="en-US" sz="900" b="1" dirty="0">
                <a:solidFill>
                  <a:srgbClr val="FFFFFF"/>
                </a:solidFill>
              </a:rPr>
              <a:t>3</a:t>
            </a:r>
            <a:endParaRPr lang="en-US" sz="900" dirty="0"/>
          </a:p>
        </p:txBody>
      </p:sp>
      <p:sp>
        <p:nvSpPr>
          <p:cNvPr id="22" name="Text 20"/>
          <p:cNvSpPr/>
          <p:nvPr/>
        </p:nvSpPr>
        <p:spPr>
          <a:xfrm>
            <a:off x="3552444" y="2900934"/>
            <a:ext cx="1920240" cy="171450"/>
          </a:xfrm>
          <a:prstGeom prst="rect">
            <a:avLst/>
          </a:prstGeom>
          <a:noFill/>
          <a:ln/>
        </p:spPr>
        <p:txBody>
          <a:bodyPr wrap="square" lIns="0" tIns="0" rIns="0" bIns="0" rtlCol="0" anchor="ctr"/>
          <a:lstStyle/>
          <a:p>
            <a:r>
              <a:rPr lang="en-US" sz="1350" b="1" dirty="0">
                <a:solidFill>
                  <a:srgbClr val="0B294B"/>
                </a:solidFill>
              </a:rPr>
              <a:t>POLICY RESPONSE</a:t>
            </a:r>
          </a:p>
        </p:txBody>
      </p:sp>
      <p:sp>
        <p:nvSpPr>
          <p:cNvPr id="23" name="Text 21"/>
          <p:cNvSpPr/>
          <p:nvPr/>
        </p:nvSpPr>
        <p:spPr>
          <a:xfrm>
            <a:off x="3552443" y="3092958"/>
            <a:ext cx="5078243" cy="404622"/>
          </a:xfrm>
          <a:prstGeom prst="rect">
            <a:avLst/>
          </a:prstGeom>
          <a:noFill/>
          <a:ln/>
        </p:spPr>
        <p:txBody>
          <a:bodyPr wrap="square" lIns="0" tIns="0" rIns="0" bIns="0" rtlCol="0" anchor="ctr"/>
          <a:lstStyle/>
          <a:p>
            <a:r>
              <a:rPr lang="en-US" dirty="0">
                <a:solidFill>
                  <a:schemeClr val="dk1"/>
                </a:solidFill>
                <a:latin typeface="Manrope"/>
              </a:rPr>
              <a:t>Propose concrete actions that employers, educators, professional bodies, or policymakers could take.</a:t>
            </a:r>
          </a:p>
        </p:txBody>
      </p:sp>
      <p:sp>
        <p:nvSpPr>
          <p:cNvPr id="24" name="Shape 22"/>
          <p:cNvSpPr/>
          <p:nvPr/>
        </p:nvSpPr>
        <p:spPr>
          <a:xfrm>
            <a:off x="3017518" y="3579876"/>
            <a:ext cx="5520692" cy="774954"/>
          </a:xfrm>
          <a:prstGeom prst="roundRect">
            <a:avLst>
              <a:gd name="adj" fmla="val 3922"/>
            </a:avLst>
          </a:prstGeom>
          <a:solidFill>
            <a:srgbClr val="EEF3FB"/>
          </a:solidFill>
          <a:ln w="12700">
            <a:solidFill>
              <a:srgbClr val="D9E4F5"/>
            </a:solidFill>
            <a:prstDash val="solid"/>
          </a:ln>
        </p:spPr>
        <p:txBody>
          <a:bodyPr/>
          <a:lstStyle/>
          <a:p>
            <a:endParaRPr lang="ru-KZ"/>
          </a:p>
        </p:txBody>
      </p:sp>
      <p:sp>
        <p:nvSpPr>
          <p:cNvPr id="25" name="Shape 23"/>
          <p:cNvSpPr/>
          <p:nvPr/>
        </p:nvSpPr>
        <p:spPr>
          <a:xfrm>
            <a:off x="3017520" y="3730752"/>
            <a:ext cx="377190" cy="377190"/>
          </a:xfrm>
          <a:prstGeom prst="ellipse">
            <a:avLst/>
          </a:prstGeom>
          <a:solidFill>
            <a:srgbClr val="5E91E6"/>
          </a:solidFill>
          <a:ln w="12700">
            <a:solidFill>
              <a:srgbClr val="5E91E6"/>
            </a:solidFill>
            <a:prstDash val="solid"/>
          </a:ln>
        </p:spPr>
        <p:txBody>
          <a:bodyPr/>
          <a:lstStyle/>
          <a:p>
            <a:endParaRPr lang="ru-KZ"/>
          </a:p>
        </p:txBody>
      </p:sp>
      <p:sp>
        <p:nvSpPr>
          <p:cNvPr id="26" name="Text 24"/>
          <p:cNvSpPr/>
          <p:nvPr/>
        </p:nvSpPr>
        <p:spPr>
          <a:xfrm>
            <a:off x="3017520" y="3792474"/>
            <a:ext cx="377190" cy="137160"/>
          </a:xfrm>
          <a:prstGeom prst="rect">
            <a:avLst/>
          </a:prstGeom>
          <a:noFill/>
          <a:ln/>
        </p:spPr>
        <p:txBody>
          <a:bodyPr wrap="square" lIns="0" tIns="0" rIns="0" bIns="0" rtlCol="0" anchor="ctr"/>
          <a:lstStyle/>
          <a:p>
            <a:pPr algn="ctr"/>
            <a:r>
              <a:rPr lang="en-US" sz="900" b="1" dirty="0">
                <a:solidFill>
                  <a:srgbClr val="FFFFFF"/>
                </a:solidFill>
              </a:rPr>
              <a:t>4</a:t>
            </a:r>
            <a:endParaRPr lang="en-US" sz="900" dirty="0"/>
          </a:p>
        </p:txBody>
      </p:sp>
      <p:sp>
        <p:nvSpPr>
          <p:cNvPr id="27" name="Text 25"/>
          <p:cNvSpPr/>
          <p:nvPr/>
        </p:nvSpPr>
        <p:spPr>
          <a:xfrm>
            <a:off x="3552444" y="3682746"/>
            <a:ext cx="2656124" cy="137160"/>
          </a:xfrm>
          <a:prstGeom prst="rect">
            <a:avLst/>
          </a:prstGeom>
          <a:noFill/>
          <a:ln/>
        </p:spPr>
        <p:txBody>
          <a:bodyPr wrap="square" lIns="0" tIns="0" rIns="0" bIns="0" rtlCol="0" anchor="ctr"/>
          <a:lstStyle/>
          <a:p>
            <a:r>
              <a:rPr lang="en-US" sz="1350" b="1" dirty="0">
                <a:solidFill>
                  <a:srgbClr val="0B294B"/>
                </a:solidFill>
              </a:rPr>
              <a:t>PROFESSIONALISATION</a:t>
            </a:r>
          </a:p>
        </p:txBody>
      </p:sp>
      <p:sp>
        <p:nvSpPr>
          <p:cNvPr id="28" name="Text 26"/>
          <p:cNvSpPr/>
          <p:nvPr/>
        </p:nvSpPr>
        <p:spPr>
          <a:xfrm>
            <a:off x="3552442" y="4020452"/>
            <a:ext cx="4947321" cy="288036"/>
          </a:xfrm>
          <a:prstGeom prst="rect">
            <a:avLst/>
          </a:prstGeom>
          <a:noFill/>
          <a:ln/>
        </p:spPr>
        <p:txBody>
          <a:bodyPr wrap="square" lIns="0" tIns="0" rIns="0" bIns="0" rtlCol="0" anchor="ctr"/>
          <a:lstStyle/>
          <a:p>
            <a:r>
              <a:rPr lang="en-US" dirty="0">
                <a:solidFill>
                  <a:schemeClr val="dk1"/>
                </a:solidFill>
                <a:latin typeface="Manrope"/>
              </a:rPr>
              <a:t>Suggest how training, job design, standards, status, or working conditions could be strengthened in AI-affected roles.</a:t>
            </a:r>
          </a:p>
        </p:txBody>
      </p:sp>
      <p:sp>
        <p:nvSpPr>
          <p:cNvPr id="29" name="Shape 27"/>
          <p:cNvSpPr/>
          <p:nvPr/>
        </p:nvSpPr>
        <p:spPr>
          <a:xfrm>
            <a:off x="582930" y="4539996"/>
            <a:ext cx="7955280" cy="0"/>
          </a:xfrm>
          <a:prstGeom prst="line">
            <a:avLst/>
          </a:prstGeom>
          <a:noFill/>
          <a:ln w="12700">
            <a:solidFill>
              <a:srgbClr val="D8E1EC"/>
            </a:solidFill>
            <a:prstDash val="solid"/>
          </a:ln>
        </p:spPr>
        <p:txBody>
          <a:bodyPr/>
          <a:lstStyle/>
          <a:p>
            <a:endParaRPr lang="ru-KZ"/>
          </a:p>
        </p:txBody>
      </p:sp>
      <p:sp>
        <p:nvSpPr>
          <p:cNvPr id="30" name="Text 28"/>
          <p:cNvSpPr/>
          <p:nvPr/>
        </p:nvSpPr>
        <p:spPr>
          <a:xfrm>
            <a:off x="259773" y="4565561"/>
            <a:ext cx="1093643" cy="275982"/>
          </a:xfrm>
          <a:prstGeom prst="rect">
            <a:avLst/>
          </a:prstGeom>
          <a:noFill/>
          <a:ln/>
        </p:spPr>
        <p:txBody>
          <a:bodyPr wrap="square" lIns="0" tIns="0" rIns="0" bIns="0" rtlCol="0" anchor="ctr"/>
          <a:lstStyle/>
          <a:p>
            <a:r>
              <a:rPr lang="en-US" b="1" dirty="0">
                <a:solidFill>
                  <a:schemeClr val="dk1"/>
                </a:solidFill>
                <a:latin typeface="Manrope"/>
              </a:rPr>
              <a:t>Submission</a:t>
            </a:r>
          </a:p>
        </p:txBody>
      </p:sp>
      <p:sp>
        <p:nvSpPr>
          <p:cNvPr id="31" name="Text 29"/>
          <p:cNvSpPr/>
          <p:nvPr/>
        </p:nvSpPr>
        <p:spPr>
          <a:xfrm>
            <a:off x="1448492" y="4627589"/>
            <a:ext cx="3326130" cy="186830"/>
          </a:xfrm>
          <a:prstGeom prst="rect">
            <a:avLst/>
          </a:prstGeom>
          <a:noFill/>
          <a:ln/>
        </p:spPr>
        <p:txBody>
          <a:bodyPr wrap="square" lIns="0" tIns="0" rIns="0" bIns="0" rtlCol="0" anchor="ctr"/>
          <a:lstStyle/>
          <a:p>
            <a:r>
              <a:rPr lang="en-US" dirty="0">
                <a:solidFill>
                  <a:schemeClr val="dk1"/>
                </a:solidFill>
                <a:latin typeface="Manrope"/>
              </a:rPr>
              <a:t>PDF  •  Group work  </a:t>
            </a:r>
          </a:p>
        </p:txBody>
      </p:sp>
      <p:sp>
        <p:nvSpPr>
          <p:cNvPr id="32" name="Text 30"/>
          <p:cNvSpPr/>
          <p:nvPr/>
        </p:nvSpPr>
        <p:spPr>
          <a:xfrm>
            <a:off x="3489686" y="4638605"/>
            <a:ext cx="817563" cy="145681"/>
          </a:xfrm>
          <a:prstGeom prst="rect">
            <a:avLst/>
          </a:prstGeom>
          <a:noFill/>
          <a:ln/>
        </p:spPr>
        <p:txBody>
          <a:bodyPr wrap="square" lIns="0" tIns="0" rIns="0" bIns="0" rtlCol="0" anchor="ctr"/>
          <a:lstStyle/>
          <a:p>
            <a:r>
              <a:rPr lang="en-US" b="1" dirty="0">
                <a:solidFill>
                  <a:schemeClr val="dk1"/>
                </a:solidFill>
                <a:latin typeface="Manrope"/>
              </a:rPr>
              <a:t>Evidence</a:t>
            </a:r>
          </a:p>
        </p:txBody>
      </p:sp>
      <p:sp>
        <p:nvSpPr>
          <p:cNvPr id="33" name="Text 31"/>
          <p:cNvSpPr/>
          <p:nvPr/>
        </p:nvSpPr>
        <p:spPr>
          <a:xfrm>
            <a:off x="4369377" y="4719967"/>
            <a:ext cx="4452505" cy="186829"/>
          </a:xfrm>
          <a:prstGeom prst="rect">
            <a:avLst/>
          </a:prstGeom>
          <a:noFill/>
          <a:ln/>
        </p:spPr>
        <p:txBody>
          <a:bodyPr wrap="square" lIns="0" tIns="0" rIns="0" bIns="0" rtlCol="0" anchor="ctr"/>
          <a:lstStyle/>
          <a:p>
            <a:r>
              <a:rPr lang="en-US" dirty="0">
                <a:solidFill>
                  <a:schemeClr val="dk1"/>
                </a:solidFill>
                <a:latin typeface="Manrope"/>
              </a:rPr>
              <a:t>Support claims and recommendations with credible research and reports.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Объект 12">
            <a:extLst>
              <a:ext uri="{FF2B5EF4-FFF2-40B4-BE49-F238E27FC236}">
                <a16:creationId xmlns:a16="http://schemas.microsoft.com/office/drawing/2014/main" id="{D89CC3AD-24D3-C305-6840-6E1DBD3A005E}"/>
              </a:ext>
            </a:extLst>
          </p:cNvPr>
          <p:cNvGraphicFramePr>
            <a:graphicFrameLocks noGrp="1"/>
          </p:cNvGraphicFramePr>
          <p:nvPr>
            <p:ph idx="1"/>
            <p:extLst>
              <p:ext uri="{D42A27DB-BD31-4B8C-83A1-F6EECF244321}">
                <p14:modId xmlns:p14="http://schemas.microsoft.com/office/powerpoint/2010/main" val="3302346718"/>
              </p:ext>
            </p:extLst>
          </p:nvPr>
        </p:nvGraphicFramePr>
        <p:xfrm>
          <a:off x="149115" y="80010"/>
          <a:ext cx="8717066" cy="5103612"/>
        </p:xfrm>
        <a:graphic>
          <a:graphicData uri="http://schemas.openxmlformats.org/drawingml/2006/table">
            <a:tbl>
              <a:tblPr firstRow="1" firstCol="1" lastRow="1" lastCol="1" bandRow="1" bandCol="1"/>
              <a:tblGrid>
                <a:gridCol w="8265061">
                  <a:extLst>
                    <a:ext uri="{9D8B030D-6E8A-4147-A177-3AD203B41FA5}">
                      <a16:colId xmlns:a16="http://schemas.microsoft.com/office/drawing/2014/main" val="1135519641"/>
                    </a:ext>
                  </a:extLst>
                </a:gridCol>
                <a:gridCol w="452005">
                  <a:extLst>
                    <a:ext uri="{9D8B030D-6E8A-4147-A177-3AD203B41FA5}">
                      <a16:colId xmlns:a16="http://schemas.microsoft.com/office/drawing/2014/main" val="4263638268"/>
                    </a:ext>
                  </a:extLst>
                </a:gridCol>
              </a:tblGrid>
              <a:tr h="208697">
                <a:tc>
                  <a:txBody>
                    <a:bodyPr/>
                    <a:lstStyle/>
                    <a:p>
                      <a:pPr marL="8890" marR="0" algn="ctr" fontAlgn="t">
                        <a:lnSpc>
                          <a:spcPts val="1280"/>
                        </a:lnSpc>
                        <a:buNone/>
                      </a:pPr>
                      <a:r>
                        <a:rPr lang="en-US" sz="1400" b="1" i="0" u="none"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Structure of the Policy Brief</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8890" marR="0" algn="ctr" fontAlgn="t">
                        <a:lnSpc>
                          <a:spcPts val="1280"/>
                        </a:lnSpc>
                        <a:buNone/>
                      </a:pP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1834361"/>
                  </a:ext>
                </a:extLst>
              </a:tr>
              <a:tr h="242479">
                <a:tc>
                  <a:txBody>
                    <a:bodyPr/>
                    <a:lstStyle/>
                    <a:p>
                      <a:pPr marL="63500" algn="l" fontAlgn="t">
                        <a:lnSpc>
                          <a:spcPct val="81000"/>
                        </a:lnSpc>
                        <a:spcBef>
                          <a:spcPts val="35"/>
                        </a:spcBef>
                        <a:buNone/>
                      </a:pPr>
                      <a:r>
                        <a:rPr lang="en-US" sz="1400" b="1"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1. Executive Summary. </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Concise overview of the problem, its significance, main findings and key recommendation(s)</a:t>
                      </a: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3500" algn="ctr" fontAlgn="ctr">
                        <a:spcBef>
                          <a:spcPts val="850"/>
                        </a:spcBef>
                        <a:buNone/>
                      </a:pPr>
                      <a:r>
                        <a:rPr lang="en-US" sz="1400" b="1" i="0" u="none" strike="noStrike" dirty="0">
                          <a:solidFill>
                            <a:schemeClr val="tx1"/>
                          </a:solidFill>
                          <a:effectLst/>
                          <a:latin typeface="Times New Roman" panose="02020603050405020304" pitchFamily="18" charset="0"/>
                          <a:cs typeface="Times New Roman" panose="02020603050405020304" pitchFamily="18" charset="0"/>
                        </a:rPr>
                        <a:t>10</a:t>
                      </a:r>
                    </a:p>
                  </a:txBody>
                  <a:tcPr marL="4526" marR="4526" marT="452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9356389"/>
                  </a:ext>
                </a:extLst>
              </a:tr>
              <a:tr h="533247">
                <a:tc>
                  <a:txBody>
                    <a:bodyPr/>
                    <a:lstStyle/>
                    <a:p>
                      <a:pPr marL="63500" algn="l" fontAlgn="t">
                        <a:lnSpc>
                          <a:spcPct val="100000"/>
                        </a:lnSpc>
                        <a:buNone/>
                      </a:pPr>
                      <a:r>
                        <a:rPr lang="en-US" sz="1400" b="1"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2. Context and Problem Statement. </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Clearly explains how AI is affecting the selected professional field, identifies the key stakeholders affected, and analyses 2–3 significant employment/workforce challenges. Establishes, using evidence, why the issue requires policy attention.</a:t>
                      </a: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3500" algn="ctr" fontAlgn="ctr">
                        <a:buNone/>
                      </a:pPr>
                      <a:r>
                        <a:rPr lang="en-US" sz="1400" b="1" i="0" u="none" strike="noStrike">
                          <a:solidFill>
                            <a:schemeClr val="tx1"/>
                          </a:solidFill>
                          <a:effectLst/>
                          <a:latin typeface="Times New Roman" panose="02020603050405020304" pitchFamily="18" charset="0"/>
                          <a:cs typeface="Times New Roman" panose="02020603050405020304" pitchFamily="18" charset="0"/>
                        </a:rPr>
                        <a:t>15</a:t>
                      </a:r>
                    </a:p>
                  </a:txBody>
                  <a:tcPr marL="4526" marR="4526" marT="452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581865"/>
                  </a:ext>
                </a:extLst>
              </a:tr>
              <a:tr h="613648">
                <a:tc>
                  <a:txBody>
                    <a:bodyPr/>
                    <a:lstStyle/>
                    <a:p>
                      <a:pPr marL="0" marR="328930" lvl="0" indent="0" algn="just" defTabSz="914400" rtl="0" eaLnBrk="1" fontAlgn="t" latinLnBrk="0" hangingPunct="1">
                        <a:lnSpc>
                          <a:spcPct val="81000"/>
                        </a:lnSpc>
                        <a:spcBef>
                          <a:spcPts val="0"/>
                        </a:spcBef>
                        <a:spcAft>
                          <a:spcPts val="0"/>
                        </a:spcAft>
                        <a:buClr>
                          <a:srgbClr val="000000"/>
                        </a:buClr>
                        <a:buSzTx/>
                        <a:buFont typeface="Arial"/>
                        <a:buNone/>
                        <a:tabLst/>
                        <a:defRPr/>
                      </a:pPr>
                      <a:r>
                        <a:rPr lang="en-US" sz="1400" b="1"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3. Evidence and Findings. </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Uses relevant evidence from at least five credible academic and/or institutional sources, including evidence directly relevant to the selected professional field. Evidence is selected, synthesized and interpreted to </a:t>
                      </a:r>
                      <a:r>
                        <a:rPr lang="en-US" sz="1400" b="0" i="0" u="none" strike="noStrike" cap="none" spc="0" dirty="0" err="1">
                          <a:solidFill>
                            <a:schemeClr val="tx1"/>
                          </a:solidFill>
                          <a:latin typeface="Times New Roman" panose="02020603050405020304" pitchFamily="18" charset="0"/>
                          <a:ea typeface="+mn-ea"/>
                          <a:cs typeface="Times New Roman" panose="02020603050405020304" pitchFamily="18" charset="0"/>
                          <a:sym typeface="Arial"/>
                        </a:rPr>
                        <a:t>analyse</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AI-related changes in employment, work tasks and/or skill requirements in the selected professional field. Identifies and analyses the cognitive, technical, and interpersonal skills workers will need as AI use expands, explaining how these skills relate to the identified changes in work. Key claims are supported with evidence and their policy relevance is clearly established.</a:t>
                      </a: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3500" algn="ctr" fontAlgn="ctr">
                        <a:lnSpc>
                          <a:spcPts val="1280"/>
                        </a:lnSpc>
                        <a:buNone/>
                      </a:pPr>
                      <a:r>
                        <a:rPr lang="en-US" sz="1400" b="1" i="0" u="none" strike="noStrike" dirty="0">
                          <a:solidFill>
                            <a:schemeClr val="tx1"/>
                          </a:solidFill>
                          <a:effectLst/>
                          <a:latin typeface="Times New Roman" panose="02020603050405020304" pitchFamily="18" charset="0"/>
                          <a:cs typeface="Times New Roman" panose="02020603050405020304" pitchFamily="18" charset="0"/>
                        </a:rPr>
                        <a:t>20</a:t>
                      </a:r>
                    </a:p>
                  </a:txBody>
                  <a:tcPr marL="4526" marR="4526" marT="452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6150623"/>
                  </a:ext>
                </a:extLst>
              </a:tr>
              <a:tr h="347772">
                <a:tc>
                  <a:txBody>
                    <a:bodyPr/>
                    <a:lstStyle/>
                    <a:p>
                      <a:pPr marR="328930" algn="just" fontAlgn="t">
                        <a:lnSpc>
                          <a:spcPct val="81000"/>
                        </a:lnSpc>
                        <a:buNone/>
                      </a:pPr>
                      <a:r>
                        <a:rPr lang="en-US" sz="1400" b="1"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4. Policy Recommendations. </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Proposes 1–2 specific and feasible recommendations that clearly follow from the findings. Identifies the responsible stakeholder(s) and the intended outcome(s) of each recommendation.</a:t>
                      </a: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3500" algn="ctr" fontAlgn="ctr">
                        <a:spcBef>
                          <a:spcPts val="1015"/>
                        </a:spcBef>
                        <a:buNone/>
                      </a:pPr>
                      <a:r>
                        <a:rPr lang="en-US" sz="1400" b="1" i="0" u="none" strike="noStrike">
                          <a:solidFill>
                            <a:schemeClr val="tx1"/>
                          </a:solidFill>
                          <a:effectLst/>
                          <a:latin typeface="Times New Roman" panose="02020603050405020304" pitchFamily="18" charset="0"/>
                          <a:cs typeface="Times New Roman" panose="02020603050405020304" pitchFamily="18" charset="0"/>
                        </a:rPr>
                        <a:t>15</a:t>
                      </a:r>
                    </a:p>
                  </a:txBody>
                  <a:tcPr marL="4526" marR="4526" marT="452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3649040"/>
                  </a:ext>
                </a:extLst>
              </a:tr>
              <a:tr h="311727">
                <a:tc>
                  <a:txBody>
                    <a:bodyPr/>
                    <a:lstStyle/>
                    <a:p>
                      <a:pPr marR="328930" algn="l" fontAlgn="t">
                        <a:lnSpc>
                          <a:spcPct val="81000"/>
                        </a:lnSpc>
                        <a:buNone/>
                      </a:pPr>
                      <a:r>
                        <a:rPr lang="en-US" sz="1400" b="1"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5 References</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Sources are appropriately acknowledged through in-text citations, and the reference list is consistently formatted according to APA 7.</a:t>
                      </a: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3500" algn="ctr" fontAlgn="ctr">
                        <a:spcBef>
                          <a:spcPts val="1015"/>
                        </a:spcBef>
                        <a:buNone/>
                      </a:pPr>
                      <a:r>
                        <a:rPr lang="en-US" sz="1400" b="1" i="0" u="none" strike="noStrike" dirty="0">
                          <a:solidFill>
                            <a:schemeClr val="tx1"/>
                          </a:solidFill>
                          <a:effectLst/>
                          <a:latin typeface="Times New Roman" panose="02020603050405020304" pitchFamily="18" charset="0"/>
                          <a:cs typeface="Times New Roman" panose="02020603050405020304" pitchFamily="18" charset="0"/>
                        </a:rPr>
                        <a:t>5</a:t>
                      </a:r>
                    </a:p>
                  </a:txBody>
                  <a:tcPr marL="4526" marR="4526" marT="452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4465727"/>
                  </a:ext>
                </a:extLst>
              </a:tr>
              <a:tr h="276910">
                <a:tc>
                  <a:txBody>
                    <a:bodyPr/>
                    <a:lstStyle/>
                    <a:p>
                      <a:pPr marR="328930" algn="just" fontAlgn="t">
                        <a:lnSpc>
                          <a:spcPct val="81000"/>
                        </a:lnSpc>
                        <a:buNone/>
                      </a:pPr>
                      <a:r>
                        <a:rPr lang="en-US" sz="1400" b="1"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6. Policy-Brief Style and Language</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Writing is clear, concise and professional and is appropriate for a non-specialist decision-making audience. Grammar and vocabulary are accurate and appropriate. Unnecessary jargon, repetition and overstatement are avoided.</a:t>
                      </a: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3500" algn="ctr" fontAlgn="ctr">
                        <a:spcBef>
                          <a:spcPts val="1015"/>
                        </a:spcBef>
                        <a:buNone/>
                      </a:pPr>
                      <a:r>
                        <a:rPr lang="en-US" sz="1400" b="1" i="0" u="none" strike="noStrike" dirty="0">
                          <a:solidFill>
                            <a:schemeClr val="tx1"/>
                          </a:solidFill>
                          <a:effectLst/>
                          <a:latin typeface="Times New Roman" panose="02020603050405020304" pitchFamily="18" charset="0"/>
                          <a:cs typeface="Times New Roman" panose="02020603050405020304" pitchFamily="18" charset="0"/>
                        </a:rPr>
                        <a:t>10</a:t>
                      </a:r>
                    </a:p>
                  </a:txBody>
                  <a:tcPr marL="4526" marR="4526" marT="452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5634909"/>
                  </a:ext>
                </a:extLst>
              </a:tr>
              <a:tr h="264098">
                <a:tc>
                  <a:txBody>
                    <a:bodyPr/>
                    <a:lstStyle/>
                    <a:p>
                      <a:pPr marL="8890" algn="ctr" fontAlgn="t">
                        <a:lnSpc>
                          <a:spcPts val="1280"/>
                        </a:lnSpc>
                        <a:buNone/>
                      </a:pPr>
                      <a:r>
                        <a:rPr lang="en-US" sz="1400" b="1" i="0" u="none" strike="noStrike" spc="-1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Presentation</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8890" algn="ctr" fontAlgn="t">
                        <a:lnSpc>
                          <a:spcPts val="1280"/>
                        </a:lnSpc>
                        <a:buNone/>
                      </a:pPr>
                      <a:endParaRPr lang="en-US" sz="1400" b="0" i="0" u="none" strike="noStrike">
                        <a:solidFill>
                          <a:schemeClr val="tx1"/>
                        </a:solidFill>
                        <a:effectLst/>
                        <a:latin typeface="Times New Roman" panose="02020603050405020304" pitchFamily="18" charset="0"/>
                        <a:cs typeface="Times New Roman" panose="02020603050405020304" pitchFamily="18" charset="0"/>
                      </a:endParaRP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5386980"/>
                  </a:ext>
                </a:extLst>
              </a:tr>
              <a:tr h="634533">
                <a:tc>
                  <a:txBody>
                    <a:bodyPr/>
                    <a:lstStyle/>
                    <a:p>
                      <a:pPr marL="63500" marR="328930" algn="l" fontAlgn="t">
                        <a:lnSpc>
                          <a:spcPct val="81000"/>
                        </a:lnSpc>
                        <a:spcBef>
                          <a:spcPts val="70"/>
                        </a:spcBef>
                        <a:buNone/>
                      </a:pP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Delivery and audience engagement — clear voice, appropriate pace, eye contact, limited reliance on notes</a:t>
                      </a:r>
                      <a:r>
                        <a:rPr lang="ru-RU"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6</a:t>
                      </a:r>
                      <a:r>
                        <a:rPr lang="ru-RU"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a:t>
                      </a:r>
                    </a:p>
                    <a:p>
                      <a:pPr marL="63500" marR="328930" algn="l" fontAlgn="t">
                        <a:lnSpc>
                          <a:spcPct val="81000"/>
                        </a:lnSpc>
                        <a:spcBef>
                          <a:spcPts val="70"/>
                        </a:spcBef>
                        <a:buNone/>
                      </a:pPr>
                      <a:r>
                        <a:rPr lang="en-US" sz="1400" b="0" i="0" u="none" strike="noStrike" cap="none" spc="0" dirty="0" err="1">
                          <a:solidFill>
                            <a:schemeClr val="tx1"/>
                          </a:solidFill>
                          <a:latin typeface="Times New Roman" panose="02020603050405020304" pitchFamily="18" charset="0"/>
                          <a:ea typeface="+mn-ea"/>
                          <a:cs typeface="Times New Roman" panose="02020603050405020304" pitchFamily="18" charset="0"/>
                          <a:sym typeface="Arial"/>
                        </a:rPr>
                        <a:t>Organisation</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and signposting — logical presentation, effective transitions and signposting</a:t>
                      </a:r>
                      <a:r>
                        <a:rPr lang="ru-RU"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(5)</a:t>
                      </a:r>
                    </a:p>
                    <a:p>
                      <a:pPr marL="63500" marR="328930" algn="l" fontAlgn="t">
                        <a:lnSpc>
                          <a:spcPct val="81000"/>
                        </a:lnSpc>
                        <a:spcBef>
                          <a:spcPts val="70"/>
                        </a:spcBef>
                        <a:buNone/>
                      </a:pP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Spoken language — appropriate professional vocabulary, grammatical accuracy and pronunciation</a:t>
                      </a:r>
                      <a:r>
                        <a:rPr lang="ru-RU"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a:t>
                      </a:r>
                      <a:r>
                        <a:rPr lang="en-US" sz="1400" b="0" i="0" u="none" strike="noStrike" cap="none" spc="0">
                          <a:solidFill>
                            <a:schemeClr val="tx1"/>
                          </a:solidFill>
                          <a:latin typeface="Times New Roman" panose="02020603050405020304" pitchFamily="18" charset="0"/>
                          <a:ea typeface="+mn-ea"/>
                          <a:cs typeface="Times New Roman" panose="02020603050405020304" pitchFamily="18" charset="0"/>
                          <a:sym typeface="Arial"/>
                        </a:rPr>
                        <a:t>6</a:t>
                      </a:r>
                      <a:r>
                        <a:rPr lang="ru-RU" sz="1400" b="0" i="0" u="none" strike="noStrike" cap="none" spc="0">
                          <a:solidFill>
                            <a:schemeClr val="tx1"/>
                          </a:solidFill>
                          <a:latin typeface="Times New Roman" panose="02020603050405020304" pitchFamily="18" charset="0"/>
                          <a:ea typeface="+mn-ea"/>
                          <a:cs typeface="Times New Roman" panose="02020603050405020304" pitchFamily="18" charset="0"/>
                          <a:sym typeface="Arial"/>
                        </a:rPr>
                        <a:t>)</a:t>
                      </a:r>
                      <a:endParaRPr lang="ru-RU"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endParaRPr>
                    </a:p>
                    <a:p>
                      <a:pPr marL="63500" marR="328930" algn="l" fontAlgn="t">
                        <a:lnSpc>
                          <a:spcPct val="81000"/>
                        </a:lnSpc>
                        <a:spcBef>
                          <a:spcPts val="70"/>
                        </a:spcBef>
                        <a:buNone/>
                      </a:pP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Understanding and </a:t>
                      </a:r>
                      <a:r>
                        <a:rPr lang="en-US" sz="1400" b="0" i="0" u="none" strike="noStrike" cap="none" spc="0" dirty="0" err="1">
                          <a:solidFill>
                            <a:schemeClr val="tx1"/>
                          </a:solidFill>
                          <a:latin typeface="Times New Roman" panose="02020603050405020304" pitchFamily="18" charset="0"/>
                          <a:ea typeface="+mn-ea"/>
                          <a:cs typeface="Times New Roman" panose="02020603050405020304" pitchFamily="18" charset="0"/>
                          <a:sym typeface="Arial"/>
                        </a:rPr>
                        <a:t>defence</a:t>
                      </a: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 demonstrates understanding of the evidence and recommendations and responds effectively to questions</a:t>
                      </a:r>
                      <a:r>
                        <a:rPr lang="ru-RU"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 (6)</a:t>
                      </a:r>
                      <a:endPar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endParaRPr>
                    </a:p>
                    <a:p>
                      <a:pPr marL="63500" marR="328930" algn="l" fontAlgn="t">
                        <a:lnSpc>
                          <a:spcPct val="81000"/>
                        </a:lnSpc>
                        <a:spcBef>
                          <a:spcPts val="70"/>
                        </a:spcBef>
                        <a:buNone/>
                      </a:pPr>
                      <a:r>
                        <a:rPr lang="en-US" sz="1400" b="0" i="0" u="none" strike="noStrike" cap="none" spc="0" dirty="0">
                          <a:solidFill>
                            <a:schemeClr val="tx1"/>
                          </a:solidFill>
                          <a:latin typeface="Times New Roman" panose="02020603050405020304" pitchFamily="18" charset="0"/>
                          <a:ea typeface="+mn-ea"/>
                          <a:cs typeface="Times New Roman" panose="02020603050405020304" pitchFamily="18" charset="0"/>
                          <a:sym typeface="Arial"/>
                        </a:rPr>
                        <a:t>Time management – 8-10 minutes (2)</a:t>
                      </a: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4008" algn="ctr" fontAlgn="ctr">
                        <a:spcBef>
                          <a:spcPts val="1025"/>
                        </a:spcBef>
                        <a:buNone/>
                      </a:pPr>
                      <a:r>
                        <a:rPr lang="en-US" sz="1400" b="1" i="0" u="none" strike="noStrike" spc="-25"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25</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4526" marR="4526" marT="452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5961797"/>
                  </a:ext>
                </a:extLst>
              </a:tr>
              <a:tr h="193210">
                <a:tc>
                  <a:txBody>
                    <a:bodyPr/>
                    <a:lstStyle/>
                    <a:p>
                      <a:pPr marL="63500" algn="l" fontAlgn="t">
                        <a:lnSpc>
                          <a:spcPts val="1150"/>
                        </a:lnSpc>
                        <a:buNone/>
                      </a:pPr>
                      <a:r>
                        <a:rPr lang="en-US" sz="1400" b="1" i="0" u="none"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Total</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4526" marR="4526" marT="4526"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4008" algn="ctr" fontAlgn="ctr">
                        <a:buNone/>
                      </a:pPr>
                      <a:r>
                        <a:rPr lang="en-US" sz="1400" b="1" i="0" u="none"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4526" marR="4526" marT="452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6701318"/>
                  </a:ext>
                </a:extLst>
              </a:tr>
            </a:tbl>
          </a:graphicData>
        </a:graphic>
      </p:graphicFrame>
    </p:spTree>
    <p:extLst>
      <p:ext uri="{BB962C8B-B14F-4D97-AF65-F5344CB8AC3E}">
        <p14:creationId xmlns:p14="http://schemas.microsoft.com/office/powerpoint/2010/main" val="274258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14"/>
          <p:cNvSpPr/>
          <p:nvPr/>
        </p:nvSpPr>
        <p:spPr>
          <a:xfrm>
            <a:off x="411043" y="290405"/>
            <a:ext cx="8138160" cy="566928"/>
          </a:xfrm>
          <a:prstGeom prst="rect">
            <a:avLst/>
          </a:prstGeom>
          <a:noFill/>
          <a:ln/>
        </p:spPr>
        <p:txBody>
          <a:bodyPr wrap="square" rtlCol="0" anchor="ctr"/>
          <a:lstStyle/>
          <a:p>
            <a:pPr marL="0" indent="0" algn="l">
              <a:buNone/>
            </a:pPr>
            <a:r>
              <a:rPr lang="en-US" sz="2000" b="1" dirty="0">
                <a:solidFill>
                  <a:schemeClr val="dk1"/>
                </a:solidFill>
                <a:latin typeface="Manrope"/>
              </a:rPr>
              <a:t>Additional task 1: Extension: Read Like a Policy Analyst</a:t>
            </a:r>
          </a:p>
        </p:txBody>
      </p:sp>
      <p:sp>
        <p:nvSpPr>
          <p:cNvPr id="18" name="Text 16"/>
          <p:cNvSpPr/>
          <p:nvPr/>
        </p:nvSpPr>
        <p:spPr>
          <a:xfrm>
            <a:off x="8503920" y="4901184"/>
            <a:ext cx="365760" cy="201168"/>
          </a:xfrm>
          <a:prstGeom prst="rect">
            <a:avLst/>
          </a:prstGeom>
          <a:noFill/>
          <a:ln/>
        </p:spPr>
        <p:txBody>
          <a:bodyPr wrap="square" rtlCol="0" anchor="ctr"/>
          <a:lstStyle/>
          <a:p>
            <a:pPr marL="0" indent="0" algn="r">
              <a:buNone/>
            </a:pPr>
            <a:r>
              <a:rPr lang="en-US" sz="800" dirty="0">
                <a:solidFill>
                  <a:srgbClr val="B7B7B7"/>
                </a:solidFill>
                <a:latin typeface="Calibri" pitchFamily="34" charset="0"/>
                <a:ea typeface="Calibri" pitchFamily="34" charset="-122"/>
                <a:cs typeface="Calibri" pitchFamily="34" charset="-120"/>
              </a:rPr>
              <a:t>18</a:t>
            </a:r>
            <a:endParaRPr lang="en-US" sz="800" dirty="0"/>
          </a:p>
        </p:txBody>
      </p:sp>
      <p:sp>
        <p:nvSpPr>
          <p:cNvPr id="19" name="Text 17"/>
          <p:cNvSpPr/>
          <p:nvPr/>
        </p:nvSpPr>
        <p:spPr>
          <a:xfrm>
            <a:off x="599172" y="884765"/>
            <a:ext cx="8138160" cy="594360"/>
          </a:xfrm>
          <a:prstGeom prst="rect">
            <a:avLst/>
          </a:prstGeom>
          <a:noFill/>
          <a:ln/>
        </p:spPr>
        <p:txBody>
          <a:bodyPr wrap="square" rtlCol="0" anchor="t"/>
          <a:lstStyle/>
          <a:p>
            <a:pPr marL="0" indent="0">
              <a:lnSpc>
                <a:spcPct val="110000"/>
              </a:lnSpc>
              <a:buNone/>
            </a:pPr>
            <a:r>
              <a:rPr lang="en-US" sz="1600" dirty="0">
                <a:solidFill>
                  <a:schemeClr val="dk1"/>
                </a:solidFill>
                <a:latin typeface="Manrope"/>
              </a:rPr>
              <a:t>Real policy briefs use specific rhetorical moves to persuade a busy, non-specialist reader. Skim two short excerpts from real institutional briefs on Moodle and discuss:</a:t>
            </a:r>
          </a:p>
        </p:txBody>
      </p:sp>
      <p:sp>
        <p:nvSpPr>
          <p:cNvPr id="20" name="Shape 18"/>
          <p:cNvSpPr/>
          <p:nvPr/>
        </p:nvSpPr>
        <p:spPr>
          <a:xfrm>
            <a:off x="502920" y="2194560"/>
            <a:ext cx="329184" cy="329184"/>
          </a:xfrm>
          <a:prstGeom prst="ellipse">
            <a:avLst/>
          </a:prstGeom>
          <a:solidFill>
            <a:srgbClr val="6194E6"/>
          </a:solidFill>
          <a:ln/>
        </p:spPr>
        <p:txBody>
          <a:bodyPr/>
          <a:lstStyle/>
          <a:p>
            <a:endParaRPr lang="ru-RU"/>
          </a:p>
        </p:txBody>
      </p:sp>
      <p:sp>
        <p:nvSpPr>
          <p:cNvPr id="21" name="Text 19"/>
          <p:cNvSpPr/>
          <p:nvPr/>
        </p:nvSpPr>
        <p:spPr>
          <a:xfrm>
            <a:off x="502920" y="2071116"/>
            <a:ext cx="329184" cy="329184"/>
          </a:xfrm>
          <a:prstGeom prst="rect">
            <a:avLst/>
          </a:prstGeom>
          <a:noFill/>
          <a:ln/>
        </p:spPr>
        <p:txBody>
          <a:bodyPr wrap="square" rtlCol="0" anchor="ctr"/>
          <a:lstStyle/>
          <a:p>
            <a:pPr marL="0" indent="0" algn="ctr">
              <a:buNone/>
            </a:pPr>
            <a:endParaRPr lang="ru-KZ" sz="1300" b="1" dirty="0">
              <a:solidFill>
                <a:srgbClr val="FFFFFF"/>
              </a:solidFill>
              <a:latin typeface="Arial" pitchFamily="34" charset="0"/>
              <a:ea typeface="Arial" pitchFamily="34" charset="-122"/>
              <a:cs typeface="Arial" pitchFamily="34" charset="-120"/>
            </a:endParaRPr>
          </a:p>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2" name="Text 20"/>
          <p:cNvSpPr/>
          <p:nvPr/>
        </p:nvSpPr>
        <p:spPr>
          <a:xfrm>
            <a:off x="960120" y="2199297"/>
            <a:ext cx="7680960" cy="594360"/>
          </a:xfrm>
          <a:prstGeom prst="rect">
            <a:avLst/>
          </a:prstGeom>
          <a:noFill/>
          <a:ln/>
        </p:spPr>
        <p:txBody>
          <a:bodyPr wrap="square" rtlCol="0" anchor="t"/>
          <a:lstStyle/>
          <a:p>
            <a:pPr marL="0" indent="0">
              <a:buNone/>
            </a:pPr>
            <a:r>
              <a:rPr lang="en-US" sz="1600" dirty="0">
                <a:solidFill>
                  <a:schemeClr val="dk1"/>
                </a:solidFill>
                <a:latin typeface="Manrope"/>
              </a:rPr>
              <a:t>What hedging or certainty language does the writer use when presenting risk (e.g. “likely to”, “is expected to”)?</a:t>
            </a:r>
          </a:p>
        </p:txBody>
      </p:sp>
      <p:sp>
        <p:nvSpPr>
          <p:cNvPr id="23" name="Shape 21"/>
          <p:cNvSpPr/>
          <p:nvPr/>
        </p:nvSpPr>
        <p:spPr>
          <a:xfrm>
            <a:off x="502920" y="2743200"/>
            <a:ext cx="329184" cy="329184"/>
          </a:xfrm>
          <a:prstGeom prst="ellipse">
            <a:avLst/>
          </a:prstGeom>
          <a:solidFill>
            <a:srgbClr val="6194E6"/>
          </a:solidFill>
          <a:ln/>
        </p:spPr>
        <p:txBody>
          <a:bodyPr/>
          <a:lstStyle/>
          <a:p>
            <a:endParaRPr lang="ru-RU"/>
          </a:p>
        </p:txBody>
      </p:sp>
      <p:sp>
        <p:nvSpPr>
          <p:cNvPr id="24" name="Text 22"/>
          <p:cNvSpPr/>
          <p:nvPr/>
        </p:nvSpPr>
        <p:spPr>
          <a:xfrm>
            <a:off x="502920" y="2743200"/>
            <a:ext cx="329184" cy="329184"/>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5" name="Text 23"/>
          <p:cNvSpPr/>
          <p:nvPr/>
        </p:nvSpPr>
        <p:spPr>
          <a:xfrm>
            <a:off x="960120" y="2788920"/>
            <a:ext cx="7909560" cy="493776"/>
          </a:xfrm>
          <a:prstGeom prst="rect">
            <a:avLst/>
          </a:prstGeom>
          <a:noFill/>
          <a:ln/>
        </p:spPr>
        <p:txBody>
          <a:bodyPr wrap="square" rtlCol="0" anchor="t"/>
          <a:lstStyle/>
          <a:p>
            <a:pPr marL="0" indent="0">
              <a:buNone/>
            </a:pPr>
            <a:r>
              <a:rPr lang="en-US" sz="1600" dirty="0">
                <a:solidFill>
                  <a:schemeClr val="dk1"/>
                </a:solidFill>
                <a:latin typeface="Manrope"/>
              </a:rPr>
              <a:t>Where does the writer front-load the recommendation, and where do they justify it?</a:t>
            </a:r>
          </a:p>
        </p:txBody>
      </p:sp>
      <p:sp>
        <p:nvSpPr>
          <p:cNvPr id="26" name="Shape 24"/>
          <p:cNvSpPr/>
          <p:nvPr/>
        </p:nvSpPr>
        <p:spPr>
          <a:xfrm>
            <a:off x="502920" y="3401568"/>
            <a:ext cx="329184" cy="329184"/>
          </a:xfrm>
          <a:prstGeom prst="ellipse">
            <a:avLst/>
          </a:prstGeom>
          <a:solidFill>
            <a:srgbClr val="6194E6"/>
          </a:solidFill>
          <a:ln/>
        </p:spPr>
        <p:txBody>
          <a:bodyPr/>
          <a:lstStyle/>
          <a:p>
            <a:endParaRPr lang="ru-RU"/>
          </a:p>
        </p:txBody>
      </p:sp>
      <p:sp>
        <p:nvSpPr>
          <p:cNvPr id="27" name="Text 25"/>
          <p:cNvSpPr/>
          <p:nvPr/>
        </p:nvSpPr>
        <p:spPr>
          <a:xfrm>
            <a:off x="502920" y="3401568"/>
            <a:ext cx="329184" cy="329184"/>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8" name="Text 26"/>
          <p:cNvSpPr/>
          <p:nvPr/>
        </p:nvSpPr>
        <p:spPr>
          <a:xfrm>
            <a:off x="960120" y="3447288"/>
            <a:ext cx="7680960" cy="493776"/>
          </a:xfrm>
          <a:prstGeom prst="rect">
            <a:avLst/>
          </a:prstGeom>
          <a:noFill/>
          <a:ln/>
        </p:spPr>
        <p:txBody>
          <a:bodyPr wrap="square" rtlCol="0" anchor="t"/>
          <a:lstStyle/>
          <a:p>
            <a:r>
              <a:rPr lang="en-US" sz="1600" dirty="0">
                <a:solidFill>
                  <a:schemeClr val="dk1"/>
                </a:solidFill>
                <a:latin typeface="Manrope"/>
              </a:rPr>
              <a:t>Which sentence would you keep if you had to cut the brief in half? Why?</a:t>
            </a:r>
          </a:p>
        </p:txBody>
      </p:sp>
      <p:sp>
        <p:nvSpPr>
          <p:cNvPr id="29" name="Shape 27"/>
          <p:cNvSpPr/>
          <p:nvPr/>
        </p:nvSpPr>
        <p:spPr>
          <a:xfrm>
            <a:off x="502920" y="4059936"/>
            <a:ext cx="329184" cy="329184"/>
          </a:xfrm>
          <a:prstGeom prst="ellipse">
            <a:avLst/>
          </a:prstGeom>
          <a:solidFill>
            <a:srgbClr val="6194E6"/>
          </a:solidFill>
          <a:ln/>
        </p:spPr>
        <p:txBody>
          <a:bodyPr/>
          <a:lstStyle/>
          <a:p>
            <a:endParaRPr lang="ru-RU"/>
          </a:p>
        </p:txBody>
      </p:sp>
      <p:sp>
        <p:nvSpPr>
          <p:cNvPr id="30" name="Text 28"/>
          <p:cNvSpPr/>
          <p:nvPr/>
        </p:nvSpPr>
        <p:spPr>
          <a:xfrm>
            <a:off x="502920" y="4059936"/>
            <a:ext cx="329184" cy="329184"/>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1" name="Text 29"/>
          <p:cNvSpPr/>
          <p:nvPr/>
        </p:nvSpPr>
        <p:spPr>
          <a:xfrm>
            <a:off x="960120" y="4105656"/>
            <a:ext cx="7680960" cy="493776"/>
          </a:xfrm>
          <a:prstGeom prst="rect">
            <a:avLst/>
          </a:prstGeom>
          <a:noFill/>
          <a:ln/>
        </p:spPr>
        <p:txBody>
          <a:bodyPr wrap="square" rtlCol="0" anchor="t"/>
          <a:lstStyle/>
          <a:p>
            <a:pPr marL="0" indent="0">
              <a:buNone/>
            </a:pPr>
            <a:r>
              <a:rPr lang="en-US" sz="1600" dirty="0">
                <a:solidFill>
                  <a:schemeClr val="dk1"/>
                </a:solidFill>
                <a:latin typeface="Manrope"/>
              </a:rPr>
              <a:t>How does the tone differ from an academic abstract on the same topic?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12"/>
          <p:cNvSpPr/>
          <p:nvPr/>
        </p:nvSpPr>
        <p:spPr>
          <a:xfrm>
            <a:off x="502920" y="320040"/>
            <a:ext cx="7671677" cy="566928"/>
          </a:xfrm>
          <a:prstGeom prst="rect">
            <a:avLst/>
          </a:prstGeom>
          <a:noFill/>
          <a:ln/>
        </p:spPr>
        <p:txBody>
          <a:bodyPr wrap="square" rtlCol="0" anchor="ctr"/>
          <a:lstStyle/>
          <a:p>
            <a:pPr marL="0" indent="0" algn="l">
              <a:buNone/>
            </a:pPr>
            <a:r>
              <a:rPr lang="en-US" sz="2000" b="1" dirty="0">
                <a:solidFill>
                  <a:schemeClr val="dk1"/>
                </a:solidFill>
                <a:latin typeface="Manrope"/>
              </a:rPr>
              <a:t>Additional task 2: Discussion of a UN Policy Brief</a:t>
            </a:r>
          </a:p>
        </p:txBody>
      </p:sp>
      <p:sp>
        <p:nvSpPr>
          <p:cNvPr id="16" name="Text 14"/>
          <p:cNvSpPr/>
          <p:nvPr/>
        </p:nvSpPr>
        <p:spPr>
          <a:xfrm>
            <a:off x="8503920" y="4901184"/>
            <a:ext cx="365760" cy="201168"/>
          </a:xfrm>
          <a:prstGeom prst="rect">
            <a:avLst/>
          </a:prstGeom>
          <a:noFill/>
          <a:ln/>
        </p:spPr>
        <p:txBody>
          <a:bodyPr wrap="square" rtlCol="0" anchor="ctr"/>
          <a:lstStyle/>
          <a:p>
            <a:pPr marL="0" indent="0" algn="r">
              <a:buNone/>
            </a:pPr>
            <a:r>
              <a:rPr lang="en-US" sz="800" dirty="0">
                <a:solidFill>
                  <a:srgbClr val="B7B7B7"/>
                </a:solidFill>
                <a:latin typeface="Calibri" pitchFamily="34" charset="0"/>
                <a:ea typeface="Calibri" pitchFamily="34" charset="-122"/>
                <a:cs typeface="Calibri" pitchFamily="34" charset="-120"/>
              </a:rPr>
              <a:t>19</a:t>
            </a:r>
            <a:endParaRPr lang="en-US" sz="800" dirty="0"/>
          </a:p>
        </p:txBody>
      </p:sp>
      <p:sp>
        <p:nvSpPr>
          <p:cNvPr id="17" name="Text 15"/>
          <p:cNvSpPr/>
          <p:nvPr/>
        </p:nvSpPr>
        <p:spPr>
          <a:xfrm>
            <a:off x="502920" y="1051560"/>
            <a:ext cx="8138160" cy="1737360"/>
          </a:xfrm>
          <a:prstGeom prst="rect">
            <a:avLst/>
          </a:prstGeom>
          <a:noFill/>
          <a:ln/>
        </p:spPr>
        <p:txBody>
          <a:bodyPr wrap="square" rtlCol="0" anchor="t"/>
          <a:lstStyle/>
          <a:p>
            <a:pPr marL="0" indent="0">
              <a:lnSpc>
                <a:spcPct val="110000"/>
              </a:lnSpc>
              <a:spcAft>
                <a:spcPts val="1000"/>
              </a:spcAft>
              <a:buNone/>
            </a:pPr>
            <a:r>
              <a:rPr lang="en-US" sz="1600" dirty="0">
                <a:solidFill>
                  <a:schemeClr val="dk1"/>
                </a:solidFill>
                <a:latin typeface="Manrope"/>
              </a:rPr>
              <a:t>1. Based on what you have read, formulate 3–5 key messages of this policy brief.</a:t>
            </a:r>
          </a:p>
          <a:p>
            <a:pPr marL="0" indent="0">
              <a:lnSpc>
                <a:spcPct val="110000"/>
              </a:lnSpc>
              <a:spcAft>
                <a:spcPts val="1000"/>
              </a:spcAft>
              <a:buNone/>
            </a:pPr>
            <a:r>
              <a:rPr lang="en-US" sz="1600" dirty="0">
                <a:solidFill>
                  <a:schemeClr val="dk1"/>
                </a:solidFill>
                <a:latin typeface="Manrope"/>
              </a:rPr>
              <a:t>2. Write down these key messages.</a:t>
            </a:r>
          </a:p>
          <a:p>
            <a:pPr marL="0" indent="0">
              <a:lnSpc>
                <a:spcPct val="110000"/>
              </a:lnSpc>
              <a:spcAft>
                <a:spcPts val="1000"/>
              </a:spcAft>
              <a:buNone/>
            </a:pPr>
            <a:r>
              <a:rPr lang="en-US" sz="1600" dirty="0">
                <a:solidFill>
                  <a:schemeClr val="dk1"/>
                </a:solidFill>
                <a:latin typeface="Manrope"/>
              </a:rPr>
              <a:t>3. After reading, discuss the following questions.</a:t>
            </a:r>
          </a:p>
        </p:txBody>
      </p:sp>
      <p:sp>
        <p:nvSpPr>
          <p:cNvPr id="18" name="Shape 16"/>
          <p:cNvSpPr/>
          <p:nvPr/>
        </p:nvSpPr>
        <p:spPr>
          <a:xfrm>
            <a:off x="512064" y="3071943"/>
            <a:ext cx="8138160" cy="1600200"/>
          </a:xfrm>
          <a:prstGeom prst="roundRect">
            <a:avLst>
              <a:gd name="adj" fmla="val 4571"/>
            </a:avLst>
          </a:prstGeom>
          <a:solidFill>
            <a:srgbClr val="EFF3FA"/>
          </a:solidFill>
          <a:ln/>
        </p:spPr>
        <p:txBody>
          <a:bodyPr/>
          <a:lstStyle/>
          <a:p>
            <a:endParaRPr lang="ru-RU"/>
          </a:p>
        </p:txBody>
      </p:sp>
      <p:sp>
        <p:nvSpPr>
          <p:cNvPr id="19" name="Text 17"/>
          <p:cNvSpPr/>
          <p:nvPr/>
        </p:nvSpPr>
        <p:spPr>
          <a:xfrm>
            <a:off x="685800" y="2971800"/>
            <a:ext cx="7772400" cy="320040"/>
          </a:xfrm>
          <a:prstGeom prst="rect">
            <a:avLst/>
          </a:prstGeom>
          <a:noFill/>
          <a:ln/>
        </p:spPr>
        <p:txBody>
          <a:bodyPr wrap="square" rtlCol="0" anchor="ctr"/>
          <a:lstStyle/>
          <a:p>
            <a:pPr marL="0" indent="0">
              <a:buNone/>
            </a:pPr>
            <a:endParaRPr lang="en-US" sz="1300" b="1" dirty="0">
              <a:solidFill>
                <a:srgbClr val="092241"/>
              </a:solidFill>
              <a:latin typeface="Arial" pitchFamily="34" charset="0"/>
              <a:ea typeface="Arial" pitchFamily="34" charset="-122"/>
              <a:cs typeface="Arial" pitchFamily="34" charset="-120"/>
            </a:endParaRPr>
          </a:p>
          <a:p>
            <a:pPr marL="0" indent="0">
              <a:buNone/>
            </a:pPr>
            <a:endParaRPr lang="en-US" sz="1300" b="1" dirty="0">
              <a:solidFill>
                <a:srgbClr val="092241"/>
              </a:solidFill>
              <a:latin typeface="Arial" pitchFamily="34" charset="0"/>
              <a:ea typeface="Arial" pitchFamily="34" charset="-122"/>
              <a:cs typeface="Arial" pitchFamily="34" charset="-120"/>
            </a:endParaRPr>
          </a:p>
          <a:p>
            <a:pPr marL="0" indent="0">
              <a:buNone/>
            </a:pPr>
            <a:r>
              <a:rPr lang="en-US" b="1" dirty="0">
                <a:solidFill>
                  <a:schemeClr val="dk1"/>
                </a:solidFill>
                <a:latin typeface="Manrope"/>
              </a:rPr>
              <a:t>Discuss:</a:t>
            </a:r>
          </a:p>
        </p:txBody>
      </p:sp>
      <p:sp>
        <p:nvSpPr>
          <p:cNvPr id="20" name="Text 18"/>
          <p:cNvSpPr/>
          <p:nvPr/>
        </p:nvSpPr>
        <p:spPr>
          <a:xfrm>
            <a:off x="685800" y="3505567"/>
            <a:ext cx="7772400" cy="1051560"/>
          </a:xfrm>
          <a:prstGeom prst="rect">
            <a:avLst/>
          </a:prstGeom>
          <a:noFill/>
          <a:ln/>
        </p:spPr>
        <p:txBody>
          <a:bodyPr wrap="square" rtlCol="0" anchor="t"/>
          <a:lstStyle/>
          <a:p>
            <a:pPr marL="203200" indent="-203200">
              <a:spcAft>
                <a:spcPts val="1000"/>
              </a:spcAft>
              <a:buSzPct val="100000"/>
              <a:buChar char="•"/>
            </a:pPr>
            <a:r>
              <a:rPr lang="en-US" sz="1600" dirty="0">
                <a:solidFill>
                  <a:schemeClr val="dk1"/>
                </a:solidFill>
                <a:latin typeface="Manrope"/>
              </a:rPr>
              <a:t>Do you think this strategic foresight is realistic for all countries? Why or why not?</a:t>
            </a:r>
          </a:p>
          <a:p>
            <a:pPr marL="203200" indent="-203200">
              <a:spcAft>
                <a:spcPts val="1000"/>
              </a:spcAft>
              <a:buSzPct val="100000"/>
              <a:buChar char="•"/>
            </a:pPr>
            <a:r>
              <a:rPr lang="en-US" sz="1600" dirty="0">
                <a:solidFill>
                  <a:schemeClr val="dk1"/>
                </a:solidFill>
                <a:latin typeface="Manrope"/>
              </a:rPr>
              <a:t>How far do you agree with the statement: “AI will help achieve the SDGs more than it will harm them”?</a:t>
            </a:r>
          </a:p>
        </p:txBody>
      </p:sp>
      <p:grpSp>
        <p:nvGrpSpPr>
          <p:cNvPr id="22" name="Google Shape;463;p30">
            <a:extLst>
              <a:ext uri="{FF2B5EF4-FFF2-40B4-BE49-F238E27FC236}">
                <a16:creationId xmlns:a16="http://schemas.microsoft.com/office/drawing/2014/main" id="{5850DD5A-C380-D25C-E552-435DFE4CF0D0}"/>
              </a:ext>
            </a:extLst>
          </p:cNvPr>
          <p:cNvGrpSpPr/>
          <p:nvPr/>
        </p:nvGrpSpPr>
        <p:grpSpPr>
          <a:xfrm>
            <a:off x="174520" y="4770854"/>
            <a:ext cx="1309796" cy="257750"/>
            <a:chOff x="-6337521" y="4362225"/>
            <a:chExt cx="1309796" cy="257750"/>
          </a:xfrm>
        </p:grpSpPr>
        <p:sp>
          <p:nvSpPr>
            <p:cNvPr id="23" name="Google Shape;464;p30">
              <a:extLst>
                <a:ext uri="{FF2B5EF4-FFF2-40B4-BE49-F238E27FC236}">
                  <a16:creationId xmlns:a16="http://schemas.microsoft.com/office/drawing/2014/main" id="{99C93E1B-8206-BE73-1931-CA967D5C301C}"/>
                </a:ext>
              </a:extLst>
            </p:cNvPr>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5;p30">
              <a:extLst>
                <a:ext uri="{FF2B5EF4-FFF2-40B4-BE49-F238E27FC236}">
                  <a16:creationId xmlns:a16="http://schemas.microsoft.com/office/drawing/2014/main" id="{A0A84AE2-0FFA-3AD0-5514-3409621A310B}"/>
                </a:ext>
              </a:extLst>
            </p:cNvPr>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466;p30">
              <a:extLst>
                <a:ext uri="{FF2B5EF4-FFF2-40B4-BE49-F238E27FC236}">
                  <a16:creationId xmlns:a16="http://schemas.microsoft.com/office/drawing/2014/main" id="{B98E8FC1-2599-A99C-FA9F-E2BED4E812ED}"/>
                </a:ext>
              </a:extLst>
            </p:cNvPr>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7;p30">
              <a:extLst>
                <a:ext uri="{FF2B5EF4-FFF2-40B4-BE49-F238E27FC236}">
                  <a16:creationId xmlns:a16="http://schemas.microsoft.com/office/drawing/2014/main" id="{4C196092-EED2-5C29-1296-E728B7B89D69}"/>
                </a:ext>
              </a:extLst>
            </p:cNvPr>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8;p30">
              <a:extLst>
                <a:ext uri="{FF2B5EF4-FFF2-40B4-BE49-F238E27FC236}">
                  <a16:creationId xmlns:a16="http://schemas.microsoft.com/office/drawing/2014/main" id="{054232C2-19A0-1F4E-F1F3-EFA03F7AB263}"/>
                </a:ext>
              </a:extLst>
            </p:cNvPr>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9;p30">
              <a:extLst>
                <a:ext uri="{FF2B5EF4-FFF2-40B4-BE49-F238E27FC236}">
                  <a16:creationId xmlns:a16="http://schemas.microsoft.com/office/drawing/2014/main" id="{D63F08CF-8846-2AF6-0354-3CF03DC48F45}"/>
                </a:ext>
              </a:extLst>
            </p:cNvPr>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70;p30">
              <a:extLst>
                <a:ext uri="{FF2B5EF4-FFF2-40B4-BE49-F238E27FC236}">
                  <a16:creationId xmlns:a16="http://schemas.microsoft.com/office/drawing/2014/main" id="{69932D29-6950-ED7E-0C3F-853A434285E5}"/>
                </a:ext>
              </a:extLst>
            </p:cNvPr>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1;p30">
              <a:extLst>
                <a:ext uri="{FF2B5EF4-FFF2-40B4-BE49-F238E27FC236}">
                  <a16:creationId xmlns:a16="http://schemas.microsoft.com/office/drawing/2014/main" id="{AFF93F85-6335-ED3E-97CF-A4534F6776B7}"/>
                </a:ext>
              </a:extLst>
            </p:cNvPr>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2;p30">
              <a:extLst>
                <a:ext uri="{FF2B5EF4-FFF2-40B4-BE49-F238E27FC236}">
                  <a16:creationId xmlns:a16="http://schemas.microsoft.com/office/drawing/2014/main" id="{9C364927-5201-AB8B-3B07-CE64C779DA9D}"/>
                </a:ext>
              </a:extLst>
            </p:cNvPr>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3;p30">
              <a:extLst>
                <a:ext uri="{FF2B5EF4-FFF2-40B4-BE49-F238E27FC236}">
                  <a16:creationId xmlns:a16="http://schemas.microsoft.com/office/drawing/2014/main" id="{55BB6DB1-E3E2-C5BC-79D1-11353299902F}"/>
                </a:ext>
              </a:extLst>
            </p:cNvPr>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463;p30">
            <a:extLst>
              <a:ext uri="{FF2B5EF4-FFF2-40B4-BE49-F238E27FC236}">
                <a16:creationId xmlns:a16="http://schemas.microsoft.com/office/drawing/2014/main" id="{6C1F536E-15BF-9B60-7B33-0904C9419328}"/>
              </a:ext>
            </a:extLst>
          </p:cNvPr>
          <p:cNvGrpSpPr/>
          <p:nvPr/>
        </p:nvGrpSpPr>
        <p:grpSpPr>
          <a:xfrm>
            <a:off x="7821236" y="4845304"/>
            <a:ext cx="1309796" cy="257750"/>
            <a:chOff x="-6337521" y="4362225"/>
            <a:chExt cx="1309796" cy="257750"/>
          </a:xfrm>
        </p:grpSpPr>
        <p:sp>
          <p:nvSpPr>
            <p:cNvPr id="34" name="Google Shape;464;p30">
              <a:extLst>
                <a:ext uri="{FF2B5EF4-FFF2-40B4-BE49-F238E27FC236}">
                  <a16:creationId xmlns:a16="http://schemas.microsoft.com/office/drawing/2014/main" id="{5DA20C56-0A1F-2AF3-7082-67DF1DECE589}"/>
                </a:ext>
              </a:extLst>
            </p:cNvPr>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65;p30">
              <a:extLst>
                <a:ext uri="{FF2B5EF4-FFF2-40B4-BE49-F238E27FC236}">
                  <a16:creationId xmlns:a16="http://schemas.microsoft.com/office/drawing/2014/main" id="{073FA3CC-CB54-D37F-8A86-47292A8C86D6}"/>
                </a:ext>
              </a:extLst>
            </p:cNvPr>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466;p30">
              <a:extLst>
                <a:ext uri="{FF2B5EF4-FFF2-40B4-BE49-F238E27FC236}">
                  <a16:creationId xmlns:a16="http://schemas.microsoft.com/office/drawing/2014/main" id="{D3DA5397-4340-9DCB-E4EC-3EC5B33BD96E}"/>
                </a:ext>
              </a:extLst>
            </p:cNvPr>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67;p30">
              <a:extLst>
                <a:ext uri="{FF2B5EF4-FFF2-40B4-BE49-F238E27FC236}">
                  <a16:creationId xmlns:a16="http://schemas.microsoft.com/office/drawing/2014/main" id="{E33DE46F-096E-3639-93D3-FEA3EFB16699}"/>
                </a:ext>
              </a:extLst>
            </p:cNvPr>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68;p30">
              <a:extLst>
                <a:ext uri="{FF2B5EF4-FFF2-40B4-BE49-F238E27FC236}">
                  <a16:creationId xmlns:a16="http://schemas.microsoft.com/office/drawing/2014/main" id="{29629AC9-1C72-86C9-A063-E7F632DB0B20}"/>
                </a:ext>
              </a:extLst>
            </p:cNvPr>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69;p30">
              <a:extLst>
                <a:ext uri="{FF2B5EF4-FFF2-40B4-BE49-F238E27FC236}">
                  <a16:creationId xmlns:a16="http://schemas.microsoft.com/office/drawing/2014/main" id="{10ABEFA8-6331-27DD-A7FF-C0644511FA67}"/>
                </a:ext>
              </a:extLst>
            </p:cNvPr>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70;p30">
              <a:extLst>
                <a:ext uri="{FF2B5EF4-FFF2-40B4-BE49-F238E27FC236}">
                  <a16:creationId xmlns:a16="http://schemas.microsoft.com/office/drawing/2014/main" id="{2B552380-E866-E3A0-50E8-73924E3ACA94}"/>
                </a:ext>
              </a:extLst>
            </p:cNvPr>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71;p30">
              <a:extLst>
                <a:ext uri="{FF2B5EF4-FFF2-40B4-BE49-F238E27FC236}">
                  <a16:creationId xmlns:a16="http://schemas.microsoft.com/office/drawing/2014/main" id="{E9DCE3E1-6CF2-E0E6-124E-5B283B1D7B23}"/>
                </a:ext>
              </a:extLst>
            </p:cNvPr>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72;p30">
              <a:extLst>
                <a:ext uri="{FF2B5EF4-FFF2-40B4-BE49-F238E27FC236}">
                  <a16:creationId xmlns:a16="http://schemas.microsoft.com/office/drawing/2014/main" id="{74D05C67-3AF7-5375-AA35-C94C8B381ECA}"/>
                </a:ext>
              </a:extLst>
            </p:cNvPr>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73;p30">
              <a:extLst>
                <a:ext uri="{FF2B5EF4-FFF2-40B4-BE49-F238E27FC236}">
                  <a16:creationId xmlns:a16="http://schemas.microsoft.com/office/drawing/2014/main" id="{76F559C3-3B4A-2881-DDC5-DAA62E26886C}"/>
                </a:ext>
              </a:extLst>
            </p:cNvPr>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14"/>
          <p:cNvSpPr/>
          <p:nvPr/>
        </p:nvSpPr>
        <p:spPr>
          <a:xfrm>
            <a:off x="521208" y="128016"/>
            <a:ext cx="8138160" cy="566928"/>
          </a:xfrm>
          <a:prstGeom prst="rect">
            <a:avLst/>
          </a:prstGeom>
          <a:noFill/>
          <a:ln/>
        </p:spPr>
        <p:txBody>
          <a:bodyPr wrap="square" rtlCol="0" anchor="ctr"/>
          <a:lstStyle/>
          <a:p>
            <a:pPr marL="0" indent="0" algn="l">
              <a:buNone/>
            </a:pPr>
            <a:r>
              <a:rPr lang="en-US" sz="2000" b="1" dirty="0">
                <a:solidFill>
                  <a:schemeClr val="dk1"/>
                </a:solidFill>
                <a:latin typeface="Manrope"/>
              </a:rPr>
              <a:t>Additional task 2 Cont’d: Extension: Peer Feedback Circle</a:t>
            </a:r>
          </a:p>
        </p:txBody>
      </p:sp>
      <p:sp>
        <p:nvSpPr>
          <p:cNvPr id="18" name="Text 16"/>
          <p:cNvSpPr/>
          <p:nvPr/>
        </p:nvSpPr>
        <p:spPr>
          <a:xfrm>
            <a:off x="8503920" y="4901184"/>
            <a:ext cx="365760" cy="201168"/>
          </a:xfrm>
          <a:prstGeom prst="rect">
            <a:avLst/>
          </a:prstGeom>
          <a:noFill/>
          <a:ln/>
        </p:spPr>
        <p:txBody>
          <a:bodyPr wrap="square" rtlCol="0" anchor="ctr"/>
          <a:lstStyle/>
          <a:p>
            <a:pPr marL="0" indent="0" algn="r">
              <a:buNone/>
            </a:pPr>
            <a:r>
              <a:rPr lang="en-US" sz="800" dirty="0">
                <a:solidFill>
                  <a:srgbClr val="B7B7B7"/>
                </a:solidFill>
                <a:latin typeface="Calibri" pitchFamily="34" charset="0"/>
                <a:ea typeface="Calibri" pitchFamily="34" charset="-122"/>
                <a:cs typeface="Calibri" pitchFamily="34" charset="-120"/>
              </a:rPr>
              <a:t>20</a:t>
            </a:r>
            <a:endParaRPr lang="en-US" sz="800" dirty="0"/>
          </a:p>
        </p:txBody>
      </p:sp>
      <p:sp>
        <p:nvSpPr>
          <p:cNvPr id="19" name="Text 17"/>
          <p:cNvSpPr/>
          <p:nvPr/>
        </p:nvSpPr>
        <p:spPr>
          <a:xfrm>
            <a:off x="493776" y="740453"/>
            <a:ext cx="8138160" cy="365760"/>
          </a:xfrm>
          <a:prstGeom prst="rect">
            <a:avLst/>
          </a:prstGeom>
          <a:noFill/>
          <a:ln/>
        </p:spPr>
        <p:txBody>
          <a:bodyPr wrap="square" rtlCol="0" anchor="ctr"/>
          <a:lstStyle/>
          <a:p>
            <a:pPr marL="0" indent="0">
              <a:buNone/>
            </a:pPr>
            <a:r>
              <a:rPr lang="en-US" sz="1600" dirty="0">
                <a:solidFill>
                  <a:schemeClr val="dk1"/>
                </a:solidFill>
                <a:latin typeface="Manrope"/>
              </a:rPr>
              <a:t>Before submitting your group brief, run a 15-minute peer review round in groups of three.</a:t>
            </a:r>
          </a:p>
        </p:txBody>
      </p:sp>
      <p:sp>
        <p:nvSpPr>
          <p:cNvPr id="20" name="Shape 18"/>
          <p:cNvSpPr/>
          <p:nvPr/>
        </p:nvSpPr>
        <p:spPr>
          <a:xfrm>
            <a:off x="502920" y="1691640"/>
            <a:ext cx="1965960" cy="2606040"/>
          </a:xfrm>
          <a:prstGeom prst="roundRect">
            <a:avLst>
              <a:gd name="adj" fmla="val 3721"/>
            </a:avLst>
          </a:prstGeom>
          <a:solidFill>
            <a:srgbClr val="FFFFFF"/>
          </a:solidFill>
          <a:ln w="12700">
            <a:solidFill>
              <a:srgbClr val="6194E6"/>
            </a:solidFill>
            <a:prstDash val="solid"/>
          </a:ln>
        </p:spPr>
        <p:txBody>
          <a:bodyPr/>
          <a:lstStyle/>
          <a:p>
            <a:endParaRPr lang="ru-RU"/>
          </a:p>
        </p:txBody>
      </p:sp>
      <p:sp>
        <p:nvSpPr>
          <p:cNvPr id="21" name="Shape 19"/>
          <p:cNvSpPr/>
          <p:nvPr/>
        </p:nvSpPr>
        <p:spPr>
          <a:xfrm>
            <a:off x="1229868" y="1874520"/>
            <a:ext cx="512064" cy="512064"/>
          </a:xfrm>
          <a:prstGeom prst="ellipse">
            <a:avLst/>
          </a:prstGeom>
          <a:solidFill>
            <a:srgbClr val="092241"/>
          </a:solidFill>
          <a:ln/>
        </p:spPr>
        <p:txBody>
          <a:bodyPr/>
          <a:lstStyle/>
          <a:p>
            <a:endParaRPr lang="ru-RU"/>
          </a:p>
        </p:txBody>
      </p:sp>
      <p:sp>
        <p:nvSpPr>
          <p:cNvPr id="22" name="Text 20"/>
          <p:cNvSpPr/>
          <p:nvPr/>
        </p:nvSpPr>
        <p:spPr>
          <a:xfrm>
            <a:off x="1229868" y="1874520"/>
            <a:ext cx="512064" cy="512064"/>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3" name="Text 21"/>
          <p:cNvSpPr/>
          <p:nvPr/>
        </p:nvSpPr>
        <p:spPr>
          <a:xfrm>
            <a:off x="594360" y="2514600"/>
            <a:ext cx="1783080" cy="320040"/>
          </a:xfrm>
          <a:prstGeom prst="rect">
            <a:avLst/>
          </a:prstGeom>
          <a:noFill/>
          <a:ln/>
        </p:spPr>
        <p:txBody>
          <a:bodyPr wrap="square" rtlCol="0" anchor="ctr"/>
          <a:lstStyle/>
          <a:p>
            <a:pPr marL="0" indent="0" algn="ctr">
              <a:buNone/>
            </a:pPr>
            <a:r>
              <a:rPr lang="en-US" sz="1350" b="1" dirty="0">
                <a:solidFill>
                  <a:srgbClr val="0B294B"/>
                </a:solidFill>
              </a:rPr>
              <a:t>Swap</a:t>
            </a:r>
          </a:p>
        </p:txBody>
      </p:sp>
      <p:sp>
        <p:nvSpPr>
          <p:cNvPr id="24" name="Text 22"/>
          <p:cNvSpPr/>
          <p:nvPr/>
        </p:nvSpPr>
        <p:spPr>
          <a:xfrm>
            <a:off x="640080" y="2852928"/>
            <a:ext cx="1691640" cy="1371600"/>
          </a:xfrm>
          <a:prstGeom prst="rect">
            <a:avLst/>
          </a:prstGeom>
          <a:noFill/>
          <a:ln/>
        </p:spPr>
        <p:txBody>
          <a:bodyPr wrap="square" rtlCol="0" anchor="t"/>
          <a:lstStyle/>
          <a:p>
            <a:pPr algn="ctr"/>
            <a:r>
              <a:rPr lang="en-US" sz="1600" dirty="0">
                <a:solidFill>
                  <a:schemeClr val="dk1"/>
                </a:solidFill>
                <a:latin typeface="Manrope"/>
              </a:rPr>
              <a:t>Exchange drafts with another group. Read silently for 3 minutes.</a:t>
            </a:r>
          </a:p>
        </p:txBody>
      </p:sp>
      <p:sp>
        <p:nvSpPr>
          <p:cNvPr id="25" name="Shape 23"/>
          <p:cNvSpPr/>
          <p:nvPr/>
        </p:nvSpPr>
        <p:spPr>
          <a:xfrm>
            <a:off x="2596896" y="1691640"/>
            <a:ext cx="1965960" cy="2606040"/>
          </a:xfrm>
          <a:prstGeom prst="roundRect">
            <a:avLst>
              <a:gd name="adj" fmla="val 3721"/>
            </a:avLst>
          </a:prstGeom>
          <a:solidFill>
            <a:srgbClr val="FFFFFF"/>
          </a:solidFill>
          <a:ln w="12700">
            <a:solidFill>
              <a:srgbClr val="6194E6"/>
            </a:solidFill>
            <a:prstDash val="solid"/>
          </a:ln>
        </p:spPr>
        <p:txBody>
          <a:bodyPr/>
          <a:lstStyle/>
          <a:p>
            <a:endParaRPr lang="ru-RU"/>
          </a:p>
        </p:txBody>
      </p:sp>
      <p:sp>
        <p:nvSpPr>
          <p:cNvPr id="26" name="Shape 24"/>
          <p:cNvSpPr/>
          <p:nvPr/>
        </p:nvSpPr>
        <p:spPr>
          <a:xfrm>
            <a:off x="3323844" y="1874520"/>
            <a:ext cx="512064" cy="512064"/>
          </a:xfrm>
          <a:prstGeom prst="ellipse">
            <a:avLst/>
          </a:prstGeom>
          <a:solidFill>
            <a:srgbClr val="092241"/>
          </a:solidFill>
          <a:ln/>
        </p:spPr>
        <p:txBody>
          <a:bodyPr/>
          <a:lstStyle/>
          <a:p>
            <a:endParaRPr lang="ru-RU"/>
          </a:p>
        </p:txBody>
      </p:sp>
      <p:sp>
        <p:nvSpPr>
          <p:cNvPr id="27" name="Text 25"/>
          <p:cNvSpPr/>
          <p:nvPr/>
        </p:nvSpPr>
        <p:spPr>
          <a:xfrm>
            <a:off x="3323844" y="1874520"/>
            <a:ext cx="512064" cy="512064"/>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8" name="Text 26"/>
          <p:cNvSpPr/>
          <p:nvPr/>
        </p:nvSpPr>
        <p:spPr>
          <a:xfrm>
            <a:off x="2688336" y="2514600"/>
            <a:ext cx="1783080" cy="320040"/>
          </a:xfrm>
          <a:prstGeom prst="rect">
            <a:avLst/>
          </a:prstGeom>
          <a:noFill/>
          <a:ln/>
        </p:spPr>
        <p:txBody>
          <a:bodyPr wrap="square" rtlCol="0" anchor="ctr"/>
          <a:lstStyle/>
          <a:p>
            <a:pPr algn="ctr"/>
            <a:r>
              <a:rPr lang="en-US" sz="1350" b="1" dirty="0">
                <a:solidFill>
                  <a:srgbClr val="0B294B"/>
                </a:solidFill>
              </a:rPr>
              <a:t>Praise</a:t>
            </a:r>
          </a:p>
        </p:txBody>
      </p:sp>
      <p:sp>
        <p:nvSpPr>
          <p:cNvPr id="29" name="Text 27"/>
          <p:cNvSpPr/>
          <p:nvPr/>
        </p:nvSpPr>
        <p:spPr>
          <a:xfrm>
            <a:off x="2734056" y="2852928"/>
            <a:ext cx="1691640" cy="1371600"/>
          </a:xfrm>
          <a:prstGeom prst="rect">
            <a:avLst/>
          </a:prstGeom>
          <a:noFill/>
          <a:ln/>
        </p:spPr>
        <p:txBody>
          <a:bodyPr wrap="square" rtlCol="0" anchor="t"/>
          <a:lstStyle/>
          <a:p>
            <a:pPr marL="0" indent="0" algn="ctr">
              <a:buFont typeface="Arial"/>
              <a:buNone/>
            </a:pPr>
            <a:r>
              <a:rPr lang="en-US" sz="1600" dirty="0">
                <a:solidFill>
                  <a:schemeClr val="dk1"/>
                </a:solidFill>
                <a:latin typeface="Manrope"/>
              </a:rPr>
              <a:t>Name one thing the brief does well: front-loading, tone, or evidence.</a:t>
            </a:r>
          </a:p>
        </p:txBody>
      </p:sp>
      <p:sp>
        <p:nvSpPr>
          <p:cNvPr id="30" name="Shape 28"/>
          <p:cNvSpPr/>
          <p:nvPr/>
        </p:nvSpPr>
        <p:spPr>
          <a:xfrm>
            <a:off x="4690872" y="1691640"/>
            <a:ext cx="1965960" cy="2606040"/>
          </a:xfrm>
          <a:prstGeom prst="roundRect">
            <a:avLst>
              <a:gd name="adj" fmla="val 3721"/>
            </a:avLst>
          </a:prstGeom>
          <a:solidFill>
            <a:srgbClr val="FFFFFF"/>
          </a:solidFill>
          <a:ln w="12700">
            <a:solidFill>
              <a:srgbClr val="6194E6"/>
            </a:solidFill>
            <a:prstDash val="solid"/>
          </a:ln>
        </p:spPr>
        <p:txBody>
          <a:bodyPr/>
          <a:lstStyle/>
          <a:p>
            <a:endParaRPr lang="ru-RU"/>
          </a:p>
        </p:txBody>
      </p:sp>
      <p:sp>
        <p:nvSpPr>
          <p:cNvPr id="31" name="Shape 29"/>
          <p:cNvSpPr/>
          <p:nvPr/>
        </p:nvSpPr>
        <p:spPr>
          <a:xfrm>
            <a:off x="5417820" y="1874520"/>
            <a:ext cx="512064" cy="512064"/>
          </a:xfrm>
          <a:prstGeom prst="ellipse">
            <a:avLst/>
          </a:prstGeom>
          <a:solidFill>
            <a:srgbClr val="092241"/>
          </a:solidFill>
          <a:ln/>
        </p:spPr>
        <p:txBody>
          <a:bodyPr/>
          <a:lstStyle/>
          <a:p>
            <a:endParaRPr lang="ru-RU"/>
          </a:p>
        </p:txBody>
      </p:sp>
      <p:sp>
        <p:nvSpPr>
          <p:cNvPr id="32" name="Text 30"/>
          <p:cNvSpPr/>
          <p:nvPr/>
        </p:nvSpPr>
        <p:spPr>
          <a:xfrm>
            <a:off x="5417820" y="1874520"/>
            <a:ext cx="512064" cy="512064"/>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33" name="Text 31"/>
          <p:cNvSpPr/>
          <p:nvPr/>
        </p:nvSpPr>
        <p:spPr>
          <a:xfrm>
            <a:off x="4782312" y="2514600"/>
            <a:ext cx="1783080" cy="320040"/>
          </a:xfrm>
          <a:prstGeom prst="rect">
            <a:avLst/>
          </a:prstGeom>
          <a:noFill/>
          <a:ln/>
        </p:spPr>
        <p:txBody>
          <a:bodyPr wrap="square" rtlCol="0" anchor="ctr"/>
          <a:lstStyle/>
          <a:p>
            <a:pPr marL="0" indent="0" algn="ctr">
              <a:buFont typeface="Arial"/>
              <a:buNone/>
            </a:pPr>
            <a:r>
              <a:rPr lang="en-US" sz="1350" b="1" dirty="0">
                <a:solidFill>
                  <a:srgbClr val="0B294B"/>
                </a:solidFill>
              </a:rPr>
              <a:t>Probe</a:t>
            </a:r>
          </a:p>
        </p:txBody>
      </p:sp>
      <p:sp>
        <p:nvSpPr>
          <p:cNvPr id="34" name="Text 32"/>
          <p:cNvSpPr/>
          <p:nvPr/>
        </p:nvSpPr>
        <p:spPr>
          <a:xfrm>
            <a:off x="4828032" y="2852928"/>
            <a:ext cx="1691640" cy="1371600"/>
          </a:xfrm>
          <a:prstGeom prst="rect">
            <a:avLst/>
          </a:prstGeom>
          <a:noFill/>
          <a:ln/>
        </p:spPr>
        <p:txBody>
          <a:bodyPr wrap="square" rtlCol="0" anchor="t"/>
          <a:lstStyle/>
          <a:p>
            <a:pPr marL="0" indent="0" algn="ctr">
              <a:buNone/>
            </a:pPr>
            <a:r>
              <a:rPr lang="en-US" sz="1600" dirty="0">
                <a:solidFill>
                  <a:schemeClr val="dk1"/>
                </a:solidFill>
                <a:latin typeface="Manrope"/>
              </a:rPr>
              <a:t>Ask one genuine question about a claim or recommendation that needs more support.</a:t>
            </a:r>
          </a:p>
        </p:txBody>
      </p:sp>
      <p:sp>
        <p:nvSpPr>
          <p:cNvPr id="35" name="Shape 33"/>
          <p:cNvSpPr/>
          <p:nvPr/>
        </p:nvSpPr>
        <p:spPr>
          <a:xfrm>
            <a:off x="6784848" y="1691640"/>
            <a:ext cx="1965960" cy="2606040"/>
          </a:xfrm>
          <a:prstGeom prst="roundRect">
            <a:avLst>
              <a:gd name="adj" fmla="val 3721"/>
            </a:avLst>
          </a:prstGeom>
          <a:solidFill>
            <a:srgbClr val="FFFFFF"/>
          </a:solidFill>
          <a:ln w="12700">
            <a:solidFill>
              <a:srgbClr val="6194E6"/>
            </a:solidFill>
            <a:prstDash val="solid"/>
          </a:ln>
        </p:spPr>
        <p:txBody>
          <a:bodyPr/>
          <a:lstStyle/>
          <a:p>
            <a:endParaRPr lang="ru-RU"/>
          </a:p>
        </p:txBody>
      </p:sp>
      <p:sp>
        <p:nvSpPr>
          <p:cNvPr id="36" name="Shape 34"/>
          <p:cNvSpPr/>
          <p:nvPr/>
        </p:nvSpPr>
        <p:spPr>
          <a:xfrm>
            <a:off x="7511796" y="1874520"/>
            <a:ext cx="512064" cy="512064"/>
          </a:xfrm>
          <a:prstGeom prst="ellipse">
            <a:avLst/>
          </a:prstGeom>
          <a:solidFill>
            <a:srgbClr val="092241"/>
          </a:solidFill>
          <a:ln/>
        </p:spPr>
        <p:txBody>
          <a:bodyPr/>
          <a:lstStyle/>
          <a:p>
            <a:endParaRPr lang="ru-RU"/>
          </a:p>
        </p:txBody>
      </p:sp>
      <p:sp>
        <p:nvSpPr>
          <p:cNvPr id="37" name="Text 35"/>
          <p:cNvSpPr/>
          <p:nvPr/>
        </p:nvSpPr>
        <p:spPr>
          <a:xfrm>
            <a:off x="7511796" y="1874520"/>
            <a:ext cx="512064" cy="512064"/>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8" name="Text 36"/>
          <p:cNvSpPr/>
          <p:nvPr/>
        </p:nvSpPr>
        <p:spPr>
          <a:xfrm>
            <a:off x="6876288" y="2514600"/>
            <a:ext cx="1783080" cy="320040"/>
          </a:xfrm>
          <a:prstGeom prst="rect">
            <a:avLst/>
          </a:prstGeom>
          <a:noFill/>
          <a:ln/>
        </p:spPr>
        <p:txBody>
          <a:bodyPr wrap="square" rtlCol="0" anchor="ctr"/>
          <a:lstStyle/>
          <a:p>
            <a:pPr algn="ctr"/>
            <a:r>
              <a:rPr lang="en-US" sz="1350" b="1" dirty="0">
                <a:solidFill>
                  <a:srgbClr val="0B294B"/>
                </a:solidFill>
              </a:rPr>
              <a:t>Polish</a:t>
            </a:r>
          </a:p>
        </p:txBody>
      </p:sp>
      <p:sp>
        <p:nvSpPr>
          <p:cNvPr id="39" name="Text 37"/>
          <p:cNvSpPr/>
          <p:nvPr/>
        </p:nvSpPr>
        <p:spPr>
          <a:xfrm>
            <a:off x="6922008" y="2852928"/>
            <a:ext cx="1691640" cy="1371600"/>
          </a:xfrm>
          <a:prstGeom prst="rect">
            <a:avLst/>
          </a:prstGeom>
          <a:noFill/>
          <a:ln/>
        </p:spPr>
        <p:txBody>
          <a:bodyPr wrap="square" rtlCol="0" anchor="t"/>
          <a:lstStyle/>
          <a:p>
            <a:pPr algn="ctr"/>
            <a:r>
              <a:rPr lang="en-US" sz="1600" dirty="0">
                <a:solidFill>
                  <a:schemeClr val="dk1"/>
                </a:solidFill>
                <a:latin typeface="Manrope"/>
              </a:rPr>
              <a:t>Suggest one concrete edit — a sentence to cut, a word to simplify, a stat to add.</a:t>
            </a:r>
          </a:p>
        </p:txBody>
      </p:sp>
      <p:grpSp>
        <p:nvGrpSpPr>
          <p:cNvPr id="40" name="Google Shape;463;p30">
            <a:extLst>
              <a:ext uri="{FF2B5EF4-FFF2-40B4-BE49-F238E27FC236}">
                <a16:creationId xmlns:a16="http://schemas.microsoft.com/office/drawing/2014/main" id="{2A2D83F9-9A29-22CC-7C16-A3C4C9F38BF2}"/>
              </a:ext>
            </a:extLst>
          </p:cNvPr>
          <p:cNvGrpSpPr/>
          <p:nvPr/>
        </p:nvGrpSpPr>
        <p:grpSpPr>
          <a:xfrm>
            <a:off x="7511796" y="4699157"/>
            <a:ext cx="1309796" cy="257750"/>
            <a:chOff x="-6337521" y="4362225"/>
            <a:chExt cx="1309796" cy="257750"/>
          </a:xfrm>
        </p:grpSpPr>
        <p:sp>
          <p:nvSpPr>
            <p:cNvPr id="41" name="Google Shape;464;p30">
              <a:extLst>
                <a:ext uri="{FF2B5EF4-FFF2-40B4-BE49-F238E27FC236}">
                  <a16:creationId xmlns:a16="http://schemas.microsoft.com/office/drawing/2014/main" id="{03CB012E-F438-A156-0A70-E6950998468D}"/>
                </a:ext>
              </a:extLst>
            </p:cNvPr>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65;p30">
              <a:extLst>
                <a:ext uri="{FF2B5EF4-FFF2-40B4-BE49-F238E27FC236}">
                  <a16:creationId xmlns:a16="http://schemas.microsoft.com/office/drawing/2014/main" id="{94AB892C-0DC3-C463-9FDD-65BA025F5436}"/>
                </a:ext>
              </a:extLst>
            </p:cNvPr>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466;p30">
              <a:extLst>
                <a:ext uri="{FF2B5EF4-FFF2-40B4-BE49-F238E27FC236}">
                  <a16:creationId xmlns:a16="http://schemas.microsoft.com/office/drawing/2014/main" id="{BFB6DA83-F9E7-4A6E-63AA-9EE2CB394930}"/>
                </a:ext>
              </a:extLst>
            </p:cNvPr>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67;p30">
              <a:extLst>
                <a:ext uri="{FF2B5EF4-FFF2-40B4-BE49-F238E27FC236}">
                  <a16:creationId xmlns:a16="http://schemas.microsoft.com/office/drawing/2014/main" id="{A181C2FD-AFC8-4FC8-10DD-6C292E4A6B75}"/>
                </a:ext>
              </a:extLst>
            </p:cNvPr>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68;p30">
              <a:extLst>
                <a:ext uri="{FF2B5EF4-FFF2-40B4-BE49-F238E27FC236}">
                  <a16:creationId xmlns:a16="http://schemas.microsoft.com/office/drawing/2014/main" id="{65B8155D-4C98-0405-80C1-BCB898162E27}"/>
                </a:ext>
              </a:extLst>
            </p:cNvPr>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9;p30">
              <a:extLst>
                <a:ext uri="{FF2B5EF4-FFF2-40B4-BE49-F238E27FC236}">
                  <a16:creationId xmlns:a16="http://schemas.microsoft.com/office/drawing/2014/main" id="{6FD10D16-2C75-2B05-A079-E129BCDD07B8}"/>
                </a:ext>
              </a:extLst>
            </p:cNvPr>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0;p30">
              <a:extLst>
                <a:ext uri="{FF2B5EF4-FFF2-40B4-BE49-F238E27FC236}">
                  <a16:creationId xmlns:a16="http://schemas.microsoft.com/office/drawing/2014/main" id="{24364F83-05FF-2131-0D51-E44009C1A3C3}"/>
                </a:ext>
              </a:extLst>
            </p:cNvPr>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71;p30">
              <a:extLst>
                <a:ext uri="{FF2B5EF4-FFF2-40B4-BE49-F238E27FC236}">
                  <a16:creationId xmlns:a16="http://schemas.microsoft.com/office/drawing/2014/main" id="{7B2EC947-EA7D-199D-4029-5AEBDE30C6CB}"/>
                </a:ext>
              </a:extLst>
            </p:cNvPr>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72;p30">
              <a:extLst>
                <a:ext uri="{FF2B5EF4-FFF2-40B4-BE49-F238E27FC236}">
                  <a16:creationId xmlns:a16="http://schemas.microsoft.com/office/drawing/2014/main" id="{8150361B-9214-A784-7F0C-88EE8D2B3F29}"/>
                </a:ext>
              </a:extLst>
            </p:cNvPr>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73;p30">
              <a:extLst>
                <a:ext uri="{FF2B5EF4-FFF2-40B4-BE49-F238E27FC236}">
                  <a16:creationId xmlns:a16="http://schemas.microsoft.com/office/drawing/2014/main" id="{5238152D-BC02-47B3-AA15-EB227115244D}"/>
                </a:ext>
              </a:extLst>
            </p:cNvPr>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463;p30">
            <a:extLst>
              <a:ext uri="{FF2B5EF4-FFF2-40B4-BE49-F238E27FC236}">
                <a16:creationId xmlns:a16="http://schemas.microsoft.com/office/drawing/2014/main" id="{347CBCB2-E882-75BF-B03E-0B495B6DAA11}"/>
              </a:ext>
            </a:extLst>
          </p:cNvPr>
          <p:cNvGrpSpPr/>
          <p:nvPr/>
        </p:nvGrpSpPr>
        <p:grpSpPr>
          <a:xfrm>
            <a:off x="432136" y="4699157"/>
            <a:ext cx="1309796" cy="257750"/>
            <a:chOff x="-6337521" y="4362225"/>
            <a:chExt cx="1309796" cy="257750"/>
          </a:xfrm>
        </p:grpSpPr>
        <p:sp>
          <p:nvSpPr>
            <p:cNvPr id="52" name="Google Shape;464;p30">
              <a:extLst>
                <a:ext uri="{FF2B5EF4-FFF2-40B4-BE49-F238E27FC236}">
                  <a16:creationId xmlns:a16="http://schemas.microsoft.com/office/drawing/2014/main" id="{517C4D34-D622-E677-F580-E90C1AE315C9}"/>
                </a:ext>
              </a:extLst>
            </p:cNvPr>
            <p:cNvSpPr/>
            <p:nvPr/>
          </p:nvSpPr>
          <p:spPr>
            <a:xfrm>
              <a:off x="-591797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65;p30">
              <a:extLst>
                <a:ext uri="{FF2B5EF4-FFF2-40B4-BE49-F238E27FC236}">
                  <a16:creationId xmlns:a16="http://schemas.microsoft.com/office/drawing/2014/main" id="{D7F4727A-767C-020C-1099-752C7D166F0E}"/>
                </a:ext>
              </a:extLst>
            </p:cNvPr>
            <p:cNvSpPr/>
            <p:nvPr/>
          </p:nvSpPr>
          <p:spPr>
            <a:xfrm>
              <a:off x="-5713862"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466;p30">
              <a:extLst>
                <a:ext uri="{FF2B5EF4-FFF2-40B4-BE49-F238E27FC236}">
                  <a16:creationId xmlns:a16="http://schemas.microsoft.com/office/drawing/2014/main" id="{6856DEA8-AEB4-1AC1-DA6C-2A273354B775}"/>
                </a:ext>
              </a:extLst>
            </p:cNvPr>
            <p:cNvSpPr/>
            <p:nvPr/>
          </p:nvSpPr>
          <p:spPr>
            <a:xfrm>
              <a:off x="-5509750"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67;p30">
              <a:extLst>
                <a:ext uri="{FF2B5EF4-FFF2-40B4-BE49-F238E27FC236}">
                  <a16:creationId xmlns:a16="http://schemas.microsoft.com/office/drawing/2014/main" id="{C0848A22-A5E8-C539-66AC-2421FAB3A4A6}"/>
                </a:ext>
              </a:extLst>
            </p:cNvPr>
            <p:cNvSpPr/>
            <p:nvPr/>
          </p:nvSpPr>
          <p:spPr>
            <a:xfrm>
              <a:off x="-5305637"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68;p30">
              <a:extLst>
                <a:ext uri="{FF2B5EF4-FFF2-40B4-BE49-F238E27FC236}">
                  <a16:creationId xmlns:a16="http://schemas.microsoft.com/office/drawing/2014/main" id="{7C7CE100-E676-A15E-2994-1F9ECE59F118}"/>
                </a:ext>
              </a:extLst>
            </p:cNvPr>
            <p:cNvSpPr/>
            <p:nvPr/>
          </p:nvSpPr>
          <p:spPr>
            <a:xfrm>
              <a:off x="-5101525" y="436222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69;p30">
              <a:extLst>
                <a:ext uri="{FF2B5EF4-FFF2-40B4-BE49-F238E27FC236}">
                  <a16:creationId xmlns:a16="http://schemas.microsoft.com/office/drawing/2014/main" id="{E950F3DF-FC18-3D03-7A8D-C2C306113B95}"/>
                </a:ext>
              </a:extLst>
            </p:cNvPr>
            <p:cNvSpPr/>
            <p:nvPr/>
          </p:nvSpPr>
          <p:spPr>
            <a:xfrm>
              <a:off x="-633752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70;p30">
              <a:extLst>
                <a:ext uri="{FF2B5EF4-FFF2-40B4-BE49-F238E27FC236}">
                  <a16:creationId xmlns:a16="http://schemas.microsoft.com/office/drawing/2014/main" id="{335F5AD5-C5AA-A570-F536-78BA1F2A8960}"/>
                </a:ext>
              </a:extLst>
            </p:cNvPr>
            <p:cNvSpPr/>
            <p:nvPr/>
          </p:nvSpPr>
          <p:spPr>
            <a:xfrm>
              <a:off x="-6133409"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71;p30">
              <a:extLst>
                <a:ext uri="{FF2B5EF4-FFF2-40B4-BE49-F238E27FC236}">
                  <a16:creationId xmlns:a16="http://schemas.microsoft.com/office/drawing/2014/main" id="{3EFEE656-8E1E-E23A-89CD-22E91CF20ECD}"/>
                </a:ext>
              </a:extLst>
            </p:cNvPr>
            <p:cNvSpPr/>
            <p:nvPr/>
          </p:nvSpPr>
          <p:spPr>
            <a:xfrm>
              <a:off x="-5929296"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472;p30">
              <a:extLst>
                <a:ext uri="{FF2B5EF4-FFF2-40B4-BE49-F238E27FC236}">
                  <a16:creationId xmlns:a16="http://schemas.microsoft.com/office/drawing/2014/main" id="{186973B0-9B73-A4DF-2F1F-B21F1AD0F4A6}"/>
                </a:ext>
              </a:extLst>
            </p:cNvPr>
            <p:cNvSpPr/>
            <p:nvPr/>
          </p:nvSpPr>
          <p:spPr>
            <a:xfrm>
              <a:off x="-5725184"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473;p30">
              <a:extLst>
                <a:ext uri="{FF2B5EF4-FFF2-40B4-BE49-F238E27FC236}">
                  <a16:creationId xmlns:a16="http://schemas.microsoft.com/office/drawing/2014/main" id="{7B9DCD66-877D-4EC3-0CDA-C694648ACE6F}"/>
                </a:ext>
              </a:extLst>
            </p:cNvPr>
            <p:cNvSpPr/>
            <p:nvPr/>
          </p:nvSpPr>
          <p:spPr>
            <a:xfrm>
              <a:off x="-5521071" y="4546175"/>
              <a:ext cx="73800" cy="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grpSp>
        <p:nvGrpSpPr>
          <p:cNvPr id="1037" name="Google Shape;1037;p55"/>
          <p:cNvGrpSpPr/>
          <p:nvPr/>
        </p:nvGrpSpPr>
        <p:grpSpPr>
          <a:xfrm>
            <a:off x="3979500" y="7000"/>
            <a:ext cx="5164500" cy="5143500"/>
            <a:chOff x="3979500" y="7000"/>
            <a:chExt cx="5164500" cy="5143500"/>
          </a:xfrm>
        </p:grpSpPr>
        <p:sp>
          <p:nvSpPr>
            <p:cNvPr id="1038" name="Google Shape;1038;p55"/>
            <p:cNvSpPr/>
            <p:nvPr/>
          </p:nvSpPr>
          <p:spPr>
            <a:xfrm flipH="1">
              <a:off x="3979500" y="7000"/>
              <a:ext cx="5164500" cy="51435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9" name="Google Shape;1039;p55"/>
            <p:cNvGrpSpPr/>
            <p:nvPr/>
          </p:nvGrpSpPr>
          <p:grpSpPr>
            <a:xfrm>
              <a:off x="4666284" y="607516"/>
              <a:ext cx="4153104" cy="4001055"/>
              <a:chOff x="4666284" y="607516"/>
              <a:chExt cx="4153104" cy="4001055"/>
            </a:xfrm>
          </p:grpSpPr>
          <p:sp>
            <p:nvSpPr>
              <p:cNvPr id="1040" name="Google Shape;1040;p55"/>
              <p:cNvSpPr/>
              <p:nvPr/>
            </p:nvSpPr>
            <p:spPr>
              <a:xfrm rot="-2699590">
                <a:off x="4521184" y="3647078"/>
                <a:ext cx="1780000" cy="32668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55"/>
              <p:cNvSpPr/>
              <p:nvPr/>
            </p:nvSpPr>
            <p:spPr>
              <a:xfrm rot="-2699590">
                <a:off x="7184489" y="2245051"/>
                <a:ext cx="1780000" cy="326683"/>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5"/>
              <p:cNvSpPr/>
              <p:nvPr/>
            </p:nvSpPr>
            <p:spPr>
              <a:xfrm rot="-2699590">
                <a:off x="6716516" y="1166805"/>
                <a:ext cx="1780000" cy="47772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5"/>
              <p:cNvSpPr/>
              <p:nvPr/>
            </p:nvSpPr>
            <p:spPr>
              <a:xfrm rot="-2699590">
                <a:off x="5940285" y="3571560"/>
                <a:ext cx="1780000" cy="47772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55"/>
              <p:cNvSpPr/>
              <p:nvPr/>
            </p:nvSpPr>
            <p:spPr>
              <a:xfrm>
                <a:off x="6777914" y="2891181"/>
                <a:ext cx="1596600" cy="1596600"/>
              </a:xfrm>
              <a:prstGeom prst="ellipse">
                <a:avLst/>
              </a:prstGeom>
              <a:noFill/>
              <a:ln w="9525"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5" name="Google Shape;1045;p55"/>
          <p:cNvSpPr txBox="1">
            <a:spLocks noGrp="1"/>
          </p:cNvSpPr>
          <p:nvPr>
            <p:ph type="title"/>
          </p:nvPr>
        </p:nvSpPr>
        <p:spPr>
          <a:xfrm>
            <a:off x="713225" y="539500"/>
            <a:ext cx="46326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1046" name="Google Shape;1046;p55"/>
          <p:cNvSpPr txBox="1">
            <a:spLocks noGrp="1"/>
          </p:cNvSpPr>
          <p:nvPr>
            <p:ph type="subTitle" idx="1"/>
          </p:nvPr>
        </p:nvSpPr>
        <p:spPr>
          <a:xfrm>
            <a:off x="713225" y="1797375"/>
            <a:ext cx="4632600" cy="10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t>Do you have any questions?</a:t>
            </a:r>
            <a:endParaRPr b="1" dirty="0"/>
          </a:p>
        </p:txBody>
      </p:sp>
      <p:grpSp>
        <p:nvGrpSpPr>
          <p:cNvPr id="1070" name="Google Shape;1070;p55"/>
          <p:cNvGrpSpPr/>
          <p:nvPr/>
        </p:nvGrpSpPr>
        <p:grpSpPr>
          <a:xfrm>
            <a:off x="5405445" y="1044251"/>
            <a:ext cx="3283337" cy="3291131"/>
            <a:chOff x="5405445" y="1044251"/>
            <a:chExt cx="3283337" cy="3291131"/>
          </a:xfrm>
        </p:grpSpPr>
        <p:sp>
          <p:nvSpPr>
            <p:cNvPr id="1071" name="Google Shape;1071;p55"/>
            <p:cNvSpPr/>
            <p:nvPr/>
          </p:nvSpPr>
          <p:spPr>
            <a:xfrm rot="-2700000">
              <a:off x="7797846" y="1379613"/>
              <a:ext cx="996172" cy="114976"/>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55"/>
            <p:cNvSpPr/>
            <p:nvPr/>
          </p:nvSpPr>
          <p:spPr>
            <a:xfrm rot="-2700000">
              <a:off x="5300209" y="3885044"/>
              <a:ext cx="996172" cy="114976"/>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Прямоугольник 1">
            <a:extLst>
              <a:ext uri="{FF2B5EF4-FFF2-40B4-BE49-F238E27FC236}">
                <a16:creationId xmlns:a16="http://schemas.microsoft.com/office/drawing/2014/main" id="{640F0127-41AD-49C3-A75F-EB767F2BDBA9}"/>
              </a:ext>
            </a:extLst>
          </p:cNvPr>
          <p:cNvSpPr/>
          <p:nvPr/>
        </p:nvSpPr>
        <p:spPr>
          <a:xfrm>
            <a:off x="799070" y="3810000"/>
            <a:ext cx="3488725" cy="5253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theme/theme1.xml><?xml version="1.0" encoding="utf-8"?>
<a:theme xmlns:a="http://schemas.openxmlformats.org/drawingml/2006/main" name="Business Administration School Center by Slidesgo">
  <a:themeElements>
    <a:clrScheme name="Simple Light">
      <a:dk1>
        <a:srgbClr val="092241"/>
      </a:dk1>
      <a:lt1>
        <a:srgbClr val="F8F8F8"/>
      </a:lt1>
      <a:dk2>
        <a:srgbClr val="B7B7B7"/>
      </a:dk2>
      <a:lt2>
        <a:srgbClr val="6194E6"/>
      </a:lt2>
      <a:accent1>
        <a:srgbClr val="FFFFFF"/>
      </a:accent1>
      <a:accent2>
        <a:srgbClr val="FFFFFF"/>
      </a:accent2>
      <a:accent3>
        <a:srgbClr val="FFFFFF"/>
      </a:accent3>
      <a:accent4>
        <a:srgbClr val="FFFFFF"/>
      </a:accent4>
      <a:accent5>
        <a:srgbClr val="FFFFFF"/>
      </a:accent5>
      <a:accent6>
        <a:srgbClr val="FFFFFF"/>
      </a:accent6>
      <a:hlink>
        <a:srgbClr val="0922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b9ef352-c534-440f-b151-37875f221adb">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06FB7CF115E33F4FB8C6F9CFD72D4EB3" ma:contentTypeVersion="12" ma:contentTypeDescription="Создание документа." ma:contentTypeScope="" ma:versionID="cb9f82d68eed688063597976aa641d7c">
  <xsd:schema xmlns:xsd="http://www.w3.org/2001/XMLSchema" xmlns:xs="http://www.w3.org/2001/XMLSchema" xmlns:p="http://schemas.microsoft.com/office/2006/metadata/properties" xmlns:ns2="00cc2032-97c6-4a5b-aec3-a8fde69ab031" xmlns:ns3="7b9ef352-c534-440f-b151-37875f221adb" targetNamespace="http://schemas.microsoft.com/office/2006/metadata/properties" ma:root="true" ma:fieldsID="c792009f96ea9a0fd6736f5764a99504" ns2:_="" ns3:_="">
    <xsd:import namespace="00cc2032-97c6-4a5b-aec3-a8fde69ab031"/>
    <xsd:import namespace="7b9ef352-c534-440f-b151-37875f221ad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cc2032-97c6-4a5b-aec3-a8fde69ab0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b9ef352-c534-440f-b151-37875f221adb" elementFormDefault="qualified">
    <xsd:import namespace="http://schemas.microsoft.com/office/2006/documentManagement/types"/>
    <xsd:import namespace="http://schemas.microsoft.com/office/infopath/2007/PartnerControls"/>
    <xsd:element name="SharedWithUsers" ma:index="12"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0BA79A-72BF-4633-9CE7-67B1E0958DCA}">
  <ds:schemaRefs>
    <ds:schemaRef ds:uri="http://schemas.microsoft.com/office/2006/metadata/properties"/>
    <ds:schemaRef ds:uri="http://schemas.microsoft.com/office/infopath/2007/PartnerControls"/>
    <ds:schemaRef ds:uri="7b9ef352-c534-440f-b151-37875f221adb"/>
  </ds:schemaRefs>
</ds:datastoreItem>
</file>

<file path=customXml/itemProps2.xml><?xml version="1.0" encoding="utf-8"?>
<ds:datastoreItem xmlns:ds="http://schemas.openxmlformats.org/officeDocument/2006/customXml" ds:itemID="{1DA7EC0D-2A9F-4FB0-B6E7-C24FE5DDE266}">
  <ds:schemaRefs>
    <ds:schemaRef ds:uri="http://schemas.microsoft.com/sharepoint/v3/contenttype/forms"/>
  </ds:schemaRefs>
</ds:datastoreItem>
</file>

<file path=customXml/itemProps3.xml><?xml version="1.0" encoding="utf-8"?>
<ds:datastoreItem xmlns:ds="http://schemas.openxmlformats.org/officeDocument/2006/customXml" ds:itemID="{53A9BDA1-60E0-4AB9-B6E2-E6066E7E58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cc2032-97c6-4a5b-aec3-a8fde69ab031"/>
    <ds:schemaRef ds:uri="7b9ef352-c534-440f-b151-37875f221a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3216</TotalTime>
  <Words>3162</Words>
  <Application>Microsoft Office PowerPoint</Application>
  <PresentationFormat>On-screen Show (16:9)</PresentationFormat>
  <Paragraphs>409</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Archivo Black</vt:lpstr>
      <vt:lpstr>Archivo</vt:lpstr>
      <vt:lpstr>Times New Roman</vt:lpstr>
      <vt:lpstr>Calibri</vt:lpstr>
      <vt:lpstr>Manrope</vt:lpstr>
      <vt:lpstr>Arial</vt:lpstr>
      <vt:lpstr>Aptos</vt:lpstr>
      <vt:lpstr>Business Administration School Center by Slidesgo</vt:lpstr>
      <vt:lpstr>Professional English</vt:lpstr>
      <vt:lpstr>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Media, Culture, and Society</dc:title>
  <dc:creator>ASUS</dc:creator>
  <cp:lastModifiedBy>Dias Yermekov</cp:lastModifiedBy>
  <cp:revision>164</cp:revision>
  <dcterms:modified xsi:type="dcterms:W3CDTF">2026-10-07T10:03:10Z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0x01010006FB7CF115E33F4FB8C6F9CFD72D4EB3</vt:lpwstr>
  </property>
  <property fmtid="{D5CDD505-2E9C-101B-9397-08002B2CF9AE}" pid="3" name="xd_ProgID">
    <vt:lpwstr/>
  </property>
  <property fmtid="{D5CDD505-2E9C-101B-9397-08002B2CF9AE}" pid="4" name="MediaServiceImageTags">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y fmtid="{D5CDD505-2E9C-101B-9397-08002B2CF9AE}" pid="12" name="Order">
    <vt:r8>56500</vt:r8>
  </property>
</Properties>
</file>