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4"/>
  </p:sldMasterIdLst>
  <p:notesMasterIdLst>
    <p:notesMasterId r:id="rId21"/>
  </p:notesMasterIdLst>
  <p:sldIdLst>
    <p:sldId id="256" r:id="rId5"/>
    <p:sldId id="302" r:id="rId6"/>
    <p:sldId id="304" r:id="rId7"/>
    <p:sldId id="303" r:id="rId8"/>
    <p:sldId id="323" r:id="rId9"/>
    <p:sldId id="324" r:id="rId10"/>
    <p:sldId id="333" r:id="rId11"/>
    <p:sldId id="335" r:id="rId12"/>
    <p:sldId id="337" r:id="rId13"/>
    <p:sldId id="334" r:id="rId14"/>
    <p:sldId id="338" r:id="rId15"/>
    <p:sldId id="340" r:id="rId16"/>
    <p:sldId id="339" r:id="rId17"/>
    <p:sldId id="326" r:id="rId18"/>
    <p:sldId id="328" r:id="rId19"/>
    <p:sldId id="281" r:id="rId20"/>
  </p:sldIdLst>
  <p:sldSz cx="9144000" cy="5143500" type="screen16x9"/>
  <p:notesSz cx="6858000" cy="9144000"/>
  <p:embeddedFontLst>
    <p:embeddedFont>
      <p:font typeface="Archivo Black" panose="020B0604020202020204" charset="0"/>
      <p:regular r:id="rId22"/>
      <p:bold r:id="rId23"/>
      <p:italic r:id="rId23"/>
      <p:boldItalic r:id="rId23"/>
    </p:embeddedFont>
    <p:embeddedFont>
      <p:font typeface="Manrope" panose="020B0604020202020204" charset="0"/>
      <p:regular r:id="rId23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521CCC-36D8-82C8-049D-262FEFC0E46A}" v="2" dt="2026-09-13T15:18:03.383"/>
  </p1510:revLst>
</p1510:revInfo>
</file>

<file path=ppt/tableStyles.xml><?xml version="1.0" encoding="utf-8"?>
<a:tblStyleLst xmlns:a="http://schemas.openxmlformats.org/drawingml/2006/main" def="{6B5080E9-3605-42D9-9005-8FE3B8EA5A04}">
  <a:tblStyle styleId="{6B5080E9-3605-42D9-9005-8FE3B8EA5A0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106" autoAdjust="0"/>
    <p:restoredTop sz="75976" autoAdjust="0"/>
  </p:normalViewPr>
  <p:slideViewPr>
    <p:cSldViewPr snapToGrid="0" showGuides="1">
      <p:cViewPr varScale="1">
        <p:scale>
          <a:sx n="87" d="100"/>
          <a:sy n="87" d="100"/>
        </p:scale>
        <p:origin x="696" y="4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2.fntdata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1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64521CCC-36D8-82C8-049D-262FEFC0E46A}"/>
    <pc:docChg chg="modSld">
      <pc:chgData name="" userId="" providerId="" clId="Web-{64521CCC-36D8-82C8-049D-262FEFC0E46A}" dt="2026-09-13T15:17:54.883" v="0" actId="20577"/>
      <pc:docMkLst>
        <pc:docMk/>
      </pc:docMkLst>
      <pc:sldChg chg="modSp">
        <pc:chgData name="" userId="" providerId="" clId="Web-{64521CCC-36D8-82C8-049D-262FEFC0E46A}" dt="2026-09-13T15:17:54.883" v="0" actId="20577"/>
        <pc:sldMkLst>
          <pc:docMk/>
          <pc:sldMk cId="4165187402" sldId="304"/>
        </pc:sldMkLst>
        <pc:spChg chg="mod">
          <ac:chgData name="" userId="" providerId="" clId="Web-{64521CCC-36D8-82C8-049D-262FEFC0E46A}" dt="2026-09-13T15:17:54.883" v="0" actId="20577"/>
          <ac:spMkLst>
            <pc:docMk/>
            <pc:sldMk cId="4165187402" sldId="304"/>
            <ac:spMk id="3" creationId="{9BB3A860-7962-441A-A29A-B6791E06390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081843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999199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10771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697987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18125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49827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1336c2bb6c6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5" name="Google Shape;1035;g1336c2bb6c6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539500"/>
            <a:ext cx="4807500" cy="20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2733950"/>
            <a:ext cx="2237400" cy="6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1" name="Google Shape;11;p2"/>
          <p:cNvSpPr>
            <a:spLocks noGrp="1"/>
          </p:cNvSpPr>
          <p:nvPr>
            <p:ph type="pic" idx="2"/>
          </p:nvPr>
        </p:nvSpPr>
        <p:spPr>
          <a:xfrm>
            <a:off x="5654925" y="1312525"/>
            <a:ext cx="2852100" cy="2852100"/>
          </a:xfrm>
          <a:prstGeom prst="ellipse">
            <a:avLst/>
          </a:prstGeom>
          <a:noFill/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ru-K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oogle Shape;409;p25"/>
          <p:cNvGrpSpPr/>
          <p:nvPr/>
        </p:nvGrpSpPr>
        <p:grpSpPr>
          <a:xfrm>
            <a:off x="7267300" y="-374475"/>
            <a:ext cx="2456449" cy="5138686"/>
            <a:chOff x="7267300" y="-374475"/>
            <a:chExt cx="2456449" cy="5138686"/>
          </a:xfrm>
        </p:grpSpPr>
        <p:grpSp>
          <p:nvGrpSpPr>
            <p:cNvPr id="410" name="Google Shape;410;p25"/>
            <p:cNvGrpSpPr/>
            <p:nvPr/>
          </p:nvGrpSpPr>
          <p:grpSpPr>
            <a:xfrm>
              <a:off x="7432804" y="4506461"/>
              <a:ext cx="1309796" cy="257750"/>
              <a:chOff x="-6337521" y="4362225"/>
              <a:chExt cx="1309796" cy="257750"/>
            </a:xfrm>
          </p:grpSpPr>
          <p:sp>
            <p:nvSpPr>
              <p:cNvPr id="411" name="Google Shape;411;p25"/>
              <p:cNvSpPr/>
              <p:nvPr/>
            </p:nvSpPr>
            <p:spPr>
              <a:xfrm>
                <a:off x="-591797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25"/>
              <p:cNvSpPr/>
              <p:nvPr/>
            </p:nvSpPr>
            <p:spPr>
              <a:xfrm>
                <a:off x="-5713862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25"/>
              <p:cNvSpPr/>
              <p:nvPr/>
            </p:nvSpPr>
            <p:spPr>
              <a:xfrm>
                <a:off x="-5509750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25"/>
              <p:cNvSpPr/>
              <p:nvPr/>
            </p:nvSpPr>
            <p:spPr>
              <a:xfrm>
                <a:off x="-5305637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25"/>
              <p:cNvSpPr/>
              <p:nvPr/>
            </p:nvSpPr>
            <p:spPr>
              <a:xfrm>
                <a:off x="-510152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25"/>
              <p:cNvSpPr/>
              <p:nvPr/>
            </p:nvSpPr>
            <p:spPr>
              <a:xfrm>
                <a:off x="-633752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25"/>
              <p:cNvSpPr/>
              <p:nvPr/>
            </p:nvSpPr>
            <p:spPr>
              <a:xfrm>
                <a:off x="-6133409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25"/>
              <p:cNvSpPr/>
              <p:nvPr/>
            </p:nvSpPr>
            <p:spPr>
              <a:xfrm>
                <a:off x="-5929296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25"/>
              <p:cNvSpPr/>
              <p:nvPr/>
            </p:nvSpPr>
            <p:spPr>
              <a:xfrm>
                <a:off x="-5725184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25"/>
              <p:cNvSpPr/>
              <p:nvPr/>
            </p:nvSpPr>
            <p:spPr>
              <a:xfrm>
                <a:off x="-552107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1" name="Google Shape;421;p25"/>
            <p:cNvGrpSpPr/>
            <p:nvPr/>
          </p:nvGrpSpPr>
          <p:grpSpPr>
            <a:xfrm>
              <a:off x="7267300" y="-374475"/>
              <a:ext cx="2456449" cy="1917411"/>
              <a:chOff x="7267300" y="-366311"/>
              <a:chExt cx="2456449" cy="1917411"/>
            </a:xfrm>
          </p:grpSpPr>
          <p:sp>
            <p:nvSpPr>
              <p:cNvPr id="422" name="Google Shape;422;p25"/>
              <p:cNvSpPr/>
              <p:nvPr/>
            </p:nvSpPr>
            <p:spPr>
              <a:xfrm rot="-5400000" flipH="1">
                <a:off x="7653475" y="-500"/>
                <a:ext cx="1554600" cy="15486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25"/>
              <p:cNvSpPr/>
              <p:nvPr/>
            </p:nvSpPr>
            <p:spPr>
              <a:xfrm rot="2699366" flipH="1">
                <a:off x="8648903" y="642478"/>
                <a:ext cx="1150392" cy="262619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25"/>
              <p:cNvSpPr/>
              <p:nvPr/>
            </p:nvSpPr>
            <p:spPr>
              <a:xfrm>
                <a:off x="7719598" y="153426"/>
                <a:ext cx="1309800" cy="13098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lg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25"/>
              <p:cNvSpPr/>
              <p:nvPr/>
            </p:nvSpPr>
            <p:spPr>
              <a:xfrm rot="2699336" flipH="1">
                <a:off x="7177884" y="-7536"/>
                <a:ext cx="1098632" cy="20195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7" name="Google Shape;427;p26"/>
          <p:cNvGrpSpPr/>
          <p:nvPr/>
        </p:nvGrpSpPr>
        <p:grpSpPr>
          <a:xfrm>
            <a:off x="7267300" y="387525"/>
            <a:ext cx="2456449" cy="5138686"/>
            <a:chOff x="7267300" y="387525"/>
            <a:chExt cx="2456449" cy="5138686"/>
          </a:xfrm>
        </p:grpSpPr>
        <p:grpSp>
          <p:nvGrpSpPr>
            <p:cNvPr id="428" name="Google Shape;428;p26"/>
            <p:cNvGrpSpPr/>
            <p:nvPr/>
          </p:nvGrpSpPr>
          <p:grpSpPr>
            <a:xfrm rot="10800000" flipH="1">
              <a:off x="7432804" y="387525"/>
              <a:ext cx="1309796" cy="257750"/>
              <a:chOff x="-6337521" y="4362225"/>
              <a:chExt cx="1309796" cy="257750"/>
            </a:xfrm>
          </p:grpSpPr>
          <p:sp>
            <p:nvSpPr>
              <p:cNvPr id="429" name="Google Shape;429;p26"/>
              <p:cNvSpPr/>
              <p:nvPr/>
            </p:nvSpPr>
            <p:spPr>
              <a:xfrm>
                <a:off x="-591797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26"/>
              <p:cNvSpPr/>
              <p:nvPr/>
            </p:nvSpPr>
            <p:spPr>
              <a:xfrm>
                <a:off x="-5713862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26"/>
              <p:cNvSpPr/>
              <p:nvPr/>
            </p:nvSpPr>
            <p:spPr>
              <a:xfrm>
                <a:off x="-5509750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26"/>
              <p:cNvSpPr/>
              <p:nvPr/>
            </p:nvSpPr>
            <p:spPr>
              <a:xfrm>
                <a:off x="-5305637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26"/>
              <p:cNvSpPr/>
              <p:nvPr/>
            </p:nvSpPr>
            <p:spPr>
              <a:xfrm>
                <a:off x="-510152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26"/>
              <p:cNvSpPr/>
              <p:nvPr/>
            </p:nvSpPr>
            <p:spPr>
              <a:xfrm>
                <a:off x="-633752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26"/>
              <p:cNvSpPr/>
              <p:nvPr/>
            </p:nvSpPr>
            <p:spPr>
              <a:xfrm>
                <a:off x="-6133409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26"/>
              <p:cNvSpPr/>
              <p:nvPr/>
            </p:nvSpPr>
            <p:spPr>
              <a:xfrm>
                <a:off x="-5929296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26"/>
              <p:cNvSpPr/>
              <p:nvPr/>
            </p:nvSpPr>
            <p:spPr>
              <a:xfrm>
                <a:off x="-5725184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26"/>
              <p:cNvSpPr/>
              <p:nvPr/>
            </p:nvSpPr>
            <p:spPr>
              <a:xfrm>
                <a:off x="-552107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9" name="Google Shape;439;p26"/>
            <p:cNvGrpSpPr/>
            <p:nvPr/>
          </p:nvGrpSpPr>
          <p:grpSpPr>
            <a:xfrm rot="10800000" flipH="1">
              <a:off x="7267300" y="3608800"/>
              <a:ext cx="2456449" cy="1917411"/>
              <a:chOff x="7267300" y="-366311"/>
              <a:chExt cx="2456449" cy="1917411"/>
            </a:xfrm>
          </p:grpSpPr>
          <p:sp>
            <p:nvSpPr>
              <p:cNvPr id="440" name="Google Shape;440;p26"/>
              <p:cNvSpPr/>
              <p:nvPr/>
            </p:nvSpPr>
            <p:spPr>
              <a:xfrm rot="-5400000" flipH="1">
                <a:off x="7653475" y="-500"/>
                <a:ext cx="1554600" cy="15486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26"/>
              <p:cNvSpPr/>
              <p:nvPr/>
            </p:nvSpPr>
            <p:spPr>
              <a:xfrm rot="2699366" flipH="1">
                <a:off x="8648903" y="642478"/>
                <a:ext cx="1150392" cy="262619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26"/>
              <p:cNvSpPr/>
              <p:nvPr/>
            </p:nvSpPr>
            <p:spPr>
              <a:xfrm>
                <a:off x="7719598" y="153426"/>
                <a:ext cx="1309800" cy="13098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lg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26"/>
              <p:cNvSpPr/>
              <p:nvPr/>
            </p:nvSpPr>
            <p:spPr>
              <a:xfrm rot="2699336" flipH="1">
                <a:off x="7177884" y="-7536"/>
                <a:ext cx="1098632" cy="20195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50B3DB-0169-4789-932C-53369C893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02E0A4-432C-4324-BD9D-918504F1E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984FF9-912C-48B0-B302-1448F6BBC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ABF4F-C4EC-4D2D-9D34-D38DE1DE1CFD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213075-456C-4BA9-8EDF-B28A5E3C6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CAB0A7-1CC8-45EA-944B-C6BAED6B4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4B53A-A2EF-49F1-BBC3-56318C8CAF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7365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46326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5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94" name="Google Shape;394;p24"/>
          <p:cNvSpPr txBox="1">
            <a:spLocks noGrp="1"/>
          </p:cNvSpPr>
          <p:nvPr>
            <p:ph type="subTitle" idx="1"/>
          </p:nvPr>
        </p:nvSpPr>
        <p:spPr>
          <a:xfrm>
            <a:off x="713225" y="1797375"/>
            <a:ext cx="46326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5" name="Google Shape;395;p24"/>
          <p:cNvSpPr>
            <a:spLocks noGrp="1"/>
          </p:cNvSpPr>
          <p:nvPr>
            <p:ph type="pic" idx="2"/>
          </p:nvPr>
        </p:nvSpPr>
        <p:spPr>
          <a:xfrm>
            <a:off x="5397500" y="1055100"/>
            <a:ext cx="3033300" cy="3033300"/>
          </a:xfrm>
          <a:prstGeom prst="ellipse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396" name="Google Shape;396;p24"/>
          <p:cNvGrpSpPr/>
          <p:nvPr/>
        </p:nvGrpSpPr>
        <p:grpSpPr>
          <a:xfrm>
            <a:off x="5143404" y="399825"/>
            <a:ext cx="1309796" cy="257750"/>
            <a:chOff x="-6337521" y="4362225"/>
            <a:chExt cx="1309796" cy="257750"/>
          </a:xfrm>
        </p:grpSpPr>
        <p:sp>
          <p:nvSpPr>
            <p:cNvPr id="397" name="Google Shape;397;p24"/>
            <p:cNvSpPr/>
            <p:nvPr/>
          </p:nvSpPr>
          <p:spPr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4"/>
            <p:cNvSpPr/>
            <p:nvPr/>
          </p:nvSpPr>
          <p:spPr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4"/>
            <p:cNvSpPr/>
            <p:nvPr/>
          </p:nvSpPr>
          <p:spPr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4"/>
            <p:cNvSpPr/>
            <p:nvPr/>
          </p:nvSpPr>
          <p:spPr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4"/>
            <p:cNvSpPr/>
            <p:nvPr/>
          </p:nvSpPr>
          <p:spPr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4"/>
            <p:cNvSpPr/>
            <p:nvPr/>
          </p:nvSpPr>
          <p:spPr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4"/>
            <p:cNvSpPr/>
            <p:nvPr/>
          </p:nvSpPr>
          <p:spPr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4"/>
            <p:cNvSpPr/>
            <p:nvPr/>
          </p:nvSpPr>
          <p:spPr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4"/>
            <p:cNvSpPr/>
            <p:nvPr/>
          </p:nvSpPr>
          <p:spPr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4"/>
            <p:cNvSpPr/>
            <p:nvPr/>
          </p:nvSpPr>
          <p:spPr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7" name="Google Shape;407;p24"/>
          <p:cNvSpPr txBox="1"/>
          <p:nvPr/>
        </p:nvSpPr>
        <p:spPr>
          <a:xfrm>
            <a:off x="713225" y="3644075"/>
            <a:ext cx="3605100" cy="6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CREDITS:</a:t>
            </a:r>
            <a:r>
              <a:rPr lang="en"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This presentation template was created by </a:t>
            </a:r>
            <a:r>
              <a:rPr lang="en" sz="1000" b="1" u="sng">
                <a:solidFill>
                  <a:schemeClr val="hlink"/>
                </a:solidFill>
                <a:latin typeface="Manrope"/>
                <a:ea typeface="Manrope"/>
                <a:cs typeface="Manrope"/>
                <a:sym typeface="Manrope"/>
                <a:hlinkClick r:id="rId2"/>
              </a:rPr>
              <a:t>Slidesgo</a:t>
            </a:r>
            <a:r>
              <a:rPr lang="en"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, and includes icons by </a:t>
            </a:r>
            <a:r>
              <a:rPr lang="en" sz="1000" b="1" u="sng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, and infographics &amp; images by </a:t>
            </a:r>
            <a:r>
              <a:rPr lang="en" sz="1000" b="1" u="sng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endParaRPr sz="1000" b="1" u="sng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1133056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5956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080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○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■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○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■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○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■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71" r:id="rId2"/>
    <p:sldLayoutId id="2147483672" r:id="rId3"/>
    <p:sldLayoutId id="2147483677" r:id="rId4"/>
    <p:sldLayoutId id="2147483678" r:id="rId5"/>
    <p:sldLayoutId id="2147483679" r:id="rId6"/>
    <p:sldLayoutId id="2147483680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0"/>
          <p:cNvSpPr txBox="1">
            <a:spLocks noGrp="1"/>
          </p:cNvSpPr>
          <p:nvPr>
            <p:ph type="ctrTitle"/>
          </p:nvPr>
        </p:nvSpPr>
        <p:spPr>
          <a:xfrm>
            <a:off x="1396086" y="1473800"/>
            <a:ext cx="6118996" cy="53996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2400" b="1" dirty="0">
                <a:latin typeface="+mj-lt"/>
                <a:cs typeface="Arial"/>
                <a:sym typeface="Arial"/>
              </a:rPr>
              <a:t>Professional English</a:t>
            </a:r>
            <a:endParaRPr dirty="0">
              <a:latin typeface="+mj-lt"/>
              <a:ea typeface="Archivo"/>
              <a:cs typeface="Archivo"/>
              <a:sym typeface="Archivo"/>
            </a:endParaRPr>
          </a:p>
        </p:txBody>
      </p:sp>
      <p:grpSp>
        <p:nvGrpSpPr>
          <p:cNvPr id="456" name="Google Shape;456;p30"/>
          <p:cNvGrpSpPr/>
          <p:nvPr/>
        </p:nvGrpSpPr>
        <p:grpSpPr>
          <a:xfrm>
            <a:off x="5607049" y="3210686"/>
            <a:ext cx="3573629" cy="2040384"/>
            <a:chOff x="4714200" y="683716"/>
            <a:chExt cx="4429800" cy="4466709"/>
          </a:xfrm>
        </p:grpSpPr>
        <p:sp>
          <p:nvSpPr>
            <p:cNvPr id="457" name="Google Shape;457;p30"/>
            <p:cNvSpPr/>
            <p:nvPr/>
          </p:nvSpPr>
          <p:spPr>
            <a:xfrm flipH="1">
              <a:off x="4714200" y="783325"/>
              <a:ext cx="4429800" cy="43671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0"/>
            <p:cNvSpPr/>
            <p:nvPr/>
          </p:nvSpPr>
          <p:spPr>
            <a:xfrm rot="-2700000">
              <a:off x="7675121" y="1303413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0"/>
            <p:cNvSpPr/>
            <p:nvPr/>
          </p:nvSpPr>
          <p:spPr>
            <a:xfrm rot="-2699590">
              <a:off x="4984509" y="3275203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0"/>
            <p:cNvSpPr/>
            <p:nvPr/>
          </p:nvSpPr>
          <p:spPr>
            <a:xfrm rot="-2699590">
              <a:off x="7108289" y="2092651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0"/>
            <p:cNvSpPr/>
            <p:nvPr/>
          </p:nvSpPr>
          <p:spPr>
            <a:xfrm rot="-2699590">
              <a:off x="6792716" y="1243005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0"/>
            <p:cNvSpPr/>
            <p:nvPr/>
          </p:nvSpPr>
          <p:spPr>
            <a:xfrm rot="-2699590">
              <a:off x="5127485" y="3849460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3" name="Google Shape;463;p30"/>
          <p:cNvGrpSpPr/>
          <p:nvPr/>
        </p:nvGrpSpPr>
        <p:grpSpPr>
          <a:xfrm>
            <a:off x="364202" y="4683792"/>
            <a:ext cx="1309796" cy="257750"/>
            <a:chOff x="-6337521" y="4362225"/>
            <a:chExt cx="1309796" cy="257750"/>
          </a:xfrm>
        </p:grpSpPr>
        <p:sp>
          <p:nvSpPr>
            <p:cNvPr id="464" name="Google Shape;464;p30"/>
            <p:cNvSpPr/>
            <p:nvPr/>
          </p:nvSpPr>
          <p:spPr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0"/>
            <p:cNvSpPr/>
            <p:nvPr/>
          </p:nvSpPr>
          <p:spPr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0"/>
            <p:cNvSpPr/>
            <p:nvPr/>
          </p:nvSpPr>
          <p:spPr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0"/>
            <p:cNvSpPr/>
            <p:nvPr/>
          </p:nvSpPr>
          <p:spPr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0"/>
            <p:cNvSpPr/>
            <p:nvPr/>
          </p:nvSpPr>
          <p:spPr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0"/>
            <p:cNvSpPr/>
            <p:nvPr/>
          </p:nvSpPr>
          <p:spPr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0"/>
            <p:cNvSpPr/>
            <p:nvPr/>
          </p:nvSpPr>
          <p:spPr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0"/>
            <p:cNvSpPr/>
            <p:nvPr/>
          </p:nvSpPr>
          <p:spPr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0"/>
            <p:cNvSpPr/>
            <p:nvPr/>
          </p:nvSpPr>
          <p:spPr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0"/>
            <p:cNvSpPr/>
            <p:nvPr/>
          </p:nvSpPr>
          <p:spPr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5" name="Google Shape;475;p30"/>
          <p:cNvGrpSpPr/>
          <p:nvPr/>
        </p:nvGrpSpPr>
        <p:grpSpPr>
          <a:xfrm>
            <a:off x="4657545" y="2821042"/>
            <a:ext cx="2188531" cy="1862750"/>
            <a:chOff x="4643689" y="2814981"/>
            <a:chExt cx="2188531" cy="1862750"/>
          </a:xfrm>
        </p:grpSpPr>
        <p:sp>
          <p:nvSpPr>
            <p:cNvPr id="476" name="Google Shape;476;p30"/>
            <p:cNvSpPr/>
            <p:nvPr/>
          </p:nvSpPr>
          <p:spPr>
            <a:xfrm rot="-2700000">
              <a:off x="5941284" y="4227394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0"/>
            <p:cNvSpPr/>
            <p:nvPr/>
          </p:nvSpPr>
          <p:spPr>
            <a:xfrm>
              <a:off x="4643689" y="2814981"/>
              <a:ext cx="1596600" cy="15966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45A36542-E184-43E2-9F67-6FA861852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222" y="201958"/>
            <a:ext cx="1866652" cy="707886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9429985-1F92-48CE-B4E1-0C31D908D9EC}"/>
              </a:ext>
            </a:extLst>
          </p:cNvPr>
          <p:cNvSpPr txBox="1"/>
          <p:nvPr/>
        </p:nvSpPr>
        <p:spPr>
          <a:xfrm>
            <a:off x="1854176" y="20195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dk1"/>
                </a:solidFill>
                <a:latin typeface="+mj-lt"/>
              </a:rPr>
              <a:t>School of General Education Disciplines</a:t>
            </a:r>
            <a:endParaRPr lang="ru-RU" sz="1800" b="1" dirty="0">
              <a:solidFill>
                <a:schemeClr val="dk1"/>
              </a:solidFill>
              <a:latin typeface="+mj-lt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4204699-334A-4231-ADE7-6EBEE95E2784}"/>
              </a:ext>
            </a:extLst>
          </p:cNvPr>
          <p:cNvSpPr txBox="1"/>
          <p:nvPr/>
        </p:nvSpPr>
        <p:spPr>
          <a:xfrm>
            <a:off x="1600198" y="2254075"/>
            <a:ext cx="630954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chivo Black"/>
              </a:rPr>
              <a:t>Topic: SDGs: Brainstorming creative solutions</a:t>
            </a:r>
          </a:p>
          <a:p>
            <a:pPr algn="ctr">
              <a:spcBef>
                <a:spcPts val="0"/>
              </a:spcBef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chivo Black"/>
              </a:rPr>
              <a:t>Week 2. Practice 1-2</a:t>
            </a:r>
          </a:p>
          <a:p>
            <a:pPr algn="ctr">
              <a:spcBef>
                <a:spcPts val="0"/>
              </a:spcBef>
            </a:pPr>
            <a:endParaRPr lang="en-US" sz="2000" b="1" dirty="0">
              <a:solidFill>
                <a:schemeClr val="dk1"/>
              </a:solidFill>
              <a:latin typeface="Manrope"/>
              <a:sym typeface="Archivo Black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C040873-05A0-48D3-948B-0E33F2B73810}"/>
              </a:ext>
            </a:extLst>
          </p:cNvPr>
          <p:cNvSpPr txBox="1"/>
          <p:nvPr/>
        </p:nvSpPr>
        <p:spPr>
          <a:xfrm>
            <a:off x="3308087" y="4680467"/>
            <a:ext cx="19211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dk1"/>
                </a:solidFill>
                <a:latin typeface="+mj-lt"/>
              </a:rPr>
              <a:t>Term 1, 2026-2027</a:t>
            </a:r>
            <a:endParaRPr lang="ru-RU" dirty="0">
              <a:solidFill>
                <a:schemeClr val="dk1"/>
              </a:solidFill>
              <a:latin typeface="+mj-lt"/>
            </a:endParaRPr>
          </a:p>
        </p:txBody>
      </p:sp>
      <p:grpSp>
        <p:nvGrpSpPr>
          <p:cNvPr id="36" name="Google Shape;463;p30">
            <a:extLst>
              <a:ext uri="{FF2B5EF4-FFF2-40B4-BE49-F238E27FC236}">
                <a16:creationId xmlns:a16="http://schemas.microsoft.com/office/drawing/2014/main" id="{9AA64F19-2EB3-4D7A-A00C-63540B17BA10}"/>
              </a:ext>
            </a:extLst>
          </p:cNvPr>
          <p:cNvGrpSpPr/>
          <p:nvPr/>
        </p:nvGrpSpPr>
        <p:grpSpPr>
          <a:xfrm>
            <a:off x="7631834" y="281790"/>
            <a:ext cx="1309796" cy="257750"/>
            <a:chOff x="-6337521" y="4362225"/>
            <a:chExt cx="1309796" cy="257750"/>
          </a:xfrm>
        </p:grpSpPr>
        <p:sp>
          <p:nvSpPr>
            <p:cNvPr id="37" name="Google Shape;464;p30">
              <a:extLst>
                <a:ext uri="{FF2B5EF4-FFF2-40B4-BE49-F238E27FC236}">
                  <a16:creationId xmlns:a16="http://schemas.microsoft.com/office/drawing/2014/main" id="{BF084F08-EE42-483A-B877-BF6C5C0F693F}"/>
                </a:ext>
              </a:extLst>
            </p:cNvPr>
            <p:cNvSpPr/>
            <p:nvPr/>
          </p:nvSpPr>
          <p:spPr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465;p30">
              <a:extLst>
                <a:ext uri="{FF2B5EF4-FFF2-40B4-BE49-F238E27FC236}">
                  <a16:creationId xmlns:a16="http://schemas.microsoft.com/office/drawing/2014/main" id="{65320DD0-0A16-401B-BFB3-A5D80EAA88BD}"/>
                </a:ext>
              </a:extLst>
            </p:cNvPr>
            <p:cNvSpPr/>
            <p:nvPr/>
          </p:nvSpPr>
          <p:spPr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466;p30">
              <a:extLst>
                <a:ext uri="{FF2B5EF4-FFF2-40B4-BE49-F238E27FC236}">
                  <a16:creationId xmlns:a16="http://schemas.microsoft.com/office/drawing/2014/main" id="{5D8F0CC4-FBFC-46FA-B94E-98DC7C7A1218}"/>
                </a:ext>
              </a:extLst>
            </p:cNvPr>
            <p:cNvSpPr/>
            <p:nvPr/>
          </p:nvSpPr>
          <p:spPr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67;p30">
              <a:extLst>
                <a:ext uri="{FF2B5EF4-FFF2-40B4-BE49-F238E27FC236}">
                  <a16:creationId xmlns:a16="http://schemas.microsoft.com/office/drawing/2014/main" id="{F13D0712-F8A6-4F4C-9F32-87934B2CB984}"/>
                </a:ext>
              </a:extLst>
            </p:cNvPr>
            <p:cNvSpPr/>
            <p:nvPr/>
          </p:nvSpPr>
          <p:spPr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68;p30">
              <a:extLst>
                <a:ext uri="{FF2B5EF4-FFF2-40B4-BE49-F238E27FC236}">
                  <a16:creationId xmlns:a16="http://schemas.microsoft.com/office/drawing/2014/main" id="{331FB7EF-2B92-4D64-B1F9-CAACB401C608}"/>
                </a:ext>
              </a:extLst>
            </p:cNvPr>
            <p:cNvSpPr/>
            <p:nvPr/>
          </p:nvSpPr>
          <p:spPr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69;p30">
              <a:extLst>
                <a:ext uri="{FF2B5EF4-FFF2-40B4-BE49-F238E27FC236}">
                  <a16:creationId xmlns:a16="http://schemas.microsoft.com/office/drawing/2014/main" id="{48F032FD-0CD0-4BD3-9913-C378E1F13D2A}"/>
                </a:ext>
              </a:extLst>
            </p:cNvPr>
            <p:cNvSpPr/>
            <p:nvPr/>
          </p:nvSpPr>
          <p:spPr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70;p30">
              <a:extLst>
                <a:ext uri="{FF2B5EF4-FFF2-40B4-BE49-F238E27FC236}">
                  <a16:creationId xmlns:a16="http://schemas.microsoft.com/office/drawing/2014/main" id="{5EB36C8C-CCA9-46BB-B52C-FAE79CD7462B}"/>
                </a:ext>
              </a:extLst>
            </p:cNvPr>
            <p:cNvSpPr/>
            <p:nvPr/>
          </p:nvSpPr>
          <p:spPr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71;p30">
              <a:extLst>
                <a:ext uri="{FF2B5EF4-FFF2-40B4-BE49-F238E27FC236}">
                  <a16:creationId xmlns:a16="http://schemas.microsoft.com/office/drawing/2014/main" id="{CB597D05-D27B-48B4-89D6-BC0604DF3B1F}"/>
                </a:ext>
              </a:extLst>
            </p:cNvPr>
            <p:cNvSpPr/>
            <p:nvPr/>
          </p:nvSpPr>
          <p:spPr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72;p30">
              <a:extLst>
                <a:ext uri="{FF2B5EF4-FFF2-40B4-BE49-F238E27FC236}">
                  <a16:creationId xmlns:a16="http://schemas.microsoft.com/office/drawing/2014/main" id="{8645FF52-E060-4B49-B0DF-3B4CC44FC3FA}"/>
                </a:ext>
              </a:extLst>
            </p:cNvPr>
            <p:cNvSpPr/>
            <p:nvPr/>
          </p:nvSpPr>
          <p:spPr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73;p30">
              <a:extLst>
                <a:ext uri="{FF2B5EF4-FFF2-40B4-BE49-F238E27FC236}">
                  <a16:creationId xmlns:a16="http://schemas.microsoft.com/office/drawing/2014/main" id="{AA73C6DC-430E-4CED-94F8-E180C997AED9}"/>
                </a:ext>
              </a:extLst>
            </p:cNvPr>
            <p:cNvSpPr/>
            <p:nvPr/>
          </p:nvSpPr>
          <p:spPr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53ADF9-F973-4F83-A58A-CE348DB36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j-lt"/>
              </a:rPr>
              <a:t>Objectives </a:t>
            </a:r>
            <a:endParaRPr lang="ru-RU" dirty="0">
              <a:latin typeface="+mj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337770-BD20-44E4-8AF6-CF7863B66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314" y="1183376"/>
            <a:ext cx="7886700" cy="2464047"/>
          </a:xfrm>
        </p:spPr>
        <p:txBody>
          <a:bodyPr/>
          <a:lstStyle/>
          <a:p>
            <a:pPr marL="0" indent="0"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able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and discuss creative solutions to SDG-related challenges through collaborative brainstorming and mind mapping;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key elements of an academic research article, including the research problem, aim, method, findings, and contribution;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 and evaluate research findings;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academic and professional vocabulary to discuss SDG issues and research evidence.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oogle Shape;463;p30">
            <a:extLst>
              <a:ext uri="{FF2B5EF4-FFF2-40B4-BE49-F238E27FC236}">
                <a16:creationId xmlns:a16="http://schemas.microsoft.com/office/drawing/2014/main" id="{5919F4AD-1387-46F3-A10E-0C1F5AE2F9A8}"/>
              </a:ext>
            </a:extLst>
          </p:cNvPr>
          <p:cNvGrpSpPr/>
          <p:nvPr/>
        </p:nvGrpSpPr>
        <p:grpSpPr>
          <a:xfrm>
            <a:off x="364202" y="4683792"/>
            <a:ext cx="1309796" cy="257750"/>
            <a:chOff x="-6337521" y="4362225"/>
            <a:chExt cx="1309796" cy="257750"/>
          </a:xfrm>
        </p:grpSpPr>
        <p:sp>
          <p:nvSpPr>
            <p:cNvPr id="5" name="Google Shape;464;p30">
              <a:extLst>
                <a:ext uri="{FF2B5EF4-FFF2-40B4-BE49-F238E27FC236}">
                  <a16:creationId xmlns:a16="http://schemas.microsoft.com/office/drawing/2014/main" id="{8DA9DE98-3EBB-4912-BAC9-F42C4CBCD20A}"/>
                </a:ext>
              </a:extLst>
            </p:cNvPr>
            <p:cNvSpPr/>
            <p:nvPr/>
          </p:nvSpPr>
          <p:spPr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465;p30">
              <a:extLst>
                <a:ext uri="{FF2B5EF4-FFF2-40B4-BE49-F238E27FC236}">
                  <a16:creationId xmlns:a16="http://schemas.microsoft.com/office/drawing/2014/main" id="{1395F760-9F75-4C9E-9AA2-BB631EDF5C4A}"/>
                </a:ext>
              </a:extLst>
            </p:cNvPr>
            <p:cNvSpPr/>
            <p:nvPr/>
          </p:nvSpPr>
          <p:spPr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466;p30">
              <a:extLst>
                <a:ext uri="{FF2B5EF4-FFF2-40B4-BE49-F238E27FC236}">
                  <a16:creationId xmlns:a16="http://schemas.microsoft.com/office/drawing/2014/main" id="{6D073784-F1EE-4E5F-A1AA-C97F49EDC442}"/>
                </a:ext>
              </a:extLst>
            </p:cNvPr>
            <p:cNvSpPr/>
            <p:nvPr/>
          </p:nvSpPr>
          <p:spPr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467;p30">
              <a:extLst>
                <a:ext uri="{FF2B5EF4-FFF2-40B4-BE49-F238E27FC236}">
                  <a16:creationId xmlns:a16="http://schemas.microsoft.com/office/drawing/2014/main" id="{B1AE6ED2-F410-4CD3-BB8B-0BD8E8505130}"/>
                </a:ext>
              </a:extLst>
            </p:cNvPr>
            <p:cNvSpPr/>
            <p:nvPr/>
          </p:nvSpPr>
          <p:spPr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468;p30">
              <a:extLst>
                <a:ext uri="{FF2B5EF4-FFF2-40B4-BE49-F238E27FC236}">
                  <a16:creationId xmlns:a16="http://schemas.microsoft.com/office/drawing/2014/main" id="{7CC7114B-4ABD-426D-8B88-555344E78074}"/>
                </a:ext>
              </a:extLst>
            </p:cNvPr>
            <p:cNvSpPr/>
            <p:nvPr/>
          </p:nvSpPr>
          <p:spPr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469;p30">
              <a:extLst>
                <a:ext uri="{FF2B5EF4-FFF2-40B4-BE49-F238E27FC236}">
                  <a16:creationId xmlns:a16="http://schemas.microsoft.com/office/drawing/2014/main" id="{5B0A73B1-457F-438E-84A8-AA5838FF9BC0}"/>
                </a:ext>
              </a:extLst>
            </p:cNvPr>
            <p:cNvSpPr/>
            <p:nvPr/>
          </p:nvSpPr>
          <p:spPr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470;p30">
              <a:extLst>
                <a:ext uri="{FF2B5EF4-FFF2-40B4-BE49-F238E27FC236}">
                  <a16:creationId xmlns:a16="http://schemas.microsoft.com/office/drawing/2014/main" id="{1B659A69-332A-42A9-9D49-140258653957}"/>
                </a:ext>
              </a:extLst>
            </p:cNvPr>
            <p:cNvSpPr/>
            <p:nvPr/>
          </p:nvSpPr>
          <p:spPr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471;p30">
              <a:extLst>
                <a:ext uri="{FF2B5EF4-FFF2-40B4-BE49-F238E27FC236}">
                  <a16:creationId xmlns:a16="http://schemas.microsoft.com/office/drawing/2014/main" id="{6E4D4BFC-B392-4A16-ABC6-3607AA3F8457}"/>
                </a:ext>
              </a:extLst>
            </p:cNvPr>
            <p:cNvSpPr/>
            <p:nvPr/>
          </p:nvSpPr>
          <p:spPr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472;p30">
              <a:extLst>
                <a:ext uri="{FF2B5EF4-FFF2-40B4-BE49-F238E27FC236}">
                  <a16:creationId xmlns:a16="http://schemas.microsoft.com/office/drawing/2014/main" id="{22316CB3-FA12-4268-B11A-A054B12DD151}"/>
                </a:ext>
              </a:extLst>
            </p:cNvPr>
            <p:cNvSpPr/>
            <p:nvPr/>
          </p:nvSpPr>
          <p:spPr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473;p30">
              <a:extLst>
                <a:ext uri="{FF2B5EF4-FFF2-40B4-BE49-F238E27FC236}">
                  <a16:creationId xmlns:a16="http://schemas.microsoft.com/office/drawing/2014/main" id="{A2D8F7FD-8E69-4990-AEE3-09C1C8D9984E}"/>
                </a:ext>
              </a:extLst>
            </p:cNvPr>
            <p:cNvSpPr/>
            <p:nvPr/>
          </p:nvSpPr>
          <p:spPr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456;p30">
            <a:extLst>
              <a:ext uri="{FF2B5EF4-FFF2-40B4-BE49-F238E27FC236}">
                <a16:creationId xmlns:a16="http://schemas.microsoft.com/office/drawing/2014/main" id="{C354D554-89C6-498C-BEC4-4ED63B2710FB}"/>
              </a:ext>
            </a:extLst>
          </p:cNvPr>
          <p:cNvGrpSpPr/>
          <p:nvPr/>
        </p:nvGrpSpPr>
        <p:grpSpPr>
          <a:xfrm rot="16200000">
            <a:off x="7365694" y="-144521"/>
            <a:ext cx="1633786" cy="1922827"/>
            <a:chOff x="4714200" y="683716"/>
            <a:chExt cx="4429800" cy="4466709"/>
          </a:xfrm>
        </p:grpSpPr>
        <p:sp>
          <p:nvSpPr>
            <p:cNvPr id="27" name="Google Shape;457;p30">
              <a:extLst>
                <a:ext uri="{FF2B5EF4-FFF2-40B4-BE49-F238E27FC236}">
                  <a16:creationId xmlns:a16="http://schemas.microsoft.com/office/drawing/2014/main" id="{CEBCD461-A415-4E7B-A843-ABC13332060E}"/>
                </a:ext>
              </a:extLst>
            </p:cNvPr>
            <p:cNvSpPr/>
            <p:nvPr/>
          </p:nvSpPr>
          <p:spPr>
            <a:xfrm flipH="1">
              <a:off x="4714200" y="783325"/>
              <a:ext cx="4429800" cy="43671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458;p30">
              <a:extLst>
                <a:ext uri="{FF2B5EF4-FFF2-40B4-BE49-F238E27FC236}">
                  <a16:creationId xmlns:a16="http://schemas.microsoft.com/office/drawing/2014/main" id="{36F3970D-E583-417B-BB1F-C1B5A64ACD16}"/>
                </a:ext>
              </a:extLst>
            </p:cNvPr>
            <p:cNvSpPr/>
            <p:nvPr/>
          </p:nvSpPr>
          <p:spPr>
            <a:xfrm rot="-2700000">
              <a:off x="7675121" y="1303413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459;p30">
              <a:extLst>
                <a:ext uri="{FF2B5EF4-FFF2-40B4-BE49-F238E27FC236}">
                  <a16:creationId xmlns:a16="http://schemas.microsoft.com/office/drawing/2014/main" id="{AC66DEEE-826D-48E9-B4F5-7FFC14B45769}"/>
                </a:ext>
              </a:extLst>
            </p:cNvPr>
            <p:cNvSpPr/>
            <p:nvPr/>
          </p:nvSpPr>
          <p:spPr>
            <a:xfrm rot="-2699590">
              <a:off x="4984509" y="3275203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460;p30">
              <a:extLst>
                <a:ext uri="{FF2B5EF4-FFF2-40B4-BE49-F238E27FC236}">
                  <a16:creationId xmlns:a16="http://schemas.microsoft.com/office/drawing/2014/main" id="{A2E1F348-C259-4DFE-B241-2087F7A4D900}"/>
                </a:ext>
              </a:extLst>
            </p:cNvPr>
            <p:cNvSpPr/>
            <p:nvPr/>
          </p:nvSpPr>
          <p:spPr>
            <a:xfrm rot="-2699590">
              <a:off x="7108289" y="2092651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461;p30">
              <a:extLst>
                <a:ext uri="{FF2B5EF4-FFF2-40B4-BE49-F238E27FC236}">
                  <a16:creationId xmlns:a16="http://schemas.microsoft.com/office/drawing/2014/main" id="{CB7843CC-73B5-4D8A-B5A1-D736CF34F006}"/>
                </a:ext>
              </a:extLst>
            </p:cNvPr>
            <p:cNvSpPr/>
            <p:nvPr/>
          </p:nvSpPr>
          <p:spPr>
            <a:xfrm rot="-2699590">
              <a:off x="6792716" y="1243005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462;p30">
              <a:extLst>
                <a:ext uri="{FF2B5EF4-FFF2-40B4-BE49-F238E27FC236}">
                  <a16:creationId xmlns:a16="http://schemas.microsoft.com/office/drawing/2014/main" id="{D35F84B9-B6D7-4BF6-9F25-978B0ADF45EF}"/>
                </a:ext>
              </a:extLst>
            </p:cNvPr>
            <p:cNvSpPr/>
            <p:nvPr/>
          </p:nvSpPr>
          <p:spPr>
            <a:xfrm rot="-2699590">
              <a:off x="5127485" y="3849460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" name="Google Shape;463;p30">
            <a:extLst>
              <a:ext uri="{FF2B5EF4-FFF2-40B4-BE49-F238E27FC236}">
                <a16:creationId xmlns:a16="http://schemas.microsoft.com/office/drawing/2014/main" id="{51BB0CBE-F47D-492A-9B12-39619D0E95B9}"/>
              </a:ext>
            </a:extLst>
          </p:cNvPr>
          <p:cNvGrpSpPr/>
          <p:nvPr/>
        </p:nvGrpSpPr>
        <p:grpSpPr>
          <a:xfrm>
            <a:off x="7616852" y="4775767"/>
            <a:ext cx="1309796" cy="257750"/>
            <a:chOff x="-6337521" y="4362225"/>
            <a:chExt cx="1309796" cy="257750"/>
          </a:xfrm>
        </p:grpSpPr>
        <p:sp>
          <p:nvSpPr>
            <p:cNvPr id="34" name="Google Shape;464;p30">
              <a:extLst>
                <a:ext uri="{FF2B5EF4-FFF2-40B4-BE49-F238E27FC236}">
                  <a16:creationId xmlns:a16="http://schemas.microsoft.com/office/drawing/2014/main" id="{5695E5D3-1492-4357-B963-076131C053E4}"/>
                </a:ext>
              </a:extLst>
            </p:cNvPr>
            <p:cNvSpPr/>
            <p:nvPr/>
          </p:nvSpPr>
          <p:spPr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465;p30">
              <a:extLst>
                <a:ext uri="{FF2B5EF4-FFF2-40B4-BE49-F238E27FC236}">
                  <a16:creationId xmlns:a16="http://schemas.microsoft.com/office/drawing/2014/main" id="{BA610B29-7E21-463D-A1EC-554C58C67767}"/>
                </a:ext>
              </a:extLst>
            </p:cNvPr>
            <p:cNvSpPr/>
            <p:nvPr/>
          </p:nvSpPr>
          <p:spPr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466;p30">
              <a:extLst>
                <a:ext uri="{FF2B5EF4-FFF2-40B4-BE49-F238E27FC236}">
                  <a16:creationId xmlns:a16="http://schemas.microsoft.com/office/drawing/2014/main" id="{AC04928F-7345-4AE1-8A1A-2DEC4A8BB843}"/>
                </a:ext>
              </a:extLst>
            </p:cNvPr>
            <p:cNvSpPr/>
            <p:nvPr/>
          </p:nvSpPr>
          <p:spPr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467;p30">
              <a:extLst>
                <a:ext uri="{FF2B5EF4-FFF2-40B4-BE49-F238E27FC236}">
                  <a16:creationId xmlns:a16="http://schemas.microsoft.com/office/drawing/2014/main" id="{EE2193A7-4D42-4BF0-917E-63F7FE90BBD0}"/>
                </a:ext>
              </a:extLst>
            </p:cNvPr>
            <p:cNvSpPr/>
            <p:nvPr/>
          </p:nvSpPr>
          <p:spPr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468;p30">
              <a:extLst>
                <a:ext uri="{FF2B5EF4-FFF2-40B4-BE49-F238E27FC236}">
                  <a16:creationId xmlns:a16="http://schemas.microsoft.com/office/drawing/2014/main" id="{27F7054D-44C7-422A-AF9F-E7E425E7AB0F}"/>
                </a:ext>
              </a:extLst>
            </p:cNvPr>
            <p:cNvSpPr/>
            <p:nvPr/>
          </p:nvSpPr>
          <p:spPr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469;p30">
              <a:extLst>
                <a:ext uri="{FF2B5EF4-FFF2-40B4-BE49-F238E27FC236}">
                  <a16:creationId xmlns:a16="http://schemas.microsoft.com/office/drawing/2014/main" id="{D4008EA9-D12E-4F63-A351-B03DEDAC3FF8}"/>
                </a:ext>
              </a:extLst>
            </p:cNvPr>
            <p:cNvSpPr/>
            <p:nvPr/>
          </p:nvSpPr>
          <p:spPr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70;p30">
              <a:extLst>
                <a:ext uri="{FF2B5EF4-FFF2-40B4-BE49-F238E27FC236}">
                  <a16:creationId xmlns:a16="http://schemas.microsoft.com/office/drawing/2014/main" id="{31451310-91F2-4DAC-83EA-ADFAF4979A27}"/>
                </a:ext>
              </a:extLst>
            </p:cNvPr>
            <p:cNvSpPr/>
            <p:nvPr/>
          </p:nvSpPr>
          <p:spPr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71;p30">
              <a:extLst>
                <a:ext uri="{FF2B5EF4-FFF2-40B4-BE49-F238E27FC236}">
                  <a16:creationId xmlns:a16="http://schemas.microsoft.com/office/drawing/2014/main" id="{E3DD9F52-D448-4203-8F16-6FC94A7D4286}"/>
                </a:ext>
              </a:extLst>
            </p:cNvPr>
            <p:cNvSpPr/>
            <p:nvPr/>
          </p:nvSpPr>
          <p:spPr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72;p30">
              <a:extLst>
                <a:ext uri="{FF2B5EF4-FFF2-40B4-BE49-F238E27FC236}">
                  <a16:creationId xmlns:a16="http://schemas.microsoft.com/office/drawing/2014/main" id="{4841CDD8-C6F9-4CE7-AF65-D142B70DBC2F}"/>
                </a:ext>
              </a:extLst>
            </p:cNvPr>
            <p:cNvSpPr/>
            <p:nvPr/>
          </p:nvSpPr>
          <p:spPr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73;p30">
              <a:extLst>
                <a:ext uri="{FF2B5EF4-FFF2-40B4-BE49-F238E27FC236}">
                  <a16:creationId xmlns:a16="http://schemas.microsoft.com/office/drawing/2014/main" id="{BA10C63F-D7C0-4187-A532-6E8857145E04}"/>
                </a:ext>
              </a:extLst>
            </p:cNvPr>
            <p:cNvSpPr/>
            <p:nvPr/>
          </p:nvSpPr>
          <p:spPr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1568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5D7468-2D54-485C-9789-97893E847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50" y="280908"/>
            <a:ext cx="7717500" cy="572700"/>
          </a:xfrm>
        </p:spPr>
        <p:txBody>
          <a:bodyPr>
            <a:normAutofit fontScale="90000"/>
          </a:bodyPr>
          <a:lstStyle/>
          <a:p>
            <a:r>
              <a:rPr lang="en-US" sz="2900" dirty="0">
                <a:latin typeface="+mj-lt"/>
              </a:rPr>
              <a:t>Warm up</a:t>
            </a:r>
            <a:endParaRPr lang="ru-RU" sz="2900" dirty="0">
              <a:latin typeface="+mj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B3A860-7962-441A-A29A-B6791E063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402" y="1028177"/>
            <a:ext cx="8254044" cy="3087145"/>
          </a:xfrm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in pairs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Imagine the UN had asked you to design the SDGs.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are allowed to add one goal that you believe is missing.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your goal a title in no more than five words.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why your goal is necessary. </a:t>
            </a:r>
            <a:endParaRPr lang="ru-RU" sz="2000" dirty="0"/>
          </a:p>
        </p:txBody>
      </p:sp>
      <p:grpSp>
        <p:nvGrpSpPr>
          <p:cNvPr id="4" name="Google Shape;463;p30">
            <a:extLst>
              <a:ext uri="{FF2B5EF4-FFF2-40B4-BE49-F238E27FC236}">
                <a16:creationId xmlns:a16="http://schemas.microsoft.com/office/drawing/2014/main" id="{DF221EA3-036A-4778-9186-0D8F790DD368}"/>
              </a:ext>
            </a:extLst>
          </p:cNvPr>
          <p:cNvGrpSpPr/>
          <p:nvPr/>
        </p:nvGrpSpPr>
        <p:grpSpPr>
          <a:xfrm>
            <a:off x="364202" y="4683792"/>
            <a:ext cx="1309796" cy="257750"/>
            <a:chOff x="-6337521" y="4362225"/>
            <a:chExt cx="1309796" cy="257750"/>
          </a:xfrm>
        </p:grpSpPr>
        <p:sp>
          <p:nvSpPr>
            <p:cNvPr id="5" name="Google Shape;464;p30">
              <a:extLst>
                <a:ext uri="{FF2B5EF4-FFF2-40B4-BE49-F238E27FC236}">
                  <a16:creationId xmlns:a16="http://schemas.microsoft.com/office/drawing/2014/main" id="{3EA387D4-B671-452B-B69B-B05A71EFBEF3}"/>
                </a:ext>
              </a:extLst>
            </p:cNvPr>
            <p:cNvSpPr/>
            <p:nvPr/>
          </p:nvSpPr>
          <p:spPr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465;p30">
              <a:extLst>
                <a:ext uri="{FF2B5EF4-FFF2-40B4-BE49-F238E27FC236}">
                  <a16:creationId xmlns:a16="http://schemas.microsoft.com/office/drawing/2014/main" id="{FBDB4F05-AF28-4A7C-961B-94ACD77E73AC}"/>
                </a:ext>
              </a:extLst>
            </p:cNvPr>
            <p:cNvSpPr/>
            <p:nvPr/>
          </p:nvSpPr>
          <p:spPr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466;p30">
              <a:extLst>
                <a:ext uri="{FF2B5EF4-FFF2-40B4-BE49-F238E27FC236}">
                  <a16:creationId xmlns:a16="http://schemas.microsoft.com/office/drawing/2014/main" id="{46214FA0-DFCA-41E7-AC5E-BA0CCB081C1B}"/>
                </a:ext>
              </a:extLst>
            </p:cNvPr>
            <p:cNvSpPr/>
            <p:nvPr/>
          </p:nvSpPr>
          <p:spPr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467;p30">
              <a:extLst>
                <a:ext uri="{FF2B5EF4-FFF2-40B4-BE49-F238E27FC236}">
                  <a16:creationId xmlns:a16="http://schemas.microsoft.com/office/drawing/2014/main" id="{561F5B13-058A-4FC5-AFF6-7068615592AA}"/>
                </a:ext>
              </a:extLst>
            </p:cNvPr>
            <p:cNvSpPr/>
            <p:nvPr/>
          </p:nvSpPr>
          <p:spPr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468;p30">
              <a:extLst>
                <a:ext uri="{FF2B5EF4-FFF2-40B4-BE49-F238E27FC236}">
                  <a16:creationId xmlns:a16="http://schemas.microsoft.com/office/drawing/2014/main" id="{36FB0129-A115-4EAA-96C8-277A1C23E6D8}"/>
                </a:ext>
              </a:extLst>
            </p:cNvPr>
            <p:cNvSpPr/>
            <p:nvPr/>
          </p:nvSpPr>
          <p:spPr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469;p30">
              <a:extLst>
                <a:ext uri="{FF2B5EF4-FFF2-40B4-BE49-F238E27FC236}">
                  <a16:creationId xmlns:a16="http://schemas.microsoft.com/office/drawing/2014/main" id="{68A74EAD-4AAE-4462-A7F3-A538637774A8}"/>
                </a:ext>
              </a:extLst>
            </p:cNvPr>
            <p:cNvSpPr/>
            <p:nvPr/>
          </p:nvSpPr>
          <p:spPr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470;p30">
              <a:extLst>
                <a:ext uri="{FF2B5EF4-FFF2-40B4-BE49-F238E27FC236}">
                  <a16:creationId xmlns:a16="http://schemas.microsoft.com/office/drawing/2014/main" id="{092CE1D2-468F-4B17-83DA-A2E304BC3879}"/>
                </a:ext>
              </a:extLst>
            </p:cNvPr>
            <p:cNvSpPr/>
            <p:nvPr/>
          </p:nvSpPr>
          <p:spPr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471;p30">
              <a:extLst>
                <a:ext uri="{FF2B5EF4-FFF2-40B4-BE49-F238E27FC236}">
                  <a16:creationId xmlns:a16="http://schemas.microsoft.com/office/drawing/2014/main" id="{716EDA36-BD37-4969-9B23-7CACE7A692F6}"/>
                </a:ext>
              </a:extLst>
            </p:cNvPr>
            <p:cNvSpPr/>
            <p:nvPr/>
          </p:nvSpPr>
          <p:spPr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472;p30">
              <a:extLst>
                <a:ext uri="{FF2B5EF4-FFF2-40B4-BE49-F238E27FC236}">
                  <a16:creationId xmlns:a16="http://schemas.microsoft.com/office/drawing/2014/main" id="{AC26C605-214D-4FA9-95F0-C9E52861E769}"/>
                </a:ext>
              </a:extLst>
            </p:cNvPr>
            <p:cNvSpPr/>
            <p:nvPr/>
          </p:nvSpPr>
          <p:spPr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473;p30">
              <a:extLst>
                <a:ext uri="{FF2B5EF4-FFF2-40B4-BE49-F238E27FC236}">
                  <a16:creationId xmlns:a16="http://schemas.microsoft.com/office/drawing/2014/main" id="{E74A2B13-A57D-4278-8973-6E2C65FE611E}"/>
                </a:ext>
              </a:extLst>
            </p:cNvPr>
            <p:cNvSpPr/>
            <p:nvPr/>
          </p:nvSpPr>
          <p:spPr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463;p30">
            <a:extLst>
              <a:ext uri="{FF2B5EF4-FFF2-40B4-BE49-F238E27FC236}">
                <a16:creationId xmlns:a16="http://schemas.microsoft.com/office/drawing/2014/main" id="{31C681B0-93EA-4626-A2EE-66CFEFB0CD7E}"/>
              </a:ext>
            </a:extLst>
          </p:cNvPr>
          <p:cNvGrpSpPr/>
          <p:nvPr/>
        </p:nvGrpSpPr>
        <p:grpSpPr>
          <a:xfrm>
            <a:off x="7308450" y="4698475"/>
            <a:ext cx="1309796" cy="257750"/>
            <a:chOff x="-6337521" y="4362225"/>
            <a:chExt cx="1309796" cy="257750"/>
          </a:xfrm>
        </p:grpSpPr>
        <p:sp>
          <p:nvSpPr>
            <p:cNvPr id="23" name="Google Shape;464;p30">
              <a:extLst>
                <a:ext uri="{FF2B5EF4-FFF2-40B4-BE49-F238E27FC236}">
                  <a16:creationId xmlns:a16="http://schemas.microsoft.com/office/drawing/2014/main" id="{BF327DA8-2506-4096-9E76-B358F7F9A914}"/>
                </a:ext>
              </a:extLst>
            </p:cNvPr>
            <p:cNvSpPr/>
            <p:nvPr/>
          </p:nvSpPr>
          <p:spPr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65;p30">
              <a:extLst>
                <a:ext uri="{FF2B5EF4-FFF2-40B4-BE49-F238E27FC236}">
                  <a16:creationId xmlns:a16="http://schemas.microsoft.com/office/drawing/2014/main" id="{2046F09A-281C-4A29-BB31-82115BB328F2}"/>
                </a:ext>
              </a:extLst>
            </p:cNvPr>
            <p:cNvSpPr/>
            <p:nvPr/>
          </p:nvSpPr>
          <p:spPr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66;p30">
              <a:extLst>
                <a:ext uri="{FF2B5EF4-FFF2-40B4-BE49-F238E27FC236}">
                  <a16:creationId xmlns:a16="http://schemas.microsoft.com/office/drawing/2014/main" id="{10C37F31-1F9D-4996-B579-EBD5D8E71801}"/>
                </a:ext>
              </a:extLst>
            </p:cNvPr>
            <p:cNvSpPr/>
            <p:nvPr/>
          </p:nvSpPr>
          <p:spPr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467;p30">
              <a:extLst>
                <a:ext uri="{FF2B5EF4-FFF2-40B4-BE49-F238E27FC236}">
                  <a16:creationId xmlns:a16="http://schemas.microsoft.com/office/drawing/2014/main" id="{AC355286-B7BD-4100-99C1-EA94527389E3}"/>
                </a:ext>
              </a:extLst>
            </p:cNvPr>
            <p:cNvSpPr/>
            <p:nvPr/>
          </p:nvSpPr>
          <p:spPr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468;p30">
              <a:extLst>
                <a:ext uri="{FF2B5EF4-FFF2-40B4-BE49-F238E27FC236}">
                  <a16:creationId xmlns:a16="http://schemas.microsoft.com/office/drawing/2014/main" id="{39C5BFD7-5661-4BAC-8471-69ADDF1E5F1E}"/>
                </a:ext>
              </a:extLst>
            </p:cNvPr>
            <p:cNvSpPr/>
            <p:nvPr/>
          </p:nvSpPr>
          <p:spPr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469;p30">
              <a:extLst>
                <a:ext uri="{FF2B5EF4-FFF2-40B4-BE49-F238E27FC236}">
                  <a16:creationId xmlns:a16="http://schemas.microsoft.com/office/drawing/2014/main" id="{FF23DF9F-04CF-4CAF-BCDE-A4E34BF971CB}"/>
                </a:ext>
              </a:extLst>
            </p:cNvPr>
            <p:cNvSpPr/>
            <p:nvPr/>
          </p:nvSpPr>
          <p:spPr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470;p30">
              <a:extLst>
                <a:ext uri="{FF2B5EF4-FFF2-40B4-BE49-F238E27FC236}">
                  <a16:creationId xmlns:a16="http://schemas.microsoft.com/office/drawing/2014/main" id="{7CA1DF06-5921-411F-814B-66578451227F}"/>
                </a:ext>
              </a:extLst>
            </p:cNvPr>
            <p:cNvSpPr/>
            <p:nvPr/>
          </p:nvSpPr>
          <p:spPr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471;p30">
              <a:extLst>
                <a:ext uri="{FF2B5EF4-FFF2-40B4-BE49-F238E27FC236}">
                  <a16:creationId xmlns:a16="http://schemas.microsoft.com/office/drawing/2014/main" id="{CA227177-BD8C-430C-9E17-D09A442D568B}"/>
                </a:ext>
              </a:extLst>
            </p:cNvPr>
            <p:cNvSpPr/>
            <p:nvPr/>
          </p:nvSpPr>
          <p:spPr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472;p30">
              <a:extLst>
                <a:ext uri="{FF2B5EF4-FFF2-40B4-BE49-F238E27FC236}">
                  <a16:creationId xmlns:a16="http://schemas.microsoft.com/office/drawing/2014/main" id="{B578B204-F9AE-41A6-9F5A-5D1D692B0A04}"/>
                </a:ext>
              </a:extLst>
            </p:cNvPr>
            <p:cNvSpPr/>
            <p:nvPr/>
          </p:nvSpPr>
          <p:spPr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473;p30">
              <a:extLst>
                <a:ext uri="{FF2B5EF4-FFF2-40B4-BE49-F238E27FC236}">
                  <a16:creationId xmlns:a16="http://schemas.microsoft.com/office/drawing/2014/main" id="{41C5B9FD-243E-4694-AF1C-017700102B28}"/>
                </a:ext>
              </a:extLst>
            </p:cNvPr>
            <p:cNvSpPr/>
            <p:nvPr/>
          </p:nvSpPr>
          <p:spPr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165187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9BB3A860-7962-441A-A29A-B6791E063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102" y="1050515"/>
            <a:ext cx="7717500" cy="341640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Form a group of 3–4 students.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Choose 1 SDG (or your teacher will assign one).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Write the SDG in the center of your page.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Create a mind map: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 1: Challenges (problems related to this SDG).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 2: Solutions (possible actions or innovations).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 3: Stakeholders (who is involved – universities, companies, communities).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 4: Impact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Prepare to present your mind map to the class in 2–3 minutes.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While one group presents, other students should listen actively and ask at least two clarification or follow-up questions.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0" indent="0">
              <a:buNone/>
            </a:pPr>
            <a:endParaRPr lang="ru-RU" sz="1800" dirty="0">
              <a:sym typeface="Archivo Black"/>
            </a:endParaRPr>
          </a:p>
        </p:txBody>
      </p:sp>
      <p:grpSp>
        <p:nvGrpSpPr>
          <p:cNvPr id="4" name="Google Shape;463;p30">
            <a:extLst>
              <a:ext uri="{FF2B5EF4-FFF2-40B4-BE49-F238E27FC236}">
                <a16:creationId xmlns:a16="http://schemas.microsoft.com/office/drawing/2014/main" id="{DF221EA3-036A-4778-9186-0D8F790DD368}"/>
              </a:ext>
            </a:extLst>
          </p:cNvPr>
          <p:cNvGrpSpPr/>
          <p:nvPr/>
        </p:nvGrpSpPr>
        <p:grpSpPr>
          <a:xfrm>
            <a:off x="364202" y="4683792"/>
            <a:ext cx="1309796" cy="257750"/>
            <a:chOff x="-6337521" y="4362225"/>
            <a:chExt cx="1309796" cy="257750"/>
          </a:xfrm>
        </p:grpSpPr>
        <p:sp>
          <p:nvSpPr>
            <p:cNvPr id="5" name="Google Shape;464;p30">
              <a:extLst>
                <a:ext uri="{FF2B5EF4-FFF2-40B4-BE49-F238E27FC236}">
                  <a16:creationId xmlns:a16="http://schemas.microsoft.com/office/drawing/2014/main" id="{3EA387D4-B671-452B-B69B-B05A71EFBEF3}"/>
                </a:ext>
              </a:extLst>
            </p:cNvPr>
            <p:cNvSpPr/>
            <p:nvPr/>
          </p:nvSpPr>
          <p:spPr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465;p30">
              <a:extLst>
                <a:ext uri="{FF2B5EF4-FFF2-40B4-BE49-F238E27FC236}">
                  <a16:creationId xmlns:a16="http://schemas.microsoft.com/office/drawing/2014/main" id="{FBDB4F05-AF28-4A7C-961B-94ACD77E73AC}"/>
                </a:ext>
              </a:extLst>
            </p:cNvPr>
            <p:cNvSpPr/>
            <p:nvPr/>
          </p:nvSpPr>
          <p:spPr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466;p30">
              <a:extLst>
                <a:ext uri="{FF2B5EF4-FFF2-40B4-BE49-F238E27FC236}">
                  <a16:creationId xmlns:a16="http://schemas.microsoft.com/office/drawing/2014/main" id="{46214FA0-DFCA-41E7-AC5E-BA0CCB081C1B}"/>
                </a:ext>
              </a:extLst>
            </p:cNvPr>
            <p:cNvSpPr/>
            <p:nvPr/>
          </p:nvSpPr>
          <p:spPr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467;p30">
              <a:extLst>
                <a:ext uri="{FF2B5EF4-FFF2-40B4-BE49-F238E27FC236}">
                  <a16:creationId xmlns:a16="http://schemas.microsoft.com/office/drawing/2014/main" id="{561F5B13-058A-4FC5-AFF6-7068615592AA}"/>
                </a:ext>
              </a:extLst>
            </p:cNvPr>
            <p:cNvSpPr/>
            <p:nvPr/>
          </p:nvSpPr>
          <p:spPr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468;p30">
              <a:extLst>
                <a:ext uri="{FF2B5EF4-FFF2-40B4-BE49-F238E27FC236}">
                  <a16:creationId xmlns:a16="http://schemas.microsoft.com/office/drawing/2014/main" id="{36FB0129-A115-4EAA-96C8-277A1C23E6D8}"/>
                </a:ext>
              </a:extLst>
            </p:cNvPr>
            <p:cNvSpPr/>
            <p:nvPr/>
          </p:nvSpPr>
          <p:spPr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469;p30">
              <a:extLst>
                <a:ext uri="{FF2B5EF4-FFF2-40B4-BE49-F238E27FC236}">
                  <a16:creationId xmlns:a16="http://schemas.microsoft.com/office/drawing/2014/main" id="{68A74EAD-4AAE-4462-A7F3-A538637774A8}"/>
                </a:ext>
              </a:extLst>
            </p:cNvPr>
            <p:cNvSpPr/>
            <p:nvPr/>
          </p:nvSpPr>
          <p:spPr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470;p30">
              <a:extLst>
                <a:ext uri="{FF2B5EF4-FFF2-40B4-BE49-F238E27FC236}">
                  <a16:creationId xmlns:a16="http://schemas.microsoft.com/office/drawing/2014/main" id="{092CE1D2-468F-4B17-83DA-A2E304BC3879}"/>
                </a:ext>
              </a:extLst>
            </p:cNvPr>
            <p:cNvSpPr/>
            <p:nvPr/>
          </p:nvSpPr>
          <p:spPr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471;p30">
              <a:extLst>
                <a:ext uri="{FF2B5EF4-FFF2-40B4-BE49-F238E27FC236}">
                  <a16:creationId xmlns:a16="http://schemas.microsoft.com/office/drawing/2014/main" id="{716EDA36-BD37-4969-9B23-7CACE7A692F6}"/>
                </a:ext>
              </a:extLst>
            </p:cNvPr>
            <p:cNvSpPr/>
            <p:nvPr/>
          </p:nvSpPr>
          <p:spPr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472;p30">
              <a:extLst>
                <a:ext uri="{FF2B5EF4-FFF2-40B4-BE49-F238E27FC236}">
                  <a16:creationId xmlns:a16="http://schemas.microsoft.com/office/drawing/2014/main" id="{AC26C605-214D-4FA9-95F0-C9E52861E769}"/>
                </a:ext>
              </a:extLst>
            </p:cNvPr>
            <p:cNvSpPr/>
            <p:nvPr/>
          </p:nvSpPr>
          <p:spPr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473;p30">
              <a:extLst>
                <a:ext uri="{FF2B5EF4-FFF2-40B4-BE49-F238E27FC236}">
                  <a16:creationId xmlns:a16="http://schemas.microsoft.com/office/drawing/2014/main" id="{E74A2B13-A57D-4278-8973-6E2C65FE611E}"/>
                </a:ext>
              </a:extLst>
            </p:cNvPr>
            <p:cNvSpPr/>
            <p:nvPr/>
          </p:nvSpPr>
          <p:spPr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463;p30">
            <a:extLst>
              <a:ext uri="{FF2B5EF4-FFF2-40B4-BE49-F238E27FC236}">
                <a16:creationId xmlns:a16="http://schemas.microsoft.com/office/drawing/2014/main" id="{31C681B0-93EA-4626-A2EE-66CFEFB0CD7E}"/>
              </a:ext>
            </a:extLst>
          </p:cNvPr>
          <p:cNvGrpSpPr/>
          <p:nvPr/>
        </p:nvGrpSpPr>
        <p:grpSpPr>
          <a:xfrm>
            <a:off x="7716675" y="4775767"/>
            <a:ext cx="1309796" cy="257750"/>
            <a:chOff x="-6337521" y="4362225"/>
            <a:chExt cx="1309796" cy="257750"/>
          </a:xfrm>
        </p:grpSpPr>
        <p:sp>
          <p:nvSpPr>
            <p:cNvPr id="23" name="Google Shape;464;p30">
              <a:extLst>
                <a:ext uri="{FF2B5EF4-FFF2-40B4-BE49-F238E27FC236}">
                  <a16:creationId xmlns:a16="http://schemas.microsoft.com/office/drawing/2014/main" id="{BF327DA8-2506-4096-9E76-B358F7F9A914}"/>
                </a:ext>
              </a:extLst>
            </p:cNvPr>
            <p:cNvSpPr/>
            <p:nvPr/>
          </p:nvSpPr>
          <p:spPr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65;p30">
              <a:extLst>
                <a:ext uri="{FF2B5EF4-FFF2-40B4-BE49-F238E27FC236}">
                  <a16:creationId xmlns:a16="http://schemas.microsoft.com/office/drawing/2014/main" id="{2046F09A-281C-4A29-BB31-82115BB328F2}"/>
                </a:ext>
              </a:extLst>
            </p:cNvPr>
            <p:cNvSpPr/>
            <p:nvPr/>
          </p:nvSpPr>
          <p:spPr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66;p30">
              <a:extLst>
                <a:ext uri="{FF2B5EF4-FFF2-40B4-BE49-F238E27FC236}">
                  <a16:creationId xmlns:a16="http://schemas.microsoft.com/office/drawing/2014/main" id="{10C37F31-1F9D-4996-B579-EBD5D8E71801}"/>
                </a:ext>
              </a:extLst>
            </p:cNvPr>
            <p:cNvSpPr/>
            <p:nvPr/>
          </p:nvSpPr>
          <p:spPr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467;p30">
              <a:extLst>
                <a:ext uri="{FF2B5EF4-FFF2-40B4-BE49-F238E27FC236}">
                  <a16:creationId xmlns:a16="http://schemas.microsoft.com/office/drawing/2014/main" id="{AC355286-B7BD-4100-99C1-EA94527389E3}"/>
                </a:ext>
              </a:extLst>
            </p:cNvPr>
            <p:cNvSpPr/>
            <p:nvPr/>
          </p:nvSpPr>
          <p:spPr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468;p30">
              <a:extLst>
                <a:ext uri="{FF2B5EF4-FFF2-40B4-BE49-F238E27FC236}">
                  <a16:creationId xmlns:a16="http://schemas.microsoft.com/office/drawing/2014/main" id="{39C5BFD7-5661-4BAC-8471-69ADDF1E5F1E}"/>
                </a:ext>
              </a:extLst>
            </p:cNvPr>
            <p:cNvSpPr/>
            <p:nvPr/>
          </p:nvSpPr>
          <p:spPr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469;p30">
              <a:extLst>
                <a:ext uri="{FF2B5EF4-FFF2-40B4-BE49-F238E27FC236}">
                  <a16:creationId xmlns:a16="http://schemas.microsoft.com/office/drawing/2014/main" id="{FF23DF9F-04CF-4CAF-BCDE-A4E34BF971CB}"/>
                </a:ext>
              </a:extLst>
            </p:cNvPr>
            <p:cNvSpPr/>
            <p:nvPr/>
          </p:nvSpPr>
          <p:spPr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470;p30">
              <a:extLst>
                <a:ext uri="{FF2B5EF4-FFF2-40B4-BE49-F238E27FC236}">
                  <a16:creationId xmlns:a16="http://schemas.microsoft.com/office/drawing/2014/main" id="{7CA1DF06-5921-411F-814B-66578451227F}"/>
                </a:ext>
              </a:extLst>
            </p:cNvPr>
            <p:cNvSpPr/>
            <p:nvPr/>
          </p:nvSpPr>
          <p:spPr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471;p30">
              <a:extLst>
                <a:ext uri="{FF2B5EF4-FFF2-40B4-BE49-F238E27FC236}">
                  <a16:creationId xmlns:a16="http://schemas.microsoft.com/office/drawing/2014/main" id="{CA227177-BD8C-430C-9E17-D09A442D568B}"/>
                </a:ext>
              </a:extLst>
            </p:cNvPr>
            <p:cNvSpPr/>
            <p:nvPr/>
          </p:nvSpPr>
          <p:spPr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472;p30">
              <a:extLst>
                <a:ext uri="{FF2B5EF4-FFF2-40B4-BE49-F238E27FC236}">
                  <a16:creationId xmlns:a16="http://schemas.microsoft.com/office/drawing/2014/main" id="{B578B204-F9AE-41A6-9F5A-5D1D692B0A04}"/>
                </a:ext>
              </a:extLst>
            </p:cNvPr>
            <p:cNvSpPr/>
            <p:nvPr/>
          </p:nvSpPr>
          <p:spPr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473;p30">
              <a:extLst>
                <a:ext uri="{FF2B5EF4-FFF2-40B4-BE49-F238E27FC236}">
                  <a16:creationId xmlns:a16="http://schemas.microsoft.com/office/drawing/2014/main" id="{41C5B9FD-243E-4694-AF1C-017700102B28}"/>
                </a:ext>
              </a:extLst>
            </p:cNvPr>
            <p:cNvSpPr/>
            <p:nvPr/>
          </p:nvSpPr>
          <p:spPr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Заголовок 1">
            <a:extLst>
              <a:ext uri="{FF2B5EF4-FFF2-40B4-BE49-F238E27FC236}">
                <a16:creationId xmlns:a16="http://schemas.microsoft.com/office/drawing/2014/main" id="{F945BB60-3B94-4961-B514-86F3F479C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788" y="444500"/>
            <a:ext cx="7718425" cy="573088"/>
          </a:xfrm>
        </p:spPr>
        <p:txBody>
          <a:bodyPr>
            <a:normAutofit fontScale="90000"/>
          </a:bodyPr>
          <a:lstStyle/>
          <a:p>
            <a:r>
              <a:rPr lang="en-US" sz="2600" dirty="0">
                <a:latin typeface="+mj-lt"/>
              </a:rPr>
              <a:t>Brainstorming with mind maps (20 min)</a:t>
            </a:r>
            <a:br>
              <a:rPr lang="ru-RU" sz="2600" dirty="0">
                <a:latin typeface="+mj-lt"/>
              </a:rPr>
            </a:br>
            <a:endParaRPr lang="ru-RU" sz="2600" dirty="0">
              <a:latin typeface="+mj-lt"/>
            </a:endParaRPr>
          </a:p>
        </p:txBody>
      </p:sp>
      <p:pic>
        <p:nvPicPr>
          <p:cNvPr id="2" name="Объект 5">
            <a:extLst>
              <a:ext uri="{FF2B5EF4-FFF2-40B4-BE49-F238E27FC236}">
                <a16:creationId xmlns:a16="http://schemas.microsoft.com/office/drawing/2014/main" id="{5FFDABE5-3AD0-4B48-4AAD-97C3D9D6D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415250" y="293933"/>
            <a:ext cx="2676649" cy="1677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346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463;p30">
            <a:extLst>
              <a:ext uri="{FF2B5EF4-FFF2-40B4-BE49-F238E27FC236}">
                <a16:creationId xmlns:a16="http://schemas.microsoft.com/office/drawing/2014/main" id="{DF221EA3-036A-4778-9186-0D8F790DD368}"/>
              </a:ext>
            </a:extLst>
          </p:cNvPr>
          <p:cNvGrpSpPr/>
          <p:nvPr/>
        </p:nvGrpSpPr>
        <p:grpSpPr>
          <a:xfrm>
            <a:off x="364202" y="4683792"/>
            <a:ext cx="1309796" cy="257750"/>
            <a:chOff x="-6337521" y="4362225"/>
            <a:chExt cx="1309796" cy="257750"/>
          </a:xfrm>
        </p:grpSpPr>
        <p:sp>
          <p:nvSpPr>
            <p:cNvPr id="5" name="Google Shape;464;p30">
              <a:extLst>
                <a:ext uri="{FF2B5EF4-FFF2-40B4-BE49-F238E27FC236}">
                  <a16:creationId xmlns:a16="http://schemas.microsoft.com/office/drawing/2014/main" id="{3EA387D4-B671-452B-B69B-B05A71EFBEF3}"/>
                </a:ext>
              </a:extLst>
            </p:cNvPr>
            <p:cNvSpPr/>
            <p:nvPr/>
          </p:nvSpPr>
          <p:spPr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465;p30">
              <a:extLst>
                <a:ext uri="{FF2B5EF4-FFF2-40B4-BE49-F238E27FC236}">
                  <a16:creationId xmlns:a16="http://schemas.microsoft.com/office/drawing/2014/main" id="{FBDB4F05-AF28-4A7C-961B-94ACD77E73AC}"/>
                </a:ext>
              </a:extLst>
            </p:cNvPr>
            <p:cNvSpPr/>
            <p:nvPr/>
          </p:nvSpPr>
          <p:spPr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466;p30">
              <a:extLst>
                <a:ext uri="{FF2B5EF4-FFF2-40B4-BE49-F238E27FC236}">
                  <a16:creationId xmlns:a16="http://schemas.microsoft.com/office/drawing/2014/main" id="{46214FA0-DFCA-41E7-AC5E-BA0CCB081C1B}"/>
                </a:ext>
              </a:extLst>
            </p:cNvPr>
            <p:cNvSpPr/>
            <p:nvPr/>
          </p:nvSpPr>
          <p:spPr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467;p30">
              <a:extLst>
                <a:ext uri="{FF2B5EF4-FFF2-40B4-BE49-F238E27FC236}">
                  <a16:creationId xmlns:a16="http://schemas.microsoft.com/office/drawing/2014/main" id="{561F5B13-058A-4FC5-AFF6-7068615592AA}"/>
                </a:ext>
              </a:extLst>
            </p:cNvPr>
            <p:cNvSpPr/>
            <p:nvPr/>
          </p:nvSpPr>
          <p:spPr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468;p30">
              <a:extLst>
                <a:ext uri="{FF2B5EF4-FFF2-40B4-BE49-F238E27FC236}">
                  <a16:creationId xmlns:a16="http://schemas.microsoft.com/office/drawing/2014/main" id="{36FB0129-A115-4EAA-96C8-277A1C23E6D8}"/>
                </a:ext>
              </a:extLst>
            </p:cNvPr>
            <p:cNvSpPr/>
            <p:nvPr/>
          </p:nvSpPr>
          <p:spPr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469;p30">
              <a:extLst>
                <a:ext uri="{FF2B5EF4-FFF2-40B4-BE49-F238E27FC236}">
                  <a16:creationId xmlns:a16="http://schemas.microsoft.com/office/drawing/2014/main" id="{68A74EAD-4AAE-4462-A7F3-A538637774A8}"/>
                </a:ext>
              </a:extLst>
            </p:cNvPr>
            <p:cNvSpPr/>
            <p:nvPr/>
          </p:nvSpPr>
          <p:spPr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470;p30">
              <a:extLst>
                <a:ext uri="{FF2B5EF4-FFF2-40B4-BE49-F238E27FC236}">
                  <a16:creationId xmlns:a16="http://schemas.microsoft.com/office/drawing/2014/main" id="{092CE1D2-468F-4B17-83DA-A2E304BC3879}"/>
                </a:ext>
              </a:extLst>
            </p:cNvPr>
            <p:cNvSpPr/>
            <p:nvPr/>
          </p:nvSpPr>
          <p:spPr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471;p30">
              <a:extLst>
                <a:ext uri="{FF2B5EF4-FFF2-40B4-BE49-F238E27FC236}">
                  <a16:creationId xmlns:a16="http://schemas.microsoft.com/office/drawing/2014/main" id="{716EDA36-BD37-4969-9B23-7CACE7A692F6}"/>
                </a:ext>
              </a:extLst>
            </p:cNvPr>
            <p:cNvSpPr/>
            <p:nvPr/>
          </p:nvSpPr>
          <p:spPr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472;p30">
              <a:extLst>
                <a:ext uri="{FF2B5EF4-FFF2-40B4-BE49-F238E27FC236}">
                  <a16:creationId xmlns:a16="http://schemas.microsoft.com/office/drawing/2014/main" id="{AC26C605-214D-4FA9-95F0-C9E52861E769}"/>
                </a:ext>
              </a:extLst>
            </p:cNvPr>
            <p:cNvSpPr/>
            <p:nvPr/>
          </p:nvSpPr>
          <p:spPr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473;p30">
              <a:extLst>
                <a:ext uri="{FF2B5EF4-FFF2-40B4-BE49-F238E27FC236}">
                  <a16:creationId xmlns:a16="http://schemas.microsoft.com/office/drawing/2014/main" id="{E74A2B13-A57D-4278-8973-6E2C65FE611E}"/>
                </a:ext>
              </a:extLst>
            </p:cNvPr>
            <p:cNvSpPr/>
            <p:nvPr/>
          </p:nvSpPr>
          <p:spPr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463;p30">
            <a:extLst>
              <a:ext uri="{FF2B5EF4-FFF2-40B4-BE49-F238E27FC236}">
                <a16:creationId xmlns:a16="http://schemas.microsoft.com/office/drawing/2014/main" id="{31C681B0-93EA-4626-A2EE-66CFEFB0CD7E}"/>
              </a:ext>
            </a:extLst>
          </p:cNvPr>
          <p:cNvGrpSpPr/>
          <p:nvPr/>
        </p:nvGrpSpPr>
        <p:grpSpPr>
          <a:xfrm>
            <a:off x="7716675" y="4775767"/>
            <a:ext cx="1309796" cy="257750"/>
            <a:chOff x="-6337521" y="4362225"/>
            <a:chExt cx="1309796" cy="257750"/>
          </a:xfrm>
        </p:grpSpPr>
        <p:sp>
          <p:nvSpPr>
            <p:cNvPr id="23" name="Google Shape;464;p30">
              <a:extLst>
                <a:ext uri="{FF2B5EF4-FFF2-40B4-BE49-F238E27FC236}">
                  <a16:creationId xmlns:a16="http://schemas.microsoft.com/office/drawing/2014/main" id="{BF327DA8-2506-4096-9E76-B358F7F9A914}"/>
                </a:ext>
              </a:extLst>
            </p:cNvPr>
            <p:cNvSpPr/>
            <p:nvPr/>
          </p:nvSpPr>
          <p:spPr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65;p30">
              <a:extLst>
                <a:ext uri="{FF2B5EF4-FFF2-40B4-BE49-F238E27FC236}">
                  <a16:creationId xmlns:a16="http://schemas.microsoft.com/office/drawing/2014/main" id="{2046F09A-281C-4A29-BB31-82115BB328F2}"/>
                </a:ext>
              </a:extLst>
            </p:cNvPr>
            <p:cNvSpPr/>
            <p:nvPr/>
          </p:nvSpPr>
          <p:spPr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66;p30">
              <a:extLst>
                <a:ext uri="{FF2B5EF4-FFF2-40B4-BE49-F238E27FC236}">
                  <a16:creationId xmlns:a16="http://schemas.microsoft.com/office/drawing/2014/main" id="{10C37F31-1F9D-4996-B579-EBD5D8E71801}"/>
                </a:ext>
              </a:extLst>
            </p:cNvPr>
            <p:cNvSpPr/>
            <p:nvPr/>
          </p:nvSpPr>
          <p:spPr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467;p30">
              <a:extLst>
                <a:ext uri="{FF2B5EF4-FFF2-40B4-BE49-F238E27FC236}">
                  <a16:creationId xmlns:a16="http://schemas.microsoft.com/office/drawing/2014/main" id="{AC355286-B7BD-4100-99C1-EA94527389E3}"/>
                </a:ext>
              </a:extLst>
            </p:cNvPr>
            <p:cNvSpPr/>
            <p:nvPr/>
          </p:nvSpPr>
          <p:spPr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468;p30">
              <a:extLst>
                <a:ext uri="{FF2B5EF4-FFF2-40B4-BE49-F238E27FC236}">
                  <a16:creationId xmlns:a16="http://schemas.microsoft.com/office/drawing/2014/main" id="{39C5BFD7-5661-4BAC-8471-69ADDF1E5F1E}"/>
                </a:ext>
              </a:extLst>
            </p:cNvPr>
            <p:cNvSpPr/>
            <p:nvPr/>
          </p:nvSpPr>
          <p:spPr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469;p30">
              <a:extLst>
                <a:ext uri="{FF2B5EF4-FFF2-40B4-BE49-F238E27FC236}">
                  <a16:creationId xmlns:a16="http://schemas.microsoft.com/office/drawing/2014/main" id="{FF23DF9F-04CF-4CAF-BCDE-A4E34BF971CB}"/>
                </a:ext>
              </a:extLst>
            </p:cNvPr>
            <p:cNvSpPr/>
            <p:nvPr/>
          </p:nvSpPr>
          <p:spPr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470;p30">
              <a:extLst>
                <a:ext uri="{FF2B5EF4-FFF2-40B4-BE49-F238E27FC236}">
                  <a16:creationId xmlns:a16="http://schemas.microsoft.com/office/drawing/2014/main" id="{7CA1DF06-5921-411F-814B-66578451227F}"/>
                </a:ext>
              </a:extLst>
            </p:cNvPr>
            <p:cNvSpPr/>
            <p:nvPr/>
          </p:nvSpPr>
          <p:spPr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471;p30">
              <a:extLst>
                <a:ext uri="{FF2B5EF4-FFF2-40B4-BE49-F238E27FC236}">
                  <a16:creationId xmlns:a16="http://schemas.microsoft.com/office/drawing/2014/main" id="{CA227177-BD8C-430C-9E17-D09A442D568B}"/>
                </a:ext>
              </a:extLst>
            </p:cNvPr>
            <p:cNvSpPr/>
            <p:nvPr/>
          </p:nvSpPr>
          <p:spPr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472;p30">
              <a:extLst>
                <a:ext uri="{FF2B5EF4-FFF2-40B4-BE49-F238E27FC236}">
                  <a16:creationId xmlns:a16="http://schemas.microsoft.com/office/drawing/2014/main" id="{B578B204-F9AE-41A6-9F5A-5D1D692B0A04}"/>
                </a:ext>
              </a:extLst>
            </p:cNvPr>
            <p:cNvSpPr/>
            <p:nvPr/>
          </p:nvSpPr>
          <p:spPr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473;p30">
              <a:extLst>
                <a:ext uri="{FF2B5EF4-FFF2-40B4-BE49-F238E27FC236}">
                  <a16:creationId xmlns:a16="http://schemas.microsoft.com/office/drawing/2014/main" id="{41C5B9FD-243E-4694-AF1C-017700102B28}"/>
                </a:ext>
              </a:extLst>
            </p:cNvPr>
            <p:cNvSpPr/>
            <p:nvPr/>
          </p:nvSpPr>
          <p:spPr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Заголовок 1">
            <a:extLst>
              <a:ext uri="{FF2B5EF4-FFF2-40B4-BE49-F238E27FC236}">
                <a16:creationId xmlns:a16="http://schemas.microsoft.com/office/drawing/2014/main" id="{F945BB60-3B94-4961-B514-86F3F479C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709" y="435832"/>
            <a:ext cx="7718425" cy="573088"/>
          </a:xfrm>
        </p:spPr>
        <p:txBody>
          <a:bodyPr>
            <a:normAutofit/>
          </a:bodyPr>
          <a:lstStyle/>
          <a:p>
            <a:pPr marL="0" indent="0"/>
            <a:r>
              <a:rPr lang="en-US" sz="2400" dirty="0">
                <a:latin typeface="+mj-lt"/>
              </a:rPr>
              <a:t>Mind map example on SDG 4</a:t>
            </a:r>
            <a:endParaRPr lang="en-US" sz="2300" dirty="0">
              <a:latin typeface="+mj-lt"/>
            </a:endParaRPr>
          </a:p>
        </p:txBody>
      </p:sp>
      <p:pic>
        <p:nvPicPr>
          <p:cNvPr id="16" name="Picture 2" descr="Create a mind map with a central circle labeled &quot;SDG 4: Quality Education&quot;. From this center, draw four branches:&#10;&#10;1. Challenges → Digital divide&#10;2. Solutions → Free Wi-Fi zones, Blended learning apps&#10;3. Stakeholders → Universities, Tech companies, Students&#10;4. Impact → Greater access, Improved skills, Equality">
            <a:extLst>
              <a:ext uri="{FF2B5EF4-FFF2-40B4-BE49-F238E27FC236}">
                <a16:creationId xmlns:a16="http://schemas.microsoft.com/office/drawing/2014/main" id="{EAD41AD1-02F0-9A67-3981-28A5018CF5C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988429"/>
            <a:ext cx="4639732" cy="3580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9417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463;p30">
            <a:extLst>
              <a:ext uri="{FF2B5EF4-FFF2-40B4-BE49-F238E27FC236}">
                <a16:creationId xmlns:a16="http://schemas.microsoft.com/office/drawing/2014/main" id="{DF221EA3-036A-4778-9186-0D8F790DD368}"/>
              </a:ext>
            </a:extLst>
          </p:cNvPr>
          <p:cNvGrpSpPr/>
          <p:nvPr/>
        </p:nvGrpSpPr>
        <p:grpSpPr>
          <a:xfrm>
            <a:off x="364202" y="4683792"/>
            <a:ext cx="1309796" cy="257750"/>
            <a:chOff x="-6337521" y="4362225"/>
            <a:chExt cx="1309796" cy="257750"/>
          </a:xfrm>
        </p:grpSpPr>
        <p:sp>
          <p:nvSpPr>
            <p:cNvPr id="5" name="Google Shape;464;p30">
              <a:extLst>
                <a:ext uri="{FF2B5EF4-FFF2-40B4-BE49-F238E27FC236}">
                  <a16:creationId xmlns:a16="http://schemas.microsoft.com/office/drawing/2014/main" id="{3EA387D4-B671-452B-B69B-B05A71EFBEF3}"/>
                </a:ext>
              </a:extLst>
            </p:cNvPr>
            <p:cNvSpPr/>
            <p:nvPr/>
          </p:nvSpPr>
          <p:spPr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465;p30">
              <a:extLst>
                <a:ext uri="{FF2B5EF4-FFF2-40B4-BE49-F238E27FC236}">
                  <a16:creationId xmlns:a16="http://schemas.microsoft.com/office/drawing/2014/main" id="{FBDB4F05-AF28-4A7C-961B-94ACD77E73AC}"/>
                </a:ext>
              </a:extLst>
            </p:cNvPr>
            <p:cNvSpPr/>
            <p:nvPr/>
          </p:nvSpPr>
          <p:spPr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466;p30">
              <a:extLst>
                <a:ext uri="{FF2B5EF4-FFF2-40B4-BE49-F238E27FC236}">
                  <a16:creationId xmlns:a16="http://schemas.microsoft.com/office/drawing/2014/main" id="{46214FA0-DFCA-41E7-AC5E-BA0CCB081C1B}"/>
                </a:ext>
              </a:extLst>
            </p:cNvPr>
            <p:cNvSpPr/>
            <p:nvPr/>
          </p:nvSpPr>
          <p:spPr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467;p30">
              <a:extLst>
                <a:ext uri="{FF2B5EF4-FFF2-40B4-BE49-F238E27FC236}">
                  <a16:creationId xmlns:a16="http://schemas.microsoft.com/office/drawing/2014/main" id="{561F5B13-058A-4FC5-AFF6-7068615592AA}"/>
                </a:ext>
              </a:extLst>
            </p:cNvPr>
            <p:cNvSpPr/>
            <p:nvPr/>
          </p:nvSpPr>
          <p:spPr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468;p30">
              <a:extLst>
                <a:ext uri="{FF2B5EF4-FFF2-40B4-BE49-F238E27FC236}">
                  <a16:creationId xmlns:a16="http://schemas.microsoft.com/office/drawing/2014/main" id="{36FB0129-A115-4EAA-96C8-277A1C23E6D8}"/>
                </a:ext>
              </a:extLst>
            </p:cNvPr>
            <p:cNvSpPr/>
            <p:nvPr/>
          </p:nvSpPr>
          <p:spPr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469;p30">
              <a:extLst>
                <a:ext uri="{FF2B5EF4-FFF2-40B4-BE49-F238E27FC236}">
                  <a16:creationId xmlns:a16="http://schemas.microsoft.com/office/drawing/2014/main" id="{68A74EAD-4AAE-4462-A7F3-A538637774A8}"/>
                </a:ext>
              </a:extLst>
            </p:cNvPr>
            <p:cNvSpPr/>
            <p:nvPr/>
          </p:nvSpPr>
          <p:spPr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470;p30">
              <a:extLst>
                <a:ext uri="{FF2B5EF4-FFF2-40B4-BE49-F238E27FC236}">
                  <a16:creationId xmlns:a16="http://schemas.microsoft.com/office/drawing/2014/main" id="{092CE1D2-468F-4B17-83DA-A2E304BC3879}"/>
                </a:ext>
              </a:extLst>
            </p:cNvPr>
            <p:cNvSpPr/>
            <p:nvPr/>
          </p:nvSpPr>
          <p:spPr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471;p30">
              <a:extLst>
                <a:ext uri="{FF2B5EF4-FFF2-40B4-BE49-F238E27FC236}">
                  <a16:creationId xmlns:a16="http://schemas.microsoft.com/office/drawing/2014/main" id="{716EDA36-BD37-4969-9B23-7CACE7A692F6}"/>
                </a:ext>
              </a:extLst>
            </p:cNvPr>
            <p:cNvSpPr/>
            <p:nvPr/>
          </p:nvSpPr>
          <p:spPr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472;p30">
              <a:extLst>
                <a:ext uri="{FF2B5EF4-FFF2-40B4-BE49-F238E27FC236}">
                  <a16:creationId xmlns:a16="http://schemas.microsoft.com/office/drawing/2014/main" id="{AC26C605-214D-4FA9-95F0-C9E52861E769}"/>
                </a:ext>
              </a:extLst>
            </p:cNvPr>
            <p:cNvSpPr/>
            <p:nvPr/>
          </p:nvSpPr>
          <p:spPr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473;p30">
              <a:extLst>
                <a:ext uri="{FF2B5EF4-FFF2-40B4-BE49-F238E27FC236}">
                  <a16:creationId xmlns:a16="http://schemas.microsoft.com/office/drawing/2014/main" id="{E74A2B13-A57D-4278-8973-6E2C65FE611E}"/>
                </a:ext>
              </a:extLst>
            </p:cNvPr>
            <p:cNvSpPr/>
            <p:nvPr/>
          </p:nvSpPr>
          <p:spPr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463;p30">
            <a:extLst>
              <a:ext uri="{FF2B5EF4-FFF2-40B4-BE49-F238E27FC236}">
                <a16:creationId xmlns:a16="http://schemas.microsoft.com/office/drawing/2014/main" id="{31C681B0-93EA-4626-A2EE-66CFEFB0CD7E}"/>
              </a:ext>
            </a:extLst>
          </p:cNvPr>
          <p:cNvGrpSpPr/>
          <p:nvPr/>
        </p:nvGrpSpPr>
        <p:grpSpPr>
          <a:xfrm>
            <a:off x="7716675" y="4775767"/>
            <a:ext cx="1309796" cy="257750"/>
            <a:chOff x="-6337521" y="4362225"/>
            <a:chExt cx="1309796" cy="257750"/>
          </a:xfrm>
        </p:grpSpPr>
        <p:sp>
          <p:nvSpPr>
            <p:cNvPr id="23" name="Google Shape;464;p30">
              <a:extLst>
                <a:ext uri="{FF2B5EF4-FFF2-40B4-BE49-F238E27FC236}">
                  <a16:creationId xmlns:a16="http://schemas.microsoft.com/office/drawing/2014/main" id="{BF327DA8-2506-4096-9E76-B358F7F9A914}"/>
                </a:ext>
              </a:extLst>
            </p:cNvPr>
            <p:cNvSpPr/>
            <p:nvPr/>
          </p:nvSpPr>
          <p:spPr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65;p30">
              <a:extLst>
                <a:ext uri="{FF2B5EF4-FFF2-40B4-BE49-F238E27FC236}">
                  <a16:creationId xmlns:a16="http://schemas.microsoft.com/office/drawing/2014/main" id="{2046F09A-281C-4A29-BB31-82115BB328F2}"/>
                </a:ext>
              </a:extLst>
            </p:cNvPr>
            <p:cNvSpPr/>
            <p:nvPr/>
          </p:nvSpPr>
          <p:spPr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66;p30">
              <a:extLst>
                <a:ext uri="{FF2B5EF4-FFF2-40B4-BE49-F238E27FC236}">
                  <a16:creationId xmlns:a16="http://schemas.microsoft.com/office/drawing/2014/main" id="{10C37F31-1F9D-4996-B579-EBD5D8E71801}"/>
                </a:ext>
              </a:extLst>
            </p:cNvPr>
            <p:cNvSpPr/>
            <p:nvPr/>
          </p:nvSpPr>
          <p:spPr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467;p30">
              <a:extLst>
                <a:ext uri="{FF2B5EF4-FFF2-40B4-BE49-F238E27FC236}">
                  <a16:creationId xmlns:a16="http://schemas.microsoft.com/office/drawing/2014/main" id="{AC355286-B7BD-4100-99C1-EA94527389E3}"/>
                </a:ext>
              </a:extLst>
            </p:cNvPr>
            <p:cNvSpPr/>
            <p:nvPr/>
          </p:nvSpPr>
          <p:spPr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468;p30">
              <a:extLst>
                <a:ext uri="{FF2B5EF4-FFF2-40B4-BE49-F238E27FC236}">
                  <a16:creationId xmlns:a16="http://schemas.microsoft.com/office/drawing/2014/main" id="{39C5BFD7-5661-4BAC-8471-69ADDF1E5F1E}"/>
                </a:ext>
              </a:extLst>
            </p:cNvPr>
            <p:cNvSpPr/>
            <p:nvPr/>
          </p:nvSpPr>
          <p:spPr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469;p30">
              <a:extLst>
                <a:ext uri="{FF2B5EF4-FFF2-40B4-BE49-F238E27FC236}">
                  <a16:creationId xmlns:a16="http://schemas.microsoft.com/office/drawing/2014/main" id="{FF23DF9F-04CF-4CAF-BCDE-A4E34BF971CB}"/>
                </a:ext>
              </a:extLst>
            </p:cNvPr>
            <p:cNvSpPr/>
            <p:nvPr/>
          </p:nvSpPr>
          <p:spPr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470;p30">
              <a:extLst>
                <a:ext uri="{FF2B5EF4-FFF2-40B4-BE49-F238E27FC236}">
                  <a16:creationId xmlns:a16="http://schemas.microsoft.com/office/drawing/2014/main" id="{7CA1DF06-5921-411F-814B-66578451227F}"/>
                </a:ext>
              </a:extLst>
            </p:cNvPr>
            <p:cNvSpPr/>
            <p:nvPr/>
          </p:nvSpPr>
          <p:spPr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471;p30">
              <a:extLst>
                <a:ext uri="{FF2B5EF4-FFF2-40B4-BE49-F238E27FC236}">
                  <a16:creationId xmlns:a16="http://schemas.microsoft.com/office/drawing/2014/main" id="{CA227177-BD8C-430C-9E17-D09A442D568B}"/>
                </a:ext>
              </a:extLst>
            </p:cNvPr>
            <p:cNvSpPr/>
            <p:nvPr/>
          </p:nvSpPr>
          <p:spPr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472;p30">
              <a:extLst>
                <a:ext uri="{FF2B5EF4-FFF2-40B4-BE49-F238E27FC236}">
                  <a16:creationId xmlns:a16="http://schemas.microsoft.com/office/drawing/2014/main" id="{B578B204-F9AE-41A6-9F5A-5D1D692B0A04}"/>
                </a:ext>
              </a:extLst>
            </p:cNvPr>
            <p:cNvSpPr/>
            <p:nvPr/>
          </p:nvSpPr>
          <p:spPr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473;p30">
              <a:extLst>
                <a:ext uri="{FF2B5EF4-FFF2-40B4-BE49-F238E27FC236}">
                  <a16:creationId xmlns:a16="http://schemas.microsoft.com/office/drawing/2014/main" id="{41C5B9FD-243E-4694-AF1C-017700102B28}"/>
                </a:ext>
              </a:extLst>
            </p:cNvPr>
            <p:cNvSpPr/>
            <p:nvPr/>
          </p:nvSpPr>
          <p:spPr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Заголовок 1">
            <a:extLst>
              <a:ext uri="{FF2B5EF4-FFF2-40B4-BE49-F238E27FC236}">
                <a16:creationId xmlns:a16="http://schemas.microsoft.com/office/drawing/2014/main" id="{F945BB60-3B94-4961-B514-86F3F479C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201" y="201958"/>
            <a:ext cx="8588469" cy="573088"/>
          </a:xfrm>
        </p:spPr>
        <p:txBody>
          <a:bodyPr>
            <a:normAutofit/>
          </a:bodyPr>
          <a:lstStyle/>
          <a:p>
            <a:r>
              <a:rPr lang="en-US" sz="2300" dirty="0"/>
              <a:t>Prototype sketch (Assignment 1 – Week 3)</a:t>
            </a:r>
          </a:p>
        </p:txBody>
      </p:sp>
      <p:sp>
        <p:nvSpPr>
          <p:cNvPr id="17" name="Объект 16">
            <a:extLst>
              <a:ext uri="{FF2B5EF4-FFF2-40B4-BE49-F238E27FC236}">
                <a16:creationId xmlns:a16="http://schemas.microsoft.com/office/drawing/2014/main" id="{4972462F-DF15-4848-B7EE-523633A94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23" y="760104"/>
            <a:ext cx="7862411" cy="3623292"/>
          </a:xfrm>
        </p:spPr>
        <p:txBody>
          <a:bodyPr/>
          <a:lstStyle/>
          <a:p>
            <a:pPr marL="1143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your mind map, choose one solution that seems most realistic and innovative.</a:t>
            </a:r>
          </a:p>
          <a:p>
            <a:pPr marL="1143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Research briefly (use reliable sources) to check if similar solutions exist and how they were implemented. Your idea should be informed by existing studies.</a:t>
            </a:r>
          </a:p>
          <a:p>
            <a:pPr marL="1143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Sketch a prototype of your idea on paper. It does NOT need to be artistic.</a:t>
            </a:r>
          </a:p>
          <a:p>
            <a:pPr marL="1143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You may design it as: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poster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infographic (problem → solution → impact)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mobile app interface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diagram</a:t>
            </a:r>
          </a:p>
          <a:p>
            <a:pPr marL="1143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Prepare to present your prototype in 8-10 minutes: explain the problem, your solution, the expected impact, and mention its connection to any existing research</a:t>
            </a:r>
          </a:p>
          <a:p>
            <a:pPr marL="1143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When presenting, make sure to use at least 5 phrases from the list on the next slide.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89437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B3A57-3ACE-175E-3209-064050402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589" y="6113"/>
            <a:ext cx="8682192" cy="357816"/>
          </a:xfrm>
        </p:spPr>
        <p:txBody>
          <a:bodyPr/>
          <a:lstStyle/>
          <a:p>
            <a:r>
              <a:rPr lang="en-US" sz="2400" dirty="0">
                <a:latin typeface="+mj-lt"/>
              </a:rPr>
              <a:t>Professional Vocabulary for Prototype 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071DB-BC4B-2F19-AD55-F706D61C4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305" y="434671"/>
            <a:ext cx="8924508" cy="4504536"/>
          </a:xfrm>
        </p:spPr>
        <p:txBody>
          <a:bodyPr/>
          <a:lstStyle/>
          <a:p>
            <a:pPr>
              <a:lnSpc>
                <a:spcPct val="114999"/>
              </a:lnSpc>
            </a:pPr>
            <a:endParaRPr lang="en-US" sz="1600" dirty="0"/>
          </a:p>
          <a:p>
            <a:pPr>
              <a:lnSpc>
                <a:spcPct val="114999"/>
              </a:lnSpc>
            </a:pPr>
            <a:endParaRPr lang="en-US" sz="1800" dirty="0"/>
          </a:p>
          <a:p>
            <a:pPr>
              <a:lnSpc>
                <a:spcPct val="114999"/>
              </a:lnSpc>
            </a:pPr>
            <a:endParaRPr lang="en-US" sz="1800" dirty="0"/>
          </a:p>
          <a:p>
            <a:pPr marL="139700" indent="0">
              <a:lnSpc>
                <a:spcPct val="114999"/>
              </a:lnSpc>
              <a:buNone/>
            </a:pPr>
            <a:endParaRPr lang="en-US" sz="1800" dirty="0"/>
          </a:p>
          <a:p>
            <a:pPr marL="139700" indent="0">
              <a:lnSpc>
                <a:spcPct val="114999"/>
              </a:lnSpc>
              <a:buNone/>
            </a:pP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3EA528-F8FA-1A40-257B-D7358EB7E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4B53A-A2EF-49F1-BBC3-56318C8CAFFC}" type="slidenum">
              <a:rPr lang="ru-RU" smtClean="0"/>
              <a:t>7</a:t>
            </a:fld>
            <a:endParaRPr lang="ru-RU"/>
          </a:p>
        </p:txBody>
      </p:sp>
      <p:pic>
        <p:nvPicPr>
          <p:cNvPr id="5" name="Объект 6">
            <a:extLst>
              <a:ext uri="{FF2B5EF4-FFF2-40B4-BE49-F238E27FC236}">
                <a16:creationId xmlns:a16="http://schemas.microsoft.com/office/drawing/2014/main" id="{124B2FB2-12EC-6170-EDD3-E475F96354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717" t="3136" r="27265" b="21733"/>
          <a:stretch/>
        </p:blipFill>
        <p:spPr>
          <a:xfrm>
            <a:off x="647113" y="604911"/>
            <a:ext cx="7587176" cy="43047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68975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51B99-EE0A-3DE5-FD7C-169A2B738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B43DE-895F-9012-7B1F-82915096B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589" y="6113"/>
            <a:ext cx="8682192" cy="357816"/>
          </a:xfrm>
        </p:spPr>
        <p:txBody>
          <a:bodyPr/>
          <a:lstStyle/>
          <a:p>
            <a:r>
              <a:rPr lang="en-US" sz="2000" dirty="0">
                <a:latin typeface="+mj-lt"/>
              </a:rPr>
              <a:t>Assessment rubric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03360-33F3-2026-E23E-62A4A9565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309" y="544399"/>
            <a:ext cx="8590752" cy="4051908"/>
          </a:xfrm>
        </p:spPr>
        <p:txBody>
          <a:bodyPr/>
          <a:lstStyle/>
          <a:p>
            <a:pPr>
              <a:lnSpc>
                <a:spcPct val="114999"/>
              </a:lnSpc>
            </a:pPr>
            <a:endParaRPr lang="en-US" sz="1800" dirty="0"/>
          </a:p>
          <a:p>
            <a:pPr>
              <a:lnSpc>
                <a:spcPct val="114999"/>
              </a:lnSpc>
            </a:pPr>
            <a:endParaRPr lang="en-US" sz="1800" dirty="0"/>
          </a:p>
          <a:p>
            <a:pPr marL="139700" indent="0">
              <a:lnSpc>
                <a:spcPct val="114999"/>
              </a:lnSpc>
              <a:buNone/>
            </a:pPr>
            <a:endParaRPr lang="en-US" sz="1800" dirty="0"/>
          </a:p>
          <a:p>
            <a:pPr marL="139700" indent="0">
              <a:lnSpc>
                <a:spcPct val="114999"/>
              </a:lnSpc>
              <a:buNone/>
            </a:pP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801A0D-D525-F45E-EDFC-7A32DF8DA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4B53A-A2EF-49F1-BBC3-56318C8CAFFC}" type="slidenum">
              <a:rPr lang="ru-RU" smtClean="0"/>
              <a:t>8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E721E3-4B32-1DE1-9F79-C33CEC1E8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66" y="590641"/>
            <a:ext cx="7882913" cy="427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53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96BBCFA5-58EF-43A5-80C4-10A42BC0CDC5}"/>
              </a:ext>
            </a:extLst>
          </p:cNvPr>
          <p:cNvSpPr>
            <a:spLocks noGrp="1"/>
          </p:cNvSpPr>
          <p:nvPr/>
        </p:nvSpPr>
        <p:spPr>
          <a:xfrm>
            <a:off x="381000" y="228600"/>
            <a:ext cx="82867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250" b="0" dirty="0">
                <a:solidFill>
                  <a:srgbClr val="17365D"/>
                </a:solidFill>
                <a:latin typeface="Arial"/>
                <a:ea typeface="Arial"/>
                <a:cs typeface="Arial"/>
              </a:rPr>
              <a:t>Abstract</a:t>
            </a:r>
            <a:r>
              <a:rPr lang="en-US" sz="2250" b="0" dirty="0">
                <a:solidFill>
                  <a:srgbClr val="17365D"/>
                </a:solidFill>
                <a:latin typeface="Arial"/>
                <a:ea typeface="Arial"/>
                <a:cs typeface="Arial"/>
              </a:rPr>
              <a:t>: </a:t>
            </a:r>
            <a:r>
              <a:rPr lang="en-US" sz="2400" dirty="0" err="1">
                <a:latin typeface="+mj-lt"/>
              </a:rPr>
              <a:t>Sorooshian</a:t>
            </a:r>
            <a:r>
              <a:rPr lang="en-US" sz="2400" dirty="0">
                <a:latin typeface="+mj-lt"/>
              </a:rPr>
              <a:t> (2024)</a:t>
            </a:r>
            <a:endParaRPr sz="2250" b="0" dirty="0">
              <a:solidFill>
                <a:srgbClr val="17365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Directions">
            <a:extLst>
              <a:ext uri="{FF2B5EF4-FFF2-40B4-BE49-F238E27FC236}">
                <a16:creationId xmlns:a16="http://schemas.microsoft.com/office/drawing/2014/main" id="{A0D53808-AB35-42B9-8218-6D11C425D79F}"/>
              </a:ext>
            </a:extLst>
          </p:cNvPr>
          <p:cNvSpPr>
            <a:spLocks noGrp="1"/>
          </p:cNvSpPr>
          <p:nvPr/>
        </p:nvSpPr>
        <p:spPr>
          <a:xfrm>
            <a:off x="400050" y="742950"/>
            <a:ext cx="8334375" cy="38583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35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Read only the abstract. Complete the table.</a:t>
            </a:r>
          </a:p>
        </p:txBody>
      </p:sp>
      <p:graphicFrame>
        <p:nvGraphicFramePr>
          <p:cNvPr id="7" name="Таблица 6"/>
          <p:cNvGraphicFramePr/>
          <p:nvPr>
            <p:extLst>
              <p:ext uri="{D42A27DB-BD31-4B8C-83A1-F6EECF244321}">
                <p14:modId xmlns:p14="http://schemas.microsoft.com/office/powerpoint/2010/main" val="2359527921"/>
              </p:ext>
            </p:extLst>
          </p:nvPr>
        </p:nvGraphicFramePr>
        <p:xfrm>
          <a:off x="400050" y="1246909"/>
          <a:ext cx="8334375" cy="2991714"/>
        </p:xfrm>
        <a:graphic>
          <a:graphicData uri="http://schemas.openxmlformats.org/drawingml/2006/table">
            <a:tbl>
              <a:tblPr firstRow="1" firstCol="1"/>
              <a:tblGrid>
                <a:gridCol w="233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861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Element</a:t>
                      </a:r>
                    </a:p>
                  </a:txBody>
                  <a:tcPr marL="95250" marR="95250" marT="66675" marB="6667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 from the abstract</a:t>
                      </a:r>
                    </a:p>
                  </a:txBody>
                  <a:tcPr marL="95250" marR="95250" marT="66675" marB="66675" anchor="ctr"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61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Arial"/>
                          <a:ea typeface="Arial"/>
                          <a:cs typeface="Arial"/>
                        </a:rPr>
                        <a:t>Research problem</a:t>
                      </a:r>
                    </a:p>
                  </a:txBody>
                  <a:tcPr marL="95250" marR="76200" marT="57150" marB="57150" anchor="ctr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61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Arial"/>
                          <a:ea typeface="Arial"/>
                          <a:cs typeface="Arial"/>
                        </a:rPr>
                        <a:t>Aim</a:t>
                      </a:r>
                    </a:p>
                  </a:txBody>
                  <a:tcPr marL="95250" marR="76200" marT="57150" marB="57150" anchor="ctr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61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95250" marR="76200" marT="57150" marB="57150" anchor="ctr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61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Arial"/>
                          <a:ea typeface="Arial"/>
                          <a:cs typeface="Arial"/>
                        </a:rPr>
                        <a:t>Main findings</a:t>
                      </a:r>
                    </a:p>
                  </a:txBody>
                  <a:tcPr marL="95250" marR="76200" marT="57150" marB="57150" anchor="ctr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861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Arial"/>
                          <a:ea typeface="Arial"/>
                          <a:cs typeface="Arial"/>
                        </a:rPr>
                        <a:t>Intended contribution</a:t>
                      </a:r>
                    </a:p>
                  </a:txBody>
                  <a:tcPr marL="95250" marR="76200" marT="57150" marB="57150" anchor="ctr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3258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FAE9F-5301-FB60-4DAA-C65D265CB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B3BD5-21DA-F03C-A6D1-6A0C8FD15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161" y="170705"/>
            <a:ext cx="8682192" cy="572700"/>
          </a:xfrm>
        </p:spPr>
        <p:txBody>
          <a:bodyPr/>
          <a:lstStyle/>
          <a:p>
            <a:r>
              <a:rPr lang="en-US" sz="2250" dirty="0">
                <a:solidFill>
                  <a:srgbClr val="17365D"/>
                </a:solidFill>
                <a:latin typeface="Arial"/>
                <a:cs typeface="Arial"/>
                <a:sym typeface="Arial"/>
              </a:rPr>
              <a:t>Introduction: </a:t>
            </a:r>
            <a:r>
              <a:rPr lang="en-US" sz="2250" dirty="0" err="1">
                <a:solidFill>
                  <a:srgbClr val="17365D"/>
                </a:solidFill>
                <a:latin typeface="Arial"/>
                <a:cs typeface="Arial"/>
                <a:sym typeface="Arial"/>
              </a:rPr>
              <a:t>Sorooshian</a:t>
            </a:r>
            <a:r>
              <a:rPr lang="en-US" sz="2250" dirty="0">
                <a:solidFill>
                  <a:srgbClr val="17365D"/>
                </a:solidFill>
                <a:latin typeface="Arial"/>
                <a:cs typeface="Arial"/>
                <a:sym typeface="Arial"/>
              </a:rPr>
              <a:t> (2024)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CD6C5-508D-AF0E-7D9A-6B14A88AF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029" y="651893"/>
            <a:ext cx="8590752" cy="3916982"/>
          </a:xfrm>
        </p:spPr>
        <p:txBody>
          <a:bodyPr/>
          <a:lstStyle/>
          <a:p>
            <a:r>
              <a:rPr lang="en-US" sz="1800" dirty="0">
                <a:latin typeface="+mj-lt"/>
              </a:rPr>
              <a:t>Read the introductory part of the article by </a:t>
            </a:r>
            <a:r>
              <a:rPr lang="en-US" sz="1800" dirty="0" err="1">
                <a:latin typeface="+mj-lt"/>
              </a:rPr>
              <a:t>Sorooshian</a:t>
            </a:r>
            <a:r>
              <a:rPr lang="en-US" sz="1800" dirty="0">
                <a:latin typeface="+mj-lt"/>
              </a:rPr>
              <a:t> (2024),(2024)</a:t>
            </a:r>
          </a:p>
          <a:p>
            <a:r>
              <a:rPr lang="en-US" sz="1800" dirty="0">
                <a:latin typeface="+mj-lt"/>
              </a:rPr>
              <a:t>While reading, find a word in the text that matches each definition on the next slide.</a:t>
            </a:r>
          </a:p>
          <a:p>
            <a:pPr>
              <a:lnSpc>
                <a:spcPct val="114999"/>
              </a:lnSpc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502EF-2301-4530-4573-CBB503FB6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4B53A-A2EF-49F1-BBC3-56318C8CAFFC}" type="slidenum">
              <a:rPr lang="ru-RU" smtClean="0"/>
              <a:t>10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379376-F5AB-4E48-95FD-D916FEA2B03F}"/>
              </a:ext>
            </a:extLst>
          </p:cNvPr>
          <p:cNvSpPr txBox="1"/>
          <p:nvPr/>
        </p:nvSpPr>
        <p:spPr>
          <a:xfrm>
            <a:off x="587339" y="1769502"/>
            <a:ext cx="842433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" sz="1800" dirty="0">
                <a:solidFill>
                  <a:schemeClr val="dk1"/>
                </a:solidFill>
                <a:latin typeface="+mj-lt"/>
                <a:sym typeface="Manrope"/>
              </a:rPr>
              <a:t>A word meaning to completely remove or destroy something (para 1). </a:t>
            </a:r>
          </a:p>
          <a:p>
            <a:pPr marL="342900" indent="-342900">
              <a:buFont typeface="+mj-lt"/>
              <a:buAutoNum type="arabicPeriod"/>
            </a:pPr>
            <a:r>
              <a:rPr lang="en" sz="1800" dirty="0">
                <a:solidFill>
                  <a:schemeClr val="dk1"/>
                </a:solidFill>
                <a:latin typeface="+mj-lt"/>
                <a:sym typeface="Manrope"/>
              </a:rPr>
              <a:t>To state or argue something strongly as a fact or opinion (para 2) </a:t>
            </a:r>
          </a:p>
          <a:p>
            <a:pPr marL="342900" indent="-342900">
              <a:buFont typeface="+mj-lt"/>
              <a:buAutoNum type="arabicPeriod"/>
            </a:pPr>
            <a:r>
              <a:rPr lang="en" sz="1800" dirty="0">
                <a:solidFill>
                  <a:schemeClr val="dk1"/>
                </a:solidFill>
                <a:latin typeface="+mj-lt"/>
                <a:sym typeface="Manrope"/>
              </a:rPr>
              <a:t>A serious and determined attempt or effort to do something (para 3) </a:t>
            </a:r>
          </a:p>
          <a:p>
            <a:pPr marL="342900" indent="-342900">
              <a:buFont typeface="+mj-lt"/>
              <a:buAutoNum type="arabicPeriod"/>
            </a:pPr>
            <a:r>
              <a:rPr lang="en" sz="1800" dirty="0">
                <a:solidFill>
                  <a:schemeClr val="dk1"/>
                </a:solidFill>
                <a:latin typeface="+mj-lt"/>
                <a:sym typeface="Manrope"/>
              </a:rPr>
              <a:t>Measuring, assessing, or evaluating   (para 3) </a:t>
            </a:r>
          </a:p>
          <a:p>
            <a:pPr marL="342900" indent="-342900">
              <a:buFont typeface="+mj-lt"/>
              <a:buAutoNum type="arabicPeriod"/>
            </a:pPr>
            <a:r>
              <a:rPr lang="en" sz="1800" dirty="0">
                <a:solidFill>
                  <a:schemeClr val="dk1"/>
                </a:solidFill>
                <a:latin typeface="+mj-lt"/>
                <a:sym typeface="Manrope"/>
              </a:rPr>
              <a:t>People or groups involved in or affected by a project (para 4) </a:t>
            </a:r>
          </a:p>
          <a:p>
            <a:pPr marL="342900" indent="-342900">
              <a:buFont typeface="+mj-lt"/>
              <a:buAutoNum type="arabicPeriod"/>
            </a:pPr>
            <a:r>
              <a:rPr lang="en" sz="1800" dirty="0">
                <a:solidFill>
                  <a:schemeClr val="dk1"/>
                </a:solidFill>
                <a:latin typeface="+mj-lt"/>
                <a:sym typeface="Manrope"/>
              </a:rPr>
              <a:t>The likelihood that something can be done successfully (para 5) </a:t>
            </a:r>
          </a:p>
          <a:p>
            <a:pPr marL="342900" indent="-342900">
              <a:buFont typeface="+mj-lt"/>
              <a:buAutoNum type="arabicPeriod"/>
            </a:pPr>
            <a:r>
              <a:rPr lang="en" sz="1800" dirty="0">
                <a:solidFill>
                  <a:schemeClr val="dk1"/>
                </a:solidFill>
                <a:latin typeface="+mj-lt"/>
                <a:sym typeface="Manrope"/>
              </a:rPr>
              <a:t>The quality of being directly related to or important for a particular subject or situation (para 5) </a:t>
            </a:r>
          </a:p>
          <a:p>
            <a:pPr marL="342900" indent="-342900">
              <a:buFont typeface="+mj-lt"/>
              <a:buAutoNum type="arabicPeriod"/>
            </a:pPr>
            <a:r>
              <a:rPr lang="en" sz="1800" dirty="0">
                <a:solidFill>
                  <a:schemeClr val="dk1"/>
                </a:solidFill>
                <a:latin typeface="+mj-lt"/>
                <a:sym typeface="Manrope"/>
              </a:rPr>
              <a:t>Depending on something else happening (para 6) </a:t>
            </a:r>
          </a:p>
          <a:p>
            <a:pPr marL="342900" indent="-342900">
              <a:buFont typeface="+mj-lt"/>
              <a:buAutoNum type="arabicPeriod"/>
            </a:pPr>
            <a:r>
              <a:rPr lang="en" sz="1800" dirty="0">
                <a:solidFill>
                  <a:schemeClr val="dk1"/>
                </a:solidFill>
                <a:latin typeface="+mj-lt"/>
                <a:sym typeface="Manrope"/>
              </a:rPr>
              <a:t>To begin or start something (para 6) </a:t>
            </a:r>
          </a:p>
          <a:p>
            <a:pPr marL="342900" indent="-342900">
              <a:buFont typeface="+mj-lt"/>
              <a:buAutoNum type="arabicPeriod"/>
            </a:pPr>
            <a:r>
              <a:rPr lang="en" sz="1800" dirty="0">
                <a:solidFill>
                  <a:schemeClr val="dk1"/>
                </a:solidFill>
                <a:latin typeface="+mj-lt"/>
                <a:sym typeface="Manrope"/>
              </a:rPr>
              <a:t>To correct something that is wrong or inaccurate (para 8) </a:t>
            </a:r>
          </a:p>
        </p:txBody>
      </p:sp>
    </p:spTree>
    <p:extLst>
      <p:ext uri="{BB962C8B-B14F-4D97-AF65-F5344CB8AC3E}">
        <p14:creationId xmlns:p14="http://schemas.microsoft.com/office/powerpoint/2010/main" val="2994030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">
            <a:extLst>
              <a:ext uri="{FF2B5EF4-FFF2-40B4-BE49-F238E27FC236}">
                <a16:creationId xmlns:a16="http://schemas.microsoft.com/office/drawing/2014/main" id="{27E816E9-F1F5-4F13-BD54-4F630840D22B}"/>
              </a:ext>
            </a:extLst>
          </p:cNvPr>
          <p:cNvSpPr>
            <a:spLocks noGrp="1"/>
          </p:cNvSpPr>
          <p:nvPr/>
        </p:nvSpPr>
        <p:spPr>
          <a:xfrm>
            <a:off x="400050" y="238125"/>
            <a:ext cx="8334375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250" dirty="0">
                <a:solidFill>
                  <a:srgbClr val="17365D"/>
                </a:solidFill>
                <a:latin typeface="Arial"/>
                <a:ea typeface="Arial"/>
                <a:cs typeface="Arial"/>
              </a:rPr>
              <a:t>Introduction: </a:t>
            </a:r>
            <a:r>
              <a:rPr lang="en-US" sz="2250" dirty="0" err="1">
                <a:solidFill>
                  <a:srgbClr val="17365D"/>
                </a:solidFill>
                <a:latin typeface="Arial"/>
                <a:cs typeface="Arial"/>
                <a:sym typeface="Arial"/>
              </a:rPr>
              <a:t>Sorooshian</a:t>
            </a:r>
            <a:r>
              <a:rPr lang="en-US" sz="2250" dirty="0">
                <a:solidFill>
                  <a:srgbClr val="17365D"/>
                </a:solidFill>
                <a:latin typeface="Arial"/>
                <a:cs typeface="Arial"/>
                <a:sym typeface="Arial"/>
              </a:rPr>
              <a:t> (2024)</a:t>
            </a:r>
            <a:endParaRPr sz="2250" dirty="0">
              <a:solidFill>
                <a:srgbClr val="17365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Directions">
            <a:extLst>
              <a:ext uri="{FF2B5EF4-FFF2-40B4-BE49-F238E27FC236}">
                <a16:creationId xmlns:a16="http://schemas.microsoft.com/office/drawing/2014/main" id="{6C39B53F-F6C4-470D-93B9-666AC81EBA95}"/>
              </a:ext>
            </a:extLst>
          </p:cNvPr>
          <p:cNvSpPr>
            <a:spLocks noGrp="1"/>
          </p:cNvSpPr>
          <p:nvPr/>
        </p:nvSpPr>
        <p:spPr>
          <a:xfrm>
            <a:off x="419100" y="781050"/>
            <a:ext cx="82867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75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Answer each question with a concise response.</a:t>
            </a:r>
          </a:p>
        </p:txBody>
      </p:sp>
      <p:sp>
        <p:nvSpPr>
          <p:cNvPr id="3" name="Number 1">
            <a:extLst>
              <a:ext uri="{FF2B5EF4-FFF2-40B4-BE49-F238E27FC236}">
                <a16:creationId xmlns:a16="http://schemas.microsoft.com/office/drawing/2014/main" id="{25D4F7E3-EB50-4D06-A9C3-602754D1F5E5}"/>
              </a:ext>
            </a:extLst>
          </p:cNvPr>
          <p:cNvSpPr>
            <a:spLocks noGrp="1"/>
          </p:cNvSpPr>
          <p:nvPr/>
        </p:nvSpPr>
        <p:spPr>
          <a:xfrm>
            <a:off x="523875" y="1381125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25" b="1">
                <a:solidFill>
                  <a:srgbClr val="2F65B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65B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Question 1">
            <a:extLst>
              <a:ext uri="{FF2B5EF4-FFF2-40B4-BE49-F238E27FC236}">
                <a16:creationId xmlns:a16="http://schemas.microsoft.com/office/drawing/2014/main" id="{745FF5BE-1884-4EC0-A8AF-2BAAE6764089}"/>
              </a:ext>
            </a:extLst>
          </p:cNvPr>
          <p:cNvSpPr>
            <a:spLocks noGrp="1"/>
          </p:cNvSpPr>
          <p:nvPr/>
        </p:nvSpPr>
        <p:spPr>
          <a:xfrm>
            <a:off x="1066800" y="1371600"/>
            <a:ext cx="7429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575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What global problem does the author introduce?</a:t>
            </a:r>
          </a:p>
        </p:txBody>
      </p:sp>
      <p:sp>
        <p:nvSpPr>
          <p:cNvPr id="5" name="Number 2">
            <a:extLst>
              <a:ext uri="{FF2B5EF4-FFF2-40B4-BE49-F238E27FC236}">
                <a16:creationId xmlns:a16="http://schemas.microsoft.com/office/drawing/2014/main" id="{6BDCE222-DFDF-49F8-B467-CEEBD81EC84F}"/>
              </a:ext>
            </a:extLst>
          </p:cNvPr>
          <p:cNvSpPr>
            <a:spLocks noGrp="1"/>
          </p:cNvSpPr>
          <p:nvPr/>
        </p:nvSpPr>
        <p:spPr>
          <a:xfrm>
            <a:off x="523875" y="1971675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25" b="1">
                <a:solidFill>
                  <a:srgbClr val="2F65B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65B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Question 2">
            <a:extLst>
              <a:ext uri="{FF2B5EF4-FFF2-40B4-BE49-F238E27FC236}">
                <a16:creationId xmlns:a16="http://schemas.microsoft.com/office/drawing/2014/main" id="{8008D931-359A-433B-B649-7DC6576C5BC6}"/>
              </a:ext>
            </a:extLst>
          </p:cNvPr>
          <p:cNvSpPr>
            <a:spLocks noGrp="1"/>
          </p:cNvSpPr>
          <p:nvPr/>
        </p:nvSpPr>
        <p:spPr>
          <a:xfrm>
            <a:off x="1066800" y="1962150"/>
            <a:ext cx="7429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575" dirty="0">
                <a:solidFill>
                  <a:srgbClr val="1F1F1F"/>
                </a:solidFill>
                <a:latin typeface="Arial"/>
                <a:ea typeface="Arial"/>
                <a:cs typeface="Arial"/>
              </a:rPr>
              <a:t>What research gap does the author identify?</a:t>
            </a:r>
          </a:p>
        </p:txBody>
      </p:sp>
      <p:sp>
        <p:nvSpPr>
          <p:cNvPr id="7" name="Number 3">
            <a:extLst>
              <a:ext uri="{FF2B5EF4-FFF2-40B4-BE49-F238E27FC236}">
                <a16:creationId xmlns:a16="http://schemas.microsoft.com/office/drawing/2014/main" id="{0F234EA3-1526-4CCF-AC47-E48B8629884B}"/>
              </a:ext>
            </a:extLst>
          </p:cNvPr>
          <p:cNvSpPr>
            <a:spLocks noGrp="1"/>
          </p:cNvSpPr>
          <p:nvPr/>
        </p:nvSpPr>
        <p:spPr>
          <a:xfrm>
            <a:off x="523875" y="2562225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25" b="1">
                <a:solidFill>
                  <a:srgbClr val="2F65B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65B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Question 3">
            <a:extLst>
              <a:ext uri="{FF2B5EF4-FFF2-40B4-BE49-F238E27FC236}">
                <a16:creationId xmlns:a16="http://schemas.microsoft.com/office/drawing/2014/main" id="{6926E82D-3E7F-44C5-A74E-371AAA9F09C3}"/>
              </a:ext>
            </a:extLst>
          </p:cNvPr>
          <p:cNvSpPr>
            <a:spLocks noGrp="1"/>
          </p:cNvSpPr>
          <p:nvPr/>
        </p:nvSpPr>
        <p:spPr>
          <a:xfrm>
            <a:off x="1066800" y="2552700"/>
            <a:ext cx="7429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F1F1F"/>
                </a:solidFill>
                <a:latin typeface="Arial"/>
                <a:ea typeface="Arial"/>
                <a:cs typeface="Arial"/>
              </a:rPr>
              <a:t>How does the author define “research-friendly”?</a:t>
            </a:r>
          </a:p>
        </p:txBody>
      </p:sp>
      <p:sp>
        <p:nvSpPr>
          <p:cNvPr id="9" name="Number 4">
            <a:extLst>
              <a:ext uri="{FF2B5EF4-FFF2-40B4-BE49-F238E27FC236}">
                <a16:creationId xmlns:a16="http://schemas.microsoft.com/office/drawing/2014/main" id="{B6222EED-8857-4756-804C-DA419D8AD1C2}"/>
              </a:ext>
            </a:extLst>
          </p:cNvPr>
          <p:cNvSpPr>
            <a:spLocks noGrp="1"/>
          </p:cNvSpPr>
          <p:nvPr/>
        </p:nvSpPr>
        <p:spPr>
          <a:xfrm>
            <a:off x="523875" y="3152775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25" b="1">
                <a:solidFill>
                  <a:srgbClr val="2F65B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65B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" name="Question 4">
            <a:extLst>
              <a:ext uri="{FF2B5EF4-FFF2-40B4-BE49-F238E27FC236}">
                <a16:creationId xmlns:a16="http://schemas.microsoft.com/office/drawing/2014/main" id="{BDE4A661-B7B7-48E2-B9E3-3EF52ADB944D}"/>
              </a:ext>
            </a:extLst>
          </p:cNvPr>
          <p:cNvSpPr>
            <a:spLocks noGrp="1"/>
          </p:cNvSpPr>
          <p:nvPr/>
        </p:nvSpPr>
        <p:spPr>
          <a:xfrm>
            <a:off x="1066800" y="3143250"/>
            <a:ext cx="7429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F1F1F"/>
                </a:solidFill>
                <a:latin typeface="Arial"/>
                <a:ea typeface="Arial"/>
                <a:cs typeface="Arial"/>
              </a:rPr>
              <a:t>Why does the author believe this concept matters?</a:t>
            </a:r>
          </a:p>
        </p:txBody>
      </p:sp>
      <p:sp>
        <p:nvSpPr>
          <p:cNvPr id="11" name="Number 5">
            <a:extLst>
              <a:ext uri="{FF2B5EF4-FFF2-40B4-BE49-F238E27FC236}">
                <a16:creationId xmlns:a16="http://schemas.microsoft.com/office/drawing/2014/main" id="{8EFB9D8F-ACF9-47E9-B627-D8386731ED92}"/>
              </a:ext>
            </a:extLst>
          </p:cNvPr>
          <p:cNvSpPr>
            <a:spLocks noGrp="1"/>
          </p:cNvSpPr>
          <p:nvPr/>
        </p:nvSpPr>
        <p:spPr>
          <a:xfrm>
            <a:off x="523875" y="3743325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25" b="1">
                <a:solidFill>
                  <a:srgbClr val="2F65B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65B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2" name="Question 5">
            <a:extLst>
              <a:ext uri="{FF2B5EF4-FFF2-40B4-BE49-F238E27FC236}">
                <a16:creationId xmlns:a16="http://schemas.microsoft.com/office/drawing/2014/main" id="{EDD5D735-9856-4188-8C43-320F55B95389}"/>
              </a:ext>
            </a:extLst>
          </p:cNvPr>
          <p:cNvSpPr>
            <a:spLocks noGrp="1"/>
          </p:cNvSpPr>
          <p:nvPr/>
        </p:nvSpPr>
        <p:spPr>
          <a:xfrm>
            <a:off x="1066800" y="3733800"/>
            <a:ext cx="7429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F1F1F"/>
                </a:solidFill>
                <a:latin typeface="Arial"/>
                <a:ea typeface="Arial"/>
                <a:cs typeface="Arial"/>
              </a:rPr>
              <a:t>What is the study’s research objective?</a:t>
            </a:r>
          </a:p>
        </p:txBody>
      </p:sp>
    </p:spTree>
    <p:extLst>
      <p:ext uri="{BB962C8B-B14F-4D97-AF65-F5344CB8AC3E}">
        <p14:creationId xmlns:p14="http://schemas.microsoft.com/office/powerpoint/2010/main" val="895707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232581"/>
            <a:ext cx="56235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dirty="0">
                <a:solidFill>
                  <a:srgbClr val="17365D"/>
                </a:solidFill>
              </a:rPr>
              <a:t>Method: </a:t>
            </a:r>
            <a:r>
              <a:rPr lang="en-US" sz="2250" dirty="0" err="1">
                <a:solidFill>
                  <a:srgbClr val="17365D"/>
                </a:solidFill>
                <a:latin typeface="Arial"/>
                <a:cs typeface="Arial"/>
                <a:sym typeface="Arial"/>
              </a:rPr>
              <a:t>Sorooshian</a:t>
            </a:r>
            <a:r>
              <a:rPr lang="en-US" sz="2250" dirty="0">
                <a:solidFill>
                  <a:srgbClr val="17365D"/>
                </a:solidFill>
                <a:latin typeface="Arial"/>
                <a:cs typeface="Arial"/>
                <a:sym typeface="Arial"/>
              </a:rPr>
              <a:t> (2024)</a:t>
            </a:r>
            <a:endParaRPr lang="en-US" sz="2250" dirty="0">
              <a:solidFill>
                <a:srgbClr val="17365D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29184" y="534924"/>
            <a:ext cx="80924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75" dirty="0">
                <a:solidFill>
                  <a:srgbClr val="333333"/>
                </a:solidFill>
              </a:rPr>
              <a:t>Read the Method section. The stages below are in the wrong order. Number them 1–5 according to the order in which they are described in the article.</a:t>
            </a:r>
          </a:p>
        </p:txBody>
      </p:sp>
      <p:sp>
        <p:nvSpPr>
          <p:cNvPr id="4" name="Shape 2"/>
          <p:cNvSpPr/>
          <p:nvPr/>
        </p:nvSpPr>
        <p:spPr>
          <a:xfrm>
            <a:off x="329184" y="4752594"/>
            <a:ext cx="8469630" cy="0"/>
          </a:xfrm>
          <a:prstGeom prst="line">
            <a:avLst/>
          </a:prstGeom>
          <a:noFill/>
          <a:ln w="12700">
            <a:solidFill>
              <a:srgbClr val="C8D8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" y="973836"/>
            <a:ext cx="8469630" cy="3394710"/>
          </a:xfrm>
          <a:prstGeom prst="roundRect">
            <a:avLst>
              <a:gd name="adj" fmla="val 1212"/>
            </a:avLst>
          </a:prstGeom>
          <a:solidFill>
            <a:srgbClr val="F5F8FC"/>
          </a:solidFill>
          <a:ln w="12700">
            <a:solidFill>
              <a:srgbClr val="C8D8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4924" y="1179576"/>
            <a:ext cx="233172" cy="2331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F81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447038"/>
            <a:ext cx="3154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dirty="0">
                <a:solidFill>
                  <a:srgbClr val="7A8798"/>
                </a:solidFill>
              </a:rPr>
              <a:t>___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877824" y="1165860"/>
            <a:ext cx="750951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dirty="0">
                <a:solidFill>
                  <a:srgbClr val="1F1F1F"/>
                </a:solidFill>
              </a:rPr>
              <a:t>Ask two sustainability researchers to provide feedback on the ChatGPT responses</a:t>
            </a:r>
            <a:r>
              <a:rPr lang="en-US" sz="1050" dirty="0">
                <a:solidFill>
                  <a:srgbClr val="30343B"/>
                </a:solidFill>
              </a:rPr>
              <a:t>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34924" y="1783080"/>
            <a:ext cx="233172" cy="2331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F81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2050542"/>
            <a:ext cx="3154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dirty="0">
                <a:solidFill>
                  <a:srgbClr val="7A8798"/>
                </a:solidFill>
              </a:rPr>
              <a:t>___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877824" y="1769364"/>
            <a:ext cx="750951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dirty="0">
                <a:solidFill>
                  <a:srgbClr val="1F1F1F"/>
                </a:solidFill>
              </a:rPr>
              <a:t>Apply the EDAS method to evaluate and rank the SDGs by research-friendliness.</a:t>
            </a:r>
          </a:p>
        </p:txBody>
      </p:sp>
      <p:sp>
        <p:nvSpPr>
          <p:cNvPr id="12" name="Shape 10"/>
          <p:cNvSpPr/>
          <p:nvPr/>
        </p:nvSpPr>
        <p:spPr>
          <a:xfrm>
            <a:off x="534924" y="2386584"/>
            <a:ext cx="233172" cy="2331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F81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2654046"/>
            <a:ext cx="3154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dirty="0">
                <a:solidFill>
                  <a:srgbClr val="7A8798"/>
                </a:solidFill>
              </a:rPr>
              <a:t>___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877824" y="2372868"/>
            <a:ext cx="750951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dirty="0">
                <a:solidFill>
                  <a:srgbClr val="1F1F1F"/>
                </a:solidFill>
              </a:rPr>
              <a:t>Collect research data for the SDGs from Scopus/</a:t>
            </a:r>
            <a:r>
              <a:rPr lang="en-US" dirty="0" err="1">
                <a:solidFill>
                  <a:srgbClr val="1F1F1F"/>
                </a:solidFill>
              </a:rPr>
              <a:t>SciVal</a:t>
            </a:r>
            <a:r>
              <a:rPr lang="en-US" dirty="0">
                <a:solidFill>
                  <a:srgbClr val="1F1F1F"/>
                </a:solidFill>
              </a:rPr>
              <a:t>.</a:t>
            </a:r>
          </a:p>
        </p:txBody>
      </p:sp>
      <p:sp>
        <p:nvSpPr>
          <p:cNvPr id="15" name="Shape 13"/>
          <p:cNvSpPr/>
          <p:nvPr/>
        </p:nvSpPr>
        <p:spPr>
          <a:xfrm>
            <a:off x="534924" y="2990088"/>
            <a:ext cx="233172" cy="2331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F81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3257550"/>
            <a:ext cx="3154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dirty="0">
                <a:solidFill>
                  <a:srgbClr val="7A8798"/>
                </a:solidFill>
              </a:rPr>
              <a:t>___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877824" y="2976372"/>
            <a:ext cx="750951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dirty="0">
                <a:solidFill>
                  <a:srgbClr val="1F1F1F"/>
                </a:solidFill>
              </a:rPr>
              <a:t>Use ChatGPT to identify research obstacles associated with each SDG.</a:t>
            </a:r>
          </a:p>
        </p:txBody>
      </p:sp>
      <p:sp>
        <p:nvSpPr>
          <p:cNvPr id="18" name="Shape 16"/>
          <p:cNvSpPr/>
          <p:nvPr/>
        </p:nvSpPr>
        <p:spPr>
          <a:xfrm>
            <a:off x="534924" y="3593592"/>
            <a:ext cx="233172" cy="2331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F81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" y="3861054"/>
            <a:ext cx="3154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dirty="0">
                <a:solidFill>
                  <a:srgbClr val="7A8798"/>
                </a:solidFill>
              </a:rPr>
              <a:t>___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877824" y="3579876"/>
            <a:ext cx="750951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dirty="0">
                <a:solidFill>
                  <a:srgbClr val="1F1F1F"/>
                </a:solidFill>
              </a:rPr>
              <a:t>Evaluate the SDGs using seven research-friendliness criteria.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">
            <a:extLst>
              <a:ext uri="{FF2B5EF4-FFF2-40B4-BE49-F238E27FC236}">
                <a16:creationId xmlns:a16="http://schemas.microsoft.com/office/drawing/2014/main" id="{B843743F-9BA7-4B64-83FF-8FA10C24FD5B}"/>
              </a:ext>
            </a:extLst>
          </p:cNvPr>
          <p:cNvSpPr>
            <a:spLocks noGrp="1"/>
          </p:cNvSpPr>
          <p:nvPr/>
        </p:nvSpPr>
        <p:spPr>
          <a:xfrm>
            <a:off x="381000" y="219075"/>
            <a:ext cx="838200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250" dirty="0">
                <a:solidFill>
                  <a:srgbClr val="17365D"/>
                </a:solidFill>
                <a:latin typeface="Arial"/>
                <a:ea typeface="Arial"/>
                <a:cs typeface="Arial"/>
              </a:rPr>
              <a:t>Results: </a:t>
            </a:r>
            <a:r>
              <a:rPr lang="en-US" sz="2250" dirty="0" err="1">
                <a:solidFill>
                  <a:srgbClr val="17365D"/>
                </a:solidFill>
                <a:latin typeface="Arial"/>
                <a:ea typeface="Arial"/>
                <a:cs typeface="Arial"/>
              </a:rPr>
              <a:t>Sorooshian</a:t>
            </a:r>
            <a:r>
              <a:rPr lang="en-US" sz="2250" dirty="0">
                <a:solidFill>
                  <a:srgbClr val="17365D"/>
                </a:solidFill>
                <a:latin typeface="Arial"/>
                <a:ea typeface="Arial"/>
                <a:cs typeface="Arial"/>
              </a:rPr>
              <a:t> (2024)</a:t>
            </a:r>
            <a:endParaRPr sz="2250" dirty="0">
              <a:solidFill>
                <a:srgbClr val="17365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Directions">
            <a:extLst>
              <a:ext uri="{FF2B5EF4-FFF2-40B4-BE49-F238E27FC236}">
                <a16:creationId xmlns:a16="http://schemas.microsoft.com/office/drawing/2014/main" id="{3738C6AB-1DEF-4520-818A-F63109AFFBD5}"/>
              </a:ext>
            </a:extLst>
          </p:cNvPr>
          <p:cNvSpPr>
            <a:spLocks noGrp="1"/>
          </p:cNvSpPr>
          <p:nvPr/>
        </p:nvSpPr>
        <p:spPr>
          <a:xfrm>
            <a:off x="400050" y="714375"/>
            <a:ext cx="833437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333333"/>
                </a:solidFill>
                <a:latin typeface="Arial"/>
                <a:ea typeface="Arial"/>
                <a:cs typeface="Arial"/>
              </a:rPr>
              <a:t>Study Figure 2 and the Results section. Support each answer with a detail from the article.</a:t>
            </a:r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050" y="1260542"/>
            <a:ext cx="4524375" cy="3079617"/>
          </a:xfrm>
          <a:prstGeom prst="rect">
            <a:avLst/>
          </a:prstGeom>
        </p:spPr>
      </p:pic>
      <p:sp>
        <p:nvSpPr>
          <p:cNvPr id="4" name="Number 1">
            <a:extLst>
              <a:ext uri="{FF2B5EF4-FFF2-40B4-BE49-F238E27FC236}">
                <a16:creationId xmlns:a16="http://schemas.microsoft.com/office/drawing/2014/main" id="{6A81EB1B-BDF0-497A-89DF-4964D8A18538}"/>
              </a:ext>
            </a:extLst>
          </p:cNvPr>
          <p:cNvSpPr>
            <a:spLocks noGrp="1"/>
          </p:cNvSpPr>
          <p:nvPr/>
        </p:nvSpPr>
        <p:spPr>
          <a:xfrm>
            <a:off x="5181600" y="1209675"/>
            <a:ext cx="3238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2F65B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65B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Question 1">
            <a:extLst>
              <a:ext uri="{FF2B5EF4-FFF2-40B4-BE49-F238E27FC236}">
                <a16:creationId xmlns:a16="http://schemas.microsoft.com/office/drawing/2014/main" id="{CCDD79F9-16DA-49B4-ACE6-DF85F325983C}"/>
              </a:ext>
            </a:extLst>
          </p:cNvPr>
          <p:cNvSpPr>
            <a:spLocks noGrp="1"/>
          </p:cNvSpPr>
          <p:nvPr/>
        </p:nvSpPr>
        <p:spPr>
          <a:xfrm>
            <a:off x="5610225" y="1200150"/>
            <a:ext cx="3143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dirty="0">
                <a:solidFill>
                  <a:srgbClr val="1F1F1F"/>
                </a:solidFill>
              </a:rPr>
              <a:t>Which SDGs occupy the highest and lowest positions?</a:t>
            </a:r>
          </a:p>
        </p:txBody>
      </p:sp>
      <p:sp>
        <p:nvSpPr>
          <p:cNvPr id="6" name="Number 2">
            <a:extLst>
              <a:ext uri="{FF2B5EF4-FFF2-40B4-BE49-F238E27FC236}">
                <a16:creationId xmlns:a16="http://schemas.microsoft.com/office/drawing/2014/main" id="{6925C1E9-1559-4468-9E58-8D7AB8E5B3EB}"/>
              </a:ext>
            </a:extLst>
          </p:cNvPr>
          <p:cNvSpPr>
            <a:spLocks noGrp="1"/>
          </p:cNvSpPr>
          <p:nvPr/>
        </p:nvSpPr>
        <p:spPr>
          <a:xfrm>
            <a:off x="5181600" y="1800225"/>
            <a:ext cx="3238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2F65B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65B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Question 2">
            <a:extLst>
              <a:ext uri="{FF2B5EF4-FFF2-40B4-BE49-F238E27FC236}">
                <a16:creationId xmlns:a16="http://schemas.microsoft.com/office/drawing/2014/main" id="{F96011C9-73A5-4A86-9A67-7F74AB5FEE0A}"/>
              </a:ext>
            </a:extLst>
          </p:cNvPr>
          <p:cNvSpPr>
            <a:spLocks noGrp="1"/>
          </p:cNvSpPr>
          <p:nvPr/>
        </p:nvSpPr>
        <p:spPr>
          <a:xfrm>
            <a:off x="5610225" y="1790700"/>
            <a:ext cx="3143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F1F1F"/>
                </a:solidFill>
                <a:latin typeface="Arial"/>
                <a:ea typeface="Arial"/>
                <a:cs typeface="Arial"/>
              </a:rPr>
              <a:t>What does the ranking measure?</a:t>
            </a:r>
          </a:p>
        </p:txBody>
      </p:sp>
      <p:sp>
        <p:nvSpPr>
          <p:cNvPr id="8" name="Number 3">
            <a:extLst>
              <a:ext uri="{FF2B5EF4-FFF2-40B4-BE49-F238E27FC236}">
                <a16:creationId xmlns:a16="http://schemas.microsoft.com/office/drawing/2014/main" id="{F9872383-ED09-4B7B-A252-734EE18BB862}"/>
              </a:ext>
            </a:extLst>
          </p:cNvPr>
          <p:cNvSpPr>
            <a:spLocks noGrp="1"/>
          </p:cNvSpPr>
          <p:nvPr/>
        </p:nvSpPr>
        <p:spPr>
          <a:xfrm>
            <a:off x="5181600" y="2390775"/>
            <a:ext cx="3238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2F65B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65B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" name="Question 3">
            <a:extLst>
              <a:ext uri="{FF2B5EF4-FFF2-40B4-BE49-F238E27FC236}">
                <a16:creationId xmlns:a16="http://schemas.microsoft.com/office/drawing/2014/main" id="{96CADF1B-63AB-4111-9113-5C8FF510FE53}"/>
              </a:ext>
            </a:extLst>
          </p:cNvPr>
          <p:cNvSpPr>
            <a:spLocks noGrp="1"/>
          </p:cNvSpPr>
          <p:nvPr/>
        </p:nvSpPr>
        <p:spPr>
          <a:xfrm>
            <a:off x="5610225" y="2381250"/>
            <a:ext cx="3143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F1F1F"/>
                </a:solidFill>
                <a:latin typeface="Arial"/>
                <a:ea typeface="Arial"/>
                <a:cs typeface="Arial"/>
              </a:rPr>
              <a:t>Why does SDG 17 not appear in the comparison?</a:t>
            </a:r>
          </a:p>
        </p:txBody>
      </p:sp>
      <p:sp>
        <p:nvSpPr>
          <p:cNvPr id="10" name="Number 4">
            <a:extLst>
              <a:ext uri="{FF2B5EF4-FFF2-40B4-BE49-F238E27FC236}">
                <a16:creationId xmlns:a16="http://schemas.microsoft.com/office/drawing/2014/main" id="{D1645E02-1D0D-4AEC-AA4C-FADB7DA21452}"/>
              </a:ext>
            </a:extLst>
          </p:cNvPr>
          <p:cNvSpPr>
            <a:spLocks noGrp="1"/>
          </p:cNvSpPr>
          <p:nvPr/>
        </p:nvSpPr>
        <p:spPr>
          <a:xfrm>
            <a:off x="5181600" y="2981325"/>
            <a:ext cx="3238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2F65B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65B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" name="Question 4">
            <a:extLst>
              <a:ext uri="{FF2B5EF4-FFF2-40B4-BE49-F238E27FC236}">
                <a16:creationId xmlns:a16="http://schemas.microsoft.com/office/drawing/2014/main" id="{EF030E5E-D0EE-4F68-A536-30DEF04354F0}"/>
              </a:ext>
            </a:extLst>
          </p:cNvPr>
          <p:cNvSpPr>
            <a:spLocks noGrp="1"/>
          </p:cNvSpPr>
          <p:nvPr/>
        </p:nvSpPr>
        <p:spPr>
          <a:xfrm>
            <a:off x="5610225" y="2971800"/>
            <a:ext cx="3143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F1F1F"/>
                </a:solidFill>
                <a:latin typeface="Arial"/>
                <a:ea typeface="Arial"/>
                <a:cs typeface="Arial"/>
              </a:rPr>
              <a:t>Which result do you find most unexpected, and why?</a:t>
            </a:r>
          </a:p>
        </p:txBody>
      </p:sp>
      <p:sp>
        <p:nvSpPr>
          <p:cNvPr id="12" name="Number 5">
            <a:extLst>
              <a:ext uri="{FF2B5EF4-FFF2-40B4-BE49-F238E27FC236}">
                <a16:creationId xmlns:a16="http://schemas.microsoft.com/office/drawing/2014/main" id="{BA5AEF03-3F3D-4795-9A73-9646BFDBB1D4}"/>
              </a:ext>
            </a:extLst>
          </p:cNvPr>
          <p:cNvSpPr>
            <a:spLocks noGrp="1"/>
          </p:cNvSpPr>
          <p:nvPr/>
        </p:nvSpPr>
        <p:spPr>
          <a:xfrm>
            <a:off x="5181600" y="3571875"/>
            <a:ext cx="3238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2F65B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65B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3" name="Question 5">
            <a:extLst>
              <a:ext uri="{FF2B5EF4-FFF2-40B4-BE49-F238E27FC236}">
                <a16:creationId xmlns:a16="http://schemas.microsoft.com/office/drawing/2014/main" id="{073FF3A0-D493-4B7C-B14A-04B0352322B1}"/>
              </a:ext>
            </a:extLst>
          </p:cNvPr>
          <p:cNvSpPr>
            <a:spLocks noGrp="1"/>
          </p:cNvSpPr>
          <p:nvPr/>
        </p:nvSpPr>
        <p:spPr>
          <a:xfrm>
            <a:off x="5610225" y="3562350"/>
            <a:ext cx="3143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F1F1F"/>
                </a:solidFill>
                <a:latin typeface="Arial"/>
                <a:ea typeface="Arial"/>
                <a:cs typeface="Arial"/>
              </a:rPr>
              <a:t>What can this ranking not tell us about progress towards the SDGs?</a:t>
            </a:r>
          </a:p>
        </p:txBody>
      </p:sp>
    </p:spTree>
    <p:extLst>
      <p:ext uri="{BB962C8B-B14F-4D97-AF65-F5344CB8AC3E}">
        <p14:creationId xmlns:p14="http://schemas.microsoft.com/office/powerpoint/2010/main" val="736724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9BB3A860-7962-441A-A29A-B6791E063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934" y="660400"/>
            <a:ext cx="8180844" cy="2277931"/>
          </a:xfrm>
        </p:spPr>
        <p:txBody>
          <a:bodyPr/>
          <a:lstStyle/>
          <a:p>
            <a:pPr marL="114300" indent="0">
              <a:buNone/>
            </a:pPr>
            <a:r>
              <a:rPr lang="en-US" sz="1800" dirty="0">
                <a:latin typeface="+mj-lt"/>
              </a:rPr>
              <a:t>The text has 5 paragraphs in the </a:t>
            </a:r>
            <a:r>
              <a:rPr lang="en-US" sz="1800" i="1" dirty="0">
                <a:latin typeface="+mj-lt"/>
              </a:rPr>
              <a:t>Conclusion</a:t>
            </a:r>
            <a:r>
              <a:rPr lang="en-US" sz="1800" dirty="0">
                <a:latin typeface="+mj-lt"/>
              </a:rPr>
              <a:t> section (do not count the last –the 6</a:t>
            </a:r>
            <a:r>
              <a:rPr lang="en-US" sz="1800" baseline="30000" dirty="0">
                <a:latin typeface="+mj-lt"/>
              </a:rPr>
              <a:t>th</a:t>
            </a:r>
            <a:r>
              <a:rPr lang="en-US" sz="1800" dirty="0">
                <a:latin typeface="+mj-lt"/>
              </a:rPr>
              <a:t>). </a:t>
            </a:r>
          </a:p>
          <a:p>
            <a:pPr marL="114300" indent="0">
              <a:buNone/>
            </a:pPr>
            <a:r>
              <a:rPr lang="en-US" sz="1800" dirty="0">
                <a:latin typeface="+mj-lt"/>
              </a:rPr>
              <a:t>Choose the best subheading (A–G) for each paragraph (1–5). There are two extra subheadings you do not need to use.</a:t>
            </a:r>
          </a:p>
          <a:p>
            <a:pPr marL="114300" indent="0">
              <a:buNone/>
            </a:pPr>
            <a:r>
              <a:rPr lang="en-US" sz="1800" b="1" dirty="0">
                <a:latin typeface="+mj-lt"/>
              </a:rPr>
              <a:t>Possible Subheadings:</a:t>
            </a:r>
            <a:br>
              <a:rPr lang="en-US" sz="1800" dirty="0">
                <a:latin typeface="+mj-lt"/>
              </a:rPr>
            </a:br>
            <a:r>
              <a:rPr lang="en-US" sz="1800" dirty="0">
                <a:latin typeface="+mj-lt"/>
              </a:rPr>
              <a:t>A. The necessity of balancing research efforts across all SDGs</a:t>
            </a:r>
            <a:br>
              <a:rPr lang="en-US" sz="1800" dirty="0">
                <a:latin typeface="+mj-lt"/>
              </a:rPr>
            </a:br>
            <a:r>
              <a:rPr lang="en-US" sz="1800" dirty="0">
                <a:latin typeface="+mj-lt"/>
              </a:rPr>
              <a:t>B. Limitations of current measurement and future directions</a:t>
            </a:r>
            <a:br>
              <a:rPr lang="en-US" sz="1800" dirty="0">
                <a:latin typeface="+mj-lt"/>
              </a:rPr>
            </a:br>
            <a:r>
              <a:rPr lang="en-US" sz="1800" dirty="0">
                <a:latin typeface="+mj-lt"/>
              </a:rPr>
              <a:t>C. Identifying the most and least research-friendly goals    </a:t>
            </a:r>
            <a:br>
              <a:rPr lang="en-US" sz="1800" dirty="0">
                <a:latin typeface="+mj-lt"/>
              </a:rPr>
            </a:br>
            <a:r>
              <a:rPr lang="en-US" sz="1800" dirty="0">
                <a:latin typeface="+mj-lt"/>
              </a:rPr>
              <a:t>D. The growing role of education and justice in sustainable development    </a:t>
            </a:r>
            <a:br>
              <a:rPr lang="en-US" sz="1800" dirty="0">
                <a:latin typeface="+mj-lt"/>
              </a:rPr>
            </a:br>
            <a:r>
              <a:rPr lang="en-US" sz="1800" dirty="0">
                <a:latin typeface="+mj-lt"/>
              </a:rPr>
              <a:t>E. Impartial evaluation as a contribution to global sustainability research </a:t>
            </a:r>
            <a:br>
              <a:rPr lang="en-US" sz="1800" dirty="0">
                <a:latin typeface="+mj-lt"/>
              </a:rPr>
            </a:br>
            <a:r>
              <a:rPr lang="en-US" sz="1800" dirty="0">
                <a:latin typeface="+mj-lt"/>
              </a:rPr>
              <a:t>F. Calls for improved policies and removal of barriers               </a:t>
            </a:r>
            <a:br>
              <a:rPr lang="en-US" sz="1800" dirty="0">
                <a:latin typeface="+mj-lt"/>
              </a:rPr>
            </a:br>
            <a:r>
              <a:rPr lang="en-US" sz="1800" dirty="0">
                <a:latin typeface="+mj-lt"/>
              </a:rPr>
              <a:t>G. Data gaps, longitudinal studies, and the challenge of SDG 17                    </a:t>
            </a:r>
            <a:endParaRPr lang="ru-RU" sz="1800" dirty="0">
              <a:latin typeface="+mj-lt"/>
            </a:endParaRPr>
          </a:p>
          <a:p>
            <a:pPr marL="114300" indent="0">
              <a:buNone/>
            </a:pPr>
            <a:endParaRPr lang="ru-RU" sz="1800" dirty="0"/>
          </a:p>
        </p:txBody>
      </p:sp>
      <p:grpSp>
        <p:nvGrpSpPr>
          <p:cNvPr id="4" name="Google Shape;463;p30">
            <a:extLst>
              <a:ext uri="{FF2B5EF4-FFF2-40B4-BE49-F238E27FC236}">
                <a16:creationId xmlns:a16="http://schemas.microsoft.com/office/drawing/2014/main" id="{DF221EA3-036A-4778-9186-0D8F790DD368}"/>
              </a:ext>
            </a:extLst>
          </p:cNvPr>
          <p:cNvGrpSpPr/>
          <p:nvPr/>
        </p:nvGrpSpPr>
        <p:grpSpPr>
          <a:xfrm>
            <a:off x="364202" y="4683792"/>
            <a:ext cx="1309796" cy="257750"/>
            <a:chOff x="-6337521" y="4362225"/>
            <a:chExt cx="1309796" cy="257750"/>
          </a:xfrm>
        </p:grpSpPr>
        <p:sp>
          <p:nvSpPr>
            <p:cNvPr id="5" name="Google Shape;464;p30">
              <a:extLst>
                <a:ext uri="{FF2B5EF4-FFF2-40B4-BE49-F238E27FC236}">
                  <a16:creationId xmlns:a16="http://schemas.microsoft.com/office/drawing/2014/main" id="{3EA387D4-B671-452B-B69B-B05A71EFBEF3}"/>
                </a:ext>
              </a:extLst>
            </p:cNvPr>
            <p:cNvSpPr/>
            <p:nvPr/>
          </p:nvSpPr>
          <p:spPr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465;p30">
              <a:extLst>
                <a:ext uri="{FF2B5EF4-FFF2-40B4-BE49-F238E27FC236}">
                  <a16:creationId xmlns:a16="http://schemas.microsoft.com/office/drawing/2014/main" id="{FBDB4F05-AF28-4A7C-961B-94ACD77E73AC}"/>
                </a:ext>
              </a:extLst>
            </p:cNvPr>
            <p:cNvSpPr/>
            <p:nvPr/>
          </p:nvSpPr>
          <p:spPr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466;p30">
              <a:extLst>
                <a:ext uri="{FF2B5EF4-FFF2-40B4-BE49-F238E27FC236}">
                  <a16:creationId xmlns:a16="http://schemas.microsoft.com/office/drawing/2014/main" id="{46214FA0-DFCA-41E7-AC5E-BA0CCB081C1B}"/>
                </a:ext>
              </a:extLst>
            </p:cNvPr>
            <p:cNvSpPr/>
            <p:nvPr/>
          </p:nvSpPr>
          <p:spPr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467;p30">
              <a:extLst>
                <a:ext uri="{FF2B5EF4-FFF2-40B4-BE49-F238E27FC236}">
                  <a16:creationId xmlns:a16="http://schemas.microsoft.com/office/drawing/2014/main" id="{561F5B13-058A-4FC5-AFF6-7068615592AA}"/>
                </a:ext>
              </a:extLst>
            </p:cNvPr>
            <p:cNvSpPr/>
            <p:nvPr/>
          </p:nvSpPr>
          <p:spPr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468;p30">
              <a:extLst>
                <a:ext uri="{FF2B5EF4-FFF2-40B4-BE49-F238E27FC236}">
                  <a16:creationId xmlns:a16="http://schemas.microsoft.com/office/drawing/2014/main" id="{36FB0129-A115-4EAA-96C8-277A1C23E6D8}"/>
                </a:ext>
              </a:extLst>
            </p:cNvPr>
            <p:cNvSpPr/>
            <p:nvPr/>
          </p:nvSpPr>
          <p:spPr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469;p30">
              <a:extLst>
                <a:ext uri="{FF2B5EF4-FFF2-40B4-BE49-F238E27FC236}">
                  <a16:creationId xmlns:a16="http://schemas.microsoft.com/office/drawing/2014/main" id="{68A74EAD-4AAE-4462-A7F3-A538637774A8}"/>
                </a:ext>
              </a:extLst>
            </p:cNvPr>
            <p:cNvSpPr/>
            <p:nvPr/>
          </p:nvSpPr>
          <p:spPr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470;p30">
              <a:extLst>
                <a:ext uri="{FF2B5EF4-FFF2-40B4-BE49-F238E27FC236}">
                  <a16:creationId xmlns:a16="http://schemas.microsoft.com/office/drawing/2014/main" id="{092CE1D2-468F-4B17-83DA-A2E304BC3879}"/>
                </a:ext>
              </a:extLst>
            </p:cNvPr>
            <p:cNvSpPr/>
            <p:nvPr/>
          </p:nvSpPr>
          <p:spPr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471;p30">
              <a:extLst>
                <a:ext uri="{FF2B5EF4-FFF2-40B4-BE49-F238E27FC236}">
                  <a16:creationId xmlns:a16="http://schemas.microsoft.com/office/drawing/2014/main" id="{716EDA36-BD37-4969-9B23-7CACE7A692F6}"/>
                </a:ext>
              </a:extLst>
            </p:cNvPr>
            <p:cNvSpPr/>
            <p:nvPr/>
          </p:nvSpPr>
          <p:spPr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472;p30">
              <a:extLst>
                <a:ext uri="{FF2B5EF4-FFF2-40B4-BE49-F238E27FC236}">
                  <a16:creationId xmlns:a16="http://schemas.microsoft.com/office/drawing/2014/main" id="{AC26C605-214D-4FA9-95F0-C9E52861E769}"/>
                </a:ext>
              </a:extLst>
            </p:cNvPr>
            <p:cNvSpPr/>
            <p:nvPr/>
          </p:nvSpPr>
          <p:spPr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473;p30">
              <a:extLst>
                <a:ext uri="{FF2B5EF4-FFF2-40B4-BE49-F238E27FC236}">
                  <a16:creationId xmlns:a16="http://schemas.microsoft.com/office/drawing/2014/main" id="{E74A2B13-A57D-4278-8973-6E2C65FE611E}"/>
                </a:ext>
              </a:extLst>
            </p:cNvPr>
            <p:cNvSpPr/>
            <p:nvPr/>
          </p:nvSpPr>
          <p:spPr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463;p30">
            <a:extLst>
              <a:ext uri="{FF2B5EF4-FFF2-40B4-BE49-F238E27FC236}">
                <a16:creationId xmlns:a16="http://schemas.microsoft.com/office/drawing/2014/main" id="{31C681B0-93EA-4626-A2EE-66CFEFB0CD7E}"/>
              </a:ext>
            </a:extLst>
          </p:cNvPr>
          <p:cNvGrpSpPr/>
          <p:nvPr/>
        </p:nvGrpSpPr>
        <p:grpSpPr>
          <a:xfrm>
            <a:off x="7716675" y="4775767"/>
            <a:ext cx="1309796" cy="257750"/>
            <a:chOff x="-6337521" y="4362225"/>
            <a:chExt cx="1309796" cy="257750"/>
          </a:xfrm>
        </p:grpSpPr>
        <p:sp>
          <p:nvSpPr>
            <p:cNvPr id="23" name="Google Shape;464;p30">
              <a:extLst>
                <a:ext uri="{FF2B5EF4-FFF2-40B4-BE49-F238E27FC236}">
                  <a16:creationId xmlns:a16="http://schemas.microsoft.com/office/drawing/2014/main" id="{BF327DA8-2506-4096-9E76-B358F7F9A914}"/>
                </a:ext>
              </a:extLst>
            </p:cNvPr>
            <p:cNvSpPr/>
            <p:nvPr/>
          </p:nvSpPr>
          <p:spPr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65;p30">
              <a:extLst>
                <a:ext uri="{FF2B5EF4-FFF2-40B4-BE49-F238E27FC236}">
                  <a16:creationId xmlns:a16="http://schemas.microsoft.com/office/drawing/2014/main" id="{2046F09A-281C-4A29-BB31-82115BB328F2}"/>
                </a:ext>
              </a:extLst>
            </p:cNvPr>
            <p:cNvSpPr/>
            <p:nvPr/>
          </p:nvSpPr>
          <p:spPr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66;p30">
              <a:extLst>
                <a:ext uri="{FF2B5EF4-FFF2-40B4-BE49-F238E27FC236}">
                  <a16:creationId xmlns:a16="http://schemas.microsoft.com/office/drawing/2014/main" id="{10C37F31-1F9D-4996-B579-EBD5D8E71801}"/>
                </a:ext>
              </a:extLst>
            </p:cNvPr>
            <p:cNvSpPr/>
            <p:nvPr/>
          </p:nvSpPr>
          <p:spPr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467;p30">
              <a:extLst>
                <a:ext uri="{FF2B5EF4-FFF2-40B4-BE49-F238E27FC236}">
                  <a16:creationId xmlns:a16="http://schemas.microsoft.com/office/drawing/2014/main" id="{AC355286-B7BD-4100-99C1-EA94527389E3}"/>
                </a:ext>
              </a:extLst>
            </p:cNvPr>
            <p:cNvSpPr/>
            <p:nvPr/>
          </p:nvSpPr>
          <p:spPr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468;p30">
              <a:extLst>
                <a:ext uri="{FF2B5EF4-FFF2-40B4-BE49-F238E27FC236}">
                  <a16:creationId xmlns:a16="http://schemas.microsoft.com/office/drawing/2014/main" id="{39C5BFD7-5661-4BAC-8471-69ADDF1E5F1E}"/>
                </a:ext>
              </a:extLst>
            </p:cNvPr>
            <p:cNvSpPr/>
            <p:nvPr/>
          </p:nvSpPr>
          <p:spPr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469;p30">
              <a:extLst>
                <a:ext uri="{FF2B5EF4-FFF2-40B4-BE49-F238E27FC236}">
                  <a16:creationId xmlns:a16="http://schemas.microsoft.com/office/drawing/2014/main" id="{FF23DF9F-04CF-4CAF-BCDE-A4E34BF971CB}"/>
                </a:ext>
              </a:extLst>
            </p:cNvPr>
            <p:cNvSpPr/>
            <p:nvPr/>
          </p:nvSpPr>
          <p:spPr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470;p30">
              <a:extLst>
                <a:ext uri="{FF2B5EF4-FFF2-40B4-BE49-F238E27FC236}">
                  <a16:creationId xmlns:a16="http://schemas.microsoft.com/office/drawing/2014/main" id="{7CA1DF06-5921-411F-814B-66578451227F}"/>
                </a:ext>
              </a:extLst>
            </p:cNvPr>
            <p:cNvSpPr/>
            <p:nvPr/>
          </p:nvSpPr>
          <p:spPr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471;p30">
              <a:extLst>
                <a:ext uri="{FF2B5EF4-FFF2-40B4-BE49-F238E27FC236}">
                  <a16:creationId xmlns:a16="http://schemas.microsoft.com/office/drawing/2014/main" id="{CA227177-BD8C-430C-9E17-D09A442D568B}"/>
                </a:ext>
              </a:extLst>
            </p:cNvPr>
            <p:cNvSpPr/>
            <p:nvPr/>
          </p:nvSpPr>
          <p:spPr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472;p30">
              <a:extLst>
                <a:ext uri="{FF2B5EF4-FFF2-40B4-BE49-F238E27FC236}">
                  <a16:creationId xmlns:a16="http://schemas.microsoft.com/office/drawing/2014/main" id="{B578B204-F9AE-41A6-9F5A-5D1D692B0A04}"/>
                </a:ext>
              </a:extLst>
            </p:cNvPr>
            <p:cNvSpPr/>
            <p:nvPr/>
          </p:nvSpPr>
          <p:spPr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473;p30">
              <a:extLst>
                <a:ext uri="{FF2B5EF4-FFF2-40B4-BE49-F238E27FC236}">
                  <a16:creationId xmlns:a16="http://schemas.microsoft.com/office/drawing/2014/main" id="{41C5B9FD-243E-4694-AF1C-017700102B28}"/>
                </a:ext>
              </a:extLst>
            </p:cNvPr>
            <p:cNvSpPr/>
            <p:nvPr/>
          </p:nvSpPr>
          <p:spPr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Заголовок 1">
            <a:extLst>
              <a:ext uri="{FF2B5EF4-FFF2-40B4-BE49-F238E27FC236}">
                <a16:creationId xmlns:a16="http://schemas.microsoft.com/office/drawing/2014/main" id="{F945BB60-3B94-4961-B514-86F3F479C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35" y="109984"/>
            <a:ext cx="8270200" cy="643550"/>
          </a:xfrm>
        </p:spPr>
        <p:txBody>
          <a:bodyPr>
            <a:normAutofit/>
          </a:bodyPr>
          <a:lstStyle/>
          <a:p>
            <a:pPr algn="just"/>
            <a:r>
              <a:rPr lang="en-US" sz="2300" dirty="0" err="1">
                <a:latin typeface="+mj-lt"/>
              </a:rPr>
              <a:t>Conclusion:Matching</a:t>
            </a:r>
            <a:r>
              <a:rPr lang="en-US" sz="2300" dirty="0">
                <a:latin typeface="+mj-lt"/>
              </a:rPr>
              <a:t> Headings: </a:t>
            </a:r>
            <a:r>
              <a:rPr lang="en-US" sz="2300" dirty="0" err="1">
                <a:latin typeface="+mj-lt"/>
              </a:rPr>
              <a:t>Sorooshian</a:t>
            </a:r>
            <a:r>
              <a:rPr lang="en-US" sz="2300" dirty="0">
                <a:latin typeface="+mj-lt"/>
              </a:rPr>
              <a:t> (2024) </a:t>
            </a:r>
          </a:p>
        </p:txBody>
      </p:sp>
    </p:spTree>
    <p:extLst>
      <p:ext uri="{BB962C8B-B14F-4D97-AF65-F5344CB8AC3E}">
        <p14:creationId xmlns:p14="http://schemas.microsoft.com/office/powerpoint/2010/main" val="39862106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9BB3A860-7962-441A-A29A-B6791E063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114" y="1176867"/>
            <a:ext cx="7556586" cy="3327400"/>
          </a:xfrm>
        </p:spPr>
        <p:txBody>
          <a:bodyPr/>
          <a:lstStyle/>
          <a:p>
            <a:pPr algn="just">
              <a:lnSpc>
                <a:spcPct val="114999"/>
              </a:lnSpc>
              <a:buNone/>
            </a:pPr>
            <a:r>
              <a:rPr lang="ru" sz="1800" dirty="0">
                <a:latin typeface="Times New Roman"/>
                <a:cs typeface="Times New Roman"/>
              </a:rPr>
              <a:t> </a:t>
            </a:r>
            <a:r>
              <a:rPr lang="en-US" sz="1800" dirty="0">
                <a:latin typeface="Times New Roman"/>
                <a:cs typeface="Times New Roman"/>
              </a:rPr>
              <a:t>Learn the </a:t>
            </a:r>
            <a:r>
              <a:rPr lang="en-US" sz="1800">
                <a:latin typeface="Times New Roman"/>
                <a:cs typeface="Times New Roman"/>
              </a:rPr>
              <a:t>vocabulary bank.</a:t>
            </a:r>
            <a:endParaRPr lang="en-US" dirty="0">
              <a:cs typeface="Times New Roman"/>
            </a:endParaRPr>
          </a:p>
          <a:p>
            <a:pPr marL="11430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the Vocabulary worksheet for Week 2.</a:t>
            </a:r>
          </a:p>
          <a:p>
            <a:pPr marL="114300" indent="0">
              <a:buNone/>
            </a:pPr>
            <a:endParaRPr lang="ru-RU" sz="1800" dirty="0"/>
          </a:p>
        </p:txBody>
      </p:sp>
      <p:grpSp>
        <p:nvGrpSpPr>
          <p:cNvPr id="4" name="Google Shape;463;p30">
            <a:extLst>
              <a:ext uri="{FF2B5EF4-FFF2-40B4-BE49-F238E27FC236}">
                <a16:creationId xmlns:a16="http://schemas.microsoft.com/office/drawing/2014/main" id="{DF221EA3-036A-4778-9186-0D8F790DD368}"/>
              </a:ext>
            </a:extLst>
          </p:cNvPr>
          <p:cNvGrpSpPr/>
          <p:nvPr/>
        </p:nvGrpSpPr>
        <p:grpSpPr>
          <a:xfrm>
            <a:off x="364202" y="4683792"/>
            <a:ext cx="1309796" cy="257750"/>
            <a:chOff x="-6337521" y="4362225"/>
            <a:chExt cx="1309796" cy="257750"/>
          </a:xfrm>
        </p:grpSpPr>
        <p:sp>
          <p:nvSpPr>
            <p:cNvPr id="5" name="Google Shape;464;p30">
              <a:extLst>
                <a:ext uri="{FF2B5EF4-FFF2-40B4-BE49-F238E27FC236}">
                  <a16:creationId xmlns:a16="http://schemas.microsoft.com/office/drawing/2014/main" id="{3EA387D4-B671-452B-B69B-B05A71EFBEF3}"/>
                </a:ext>
              </a:extLst>
            </p:cNvPr>
            <p:cNvSpPr/>
            <p:nvPr/>
          </p:nvSpPr>
          <p:spPr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465;p30">
              <a:extLst>
                <a:ext uri="{FF2B5EF4-FFF2-40B4-BE49-F238E27FC236}">
                  <a16:creationId xmlns:a16="http://schemas.microsoft.com/office/drawing/2014/main" id="{FBDB4F05-AF28-4A7C-961B-94ACD77E73AC}"/>
                </a:ext>
              </a:extLst>
            </p:cNvPr>
            <p:cNvSpPr/>
            <p:nvPr/>
          </p:nvSpPr>
          <p:spPr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466;p30">
              <a:extLst>
                <a:ext uri="{FF2B5EF4-FFF2-40B4-BE49-F238E27FC236}">
                  <a16:creationId xmlns:a16="http://schemas.microsoft.com/office/drawing/2014/main" id="{46214FA0-DFCA-41E7-AC5E-BA0CCB081C1B}"/>
                </a:ext>
              </a:extLst>
            </p:cNvPr>
            <p:cNvSpPr/>
            <p:nvPr/>
          </p:nvSpPr>
          <p:spPr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467;p30">
              <a:extLst>
                <a:ext uri="{FF2B5EF4-FFF2-40B4-BE49-F238E27FC236}">
                  <a16:creationId xmlns:a16="http://schemas.microsoft.com/office/drawing/2014/main" id="{561F5B13-058A-4FC5-AFF6-7068615592AA}"/>
                </a:ext>
              </a:extLst>
            </p:cNvPr>
            <p:cNvSpPr/>
            <p:nvPr/>
          </p:nvSpPr>
          <p:spPr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468;p30">
              <a:extLst>
                <a:ext uri="{FF2B5EF4-FFF2-40B4-BE49-F238E27FC236}">
                  <a16:creationId xmlns:a16="http://schemas.microsoft.com/office/drawing/2014/main" id="{36FB0129-A115-4EAA-96C8-277A1C23E6D8}"/>
                </a:ext>
              </a:extLst>
            </p:cNvPr>
            <p:cNvSpPr/>
            <p:nvPr/>
          </p:nvSpPr>
          <p:spPr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469;p30">
              <a:extLst>
                <a:ext uri="{FF2B5EF4-FFF2-40B4-BE49-F238E27FC236}">
                  <a16:creationId xmlns:a16="http://schemas.microsoft.com/office/drawing/2014/main" id="{68A74EAD-4AAE-4462-A7F3-A538637774A8}"/>
                </a:ext>
              </a:extLst>
            </p:cNvPr>
            <p:cNvSpPr/>
            <p:nvPr/>
          </p:nvSpPr>
          <p:spPr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470;p30">
              <a:extLst>
                <a:ext uri="{FF2B5EF4-FFF2-40B4-BE49-F238E27FC236}">
                  <a16:creationId xmlns:a16="http://schemas.microsoft.com/office/drawing/2014/main" id="{092CE1D2-468F-4B17-83DA-A2E304BC3879}"/>
                </a:ext>
              </a:extLst>
            </p:cNvPr>
            <p:cNvSpPr/>
            <p:nvPr/>
          </p:nvSpPr>
          <p:spPr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471;p30">
              <a:extLst>
                <a:ext uri="{FF2B5EF4-FFF2-40B4-BE49-F238E27FC236}">
                  <a16:creationId xmlns:a16="http://schemas.microsoft.com/office/drawing/2014/main" id="{716EDA36-BD37-4969-9B23-7CACE7A692F6}"/>
                </a:ext>
              </a:extLst>
            </p:cNvPr>
            <p:cNvSpPr/>
            <p:nvPr/>
          </p:nvSpPr>
          <p:spPr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472;p30">
              <a:extLst>
                <a:ext uri="{FF2B5EF4-FFF2-40B4-BE49-F238E27FC236}">
                  <a16:creationId xmlns:a16="http://schemas.microsoft.com/office/drawing/2014/main" id="{AC26C605-214D-4FA9-95F0-C9E52861E769}"/>
                </a:ext>
              </a:extLst>
            </p:cNvPr>
            <p:cNvSpPr/>
            <p:nvPr/>
          </p:nvSpPr>
          <p:spPr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473;p30">
              <a:extLst>
                <a:ext uri="{FF2B5EF4-FFF2-40B4-BE49-F238E27FC236}">
                  <a16:creationId xmlns:a16="http://schemas.microsoft.com/office/drawing/2014/main" id="{E74A2B13-A57D-4278-8973-6E2C65FE611E}"/>
                </a:ext>
              </a:extLst>
            </p:cNvPr>
            <p:cNvSpPr/>
            <p:nvPr/>
          </p:nvSpPr>
          <p:spPr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463;p30">
            <a:extLst>
              <a:ext uri="{FF2B5EF4-FFF2-40B4-BE49-F238E27FC236}">
                <a16:creationId xmlns:a16="http://schemas.microsoft.com/office/drawing/2014/main" id="{31C681B0-93EA-4626-A2EE-66CFEFB0CD7E}"/>
              </a:ext>
            </a:extLst>
          </p:cNvPr>
          <p:cNvGrpSpPr/>
          <p:nvPr/>
        </p:nvGrpSpPr>
        <p:grpSpPr>
          <a:xfrm>
            <a:off x="7716675" y="4775767"/>
            <a:ext cx="1309796" cy="257750"/>
            <a:chOff x="-6337521" y="4362225"/>
            <a:chExt cx="1309796" cy="257750"/>
          </a:xfrm>
        </p:grpSpPr>
        <p:sp>
          <p:nvSpPr>
            <p:cNvPr id="23" name="Google Shape;464;p30">
              <a:extLst>
                <a:ext uri="{FF2B5EF4-FFF2-40B4-BE49-F238E27FC236}">
                  <a16:creationId xmlns:a16="http://schemas.microsoft.com/office/drawing/2014/main" id="{BF327DA8-2506-4096-9E76-B358F7F9A914}"/>
                </a:ext>
              </a:extLst>
            </p:cNvPr>
            <p:cNvSpPr/>
            <p:nvPr/>
          </p:nvSpPr>
          <p:spPr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65;p30">
              <a:extLst>
                <a:ext uri="{FF2B5EF4-FFF2-40B4-BE49-F238E27FC236}">
                  <a16:creationId xmlns:a16="http://schemas.microsoft.com/office/drawing/2014/main" id="{2046F09A-281C-4A29-BB31-82115BB328F2}"/>
                </a:ext>
              </a:extLst>
            </p:cNvPr>
            <p:cNvSpPr/>
            <p:nvPr/>
          </p:nvSpPr>
          <p:spPr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66;p30">
              <a:extLst>
                <a:ext uri="{FF2B5EF4-FFF2-40B4-BE49-F238E27FC236}">
                  <a16:creationId xmlns:a16="http://schemas.microsoft.com/office/drawing/2014/main" id="{10C37F31-1F9D-4996-B579-EBD5D8E71801}"/>
                </a:ext>
              </a:extLst>
            </p:cNvPr>
            <p:cNvSpPr/>
            <p:nvPr/>
          </p:nvSpPr>
          <p:spPr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467;p30">
              <a:extLst>
                <a:ext uri="{FF2B5EF4-FFF2-40B4-BE49-F238E27FC236}">
                  <a16:creationId xmlns:a16="http://schemas.microsoft.com/office/drawing/2014/main" id="{AC355286-B7BD-4100-99C1-EA94527389E3}"/>
                </a:ext>
              </a:extLst>
            </p:cNvPr>
            <p:cNvSpPr/>
            <p:nvPr/>
          </p:nvSpPr>
          <p:spPr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468;p30">
              <a:extLst>
                <a:ext uri="{FF2B5EF4-FFF2-40B4-BE49-F238E27FC236}">
                  <a16:creationId xmlns:a16="http://schemas.microsoft.com/office/drawing/2014/main" id="{39C5BFD7-5661-4BAC-8471-69ADDF1E5F1E}"/>
                </a:ext>
              </a:extLst>
            </p:cNvPr>
            <p:cNvSpPr/>
            <p:nvPr/>
          </p:nvSpPr>
          <p:spPr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469;p30">
              <a:extLst>
                <a:ext uri="{FF2B5EF4-FFF2-40B4-BE49-F238E27FC236}">
                  <a16:creationId xmlns:a16="http://schemas.microsoft.com/office/drawing/2014/main" id="{FF23DF9F-04CF-4CAF-BCDE-A4E34BF971CB}"/>
                </a:ext>
              </a:extLst>
            </p:cNvPr>
            <p:cNvSpPr/>
            <p:nvPr/>
          </p:nvSpPr>
          <p:spPr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470;p30">
              <a:extLst>
                <a:ext uri="{FF2B5EF4-FFF2-40B4-BE49-F238E27FC236}">
                  <a16:creationId xmlns:a16="http://schemas.microsoft.com/office/drawing/2014/main" id="{7CA1DF06-5921-411F-814B-66578451227F}"/>
                </a:ext>
              </a:extLst>
            </p:cNvPr>
            <p:cNvSpPr/>
            <p:nvPr/>
          </p:nvSpPr>
          <p:spPr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471;p30">
              <a:extLst>
                <a:ext uri="{FF2B5EF4-FFF2-40B4-BE49-F238E27FC236}">
                  <a16:creationId xmlns:a16="http://schemas.microsoft.com/office/drawing/2014/main" id="{CA227177-BD8C-430C-9E17-D09A442D568B}"/>
                </a:ext>
              </a:extLst>
            </p:cNvPr>
            <p:cNvSpPr/>
            <p:nvPr/>
          </p:nvSpPr>
          <p:spPr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472;p30">
              <a:extLst>
                <a:ext uri="{FF2B5EF4-FFF2-40B4-BE49-F238E27FC236}">
                  <a16:creationId xmlns:a16="http://schemas.microsoft.com/office/drawing/2014/main" id="{B578B204-F9AE-41A6-9F5A-5D1D692B0A04}"/>
                </a:ext>
              </a:extLst>
            </p:cNvPr>
            <p:cNvSpPr/>
            <p:nvPr/>
          </p:nvSpPr>
          <p:spPr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473;p30">
              <a:extLst>
                <a:ext uri="{FF2B5EF4-FFF2-40B4-BE49-F238E27FC236}">
                  <a16:creationId xmlns:a16="http://schemas.microsoft.com/office/drawing/2014/main" id="{41C5B9FD-243E-4694-AF1C-017700102B28}"/>
                </a:ext>
              </a:extLst>
            </p:cNvPr>
            <p:cNvSpPr/>
            <p:nvPr/>
          </p:nvSpPr>
          <p:spPr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Заголовок 1">
            <a:extLst>
              <a:ext uri="{FF2B5EF4-FFF2-40B4-BE49-F238E27FC236}">
                <a16:creationId xmlns:a16="http://schemas.microsoft.com/office/drawing/2014/main" id="{F945BB60-3B94-4961-B514-86F3F479C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227" y="440164"/>
            <a:ext cx="7902332" cy="803593"/>
          </a:xfrm>
        </p:spPr>
        <p:txBody>
          <a:bodyPr>
            <a:normAutofit fontScale="90000"/>
          </a:bodyPr>
          <a:lstStyle/>
          <a:p>
            <a:r>
              <a:rPr lang="en-US" sz="2600" dirty="0">
                <a:latin typeface="+mj-lt"/>
              </a:rPr>
              <a:t>Home task</a:t>
            </a:r>
            <a:br>
              <a:rPr lang="en-US" sz="2600" dirty="0">
                <a:latin typeface="+mj-lt"/>
              </a:rPr>
            </a:br>
            <a:br>
              <a:rPr lang="ru-RU" sz="2400" dirty="0"/>
            </a:b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271457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7" name="Google Shape;1037;p55"/>
          <p:cNvGrpSpPr/>
          <p:nvPr/>
        </p:nvGrpSpPr>
        <p:grpSpPr>
          <a:xfrm>
            <a:off x="3979500" y="7000"/>
            <a:ext cx="5164500" cy="5143500"/>
            <a:chOff x="3979500" y="7000"/>
            <a:chExt cx="5164500" cy="5143500"/>
          </a:xfrm>
        </p:grpSpPr>
        <p:sp>
          <p:nvSpPr>
            <p:cNvPr id="1038" name="Google Shape;1038;p55"/>
            <p:cNvSpPr/>
            <p:nvPr/>
          </p:nvSpPr>
          <p:spPr>
            <a:xfrm flipH="1">
              <a:off x="3979500" y="7000"/>
              <a:ext cx="5164500" cy="51435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39" name="Google Shape;1039;p55"/>
            <p:cNvGrpSpPr/>
            <p:nvPr/>
          </p:nvGrpSpPr>
          <p:grpSpPr>
            <a:xfrm>
              <a:off x="4666284" y="607516"/>
              <a:ext cx="4153104" cy="4001055"/>
              <a:chOff x="4666284" y="607516"/>
              <a:chExt cx="4153104" cy="4001055"/>
            </a:xfrm>
          </p:grpSpPr>
          <p:sp>
            <p:nvSpPr>
              <p:cNvPr id="1040" name="Google Shape;1040;p55"/>
              <p:cNvSpPr/>
              <p:nvPr/>
            </p:nvSpPr>
            <p:spPr>
              <a:xfrm rot="-2699590">
                <a:off x="4521184" y="3647078"/>
                <a:ext cx="1780000" cy="326683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55"/>
              <p:cNvSpPr/>
              <p:nvPr/>
            </p:nvSpPr>
            <p:spPr>
              <a:xfrm rot="-2699590">
                <a:off x="7184489" y="2245051"/>
                <a:ext cx="1780000" cy="326683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55"/>
              <p:cNvSpPr/>
              <p:nvPr/>
            </p:nvSpPr>
            <p:spPr>
              <a:xfrm rot="-2699590">
                <a:off x="6716516" y="1166805"/>
                <a:ext cx="1780000" cy="477721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55"/>
              <p:cNvSpPr/>
              <p:nvPr/>
            </p:nvSpPr>
            <p:spPr>
              <a:xfrm rot="-2699590">
                <a:off x="5940285" y="3571560"/>
                <a:ext cx="1780000" cy="477721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55"/>
              <p:cNvSpPr/>
              <p:nvPr/>
            </p:nvSpPr>
            <p:spPr>
              <a:xfrm>
                <a:off x="6777914" y="2891181"/>
                <a:ext cx="1596600" cy="15966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lg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45" name="Google Shape;1045;p5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46326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Thanks!</a:t>
            </a:r>
            <a:endParaRPr dirty="0">
              <a:latin typeface="+mj-lt"/>
            </a:endParaRPr>
          </a:p>
        </p:txBody>
      </p:sp>
      <p:sp>
        <p:nvSpPr>
          <p:cNvPr id="1046" name="Google Shape;1046;p55"/>
          <p:cNvSpPr txBox="1">
            <a:spLocks noGrp="1"/>
          </p:cNvSpPr>
          <p:nvPr>
            <p:ph type="subTitle" idx="1"/>
          </p:nvPr>
        </p:nvSpPr>
        <p:spPr>
          <a:xfrm>
            <a:off x="713225" y="1797375"/>
            <a:ext cx="46326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+mj-lt"/>
              </a:rPr>
              <a:t>Do you have any questions?</a:t>
            </a:r>
            <a:endParaRPr b="1" dirty="0">
              <a:latin typeface="+mj-lt"/>
            </a:endParaRPr>
          </a:p>
        </p:txBody>
      </p:sp>
      <p:grpSp>
        <p:nvGrpSpPr>
          <p:cNvPr id="1070" name="Google Shape;1070;p55"/>
          <p:cNvGrpSpPr/>
          <p:nvPr/>
        </p:nvGrpSpPr>
        <p:grpSpPr>
          <a:xfrm>
            <a:off x="5405445" y="1044251"/>
            <a:ext cx="3283337" cy="3291131"/>
            <a:chOff x="5405445" y="1044251"/>
            <a:chExt cx="3283337" cy="3291131"/>
          </a:xfrm>
        </p:grpSpPr>
        <p:sp>
          <p:nvSpPr>
            <p:cNvPr id="1071" name="Google Shape;1071;p55"/>
            <p:cNvSpPr/>
            <p:nvPr/>
          </p:nvSpPr>
          <p:spPr>
            <a:xfrm rot="-2700000">
              <a:off x="7797846" y="1379613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55"/>
            <p:cNvSpPr/>
            <p:nvPr/>
          </p:nvSpPr>
          <p:spPr>
            <a:xfrm rot="-2700000">
              <a:off x="5300209" y="3885044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40F0127-41AD-49C3-A75F-EB767F2BDBA9}"/>
              </a:ext>
            </a:extLst>
          </p:cNvPr>
          <p:cNvSpPr/>
          <p:nvPr/>
        </p:nvSpPr>
        <p:spPr>
          <a:xfrm>
            <a:off x="799070" y="3810000"/>
            <a:ext cx="3488725" cy="5253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siness Administration School Center by Slidesgo">
  <a:themeElements>
    <a:clrScheme name="Simple Light">
      <a:dk1>
        <a:srgbClr val="092241"/>
      </a:dk1>
      <a:lt1>
        <a:srgbClr val="F8F8F8"/>
      </a:lt1>
      <a:dk2>
        <a:srgbClr val="B7B7B7"/>
      </a:dk2>
      <a:lt2>
        <a:srgbClr val="6194E6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9224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06FB7CF115E33F4FB8C6F9CFD72D4EB3" ma:contentTypeVersion="12" ma:contentTypeDescription="Создание документа." ma:contentTypeScope="" ma:versionID="cb9f82d68eed688063597976aa641d7c">
  <xsd:schema xmlns:xsd="http://www.w3.org/2001/XMLSchema" xmlns:xs="http://www.w3.org/2001/XMLSchema" xmlns:p="http://schemas.microsoft.com/office/2006/metadata/properties" xmlns:ns2="00cc2032-97c6-4a5b-aec3-a8fde69ab031" xmlns:ns3="7b9ef352-c534-440f-b151-37875f221adb" targetNamespace="http://schemas.microsoft.com/office/2006/metadata/properties" ma:root="true" ma:fieldsID="c792009f96ea9a0fd6736f5764a99504" ns2:_="" ns3:_="">
    <xsd:import namespace="00cc2032-97c6-4a5b-aec3-a8fde69ab031"/>
    <xsd:import namespace="7b9ef352-c534-440f-b151-37875f221ad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cc2032-97c6-4a5b-aec3-a8fde69ab0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9ef352-c534-440f-b151-37875f221ad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F2C10F5-CA0F-4B06-A22F-1478C72BF42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0cc2032-97c6-4a5b-aec3-a8fde69ab031"/>
    <ds:schemaRef ds:uri="7b9ef352-c534-440f-b151-37875f221ad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E0BA79A-72BF-4633-9CE7-67B1E0958DC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DA7EC0D-2A9F-4FB0-B6E7-C24FE5DDE26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1660</TotalTime>
  <Words>1023</Words>
  <Application>Microsoft Office PowerPoint</Application>
  <PresentationFormat>Экран (16:9)</PresentationFormat>
  <Paragraphs>118</Paragraphs>
  <Slides>16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Times New Roman</vt:lpstr>
      <vt:lpstr>Manrope</vt:lpstr>
      <vt:lpstr>Arial</vt:lpstr>
      <vt:lpstr>Archivo Black</vt:lpstr>
      <vt:lpstr>Business Administration School Center by Slidesgo</vt:lpstr>
      <vt:lpstr>Professional English</vt:lpstr>
      <vt:lpstr>Objectives </vt:lpstr>
      <vt:lpstr>Warm up</vt:lpstr>
      <vt:lpstr>Brainstorming with mind maps (20 min) </vt:lpstr>
      <vt:lpstr>Mind map example on SDG 4</vt:lpstr>
      <vt:lpstr>Prototype sketch (Assignment 1 – Week 3)</vt:lpstr>
      <vt:lpstr>Professional Vocabulary for Prototype Presentations</vt:lpstr>
      <vt:lpstr>Assessment rubric</vt:lpstr>
      <vt:lpstr>Презентация PowerPoint</vt:lpstr>
      <vt:lpstr>Introduction: Sorooshian (2024)</vt:lpstr>
      <vt:lpstr>Презентация PowerPoint</vt:lpstr>
      <vt:lpstr>Презентация PowerPoint</vt:lpstr>
      <vt:lpstr>Презентация PowerPoint</vt:lpstr>
      <vt:lpstr>Conclusion:Matching Headings: Sorooshian (2024) </vt:lpstr>
      <vt:lpstr>Home task  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Media, Culture, and Society</dc:title>
  <dc:creator>ASUS</dc:creator>
  <cp:lastModifiedBy>Elmira Gerfanova</cp:lastModifiedBy>
  <cp:revision>133</cp:revision>
  <dcterms:modified xsi:type="dcterms:W3CDTF">2026-09-14T05:33:30Z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0x01010006FB7CF115E33F4FB8C6F9CFD72D4EB3</vt:lpwstr>
  </property>
</Properties>
</file>