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Lst>
  <p:sldSz cy="6858000" cx="12192000"/>
  <p:notesSz cx="6858000" cy="9144000"/>
  <p:embeddedFontLst>
    <p:embeddedFont>
      <p:font typeface="Play"/>
      <p:regular r:id="rId129"/>
      <p:bold r:id="rId130"/>
    </p:embeddedFont>
    <p:embeddedFont>
      <p:font typeface="Garamond"/>
      <p:regular r:id="rId131"/>
      <p:bold r:id="rId132"/>
      <p:italic r:id="rId133"/>
      <p:boldItalic r:id="rId134"/>
    </p:embeddedFont>
    <p:embeddedFont>
      <p:font typeface="Century Gothic"/>
      <p:regular r:id="rId135"/>
      <p:bold r:id="rId136"/>
      <p:italic r:id="rId137"/>
      <p:boldItalic r:id="rId1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9" roundtripDataSignature="AMtx7mhNKPzq2KYiMJPaMrF2oFX7QTnC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DC7CB1-D0B2-4275-98B9-FE7600B389A3}">
  <a:tblStyle styleId="{3EDC7CB1-D0B2-4275-98B9-FE7600B389A3}"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C14D8E69-B1FA-4E07-9C51-2DB75BDF693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82B3B4A-097C-44EC-8DDA-5E92EA9C3A8A}" styleName="Table_2">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font" Target="fonts/Play-regular.fntdata"/><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customschemas.google.com/relationships/presentationmetadata" Target="metadata"/><Relationship Id="rId138" Type="http://schemas.openxmlformats.org/officeDocument/2006/relationships/font" Target="fonts/CenturyGothic-boldItalic.fntdata"/><Relationship Id="rId137" Type="http://schemas.openxmlformats.org/officeDocument/2006/relationships/font" Target="fonts/CenturyGothic-italic.fntdata"/><Relationship Id="rId132" Type="http://schemas.openxmlformats.org/officeDocument/2006/relationships/font" Target="fonts/Garamond-bold.fntdata"/><Relationship Id="rId131" Type="http://schemas.openxmlformats.org/officeDocument/2006/relationships/font" Target="fonts/Garamond-regular.fntdata"/><Relationship Id="rId130" Type="http://schemas.openxmlformats.org/officeDocument/2006/relationships/font" Target="fonts/Play-bold.fntdata"/><Relationship Id="rId136" Type="http://schemas.openxmlformats.org/officeDocument/2006/relationships/font" Target="fonts/CenturyGothic-bold.fntdata"/><Relationship Id="rId135" Type="http://schemas.openxmlformats.org/officeDocument/2006/relationships/font" Target="fonts/CenturyGothic-regular.fntdata"/><Relationship Id="rId134" Type="http://schemas.openxmlformats.org/officeDocument/2006/relationships/font" Target="fonts/Garamond-boldItalic.fntdata"/><Relationship Id="rId133" Type="http://schemas.openxmlformats.org/officeDocument/2006/relationships/font" Target="fonts/Garamond-italic.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2" name="Google Shape;50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8" name="Google Shape;52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3" name="Google Shape;543;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3" name="Google Shape;553;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682" name="Google Shape;682;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9" name="Google Shape;719;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789" name="Google Shape;789;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795" name="Google Shape;795;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01" name="Google Shape;801;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07" name="Google Shape;807;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13" name="Google Shape;813;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19" name="Google Shape;819;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24" name="Google Shape;824;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29" name="Google Shape;829;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34" name="Google Shape;834;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39" name="Google Shape;839;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45" name="Google Shape;845;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52" name="Google Shape;852;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57" name="Google Shape;857;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62" name="Google Shape;862;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67" name="Google Shape;867;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73" name="Google Shape;873;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78" name="Google Shape;878;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83" name="Google Shape;883;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88" name="Google Shape;888;p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93" name="Google Shape;893;p1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898" name="Google Shape;898;p10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904" name="Google Shape;904;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0" name="Google Shape;910;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918" name="Google Shape;918;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4" name="Google Shape;92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 name="Google Shape;936;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 name="Google Shape;947;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 name="Google Shape;959;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5" name="Google Shape;965;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 name="Google Shape;977;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9" name="Google Shape;989;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5" name="Google Shape;995;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 name="Google Shape;1007;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4" name="Google Shape;1014;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1" name="Google Shape;1021;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7" name="Google Shape;1027;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6" name="Google Shape;1036;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 name="Google Shape;1042;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1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8" name="Google Shape;1048;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1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1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9" name="Google Shape;1099;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1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5" name="Google Shape;1105;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1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1" name="Google Shape;1111;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7" name="Google Shape;1117;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1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5" name="Google Shape;1125;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p1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6" name="Google Shape;1146;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1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2" name="Google Shape;1152;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21" name="Shape 21"/>
        <p:cNvGrpSpPr/>
        <p:nvPr/>
      </p:nvGrpSpPr>
      <p:grpSpPr>
        <a:xfrm>
          <a:off x="0" y="0"/>
          <a:ext cx="0" cy="0"/>
          <a:chOff x="0" y="0"/>
          <a:chExt cx="0" cy="0"/>
        </a:xfrm>
      </p:grpSpPr>
      <p:sp>
        <p:nvSpPr>
          <p:cNvPr id="22" name="Google Shape;2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26" name="Shape 26"/>
        <p:cNvGrpSpPr/>
        <p:nvPr/>
      </p:nvGrpSpPr>
      <p:grpSpPr>
        <a:xfrm>
          <a:off x="0" y="0"/>
          <a:ext cx="0" cy="0"/>
          <a:chOff x="0" y="0"/>
          <a:chExt cx="0" cy="0"/>
        </a:xfrm>
      </p:grpSpPr>
      <p:sp>
        <p:nvSpPr>
          <p:cNvPr id="27" name="Google Shape;27;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32" name="Shape 32"/>
        <p:cNvGrpSpPr/>
        <p:nvPr/>
      </p:nvGrpSpPr>
      <p:grpSpPr>
        <a:xfrm>
          <a:off x="0" y="0"/>
          <a:ext cx="0" cy="0"/>
          <a:chOff x="0" y="0"/>
          <a:chExt cx="0" cy="0"/>
        </a:xfrm>
      </p:grpSpPr>
      <p:sp>
        <p:nvSpPr>
          <p:cNvPr id="33" name="Google Shape;33;p4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4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4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41" name="Shape 41"/>
        <p:cNvGrpSpPr/>
        <p:nvPr/>
      </p:nvGrpSpPr>
      <p:grpSpPr>
        <a:xfrm>
          <a:off x="0" y="0"/>
          <a:ext cx="0" cy="0"/>
          <a:chOff x="0" y="0"/>
          <a:chExt cx="0" cy="0"/>
        </a:xfrm>
      </p:grpSpPr>
      <p:sp>
        <p:nvSpPr>
          <p:cNvPr id="42" name="Google Shape;42;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45" name="Shape 45"/>
        <p:cNvGrpSpPr/>
        <p:nvPr/>
      </p:nvGrpSpPr>
      <p:grpSpPr>
        <a:xfrm>
          <a:off x="0" y="0"/>
          <a:ext cx="0" cy="0"/>
          <a:chOff x="0" y="0"/>
          <a:chExt cx="0" cy="0"/>
        </a:xfrm>
      </p:grpSpPr>
      <p:sp>
        <p:nvSpPr>
          <p:cNvPr id="46" name="Google Shape;46;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8" name="Google Shape;48;p4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9" name="Google Shape;4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52" name="Shape 52"/>
        <p:cNvGrpSpPr/>
        <p:nvPr/>
      </p:nvGrpSpPr>
      <p:grpSpPr>
        <a:xfrm>
          <a:off x="0" y="0"/>
          <a:ext cx="0" cy="0"/>
          <a:chOff x="0" y="0"/>
          <a:chExt cx="0" cy="0"/>
        </a:xfrm>
      </p:grpSpPr>
      <p:sp>
        <p:nvSpPr>
          <p:cNvPr id="53" name="Google Shape;53;p4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5" name="Google Shape;5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58" name="Shape 58"/>
        <p:cNvGrpSpPr/>
        <p:nvPr/>
      </p:nvGrpSpPr>
      <p:grpSpPr>
        <a:xfrm>
          <a:off x="0" y="0"/>
          <a:ext cx="0" cy="0"/>
          <a:chOff x="0" y="0"/>
          <a:chExt cx="0" cy="0"/>
        </a:xfrm>
      </p:grpSpPr>
      <p:sp>
        <p:nvSpPr>
          <p:cNvPr id="59" name="Google Shape;5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7"/>
          <p:cNvSpPr/>
          <p:nvPr>
            <p:ph idx="2" type="pic"/>
          </p:nvPr>
        </p:nvSpPr>
        <p:spPr>
          <a:xfrm>
            <a:off x="5183188" y="987425"/>
            <a:ext cx="6172200" cy="4873625"/>
          </a:xfrm>
          <a:prstGeom prst="rect">
            <a:avLst/>
          </a:prstGeom>
          <a:noFill/>
          <a:ln>
            <a:noFill/>
          </a:ln>
        </p:spPr>
      </p:sp>
      <p:sp>
        <p:nvSpPr>
          <p:cNvPr id="68" name="Google Shape;68;p4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2" name="Shape 72"/>
        <p:cNvGrpSpPr/>
        <p:nvPr/>
      </p:nvGrpSpPr>
      <p:grpSpPr>
        <a:xfrm>
          <a:off x="0" y="0"/>
          <a:ext cx="0" cy="0"/>
          <a:chOff x="0" y="0"/>
          <a:chExt cx="0" cy="0"/>
        </a:xfrm>
      </p:grpSpPr>
      <p:sp>
        <p:nvSpPr>
          <p:cNvPr id="73" name="Google Shape;7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78" name="Shape 78"/>
        <p:cNvGrpSpPr/>
        <p:nvPr/>
      </p:nvGrpSpPr>
      <p:grpSpPr>
        <a:xfrm>
          <a:off x="0" y="0"/>
          <a:ext cx="0" cy="0"/>
          <a:chOff x="0" y="0"/>
          <a:chExt cx="0" cy="0"/>
        </a:xfrm>
      </p:grpSpPr>
      <p:sp>
        <p:nvSpPr>
          <p:cNvPr id="79" name="Google Shape;79;p4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117" name="Shape 117"/>
        <p:cNvGrpSpPr/>
        <p:nvPr/>
      </p:nvGrpSpPr>
      <p:grpSpPr>
        <a:xfrm>
          <a:off x="0" y="0"/>
          <a:ext cx="0" cy="0"/>
          <a:chOff x="0" y="0"/>
          <a:chExt cx="0" cy="0"/>
        </a:xfrm>
      </p:grpSpPr>
      <p:sp>
        <p:nvSpPr>
          <p:cNvPr id="118" name="Google Shape;118;p140"/>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40"/>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120" name="Google Shape;120;p14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4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40"/>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0"/>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24" name="Shape 124"/>
        <p:cNvGrpSpPr/>
        <p:nvPr/>
      </p:nvGrpSpPr>
      <p:grpSpPr>
        <a:xfrm>
          <a:off x="0" y="0"/>
          <a:ext cx="0" cy="0"/>
          <a:chOff x="0" y="0"/>
          <a:chExt cx="0" cy="0"/>
        </a:xfrm>
      </p:grpSpPr>
      <p:sp>
        <p:nvSpPr>
          <p:cNvPr id="125" name="Google Shape;125;p14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4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7" name="Google Shape;127;p14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4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4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131" name="Shape 131"/>
        <p:cNvGrpSpPr/>
        <p:nvPr/>
      </p:nvGrpSpPr>
      <p:grpSpPr>
        <a:xfrm>
          <a:off x="0" y="0"/>
          <a:ext cx="0" cy="0"/>
          <a:chOff x="0" y="0"/>
          <a:chExt cx="0" cy="0"/>
        </a:xfrm>
      </p:grpSpPr>
      <p:sp>
        <p:nvSpPr>
          <p:cNvPr id="132" name="Google Shape;132;p142"/>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42"/>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34" name="Google Shape;134;p14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4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4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138" name="Shape 138"/>
        <p:cNvGrpSpPr/>
        <p:nvPr/>
      </p:nvGrpSpPr>
      <p:grpSpPr>
        <a:xfrm>
          <a:off x="0" y="0"/>
          <a:ext cx="0" cy="0"/>
          <a:chOff x="0" y="0"/>
          <a:chExt cx="0" cy="0"/>
        </a:xfrm>
      </p:grpSpPr>
      <p:sp>
        <p:nvSpPr>
          <p:cNvPr id="139" name="Google Shape;139;p143"/>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43"/>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143"/>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14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4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14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146" name="Shape 146"/>
        <p:cNvGrpSpPr/>
        <p:nvPr/>
      </p:nvGrpSpPr>
      <p:grpSpPr>
        <a:xfrm>
          <a:off x="0" y="0"/>
          <a:ext cx="0" cy="0"/>
          <a:chOff x="0" y="0"/>
          <a:chExt cx="0" cy="0"/>
        </a:xfrm>
      </p:grpSpPr>
      <p:sp>
        <p:nvSpPr>
          <p:cNvPr id="147" name="Google Shape;147;p14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44"/>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149" name="Google Shape;149;p144"/>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0" name="Google Shape;150;p144"/>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151" name="Google Shape;151;p144"/>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2" name="Google Shape;152;p14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14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14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156" name="Shape 156"/>
        <p:cNvGrpSpPr/>
        <p:nvPr/>
      </p:nvGrpSpPr>
      <p:grpSpPr>
        <a:xfrm>
          <a:off x="0" y="0"/>
          <a:ext cx="0" cy="0"/>
          <a:chOff x="0" y="0"/>
          <a:chExt cx="0" cy="0"/>
        </a:xfrm>
      </p:grpSpPr>
      <p:sp>
        <p:nvSpPr>
          <p:cNvPr id="157" name="Google Shape;157;p14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4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14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14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162" name="Shape 162"/>
        <p:cNvGrpSpPr/>
        <p:nvPr/>
      </p:nvGrpSpPr>
      <p:grpSpPr>
        <a:xfrm>
          <a:off x="0" y="0"/>
          <a:ext cx="0" cy="0"/>
          <a:chOff x="0" y="0"/>
          <a:chExt cx="0" cy="0"/>
        </a:xfrm>
      </p:grpSpPr>
      <p:sp>
        <p:nvSpPr>
          <p:cNvPr id="163" name="Google Shape;163;p14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14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14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167" name="Shape 167"/>
        <p:cNvGrpSpPr/>
        <p:nvPr/>
      </p:nvGrpSpPr>
      <p:grpSpPr>
        <a:xfrm>
          <a:off x="0" y="0"/>
          <a:ext cx="0" cy="0"/>
          <a:chOff x="0" y="0"/>
          <a:chExt cx="0" cy="0"/>
        </a:xfrm>
      </p:grpSpPr>
      <p:sp>
        <p:nvSpPr>
          <p:cNvPr id="168" name="Google Shape;168;p147"/>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147"/>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70" name="Google Shape;170;p147"/>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71" name="Google Shape;171;p14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14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14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175" name="Shape 175"/>
        <p:cNvGrpSpPr/>
        <p:nvPr/>
      </p:nvGrpSpPr>
      <p:grpSpPr>
        <a:xfrm>
          <a:off x="0" y="0"/>
          <a:ext cx="0" cy="0"/>
          <a:chOff x="0" y="0"/>
          <a:chExt cx="0" cy="0"/>
        </a:xfrm>
      </p:grpSpPr>
      <p:sp>
        <p:nvSpPr>
          <p:cNvPr id="176" name="Google Shape;176;p148"/>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148"/>
          <p:cNvSpPr/>
          <p:nvPr>
            <p:ph idx="2" type="pic"/>
          </p:nvPr>
        </p:nvSpPr>
        <p:spPr>
          <a:xfrm>
            <a:off x="2589212" y="634965"/>
            <a:ext cx="8915400" cy="3854970"/>
          </a:xfrm>
          <a:prstGeom prst="rect">
            <a:avLst/>
          </a:prstGeom>
          <a:noFill/>
          <a:ln>
            <a:noFill/>
          </a:ln>
        </p:spPr>
      </p:sp>
      <p:sp>
        <p:nvSpPr>
          <p:cNvPr id="178" name="Google Shape;178;p148"/>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79" name="Google Shape;179;p14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14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148"/>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48"/>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подпись">
  <p:cSld name="Заголовок и подпись">
    <p:spTree>
      <p:nvGrpSpPr>
        <p:cNvPr id="183" name="Shape 183"/>
        <p:cNvGrpSpPr/>
        <p:nvPr/>
      </p:nvGrpSpPr>
      <p:grpSpPr>
        <a:xfrm>
          <a:off x="0" y="0"/>
          <a:ext cx="0" cy="0"/>
          <a:chOff x="0" y="0"/>
          <a:chExt cx="0" cy="0"/>
        </a:xfrm>
      </p:grpSpPr>
      <p:sp>
        <p:nvSpPr>
          <p:cNvPr id="184" name="Google Shape;184;p149"/>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149"/>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86" name="Google Shape;186;p14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14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149"/>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9"/>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Цитата с подписью">
  <p:cSld name="Цитата с подписью">
    <p:spTree>
      <p:nvGrpSpPr>
        <p:cNvPr id="190" name="Shape 190"/>
        <p:cNvGrpSpPr/>
        <p:nvPr/>
      </p:nvGrpSpPr>
      <p:grpSpPr>
        <a:xfrm>
          <a:off x="0" y="0"/>
          <a:ext cx="0" cy="0"/>
          <a:chOff x="0" y="0"/>
          <a:chExt cx="0" cy="0"/>
        </a:xfrm>
      </p:grpSpPr>
      <p:sp>
        <p:nvSpPr>
          <p:cNvPr id="191" name="Google Shape;191;p150"/>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50"/>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93" name="Google Shape;193;p150"/>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94" name="Google Shape;194;p15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15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150"/>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0"/>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
        <p:nvSpPr>
          <p:cNvPr id="198" name="Google Shape;198;p150"/>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
        <p:nvSpPr>
          <p:cNvPr id="199" name="Google Shape;199;p150"/>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Карточка имени">
  <p:cSld name="Карточка имени">
    <p:spTree>
      <p:nvGrpSpPr>
        <p:cNvPr id="200" name="Shape 200"/>
        <p:cNvGrpSpPr/>
        <p:nvPr/>
      </p:nvGrpSpPr>
      <p:grpSpPr>
        <a:xfrm>
          <a:off x="0" y="0"/>
          <a:ext cx="0" cy="0"/>
          <a:chOff x="0" y="0"/>
          <a:chExt cx="0" cy="0"/>
        </a:xfrm>
      </p:grpSpPr>
      <p:sp>
        <p:nvSpPr>
          <p:cNvPr id="201" name="Google Shape;201;p151"/>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51"/>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203" name="Google Shape;203;p15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15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15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Цитата карточки имени">
  <p:cSld name="Цитата карточки имени">
    <p:spTree>
      <p:nvGrpSpPr>
        <p:cNvPr id="207" name="Shape 207"/>
        <p:cNvGrpSpPr/>
        <p:nvPr/>
      </p:nvGrpSpPr>
      <p:grpSpPr>
        <a:xfrm>
          <a:off x="0" y="0"/>
          <a:ext cx="0" cy="0"/>
          <a:chOff x="0" y="0"/>
          <a:chExt cx="0" cy="0"/>
        </a:xfrm>
      </p:grpSpPr>
      <p:sp>
        <p:nvSpPr>
          <p:cNvPr id="208" name="Google Shape;208;p152"/>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152"/>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210" name="Google Shape;210;p152"/>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211" name="Google Shape;211;p15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15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15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
        <p:nvSpPr>
          <p:cNvPr id="215" name="Google Shape;215;p152"/>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
        <p:nvSpPr>
          <p:cNvPr id="216" name="Google Shape;216;p152"/>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Истина или ложь">
  <p:cSld name="Истина или ложь">
    <p:spTree>
      <p:nvGrpSpPr>
        <p:cNvPr id="217" name="Shape 217"/>
        <p:cNvGrpSpPr/>
        <p:nvPr/>
      </p:nvGrpSpPr>
      <p:grpSpPr>
        <a:xfrm>
          <a:off x="0" y="0"/>
          <a:ext cx="0" cy="0"/>
          <a:chOff x="0" y="0"/>
          <a:chExt cx="0" cy="0"/>
        </a:xfrm>
      </p:grpSpPr>
      <p:sp>
        <p:nvSpPr>
          <p:cNvPr id="218" name="Google Shape;218;p153"/>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153"/>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220" name="Google Shape;220;p153"/>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221" name="Google Shape;221;p15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15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15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225" name="Shape 225"/>
        <p:cNvGrpSpPr/>
        <p:nvPr/>
      </p:nvGrpSpPr>
      <p:grpSpPr>
        <a:xfrm>
          <a:off x="0" y="0"/>
          <a:ext cx="0" cy="0"/>
          <a:chOff x="0" y="0"/>
          <a:chExt cx="0" cy="0"/>
        </a:xfrm>
      </p:grpSpPr>
      <p:sp>
        <p:nvSpPr>
          <p:cNvPr id="226" name="Google Shape;226;p15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154"/>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228" name="Google Shape;228;p15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15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15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232" name="Shape 232"/>
        <p:cNvGrpSpPr/>
        <p:nvPr/>
      </p:nvGrpSpPr>
      <p:grpSpPr>
        <a:xfrm>
          <a:off x="0" y="0"/>
          <a:ext cx="0" cy="0"/>
          <a:chOff x="0" y="0"/>
          <a:chExt cx="0" cy="0"/>
        </a:xfrm>
      </p:grpSpPr>
      <p:sp>
        <p:nvSpPr>
          <p:cNvPr id="233" name="Google Shape;233;p155"/>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155"/>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235" name="Google Shape;235;p15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15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p15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2000"/>
              <a:buNone/>
              <a:defRPr/>
            </a:lvl1pPr>
            <a:lvl2pPr indent="0" lvl="1" marL="0" algn="r">
              <a:lnSpc>
                <a:spcPct val="100000"/>
              </a:lnSpc>
              <a:spcBef>
                <a:spcPts val="0"/>
              </a:spcBef>
              <a:spcAft>
                <a:spcPts val="0"/>
              </a:spcAft>
              <a:buSzPts val="2000"/>
              <a:buNone/>
              <a:defRPr/>
            </a:lvl2pPr>
            <a:lvl3pPr indent="0" lvl="2" marL="0" algn="r">
              <a:lnSpc>
                <a:spcPct val="100000"/>
              </a:lnSpc>
              <a:spcBef>
                <a:spcPts val="0"/>
              </a:spcBef>
              <a:spcAft>
                <a:spcPts val="0"/>
              </a:spcAft>
              <a:buSzPts val="2000"/>
              <a:buNone/>
              <a:defRPr/>
            </a:lvl3pPr>
            <a:lvl4pPr indent="0" lvl="3" marL="0" algn="r">
              <a:lnSpc>
                <a:spcPct val="100000"/>
              </a:lnSpc>
              <a:spcBef>
                <a:spcPts val="0"/>
              </a:spcBef>
              <a:spcAft>
                <a:spcPts val="0"/>
              </a:spcAft>
              <a:buSzPts val="2000"/>
              <a:buNone/>
              <a:defRPr/>
            </a:lvl4pPr>
            <a:lvl5pPr indent="0" lvl="4" marL="0" algn="r">
              <a:lnSpc>
                <a:spcPct val="100000"/>
              </a:lnSpc>
              <a:spcBef>
                <a:spcPts val="0"/>
              </a:spcBef>
              <a:spcAft>
                <a:spcPts val="0"/>
              </a:spcAft>
              <a:buSzPts val="2000"/>
              <a:buNone/>
              <a:defRPr/>
            </a:lvl5pPr>
            <a:lvl6pPr indent="0" lvl="5" marL="0" algn="r">
              <a:lnSpc>
                <a:spcPct val="100000"/>
              </a:lnSpc>
              <a:spcBef>
                <a:spcPts val="0"/>
              </a:spcBef>
              <a:spcAft>
                <a:spcPts val="0"/>
              </a:spcAft>
              <a:buSzPts val="2000"/>
              <a:buNone/>
              <a:defRPr/>
            </a:lvl6pPr>
            <a:lvl7pPr indent="0" lvl="6" marL="0" algn="r">
              <a:lnSpc>
                <a:spcPct val="100000"/>
              </a:lnSpc>
              <a:spcBef>
                <a:spcPts val="0"/>
              </a:spcBef>
              <a:spcAft>
                <a:spcPts val="0"/>
              </a:spcAft>
              <a:buSzPts val="2000"/>
              <a:buNone/>
              <a:defRPr/>
            </a:lvl7pPr>
            <a:lvl8pPr indent="0" lvl="7" marL="0" algn="r">
              <a:lnSpc>
                <a:spcPct val="100000"/>
              </a:lnSpc>
              <a:spcBef>
                <a:spcPts val="0"/>
              </a:spcBef>
              <a:spcAft>
                <a:spcPts val="0"/>
              </a:spcAft>
              <a:buSzPts val="2000"/>
              <a:buNone/>
              <a:defRPr/>
            </a:lvl8pPr>
            <a:lvl9pPr indent="0" lvl="8" marL="0" algn="r">
              <a:lnSpc>
                <a:spcPct val="100000"/>
              </a:lnSpc>
              <a:spcBef>
                <a:spcPts val="0"/>
              </a:spcBef>
              <a:spcAft>
                <a:spcPts val="0"/>
              </a:spcAft>
              <a:buSzPts val="2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theme" Target="../theme/theme3.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l="0%" r="100%" t="0%"/>
          </a:path>
          <a:tileRect b="0%" l="-100%" r="0%" t="-100%"/>
        </a:gradFill>
      </p:bgPr>
    </p:bg>
    <p:spTree>
      <p:nvGrpSpPr>
        <p:cNvPr id="84" name="Shape 84"/>
        <p:cNvGrpSpPr/>
        <p:nvPr/>
      </p:nvGrpSpPr>
      <p:grpSpPr>
        <a:xfrm>
          <a:off x="0" y="0"/>
          <a:ext cx="0" cy="0"/>
          <a:chOff x="0" y="0"/>
          <a:chExt cx="0" cy="0"/>
        </a:xfrm>
      </p:grpSpPr>
      <p:grpSp>
        <p:nvGrpSpPr>
          <p:cNvPr id="85" name="Google Shape;85;p139"/>
          <p:cNvGrpSpPr/>
          <p:nvPr/>
        </p:nvGrpSpPr>
        <p:grpSpPr>
          <a:xfrm>
            <a:off x="1" y="228600"/>
            <a:ext cx="2851516" cy="6638628"/>
            <a:chOff x="2487613" y="285750"/>
            <a:chExt cx="2428875" cy="5654676"/>
          </a:xfrm>
        </p:grpSpPr>
        <p:sp>
          <p:nvSpPr>
            <p:cNvPr id="86" name="Google Shape;86;p139"/>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9"/>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9"/>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9"/>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9"/>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9"/>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9"/>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9"/>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9"/>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9"/>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9"/>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9"/>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 name="Google Shape;98;p139"/>
          <p:cNvGrpSpPr/>
          <p:nvPr/>
        </p:nvGrpSpPr>
        <p:grpSpPr>
          <a:xfrm>
            <a:off x="27221" y="-786"/>
            <a:ext cx="2356674" cy="6854039"/>
            <a:chOff x="6627813" y="194833"/>
            <a:chExt cx="1952625" cy="5678918"/>
          </a:xfrm>
        </p:grpSpPr>
        <p:sp>
          <p:nvSpPr>
            <p:cNvPr id="99" name="Google Shape;99;p139"/>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9"/>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9"/>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9"/>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9"/>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9"/>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9"/>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9"/>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9"/>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9"/>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9"/>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9"/>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139"/>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9"/>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3" name="Google Shape;113;p139"/>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114" name="Google Shape;114;p13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5" name="Google Shape;115;p13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6" name="Google Shape;116;p13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20.png"/></Relationships>
</file>

<file path=ppt/slides/_rels/slide6.xml.rels><?xml version="1.0" encoding="UTF-8" standalone="yes"?><Relationships xmlns="http://schemas.openxmlformats.org/package/2006/relationships"><Relationship Id="rId11" Type="http://schemas.openxmlformats.org/officeDocument/2006/relationships/hyperlink" Target="https://github.com/khanhnamle1994/natural-language-processing/tree/master/Lecture-4-Word-Window-Classification-and-Neural-Networks" TargetMode="External"/><Relationship Id="rId10" Type="http://schemas.openxmlformats.org/officeDocument/2006/relationships/hyperlink" Target="https://www.youtube.com/watch?v=uc2_iwVqrRI&amp;list=PL3FW7Lu3i5Jsnh1rnUwq_TcylNr7EkRe6&amp;index=4" TargetMode="External"/><Relationship Id="rId13" Type="http://schemas.openxmlformats.org/officeDocument/2006/relationships/hyperlink" Target="https://github.com/khanhnamle1994/natural-language-processing/tree/master/Lecture-5-Backpropagation-and-Project-Advice" TargetMode="External"/><Relationship Id="rId12" Type="http://schemas.openxmlformats.org/officeDocument/2006/relationships/hyperlink" Target="https://www.youtube.com/watch?v=isPiE-DBagM&amp;index=5&amp;list=PL3FW7Lu3i5Jsnh1rnUwq_TcylNr7EkRe6" TargetMode="External"/><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github.com/khanhnamle1994/natural-language-processing" TargetMode="External"/><Relationship Id="rId4" Type="http://schemas.openxmlformats.org/officeDocument/2006/relationships/hyperlink" Target="https://www.youtube.com/watch?v=OQQ-W_63UgQ&amp;list=PL3FW7Lu3i5Jsnh1rnUwq_TcylNr7EkRe6&amp;index=1" TargetMode="External"/><Relationship Id="rId9" Type="http://schemas.openxmlformats.org/officeDocument/2006/relationships/hyperlink" Target="https://github.com/khanhnamle1994/natural-language-processing/tree/master/Lecture-3-Advanced-Word-Vector-Representations" TargetMode="External"/><Relationship Id="rId15" Type="http://schemas.openxmlformats.org/officeDocument/2006/relationships/hyperlink" Target="https://github.com/khanhnamle1994/natural-language-processing/tree/master/Lecture-7-Dependency-Parsing" TargetMode="External"/><Relationship Id="rId14" Type="http://schemas.openxmlformats.org/officeDocument/2006/relationships/hyperlink" Target="https://www.youtube.com/watch?v=PVShkZgXznc&amp;list=PL3FW7Lu3i5Jsnh1rnUwq_TcylNr7EkRe6&amp;index=6" TargetMode="External"/><Relationship Id="rId5" Type="http://schemas.openxmlformats.org/officeDocument/2006/relationships/hyperlink" Target="https://github.com/khanhnamle1994/natural-language-processing/tree/master/Lecture-1-Intro-to-NLP-and-Deep-Learning" TargetMode="External"/><Relationship Id="rId6" Type="http://schemas.openxmlformats.org/officeDocument/2006/relationships/hyperlink" Target="https://www.youtube.com/watch?v=ERibwqs9p38&amp;list=PL3FW7Lu3i5Jsnh1rnUwq_TcylNr7EkRe6&amp;index=2" TargetMode="External"/><Relationship Id="rId7" Type="http://schemas.openxmlformats.org/officeDocument/2006/relationships/hyperlink" Target="https://github.com/khanhnamle1994/natural-language-processing/tree/master/Lecture-2-Word-Vector-Representations" TargetMode="External"/><Relationship Id="rId8" Type="http://schemas.openxmlformats.org/officeDocument/2006/relationships/hyperlink" Target="https://www.youtube.com/watch?v=ASn7ExxLZws&amp;list=PL3FW7Lu3i5Jsnh1rnUwq_TcylNr7EkRe6&amp;index=3" TargetMode="External"/></Relationships>
</file>

<file path=ppt/slides/_rels/slide7.xml.rels><?xml version="1.0" encoding="UTF-8" standalone="yes"?><Relationships xmlns="http://schemas.openxmlformats.org/package/2006/relationships"><Relationship Id="rId11" Type="http://schemas.openxmlformats.org/officeDocument/2006/relationships/hyperlink" Target="https://www.youtube.com/watch?v=6_MO12fPC-0&amp;index=12&amp;list=PL3FW7Lu3i5Jsnh1rnUwq_TcylNr7EkRe6" TargetMode="External"/><Relationship Id="rId10" Type="http://schemas.openxmlformats.org/officeDocument/2006/relationships/hyperlink" Target="https://github.com/khanhnamle1994/natural-language-processing/tree/master/Lecture-10-Neural-Machine-Translation-and-Models-with-Attention" TargetMode="External"/><Relationship Id="rId13" Type="http://schemas.openxmlformats.org/officeDocument/2006/relationships/hyperlink" Target="https://www.youtube.com/watch?v=3MjIkWxXigM&amp;list=PL3FW7Lu3i5Jsnh1rnUwq_TcylNr7EkRe6&amp;index=13" TargetMode="External"/><Relationship Id="rId12" Type="http://schemas.openxmlformats.org/officeDocument/2006/relationships/hyperlink" Target="https://github.com/khanhnamle1994/natural-language-processing/tree/master/Lecture-11-GRUs-and-Further-Topics-in-NMT" TargetMode="External"/><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youtube.com/watch?v=PicxU81owCs&amp;list=PL3FW7Lu3i5Jsnh1rnUwq_TcylNr7EkRe6&amp;index=7" TargetMode="External"/><Relationship Id="rId4" Type="http://schemas.openxmlformats.org/officeDocument/2006/relationships/hyperlink" Target="https://github.com/khanhnamle1994/natural-language-processing/tree/master/Lecture-6-Introduction-to-TensorFlow" TargetMode="External"/><Relationship Id="rId9" Type="http://schemas.openxmlformats.org/officeDocument/2006/relationships/hyperlink" Target="https://www.youtube.com/watch?v=IxQtK2SjWWM&amp;index=11&amp;list=PL3FW7Lu3i5Jsnh1rnUwq_TcylNr7EkRe6" TargetMode="External"/><Relationship Id="rId15" Type="http://schemas.openxmlformats.org/officeDocument/2006/relationships/hyperlink" Target="https://www.youtube.com/watch?v=Lg6MZw_OOLI&amp;list=PL3FW7Lu3i5Jsnh1rnUwq_TcylNr7EkRe6&amp;index=14" TargetMode="External"/><Relationship Id="rId14" Type="http://schemas.openxmlformats.org/officeDocument/2006/relationships/hyperlink" Target="https://github.com/khanhnamle1994/natural-language-processing/tree/master/Lecture-12-End-to-End-Model-Speech-Processing" TargetMode="External"/><Relationship Id="rId17" Type="http://schemas.openxmlformats.org/officeDocument/2006/relationships/hyperlink" Target="https://www.youtube.com/watch?v=RfwgqPkWZ1w&amp;list=PL3FW7Lu3i5Jsnh1rnUwq_TcylNr7EkRe6&amp;index=15" TargetMode="External"/><Relationship Id="rId16" Type="http://schemas.openxmlformats.org/officeDocument/2006/relationships/hyperlink" Target="https://github.com/khanhnamle1994/natural-language-processing/tree/master/Lecture-13-Convolutional-Neural-Networks" TargetMode="External"/><Relationship Id="rId5" Type="http://schemas.openxmlformats.org/officeDocument/2006/relationships/hyperlink" Target="https://www.youtube.com/watch?v=Keqep_PKrY8&amp;index=8&amp;list=PL3FW7Lu3i5Jsnh1rnUwq_TcylNr7EkRe6" TargetMode="External"/><Relationship Id="rId6" Type="http://schemas.openxmlformats.org/officeDocument/2006/relationships/hyperlink" Target="https://github.com/khanhnamle1994/natural-language-processing/tree/master/Lecture-8-Recurrent-Neural-Nets-and-Language-Models" TargetMode="External"/><Relationship Id="rId18" Type="http://schemas.openxmlformats.org/officeDocument/2006/relationships/hyperlink" Target="https://github.com/khanhnamle1994/natural-language-processing/tree/master/Lecture-14-Tree-Recursive-Neural-Networks-and-Constituency-Parsing" TargetMode="External"/><Relationship Id="rId7" Type="http://schemas.openxmlformats.org/officeDocument/2006/relationships/hyperlink" Target="https://www.youtube.com/watch?v=QuELiw8tbx8&amp;list=PL3FW7Lu3i5Jsnh1rnUwq_TcylNr7EkRe6&amp;index=9" TargetMode="External"/><Relationship Id="rId8" Type="http://schemas.openxmlformats.org/officeDocument/2006/relationships/hyperlink" Target="https://github.com/khanhnamle1994/natural-language-processing/tree/master/Lecture-9-Machine-Translation-and-Advanced-Recurrent-LSTMs-GSU" TargetMode="External"/></Relationships>
</file>

<file path=ppt/slides/_rels/slide8.xml.rels><?xml version="1.0" encoding="UTF-8" standalone="yes"?><Relationships xmlns="http://schemas.openxmlformats.org/package/2006/relationships"><Relationship Id="rId11" Type="http://schemas.openxmlformats.org/officeDocument/2006/relationships/hyperlink" Target="https://github.com/khanhnamle1994/natural-language-processing/blob/master/Assignment-Guidelines-and-Solutions/assignment1.pdf" TargetMode="External"/><Relationship Id="rId10" Type="http://schemas.openxmlformats.org/officeDocument/2006/relationships/hyperlink" Target="https://github.com/khanhnamle1994/natural-language-processing/tree/master/Lecture-18-Tackling-the-limits-of-Deep-Learning-for-NLP" TargetMode="External"/><Relationship Id="rId13" Type="http://schemas.openxmlformats.org/officeDocument/2006/relationships/hyperlink" Target="https://github.com/khanhnamle1994/natural-language-processing/tree/master/assignment1" TargetMode="External"/><Relationship Id="rId12" Type="http://schemas.openxmlformats.org/officeDocument/2006/relationships/hyperlink" Target="https://github.com/khanhnamle1994/natural-language-processing/blob/master/Assignment-Guidelines-and-Solutions/assignment1-solutions.pdf" TargetMode="External"/><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youtube.com/watch?v=rpwEWLaueRk&amp;index=16&amp;list=PL3FW7Lu3i5Jsnh1rnUwq_TcylNr7EkRe6" TargetMode="External"/><Relationship Id="rId4" Type="http://schemas.openxmlformats.org/officeDocument/2006/relationships/hyperlink" Target="https://github.com/khanhnamle1994/natural-language-processing/tree/master/Lecture-15-Coreference-Resolution" TargetMode="External"/><Relationship Id="rId9" Type="http://schemas.openxmlformats.org/officeDocument/2006/relationships/hyperlink" Target="https://www.youtube.com/watch?v=JYwNmSe4HqE&amp;list=PL3FW7Lu3i5Jsnh1rnUwq_TcylNr7EkRe6&amp;index=19" TargetMode="External"/><Relationship Id="rId15" Type="http://schemas.openxmlformats.org/officeDocument/2006/relationships/hyperlink" Target="https://github.com/khanhnamle1994/natural-language-processing/blob/master/Assignment-Guidelines-and-Solutions/assignment2-solutions.pdf" TargetMode="External"/><Relationship Id="rId14" Type="http://schemas.openxmlformats.org/officeDocument/2006/relationships/hyperlink" Target="https://github.com/khanhnamle1994/natural-language-processing/blob/master/Assignment-Guidelines-and-Solutions/assignment2.pdf" TargetMode="External"/><Relationship Id="rId17" Type="http://schemas.openxmlformats.org/officeDocument/2006/relationships/hyperlink" Target="https://github.com/khanhnamle1994/natural-language-processing/blob/master/Assignment-Guidelines-and-Solutions/assignment3.pdf" TargetMode="External"/><Relationship Id="rId16" Type="http://schemas.openxmlformats.org/officeDocument/2006/relationships/hyperlink" Target="https://github.com/khanhnamle1994/natural-language-processing/tree/master/assignment2" TargetMode="External"/><Relationship Id="rId5" Type="http://schemas.openxmlformats.org/officeDocument/2006/relationships/hyperlink" Target="https://www.youtube.com/watch?v=T3octNTE7Is&amp;index=17&amp;list=PL3FW7Lu3i5Jsnh1rnUwq_TcylNr7EkRe6" TargetMode="External"/><Relationship Id="rId19" Type="http://schemas.openxmlformats.org/officeDocument/2006/relationships/hyperlink" Target="https://github.com/khanhnamle1994/natural-language-processing/tree/master/assignment3" TargetMode="External"/><Relationship Id="rId6" Type="http://schemas.openxmlformats.org/officeDocument/2006/relationships/hyperlink" Target="https://github.com/khanhnamle1994/natural-language-processing/tree/master/Lecture-16-Dynamic-Neural-Networks-for-Question-Answering" TargetMode="External"/><Relationship Id="rId18" Type="http://schemas.openxmlformats.org/officeDocument/2006/relationships/hyperlink" Target="https://github.com/khanhnamle1994/natural-language-processing/blob/master/Assignment-Guidelines-and-Solutions/assignment3-solutions.pdf" TargetMode="External"/><Relationship Id="rId7" Type="http://schemas.openxmlformats.org/officeDocument/2006/relationships/hyperlink" Target="https://www.youtube.com/watch?v=B4v545V3Dq0&amp;list=PL3FW7Lu3i5Jsnh1rnUwq_TcylNr7EkRe6&amp;index=18" TargetMode="External"/><Relationship Id="rId8" Type="http://schemas.openxmlformats.org/officeDocument/2006/relationships/hyperlink" Target="https://github.com/khanhnamle1994/natural-language-processing/tree/master/Lecture-17-Issues-in-NLP-and-Possible-Architectures-in-NL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roschinsm.ru/courses/" TargetMode="External"/><Relationship Id="rId4" Type="http://schemas.openxmlformats.org/officeDocument/2006/relationships/image" Target="../media/image5.jpg"/><Relationship Id="rId5" Type="http://schemas.openxmlformats.org/officeDocument/2006/relationships/hyperlink" Target="https://medium.com/@bigdataschool/4-%D0%BC%D0%B5%D1%82%D0%BE%D0%B4%D0%B0-%D0%B2%D0%B5%D0%BA%D1%82%D0%BE%D1%80%D0%B8%D0%B7%D0%B0%D1%86%D0%B8%D0%B8-%D1%82%D0%B5%D0%BA%D1%81%D1%82%D0%BE%D0%B2-f8ac90e4175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22.png"/><Relationship Id="rId5" Type="http://schemas.openxmlformats.org/officeDocument/2006/relationships/image" Target="../media/image38.png"/><Relationship Id="rId6"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9.png"/><Relationship Id="rId4" Type="http://schemas.openxmlformats.org/officeDocument/2006/relationships/image" Target="../media/image32.png"/><Relationship Id="rId5"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png"/><Relationship Id="rId4" Type="http://schemas.openxmlformats.org/officeDocument/2006/relationships/image" Target="../media/image37.png"/><Relationship Id="rId5"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vmlDrawing" Target="../drawings/vmlDrawing1.vml"/><Relationship Id="rId4" Type="http://schemas.openxmlformats.org/officeDocument/2006/relationships/image" Target="../media/image40.png"/><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1.png"/><Relationship Id="rId4" Type="http://schemas.openxmlformats.org/officeDocument/2006/relationships/image" Target="../media/image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www.bazhenov.me/blog/2012/05/05/harmonic-mean.htm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5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5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9.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4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5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 Id="rId3"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 Id="rId3" Type="http://schemas.openxmlformats.org/officeDocument/2006/relationships/image" Target="../media/image6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66.png"/><Relationship Id="rId4" Type="http://schemas.openxmlformats.org/officeDocument/2006/relationships/image" Target="../media/image5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 Id="rId3" Type="http://schemas.openxmlformats.org/officeDocument/2006/relationships/image" Target="../media/image6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 Id="rId3" Type="http://schemas.openxmlformats.org/officeDocument/2006/relationships/image" Target="../media/image6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 Id="rId3" Type="http://schemas.openxmlformats.org/officeDocument/2006/relationships/image" Target="../media/image5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7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6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6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6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 Id="rId3" Type="http://schemas.openxmlformats.org/officeDocument/2006/relationships/image" Target="../media/image74.png"/><Relationship Id="rId4" Type="http://schemas.openxmlformats.org/officeDocument/2006/relationships/image" Target="../media/image6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2.xml"/><Relationship Id="rId3" Type="http://schemas.openxmlformats.org/officeDocument/2006/relationships/image" Target="../media/image73.jpg"/><Relationship Id="rId4" Type="http://schemas.openxmlformats.org/officeDocument/2006/relationships/image" Target="../media/image80.png"/><Relationship Id="rId5" Type="http://schemas.openxmlformats.org/officeDocument/2006/relationships/image" Target="../media/image6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59.png"/><Relationship Id="rId4" Type="http://schemas.openxmlformats.org/officeDocument/2006/relationships/image" Target="../media/image7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8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77.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6.xml"/><Relationship Id="rId3" Type="http://schemas.openxmlformats.org/officeDocument/2006/relationships/image" Target="../media/image65.png"/><Relationship Id="rId4" Type="http://schemas.openxmlformats.org/officeDocument/2006/relationships/image" Target="../media/image71.jpg"/><Relationship Id="rId5" Type="http://schemas.openxmlformats.org/officeDocument/2006/relationships/image" Target="../media/image82.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Relationship Id="rId3" Type="http://schemas.openxmlformats.org/officeDocument/2006/relationships/image" Target="../media/image7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Relationship Id="rId3" Type="http://schemas.openxmlformats.org/officeDocument/2006/relationships/image" Target="../media/image8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9.xml"/><Relationship Id="rId3" Type="http://schemas.openxmlformats.org/officeDocument/2006/relationships/image" Target="../media/image75.png"/><Relationship Id="rId4" Type="http://schemas.openxmlformats.org/officeDocument/2006/relationships/image" Target="../media/image78.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p1"/>
          <p:cNvSpPr txBox="1"/>
          <p:nvPr>
            <p:ph type="ctrTitle"/>
          </p:nvPr>
        </p:nvSpPr>
        <p:spPr>
          <a:xfrm>
            <a:off x="1454178" y="478130"/>
            <a:ext cx="9385899" cy="1158176"/>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78206E"/>
              </a:buClr>
              <a:buSzPts val="4800"/>
              <a:buNone/>
            </a:pPr>
            <a:r>
              <a:rPr b="1" i="0" lang="en-US" sz="4800">
                <a:solidFill>
                  <a:srgbClr val="78206E"/>
                </a:solidFill>
                <a:latin typeface="Times New Roman"/>
                <a:ea typeface="Times New Roman"/>
                <a:cs typeface="Times New Roman"/>
                <a:sym typeface="Times New Roman"/>
              </a:rPr>
              <a:t>Lecture </a:t>
            </a:r>
            <a:r>
              <a:rPr b="1" lang="en-US" sz="4800">
                <a:solidFill>
                  <a:srgbClr val="78206E"/>
                </a:solidFill>
                <a:latin typeface="Times New Roman"/>
                <a:ea typeface="Times New Roman"/>
                <a:cs typeface="Times New Roman"/>
                <a:sym typeface="Times New Roman"/>
              </a:rPr>
              <a:t>6</a:t>
            </a:r>
            <a:r>
              <a:rPr b="1" i="0" lang="en-US" sz="4800">
                <a:solidFill>
                  <a:srgbClr val="78206E"/>
                </a:solidFill>
                <a:latin typeface="Times New Roman"/>
                <a:ea typeface="Times New Roman"/>
                <a:cs typeface="Times New Roman"/>
                <a:sym typeface="Times New Roman"/>
              </a:rPr>
              <a:t>. </a:t>
            </a:r>
            <a:r>
              <a:rPr b="1" i="0" lang="en-US" sz="4000">
                <a:latin typeface="Times New Roman"/>
                <a:ea typeface="Times New Roman"/>
                <a:cs typeface="Times New Roman"/>
                <a:sym typeface="Times New Roman"/>
              </a:rPr>
              <a:t> </a:t>
            </a:r>
            <a:r>
              <a:rPr b="1" lang="en-US" sz="4000">
                <a:latin typeface="Times New Roman"/>
                <a:ea typeface="Times New Roman"/>
                <a:cs typeface="Times New Roman"/>
                <a:sym typeface="Times New Roman"/>
              </a:rPr>
              <a:t>Introduction to NLP</a:t>
            </a:r>
            <a:br>
              <a:rPr lang="en-US" sz="4000"/>
            </a:br>
            <a:endParaRPr b="1" i="1" sz="4000">
              <a:latin typeface="Times New Roman"/>
              <a:ea typeface="Times New Roman"/>
              <a:cs typeface="Times New Roman"/>
              <a:sym typeface="Times New Roman"/>
            </a:endParaRPr>
          </a:p>
        </p:txBody>
      </p:sp>
      <p:pic>
        <p:nvPicPr>
          <p:cNvPr descr="Картинки на английском - 74 фото" id="244" name="Google Shape;244;p1"/>
          <p:cNvPicPr preferRelativeResize="0"/>
          <p:nvPr/>
        </p:nvPicPr>
        <p:blipFill rotWithShape="1">
          <a:blip r:embed="rId3">
            <a:alphaModFix/>
          </a:blip>
          <a:srcRect b="0" l="0" r="0" t="0"/>
          <a:stretch/>
        </p:blipFill>
        <p:spPr>
          <a:xfrm>
            <a:off x="1283245" y="1371588"/>
            <a:ext cx="8934822" cy="500828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0"/>
          <p:cNvSpPr txBox="1"/>
          <p:nvPr/>
        </p:nvSpPr>
        <p:spPr>
          <a:xfrm>
            <a:off x="4007324" y="317358"/>
            <a:ext cx="4177352"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600"/>
              </a:spcAft>
              <a:buNone/>
            </a:pPr>
            <a:r>
              <a:rPr b="0" i="0" lang="en-US" sz="4400" u="none" cap="none" strike="noStrike">
                <a:solidFill>
                  <a:schemeClr val="dk1"/>
                </a:solidFill>
                <a:latin typeface="Arial"/>
                <a:ea typeface="Arial"/>
                <a:cs typeface="Arial"/>
                <a:sym typeface="Arial"/>
              </a:rPr>
              <a:t>Lecture outline</a:t>
            </a:r>
            <a:endParaRPr/>
          </a:p>
        </p:txBody>
      </p:sp>
      <p:grpSp>
        <p:nvGrpSpPr>
          <p:cNvPr id="250" name="Google Shape;250;p50"/>
          <p:cNvGrpSpPr/>
          <p:nvPr/>
        </p:nvGrpSpPr>
        <p:grpSpPr>
          <a:xfrm>
            <a:off x="838200" y="1890260"/>
            <a:ext cx="10515600" cy="4334400"/>
            <a:chOff x="0" y="9072"/>
            <a:chExt cx="10515600" cy="4334400"/>
          </a:xfrm>
        </p:grpSpPr>
        <p:sp>
          <p:nvSpPr>
            <p:cNvPr id="251" name="Google Shape;251;p50"/>
            <p:cNvSpPr/>
            <p:nvPr/>
          </p:nvSpPr>
          <p:spPr>
            <a:xfrm>
              <a:off x="0" y="9072"/>
              <a:ext cx="10515600" cy="655200"/>
            </a:xfrm>
            <a:prstGeom prst="roundRect">
              <a:avLst>
                <a:gd fmla="val 16667" name="adj"/>
              </a:avLst>
            </a:prstGeom>
            <a:gradFill>
              <a:gsLst>
                <a:gs pos="0">
                  <a:srgbClr val="016692"/>
                </a:gs>
                <a:gs pos="100000">
                  <a:srgbClr val="A3C6E2"/>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0"/>
            <p:cNvSpPr txBox="1"/>
            <p:nvPr/>
          </p:nvSpPr>
          <p:spPr>
            <a:xfrm>
              <a:off x="31984" y="41056"/>
              <a:ext cx="104516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Libraries and toolkits for NLP</a:t>
              </a:r>
              <a:endParaRPr b="0" i="0" sz="2800" u="none" cap="none" strike="noStrike">
                <a:solidFill>
                  <a:schemeClr val="lt1"/>
                </a:solidFill>
                <a:latin typeface="Arial"/>
                <a:ea typeface="Arial"/>
                <a:cs typeface="Arial"/>
                <a:sym typeface="Arial"/>
              </a:endParaRPr>
            </a:p>
          </p:txBody>
        </p:sp>
        <p:sp>
          <p:nvSpPr>
            <p:cNvPr id="253" name="Google Shape;253;p50"/>
            <p:cNvSpPr/>
            <p:nvPr/>
          </p:nvSpPr>
          <p:spPr>
            <a:xfrm>
              <a:off x="0" y="744912"/>
              <a:ext cx="10515600" cy="655200"/>
            </a:xfrm>
            <a:prstGeom prst="roundRect">
              <a:avLst>
                <a:gd fmla="val 16667" name="adj"/>
              </a:avLst>
            </a:prstGeom>
            <a:gradFill>
              <a:gsLst>
                <a:gs pos="0">
                  <a:srgbClr val="016692"/>
                </a:gs>
                <a:gs pos="100000">
                  <a:srgbClr val="A3C6E2"/>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0"/>
            <p:cNvSpPr txBox="1"/>
            <p:nvPr/>
          </p:nvSpPr>
          <p:spPr>
            <a:xfrm>
              <a:off x="31984" y="776896"/>
              <a:ext cx="104516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Language processing in information retrieval tasks. </a:t>
              </a:r>
              <a:endParaRPr b="0" i="0" sz="2800" u="none" cap="none" strike="noStrike">
                <a:solidFill>
                  <a:schemeClr val="lt1"/>
                </a:solidFill>
                <a:latin typeface="Arial"/>
                <a:ea typeface="Arial"/>
                <a:cs typeface="Arial"/>
                <a:sym typeface="Arial"/>
              </a:endParaRPr>
            </a:p>
          </p:txBody>
        </p:sp>
        <p:sp>
          <p:nvSpPr>
            <p:cNvPr id="255" name="Google Shape;255;p50"/>
            <p:cNvSpPr/>
            <p:nvPr/>
          </p:nvSpPr>
          <p:spPr>
            <a:xfrm>
              <a:off x="0" y="1480752"/>
              <a:ext cx="10515600" cy="655200"/>
            </a:xfrm>
            <a:prstGeom prst="roundRect">
              <a:avLst>
                <a:gd fmla="val 16667" name="adj"/>
              </a:avLst>
            </a:prstGeom>
            <a:gradFill>
              <a:gsLst>
                <a:gs pos="0">
                  <a:srgbClr val="016692"/>
                </a:gs>
                <a:gs pos="100000">
                  <a:srgbClr val="A3C6E2"/>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0"/>
            <p:cNvSpPr txBox="1"/>
            <p:nvPr/>
          </p:nvSpPr>
          <p:spPr>
            <a:xfrm>
              <a:off x="31984" y="1512736"/>
              <a:ext cx="104516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Morphological analysis. </a:t>
              </a:r>
              <a:endParaRPr b="0" i="0" sz="2800" u="none" cap="none" strike="noStrike">
                <a:solidFill>
                  <a:schemeClr val="lt1"/>
                </a:solidFill>
                <a:latin typeface="Arial"/>
                <a:ea typeface="Arial"/>
                <a:cs typeface="Arial"/>
                <a:sym typeface="Arial"/>
              </a:endParaRPr>
            </a:p>
          </p:txBody>
        </p:sp>
        <p:sp>
          <p:nvSpPr>
            <p:cNvPr id="257" name="Google Shape;257;p50"/>
            <p:cNvSpPr/>
            <p:nvPr/>
          </p:nvSpPr>
          <p:spPr>
            <a:xfrm>
              <a:off x="0" y="2216592"/>
              <a:ext cx="10515600" cy="655200"/>
            </a:xfrm>
            <a:prstGeom prst="roundRect">
              <a:avLst>
                <a:gd fmla="val 16667" name="adj"/>
              </a:avLst>
            </a:prstGeom>
            <a:gradFill>
              <a:gsLst>
                <a:gs pos="0">
                  <a:srgbClr val="016692"/>
                </a:gs>
                <a:gs pos="100000">
                  <a:srgbClr val="A3C6E2"/>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0"/>
            <p:cNvSpPr txBox="1"/>
            <p:nvPr/>
          </p:nvSpPr>
          <p:spPr>
            <a:xfrm>
              <a:off x="31984" y="2248576"/>
              <a:ext cx="104516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Automatic referencing. </a:t>
              </a:r>
              <a:endParaRPr b="0" i="0" sz="2800" u="none" cap="none" strike="noStrike">
                <a:solidFill>
                  <a:schemeClr val="lt1"/>
                </a:solidFill>
                <a:latin typeface="Arial"/>
                <a:ea typeface="Arial"/>
                <a:cs typeface="Arial"/>
                <a:sym typeface="Arial"/>
              </a:endParaRPr>
            </a:p>
          </p:txBody>
        </p:sp>
        <p:sp>
          <p:nvSpPr>
            <p:cNvPr id="259" name="Google Shape;259;p50"/>
            <p:cNvSpPr/>
            <p:nvPr/>
          </p:nvSpPr>
          <p:spPr>
            <a:xfrm>
              <a:off x="0" y="2952432"/>
              <a:ext cx="10515600" cy="655200"/>
            </a:xfrm>
            <a:prstGeom prst="roundRect">
              <a:avLst>
                <a:gd fmla="val 16667" name="adj"/>
              </a:avLst>
            </a:prstGeom>
            <a:gradFill>
              <a:gsLst>
                <a:gs pos="0">
                  <a:srgbClr val="016692"/>
                </a:gs>
                <a:gs pos="100000">
                  <a:srgbClr val="A3C6E2"/>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0"/>
            <p:cNvSpPr txBox="1"/>
            <p:nvPr/>
          </p:nvSpPr>
          <p:spPr>
            <a:xfrm>
              <a:off x="31984" y="2984416"/>
              <a:ext cx="104516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Sentiment analysis. </a:t>
              </a:r>
              <a:endParaRPr b="0" i="0" sz="2800" u="none" cap="none" strike="noStrike">
                <a:solidFill>
                  <a:schemeClr val="lt1"/>
                </a:solidFill>
                <a:latin typeface="Arial"/>
                <a:ea typeface="Arial"/>
                <a:cs typeface="Arial"/>
                <a:sym typeface="Arial"/>
              </a:endParaRPr>
            </a:p>
          </p:txBody>
        </p:sp>
        <p:sp>
          <p:nvSpPr>
            <p:cNvPr id="261" name="Google Shape;261;p50"/>
            <p:cNvSpPr/>
            <p:nvPr/>
          </p:nvSpPr>
          <p:spPr>
            <a:xfrm>
              <a:off x="0" y="3688272"/>
              <a:ext cx="10515600" cy="655200"/>
            </a:xfrm>
            <a:prstGeom prst="roundRect">
              <a:avLst>
                <a:gd fmla="val 16667" name="adj"/>
              </a:avLst>
            </a:prstGeom>
            <a:gradFill>
              <a:gsLst>
                <a:gs pos="0">
                  <a:srgbClr val="016692"/>
                </a:gs>
                <a:gs pos="100000">
                  <a:srgbClr val="A3C6E2"/>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0"/>
            <p:cNvSpPr txBox="1"/>
            <p:nvPr/>
          </p:nvSpPr>
          <p:spPr>
            <a:xfrm>
              <a:off x="31984" y="3720256"/>
              <a:ext cx="104516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Information extraction.</a:t>
              </a:r>
              <a:endParaRPr b="0" i="0" sz="2800" u="none" cap="none" strike="noStrik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8" name="Google Shape;268;p2"/>
          <p:cNvSpPr/>
          <p:nvPr/>
        </p:nvSpPr>
        <p:spPr>
          <a:xfrm>
            <a:off x="0" y="0"/>
            <a:ext cx="11416414" cy="6858000"/>
          </a:xfrm>
          <a:prstGeom prst="rect">
            <a:avLst/>
          </a:prstGeom>
          <a:solidFill>
            <a:schemeClr val="lt1"/>
          </a:solidFill>
          <a:ln>
            <a:noFill/>
          </a:ln>
          <a:effectLst>
            <a:outerShdw blurRad="889000" sx="90000" rotWithShape="0" algn="t" dir="21540000" dist="406400" sy="90000">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Сложные математические формулы на доске" id="269" name="Google Shape;269;p2"/>
          <p:cNvPicPr preferRelativeResize="0"/>
          <p:nvPr/>
        </p:nvPicPr>
        <p:blipFill rotWithShape="1">
          <a:blip r:embed="rId3">
            <a:alphaModFix/>
          </a:blip>
          <a:srcRect b="-1" l="24517" r="10591" t="0"/>
          <a:stretch/>
        </p:blipFill>
        <p:spPr>
          <a:xfrm>
            <a:off x="7227237" y="0"/>
            <a:ext cx="4964763" cy="6858002"/>
          </a:xfrm>
          <a:prstGeom prst="rect">
            <a:avLst/>
          </a:prstGeom>
          <a:noFill/>
          <a:ln>
            <a:noFill/>
          </a:ln>
        </p:spPr>
      </p:pic>
      <p:sp>
        <p:nvSpPr>
          <p:cNvPr id="270" name="Google Shape;270;p2"/>
          <p:cNvSpPr txBox="1"/>
          <p:nvPr/>
        </p:nvSpPr>
        <p:spPr>
          <a:xfrm>
            <a:off x="0" y="1544082"/>
            <a:ext cx="7358159" cy="3769835"/>
          </a:xfrm>
          <a:prstGeom prst="rect">
            <a:avLst/>
          </a:prstGeom>
          <a:noFill/>
          <a:ln>
            <a:noFill/>
          </a:ln>
        </p:spPr>
        <p:txBody>
          <a:bodyPr anchorCtr="0" anchor="ctr" bIns="45700" lIns="91425" spcFirstLastPara="1" rIns="91425" wrap="square" tIns="45700">
            <a:noAutofit/>
          </a:bodyPr>
          <a:lstStyle/>
          <a:p>
            <a:pPr indent="-177800" lvl="0" marL="0" marR="0" rtl="0" algn="l">
              <a:lnSpc>
                <a:spcPct val="90000"/>
              </a:lnSpc>
              <a:spcBef>
                <a:spcPts val="0"/>
              </a:spcBef>
              <a:spcAft>
                <a:spcPts val="0"/>
              </a:spcAft>
              <a:buClr>
                <a:schemeClr val="dk1"/>
              </a:buClr>
              <a:buSzPts val="2800"/>
              <a:buFont typeface="Arial"/>
              <a:buChar char="•"/>
            </a:pPr>
            <a:r>
              <a:rPr b="1" i="0" lang="en-US" sz="2800" u="none" cap="none" strike="noStrike">
                <a:solidFill>
                  <a:schemeClr val="dk1"/>
                </a:solidFill>
                <a:latin typeface="Times New Roman"/>
                <a:ea typeface="Times New Roman"/>
                <a:cs typeface="Times New Roman"/>
                <a:sym typeface="Times New Roman"/>
              </a:rPr>
              <a:t>Обработка естественного языка NLP </a:t>
            </a:r>
            <a:r>
              <a:rPr b="0" i="0" lang="en-US" sz="2800" u="none" cap="none" strike="noStrike">
                <a:solidFill>
                  <a:schemeClr val="dk1"/>
                </a:solidFill>
                <a:latin typeface="Times New Roman"/>
                <a:ea typeface="Times New Roman"/>
                <a:cs typeface="Times New Roman"/>
                <a:sym typeface="Times New Roman"/>
              </a:rPr>
              <a:t>(natural language processing) – изучает проблемы взаимодействия компьютеров и естественных языков. </a:t>
            </a:r>
            <a:endParaRPr b="0" i="0" sz="1400" u="none" cap="none" strike="noStrike">
              <a:solidFill>
                <a:srgbClr val="000000"/>
              </a:solidFill>
              <a:latin typeface="Arial"/>
              <a:ea typeface="Arial"/>
              <a:cs typeface="Arial"/>
              <a:sym typeface="Arial"/>
            </a:endParaRPr>
          </a:p>
          <a:p>
            <a:pPr indent="177800" lvl="0" marL="0" marR="0" rtl="0" algn="l">
              <a:lnSpc>
                <a:spcPct val="90000"/>
              </a:lnSpc>
              <a:spcBef>
                <a:spcPts val="600"/>
              </a:spcBef>
              <a:spcAft>
                <a:spcPts val="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177800" lvl="0" marL="0" marR="0" rtl="0" algn="l">
              <a:lnSpc>
                <a:spcPct val="90000"/>
              </a:lnSpc>
              <a:spcBef>
                <a:spcPts val="60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Цель: повышение качества машинного анализа и синтеза сообщений на естественном языке. </a:t>
            </a:r>
            <a:endParaRPr b="0" i="0" sz="1400" u="none" cap="none" strike="noStrike">
              <a:solidFill>
                <a:srgbClr val="000000"/>
              </a:solidFill>
              <a:latin typeface="Arial"/>
              <a:ea typeface="Arial"/>
              <a:cs typeface="Arial"/>
              <a:sym typeface="Arial"/>
            </a:endParaRPr>
          </a:p>
          <a:p>
            <a:pPr indent="177800" lvl="0" marL="0" marR="0" rtl="0" algn="l">
              <a:lnSpc>
                <a:spcPct val="90000"/>
              </a:lnSpc>
              <a:spcBef>
                <a:spcPts val="600"/>
              </a:spcBef>
              <a:spcAft>
                <a:spcPts val="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177800" lvl="0" marL="0" marR="0" rtl="0" algn="l">
              <a:lnSpc>
                <a:spcPct val="90000"/>
              </a:lnSpc>
              <a:spcBef>
                <a:spcPts val="60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При этом под машинным анализом понимается способность компьютера получать смысл из входящих естественно-речевых сообщений, а под машинным синтезом – способность компьютера грамотно генерировать исходящие сообщения на естественном языке.</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
          <p:cNvPicPr preferRelativeResize="0"/>
          <p:nvPr/>
        </p:nvPicPr>
        <p:blipFill rotWithShape="1">
          <a:blip r:embed="rId3">
            <a:alphaModFix/>
          </a:blip>
          <a:srcRect b="0" l="0" r="0" t="0"/>
          <a:stretch/>
        </p:blipFill>
        <p:spPr>
          <a:xfrm>
            <a:off x="1076774" y="1815052"/>
            <a:ext cx="9877425" cy="4619625"/>
          </a:xfrm>
          <a:prstGeom prst="rect">
            <a:avLst/>
          </a:prstGeom>
          <a:noFill/>
          <a:ln>
            <a:noFill/>
          </a:ln>
        </p:spPr>
      </p:pic>
      <p:pic>
        <p:nvPicPr>
          <p:cNvPr id="276" name="Google Shape;276;p3"/>
          <p:cNvPicPr preferRelativeResize="0"/>
          <p:nvPr/>
        </p:nvPicPr>
        <p:blipFill rotWithShape="1">
          <a:blip r:embed="rId4">
            <a:alphaModFix/>
          </a:blip>
          <a:srcRect b="0" l="0" r="0" t="0"/>
          <a:stretch/>
        </p:blipFill>
        <p:spPr>
          <a:xfrm>
            <a:off x="282120" y="189782"/>
            <a:ext cx="3969786" cy="2639682"/>
          </a:xfrm>
          <a:prstGeom prst="rect">
            <a:avLst/>
          </a:prstGeom>
          <a:noFill/>
          <a:ln>
            <a:noFill/>
          </a:ln>
        </p:spPr>
      </p:pic>
      <p:pic>
        <p:nvPicPr>
          <p:cNvPr id="277" name="Google Shape;277;p3"/>
          <p:cNvPicPr preferRelativeResize="0"/>
          <p:nvPr/>
        </p:nvPicPr>
        <p:blipFill rotWithShape="1">
          <a:blip r:embed="rId5">
            <a:alphaModFix/>
          </a:blip>
          <a:srcRect b="0" l="0" r="0" t="0"/>
          <a:stretch/>
        </p:blipFill>
        <p:spPr>
          <a:xfrm>
            <a:off x="7537474" y="189782"/>
            <a:ext cx="4071810" cy="276271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grpSp>
        <p:nvGrpSpPr>
          <p:cNvPr id="282" name="Google Shape;282;p4"/>
          <p:cNvGrpSpPr/>
          <p:nvPr/>
        </p:nvGrpSpPr>
        <p:grpSpPr>
          <a:xfrm>
            <a:off x="574013" y="1488204"/>
            <a:ext cx="11151229" cy="4934712"/>
            <a:chOff x="0" y="53158"/>
            <a:chExt cx="11151229" cy="4934712"/>
          </a:xfrm>
        </p:grpSpPr>
        <p:sp>
          <p:nvSpPr>
            <p:cNvPr id="283" name="Google Shape;283;p4"/>
            <p:cNvSpPr/>
            <p:nvPr/>
          </p:nvSpPr>
          <p:spPr>
            <a:xfrm>
              <a:off x="10879" y="53158"/>
              <a:ext cx="1079209" cy="1079209"/>
            </a:xfrm>
            <a:prstGeom prst="ellipse">
              <a:avLst/>
            </a:prstGeom>
            <a:solidFill>
              <a:srgbClr val="CAD1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
            <p:cNvSpPr/>
            <p:nvPr/>
          </p:nvSpPr>
          <p:spPr>
            <a:xfrm>
              <a:off x="201386" y="301115"/>
              <a:ext cx="625941" cy="625941"/>
            </a:xfrm>
            <a:prstGeom prst="rect">
              <a:avLst/>
            </a:prstGeom>
            <a:blipFill rotWithShape="1">
              <a:blip r:embed="rId3">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
            <p:cNvSpPr/>
            <p:nvPr/>
          </p:nvSpPr>
          <p:spPr>
            <a:xfrm>
              <a:off x="1277604" y="88081"/>
              <a:ext cx="3624402" cy="107920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
            <p:cNvSpPr txBox="1"/>
            <p:nvPr/>
          </p:nvSpPr>
          <p:spPr>
            <a:xfrm>
              <a:off x="1277604" y="88081"/>
              <a:ext cx="3624402" cy="107920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 машинный перевод (machine translation);</a:t>
              </a:r>
              <a:endParaRPr b="0" i="0" sz="2400" u="none" cap="none" strike="noStrike">
                <a:solidFill>
                  <a:schemeClr val="dk1"/>
                </a:solidFill>
                <a:latin typeface="Times New Roman"/>
                <a:ea typeface="Times New Roman"/>
                <a:cs typeface="Times New Roman"/>
                <a:sym typeface="Times New Roman"/>
              </a:endParaRPr>
            </a:p>
          </p:txBody>
        </p:sp>
        <p:sp>
          <p:nvSpPr>
            <p:cNvPr id="287" name="Google Shape;287;p4"/>
            <p:cNvSpPr/>
            <p:nvPr/>
          </p:nvSpPr>
          <p:spPr>
            <a:xfrm>
              <a:off x="5482240" y="132696"/>
              <a:ext cx="1079209" cy="1079209"/>
            </a:xfrm>
            <a:prstGeom prst="ellipse">
              <a:avLst/>
            </a:prstGeom>
            <a:solidFill>
              <a:srgbClr val="CAD1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
            <p:cNvSpPr/>
            <p:nvPr/>
          </p:nvSpPr>
          <p:spPr>
            <a:xfrm>
              <a:off x="5726087" y="338759"/>
              <a:ext cx="625941" cy="625941"/>
            </a:xfrm>
            <a:prstGeom prst="rect">
              <a:avLst/>
            </a:prstGeom>
            <a:blipFill rotWithShape="1">
              <a:blip r:embed="rId4">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
            <p:cNvSpPr/>
            <p:nvPr/>
          </p:nvSpPr>
          <p:spPr>
            <a:xfrm>
              <a:off x="6912474" y="103222"/>
              <a:ext cx="3833888" cy="107920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
            <p:cNvSpPr txBox="1"/>
            <p:nvPr/>
          </p:nvSpPr>
          <p:spPr>
            <a:xfrm>
              <a:off x="6912474" y="103222"/>
              <a:ext cx="3833888" cy="107920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 информационный поиск (information retrieval);</a:t>
              </a:r>
              <a:endParaRPr b="0" i="0" sz="2400" u="none" cap="none" strike="noStrike">
                <a:solidFill>
                  <a:schemeClr val="dk1"/>
                </a:solidFill>
                <a:latin typeface="Times New Roman"/>
                <a:ea typeface="Times New Roman"/>
                <a:cs typeface="Times New Roman"/>
                <a:sym typeface="Times New Roman"/>
              </a:endParaRPr>
            </a:p>
          </p:txBody>
        </p:sp>
        <p:sp>
          <p:nvSpPr>
            <p:cNvPr id="291" name="Google Shape;291;p4"/>
            <p:cNvSpPr/>
            <p:nvPr/>
          </p:nvSpPr>
          <p:spPr>
            <a:xfrm>
              <a:off x="1" y="1871866"/>
              <a:ext cx="1079209" cy="1079209"/>
            </a:xfrm>
            <a:prstGeom prst="ellipse">
              <a:avLst/>
            </a:prstGeom>
            <a:solidFill>
              <a:srgbClr val="CAD1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
            <p:cNvSpPr/>
            <p:nvPr/>
          </p:nvSpPr>
          <p:spPr>
            <a:xfrm>
              <a:off x="212271" y="2061302"/>
              <a:ext cx="625941" cy="625941"/>
            </a:xfrm>
            <a:prstGeom prst="rect">
              <a:avLst/>
            </a:prstGeom>
            <a:blipFill rotWithShape="1">
              <a:blip r:embed="rId5">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
            <p:cNvSpPr/>
            <p:nvPr/>
          </p:nvSpPr>
          <p:spPr>
            <a:xfrm>
              <a:off x="1255295" y="1871219"/>
              <a:ext cx="3892880" cy="107920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4"/>
            <p:cNvSpPr txBox="1"/>
            <p:nvPr/>
          </p:nvSpPr>
          <p:spPr>
            <a:xfrm>
              <a:off x="1255295" y="1871219"/>
              <a:ext cx="3892880" cy="107920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 автоматическая классификация и кластеризация текстов (automatic text classification and clustering);</a:t>
              </a:r>
              <a:endParaRPr b="0" i="0" sz="2400" u="none" cap="none" strike="noStrike">
                <a:solidFill>
                  <a:schemeClr val="dk1"/>
                </a:solidFill>
                <a:latin typeface="Times New Roman"/>
                <a:ea typeface="Times New Roman"/>
                <a:cs typeface="Times New Roman"/>
                <a:sym typeface="Times New Roman"/>
              </a:endParaRPr>
            </a:p>
          </p:txBody>
        </p:sp>
        <p:sp>
          <p:nvSpPr>
            <p:cNvPr id="295" name="Google Shape;295;p4"/>
            <p:cNvSpPr/>
            <p:nvPr/>
          </p:nvSpPr>
          <p:spPr>
            <a:xfrm>
              <a:off x="5521983" y="1822233"/>
              <a:ext cx="1079209" cy="1079209"/>
            </a:xfrm>
            <a:prstGeom prst="ellipse">
              <a:avLst/>
            </a:prstGeom>
            <a:solidFill>
              <a:srgbClr val="CAD1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
            <p:cNvSpPr/>
            <p:nvPr/>
          </p:nvSpPr>
          <p:spPr>
            <a:xfrm>
              <a:off x="5736978" y="2064019"/>
              <a:ext cx="625941" cy="625941"/>
            </a:xfrm>
            <a:prstGeom prst="rect">
              <a:avLst/>
            </a:prstGeom>
            <a:blipFill rotWithShape="1">
              <a:blip r:embed="rId6">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4"/>
            <p:cNvSpPr/>
            <p:nvPr/>
          </p:nvSpPr>
          <p:spPr>
            <a:xfrm>
              <a:off x="6957716" y="1993957"/>
              <a:ext cx="3881840" cy="107920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
            <p:cNvSpPr txBox="1"/>
            <p:nvPr/>
          </p:nvSpPr>
          <p:spPr>
            <a:xfrm>
              <a:off x="6957716" y="1993957"/>
              <a:ext cx="3881840" cy="107920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 автоматическое реферирование и аннотирование текстов {automatic text summarization and annotation);</a:t>
              </a:r>
              <a:endParaRPr b="0" i="0" sz="2400" u="none" cap="none" strike="noStrike">
                <a:solidFill>
                  <a:schemeClr val="dk1"/>
                </a:solidFill>
                <a:latin typeface="Times New Roman"/>
                <a:ea typeface="Times New Roman"/>
                <a:cs typeface="Times New Roman"/>
                <a:sym typeface="Times New Roman"/>
              </a:endParaRPr>
            </a:p>
          </p:txBody>
        </p:sp>
        <p:sp>
          <p:nvSpPr>
            <p:cNvPr id="299" name="Google Shape;299;p4"/>
            <p:cNvSpPr/>
            <p:nvPr/>
          </p:nvSpPr>
          <p:spPr>
            <a:xfrm>
              <a:off x="0" y="3875616"/>
              <a:ext cx="1079209" cy="1079209"/>
            </a:xfrm>
            <a:prstGeom prst="ellipse">
              <a:avLst/>
            </a:prstGeom>
            <a:solidFill>
              <a:srgbClr val="CAD1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4"/>
            <p:cNvSpPr/>
            <p:nvPr/>
          </p:nvSpPr>
          <p:spPr>
            <a:xfrm>
              <a:off x="212271" y="4148062"/>
              <a:ext cx="625941" cy="625941"/>
            </a:xfrm>
            <a:prstGeom prst="rect">
              <a:avLst/>
            </a:prstGeom>
            <a:blipFill rotWithShape="1">
              <a:blip r:embed="rId7">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4"/>
            <p:cNvSpPr/>
            <p:nvPr/>
          </p:nvSpPr>
          <p:spPr>
            <a:xfrm>
              <a:off x="1261324" y="3761349"/>
              <a:ext cx="4260670" cy="107920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
            <p:cNvSpPr txBox="1"/>
            <p:nvPr/>
          </p:nvSpPr>
          <p:spPr>
            <a:xfrm>
              <a:off x="1261324" y="3761349"/>
              <a:ext cx="4260670" cy="107920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 автоматическое извлечение фактов (знаний) из текстов (information extraction, knowledge discovery);</a:t>
              </a:r>
              <a:endParaRPr b="0" i="0" sz="2400" u="none" cap="none" strike="noStrike">
                <a:solidFill>
                  <a:schemeClr val="dk1"/>
                </a:solidFill>
                <a:latin typeface="Times New Roman"/>
                <a:ea typeface="Times New Roman"/>
                <a:cs typeface="Times New Roman"/>
                <a:sym typeface="Times New Roman"/>
              </a:endParaRPr>
            </a:p>
          </p:txBody>
        </p:sp>
        <p:sp>
          <p:nvSpPr>
            <p:cNvPr id="303" name="Google Shape;303;p4"/>
            <p:cNvSpPr/>
            <p:nvPr/>
          </p:nvSpPr>
          <p:spPr>
            <a:xfrm>
              <a:off x="5609073" y="3723232"/>
              <a:ext cx="1079209" cy="1079209"/>
            </a:xfrm>
            <a:prstGeom prst="ellipse">
              <a:avLst/>
            </a:prstGeom>
            <a:solidFill>
              <a:srgbClr val="CAD1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
            <p:cNvSpPr/>
            <p:nvPr/>
          </p:nvSpPr>
          <p:spPr>
            <a:xfrm>
              <a:off x="5836083" y="4026955"/>
              <a:ext cx="625941" cy="625941"/>
            </a:xfrm>
            <a:prstGeom prst="rect">
              <a:avLst/>
            </a:prstGeom>
            <a:blipFill rotWithShape="1">
              <a:blip r:embed="rId8">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4"/>
            <p:cNvSpPr/>
            <p:nvPr/>
          </p:nvSpPr>
          <p:spPr>
            <a:xfrm>
              <a:off x="6963516" y="3908661"/>
              <a:ext cx="4187713" cy="107920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4"/>
            <p:cNvSpPr txBox="1"/>
            <p:nvPr/>
          </p:nvSpPr>
          <p:spPr>
            <a:xfrm>
              <a:off x="6963516" y="3908661"/>
              <a:ext cx="4187713" cy="107920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Times New Roman"/>
                  <a:ea typeface="Times New Roman"/>
                  <a:cs typeface="Times New Roman"/>
                  <a:sym typeface="Times New Roman"/>
                </a:rPr>
                <a:t>разработка автоматических вопросно-соответствующих систем (question-answering systems development).</a:t>
              </a:r>
              <a:endParaRPr b="0" i="0" sz="2400" u="none" cap="none" strike="noStrike">
                <a:solidFill>
                  <a:schemeClr val="dk1"/>
                </a:solidFill>
                <a:latin typeface="Times New Roman"/>
                <a:ea typeface="Times New Roman"/>
                <a:cs typeface="Times New Roman"/>
                <a:sym typeface="Times New Roman"/>
              </a:endParaRPr>
            </a:p>
          </p:txBody>
        </p:sp>
      </p:grpSp>
      <p:sp>
        <p:nvSpPr>
          <p:cNvPr id="307" name="Google Shape;307;p4"/>
          <p:cNvSpPr txBox="1"/>
          <p:nvPr/>
        </p:nvSpPr>
        <p:spPr>
          <a:xfrm>
            <a:off x="152400" y="200883"/>
            <a:ext cx="12039600"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rgbClr val="78206E"/>
                </a:solidFill>
                <a:latin typeface="Times New Roman"/>
                <a:ea typeface="Times New Roman"/>
                <a:cs typeface="Times New Roman"/>
                <a:sym typeface="Times New Roman"/>
              </a:rPr>
              <a:t>Наиболее известные прикладные задачи машинного анализа текстов на естественном языке:</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graphicFrame>
        <p:nvGraphicFramePr>
          <p:cNvPr id="312" name="Google Shape;312;p5"/>
          <p:cNvGraphicFramePr/>
          <p:nvPr/>
        </p:nvGraphicFramePr>
        <p:xfrm>
          <a:off x="458848" y="436862"/>
          <a:ext cx="3000000" cy="3000000"/>
        </p:xfrm>
        <a:graphic>
          <a:graphicData uri="http://schemas.openxmlformats.org/drawingml/2006/table">
            <a:tbl>
              <a:tblPr bandRow="1" firstCol="1" firstRow="1">
                <a:noFill/>
                <a:tableStyleId>{3EDC7CB1-D0B2-4275-98B9-FE7600B389A3}</a:tableStyleId>
              </a:tblPr>
              <a:tblGrid>
                <a:gridCol w="3291275"/>
                <a:gridCol w="3977850"/>
                <a:gridCol w="2090050"/>
                <a:gridCol w="1915100"/>
              </a:tblGrid>
              <a:tr h="2148500">
                <a:tc>
                  <a:txBody>
                    <a:bodyPr/>
                    <a:lstStyle/>
                    <a:p>
                      <a:pPr indent="0" lvl="0" marL="0" marR="0" rtl="0" algn="l">
                        <a:lnSpc>
                          <a:spcPct val="107000"/>
                        </a:lnSpc>
                        <a:spcBef>
                          <a:spcPts val="0"/>
                        </a:spcBef>
                        <a:spcAft>
                          <a:spcPts val="0"/>
                        </a:spcAft>
                        <a:buClr>
                          <a:srgbClr val="000000"/>
                        </a:buClr>
                        <a:buSzPts val="2400"/>
                        <a:buFont typeface="Arial"/>
                        <a:buNone/>
                      </a:pPr>
                      <a:r>
                        <a:rPr lang="en-US" sz="2400" u="none" cap="none" strike="noStrike">
                          <a:solidFill>
                            <a:srgbClr val="FF0000"/>
                          </a:solidFill>
                          <a:latin typeface="Times New Roman"/>
                          <a:ea typeface="Times New Roman"/>
                          <a:cs typeface="Times New Roman"/>
                          <a:sym typeface="Times New Roman"/>
                        </a:rPr>
                        <a:t> </a:t>
                      </a:r>
                      <a:endParaRPr sz="1400" u="none" cap="none" strike="noStrike"/>
                    </a:p>
                    <a:p>
                      <a:pPr indent="0" lvl="0" marL="0" marR="0" rtl="0" algn="l">
                        <a:lnSpc>
                          <a:spcPct val="107000"/>
                        </a:lnSpc>
                        <a:spcBef>
                          <a:spcPts val="800"/>
                        </a:spcBef>
                        <a:spcAft>
                          <a:spcPts val="0"/>
                        </a:spcAft>
                        <a:buClr>
                          <a:srgbClr val="000000"/>
                        </a:buClr>
                        <a:buSzPts val="2400"/>
                        <a:buFont typeface="Arial"/>
                        <a:buNone/>
                      </a:pPr>
                      <a:r>
                        <a:rPr lang="en-US" sz="2400" u="sng" cap="none" strike="noStrike">
                          <a:solidFill>
                            <a:srgbClr val="FF0000"/>
                          </a:solidFill>
                          <a:latin typeface="Times New Roman"/>
                          <a:ea typeface="Times New Roman"/>
                          <a:cs typeface="Times New Roman"/>
                          <a:sym typeface="Times New Roman"/>
                          <a:hlinkClick r:id="rId3">
                            <a:extLst>
                              <a:ext uri="{A12FA001-AC4F-418D-AE19-62706E023703}">
                                <ahyp:hlinkClr val="tx"/>
                              </a:ext>
                            </a:extLst>
                          </a:hlinkClick>
                        </a:rPr>
                        <a:t>https://github.com/khanhnamle1994/natural-language-processing</a:t>
                      </a:r>
                      <a:endParaRPr sz="2400" u="none" cap="none" strike="noStrike">
                        <a:solidFill>
                          <a:srgbClr val="FF0000"/>
                        </a:solidFill>
                        <a:latin typeface="Times New Roman"/>
                        <a:ea typeface="Times New Roman"/>
                        <a:cs typeface="Times New Roman"/>
                        <a:sym typeface="Times New Roman"/>
                      </a:endParaRPr>
                    </a:p>
                    <a:p>
                      <a:pPr indent="0" lvl="0" marL="0" marR="0" rtl="0" algn="l">
                        <a:lnSpc>
                          <a:spcPct val="107000"/>
                        </a:lnSpc>
                        <a:spcBef>
                          <a:spcPts val="800"/>
                        </a:spcBef>
                        <a:spcAft>
                          <a:spcPts val="0"/>
                        </a:spcAft>
                        <a:buClr>
                          <a:srgbClr val="000000"/>
                        </a:buClr>
                        <a:buSzPts val="2400"/>
                        <a:buFont typeface="Arial"/>
                        <a:buNone/>
                      </a:pPr>
                      <a:r>
                        <a:rPr lang="en-US" sz="2400" u="none" cap="none" strike="noStrike">
                          <a:solidFill>
                            <a:srgbClr val="FF0000"/>
                          </a:solidFill>
                          <a:latin typeface="Times New Roman"/>
                          <a:ea typeface="Times New Roman"/>
                          <a:cs typeface="Times New Roman"/>
                          <a:sym typeface="Times New Roman"/>
                        </a:rPr>
                        <a:t> </a:t>
                      </a:r>
                      <a:endParaRPr sz="2400" u="none" cap="none" strike="noStrike">
                        <a:solidFill>
                          <a:srgbClr val="FF0000"/>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FF0000"/>
                          </a:solidFill>
                          <a:highlight>
                            <a:srgbClr val="FFFF00"/>
                          </a:highlight>
                          <a:latin typeface="Times New Roman"/>
                          <a:ea typeface="Times New Roman"/>
                          <a:cs typeface="Times New Roman"/>
                          <a:sym typeface="Times New Roman"/>
                        </a:rPr>
                        <a:t>Cерия лекций зимнего курса Стэнфордского университета 2019 года по обработке естественного языка с глубоким обучением </a:t>
                      </a:r>
                      <a:endParaRPr sz="2400" u="none" cap="none" strike="noStrike">
                        <a:solidFill>
                          <a:srgbClr val="FF0000"/>
                        </a:solidFill>
                        <a:highlight>
                          <a:srgbClr val="FFFF00"/>
                        </a:highlight>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2400"/>
                        <a:buFont typeface="Arial"/>
                        <a:buNone/>
                      </a:pPr>
                      <a:r>
                        <a:rPr lang="en-US" sz="2400" u="none" cap="none" strike="noStrike">
                          <a:solidFill>
                            <a:srgbClr val="FF0000"/>
                          </a:solidFill>
                          <a:latin typeface="Times New Roman"/>
                          <a:ea typeface="Times New Roman"/>
                          <a:cs typeface="Times New Roman"/>
                          <a:sym typeface="Times New Roman"/>
                        </a:rPr>
                        <a:t>Английский</a:t>
                      </a:r>
                      <a:endParaRPr sz="2400" u="none" cap="none" strike="noStrike">
                        <a:solidFill>
                          <a:srgbClr val="FF0000"/>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000000"/>
                        </a:buClr>
                        <a:buSzPts val="2400"/>
                        <a:buFont typeface="Arial"/>
                        <a:buNone/>
                      </a:pPr>
                      <a:r>
                        <a:rPr lang="en-US" sz="2400" u="none" cap="none" strike="noStrike">
                          <a:solidFill>
                            <a:srgbClr val="FF0000"/>
                          </a:solidFill>
                          <a:latin typeface="Times New Roman"/>
                          <a:ea typeface="Times New Roman"/>
                          <a:cs typeface="Times New Roman"/>
                          <a:sym typeface="Times New Roman"/>
                        </a:rPr>
                        <a:t>Бесплатно</a:t>
                      </a:r>
                      <a:endParaRPr sz="1400" u="none" cap="none" strike="noStrike"/>
                    </a:p>
                    <a:p>
                      <a:pPr indent="0" lvl="0" marL="0" marR="0" rtl="0" algn="l">
                        <a:lnSpc>
                          <a:spcPct val="107000"/>
                        </a:lnSpc>
                        <a:spcBef>
                          <a:spcPts val="800"/>
                        </a:spcBef>
                        <a:spcAft>
                          <a:spcPts val="0"/>
                        </a:spcAft>
                        <a:buClr>
                          <a:srgbClr val="000000"/>
                        </a:buClr>
                        <a:buSzPts val="2400"/>
                        <a:buFont typeface="Arial"/>
                        <a:buNone/>
                      </a:pPr>
                      <a:r>
                        <a:rPr lang="en-US" sz="2400" u="none" cap="none" strike="noStrike">
                          <a:solidFill>
                            <a:srgbClr val="FF0000"/>
                          </a:solidFill>
                          <a:latin typeface="Times New Roman"/>
                          <a:ea typeface="Times New Roman"/>
                          <a:cs typeface="Times New Roman"/>
                          <a:sym typeface="Times New Roman"/>
                        </a:rPr>
                        <a:t> </a:t>
                      </a:r>
                      <a:endParaRPr sz="2400" u="none" cap="none" strike="noStrike">
                        <a:solidFill>
                          <a:srgbClr val="FF0000"/>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13" name="Google Shape;313;p5"/>
          <p:cNvSpPr txBox="1"/>
          <p:nvPr/>
        </p:nvSpPr>
        <p:spPr>
          <a:xfrm>
            <a:off x="388822" y="2960018"/>
            <a:ext cx="11544984" cy="29569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 Introduction to NLP and Deep Learning (</a:t>
            </a:r>
            <a:r>
              <a:rPr b="0" i="0" lang="en-US" sz="24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Slides + Review</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2: Word Vector Representations - word2vec (</a:t>
            </a:r>
            <a:r>
              <a:rPr b="0" i="0" lang="en-US" sz="2400" u="sng" cap="none" strike="noStrike">
                <a:solidFill>
                  <a:srgbClr val="000000"/>
                </a:solidFill>
                <a:latin typeface="Times New Roman"/>
                <a:ea typeface="Times New Roman"/>
                <a:cs typeface="Times New Roman"/>
                <a:sym typeface="Times New Roman"/>
                <a:hlinkClick r:id="rId6">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7">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3: GloVe - Global Vectors for Word Representation (</a:t>
            </a:r>
            <a:r>
              <a:rPr b="0" i="0" lang="en-US" sz="2400" u="sng" cap="none" strike="noStrike">
                <a:solidFill>
                  <a:srgbClr val="000000"/>
                </a:solidFill>
                <a:latin typeface="Times New Roman"/>
                <a:ea typeface="Times New Roman"/>
                <a:cs typeface="Times New Roman"/>
                <a:sym typeface="Times New Roman"/>
                <a:hlinkClick r:id="rId8">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9">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4: Word Window Classification and Neural Networks (</a:t>
            </a:r>
            <a:r>
              <a:rPr b="0" i="0" lang="en-US" sz="2400" u="sng" cap="none" strike="noStrike">
                <a:solidFill>
                  <a:srgbClr val="000000"/>
                </a:solidFill>
                <a:latin typeface="Times New Roman"/>
                <a:ea typeface="Times New Roman"/>
                <a:cs typeface="Times New Roman"/>
                <a:sym typeface="Times New Roman"/>
                <a:hlinkClick r:id="rId10">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1">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5: Backpropagation and Project Advice (</a:t>
            </a:r>
            <a:r>
              <a:rPr b="0" i="0" lang="en-US" sz="2400" u="sng" cap="none" strike="noStrike">
                <a:solidFill>
                  <a:srgbClr val="000000"/>
                </a:solidFill>
                <a:latin typeface="Times New Roman"/>
                <a:ea typeface="Times New Roman"/>
                <a:cs typeface="Times New Roman"/>
                <a:sym typeface="Times New Roman"/>
                <a:hlinkClick r:id="rId12">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3">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6: Dependency Parsing (</a:t>
            </a:r>
            <a:r>
              <a:rPr b="0" i="0" lang="en-US" sz="2400" u="sng" cap="none" strike="noStrike">
                <a:solidFill>
                  <a:srgbClr val="000000"/>
                </a:solidFill>
                <a:latin typeface="Times New Roman"/>
                <a:ea typeface="Times New Roman"/>
                <a:cs typeface="Times New Roman"/>
                <a:sym typeface="Times New Roman"/>
                <a:hlinkClick r:id="rId14">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5">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6"/>
          <p:cNvSpPr txBox="1"/>
          <p:nvPr/>
        </p:nvSpPr>
        <p:spPr>
          <a:xfrm>
            <a:off x="381000" y="506841"/>
            <a:ext cx="11430000" cy="548028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7: Introduction to TensorFlow (</a:t>
            </a:r>
            <a:r>
              <a:rPr b="0" i="0" lang="en-US" sz="24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8: Recurrent Neural Networks and Language Models (</a:t>
            </a:r>
            <a:r>
              <a:rPr b="0" i="0" lang="en-US" sz="24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6">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9: Machine translation and advanced recurrent LSTMs and GRUs (</a:t>
            </a:r>
            <a:r>
              <a:rPr b="0" i="0" lang="en-US" sz="2400" u="sng" cap="none" strike="noStrike">
                <a:solidFill>
                  <a:srgbClr val="000000"/>
                </a:solidFill>
                <a:latin typeface="Times New Roman"/>
                <a:ea typeface="Times New Roman"/>
                <a:cs typeface="Times New Roman"/>
                <a:sym typeface="Times New Roman"/>
                <a:hlinkClick r:id="rId7">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8">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10: Neural Machine Translation and Models with Attention (</a:t>
            </a:r>
            <a:r>
              <a:rPr b="0" i="0" lang="en-US" sz="2400" u="sng" cap="none" strike="noStrike">
                <a:solidFill>
                  <a:srgbClr val="000000"/>
                </a:solidFill>
                <a:latin typeface="Times New Roman"/>
                <a:ea typeface="Times New Roman"/>
                <a:cs typeface="Times New Roman"/>
                <a:sym typeface="Times New Roman"/>
                <a:hlinkClick r:id="rId9">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0">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11: Gated recurrent units and further topics in NMT (</a:t>
            </a:r>
            <a:r>
              <a:rPr b="0" i="0" lang="en-US" sz="2400" u="sng" cap="none" strike="noStrike">
                <a:solidFill>
                  <a:srgbClr val="000000"/>
                </a:solidFill>
                <a:latin typeface="Times New Roman"/>
                <a:ea typeface="Times New Roman"/>
                <a:cs typeface="Times New Roman"/>
                <a:sym typeface="Times New Roman"/>
                <a:hlinkClick r:id="rId11">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2">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12: End-to-end models for Speech Processing (</a:t>
            </a:r>
            <a:r>
              <a:rPr b="0" i="0" lang="en-US" sz="2400" u="sng" cap="none" strike="noStrike">
                <a:solidFill>
                  <a:srgbClr val="000000"/>
                </a:solidFill>
                <a:latin typeface="Times New Roman"/>
                <a:ea typeface="Times New Roman"/>
                <a:cs typeface="Times New Roman"/>
                <a:sym typeface="Times New Roman"/>
                <a:hlinkClick r:id="rId13">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4">
                  <a:extLst>
                    <a:ext uri="{A12FA001-AC4F-418D-AE19-62706E023703}">
                      <ahyp:hlinkClr val="tx"/>
                    </a:ext>
                  </a:extLst>
                </a:hlinkClick>
              </a:rPr>
              <a:t>Slides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13: Convolutional Neural Networks (</a:t>
            </a:r>
            <a:r>
              <a:rPr b="0" i="0" lang="en-US" sz="2400" u="sng" cap="none" strike="noStrike">
                <a:solidFill>
                  <a:srgbClr val="000000"/>
                </a:solidFill>
                <a:latin typeface="Times New Roman"/>
                <a:ea typeface="Times New Roman"/>
                <a:cs typeface="Times New Roman"/>
                <a:sym typeface="Times New Roman"/>
                <a:hlinkClick r:id="rId15">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6">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14: Tree Recursive Neural Networks and Constituency Parsing (</a:t>
            </a:r>
            <a:r>
              <a:rPr b="0" i="0" lang="en-US" sz="2400" u="sng" cap="none" strike="noStrike">
                <a:solidFill>
                  <a:srgbClr val="000000"/>
                </a:solidFill>
                <a:latin typeface="Times New Roman"/>
                <a:ea typeface="Times New Roman"/>
                <a:cs typeface="Times New Roman"/>
                <a:sym typeface="Times New Roman"/>
                <a:hlinkClick r:id="rId17">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8">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279400" lvl="0" marL="342900" marR="0" rtl="0" algn="l">
              <a:lnSpc>
                <a:spcPct val="107000"/>
              </a:lnSpc>
              <a:spcBef>
                <a:spcPts val="800"/>
              </a:spcBef>
              <a:spcAft>
                <a:spcPts val="0"/>
              </a:spcAft>
              <a:buClr>
                <a:schemeClr val="dk1"/>
              </a:buClr>
              <a:buSzPts val="1000"/>
              <a:buFont typeface="Noto Sans Symbols"/>
              <a:buNone/>
            </a:pPr>
            <a:r>
              <a:t/>
            </a:r>
            <a:endParaRPr b="0" i="0" sz="1400" u="none" cap="none" strike="noStrike">
              <a:solidFill>
                <a:srgbClr val="1F2328"/>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7"/>
          <p:cNvSpPr txBox="1"/>
          <p:nvPr/>
        </p:nvSpPr>
        <p:spPr>
          <a:xfrm>
            <a:off x="522514" y="358944"/>
            <a:ext cx="11504645" cy="426892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15: Coreference Resolution (</a:t>
            </a:r>
            <a:r>
              <a:rPr b="0" i="0" lang="en-US" sz="24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16: Dynamic Neural Networks for Question Answering (</a:t>
            </a:r>
            <a:r>
              <a:rPr b="0" i="0" lang="en-US" sz="24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6">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17: Issues in NLP and Possible Architectures for NLP (</a:t>
            </a:r>
            <a:r>
              <a:rPr b="0" i="0" lang="en-US" sz="2400" u="sng" cap="none" strike="noStrike">
                <a:solidFill>
                  <a:srgbClr val="000000"/>
                </a:solidFill>
                <a:latin typeface="Times New Roman"/>
                <a:ea typeface="Times New Roman"/>
                <a:cs typeface="Times New Roman"/>
                <a:sym typeface="Times New Roman"/>
                <a:hlinkClick r:id="rId7">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8">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Lecture 18: Tackling the Limits of Deep Learning for NLP (</a:t>
            </a:r>
            <a:r>
              <a:rPr b="0" i="0" lang="en-US" sz="2400" u="sng" cap="none" strike="noStrike">
                <a:solidFill>
                  <a:srgbClr val="000000"/>
                </a:solidFill>
                <a:latin typeface="Times New Roman"/>
                <a:ea typeface="Times New Roman"/>
                <a:cs typeface="Times New Roman"/>
                <a:sym typeface="Times New Roman"/>
                <a:hlinkClick r:id="rId9">
                  <a:extLst>
                    <a:ext uri="{A12FA001-AC4F-418D-AE19-62706E023703}">
                      <ahyp:hlinkClr val="tx"/>
                    </a:ext>
                  </a:extLst>
                </a:hlinkClick>
              </a:rPr>
              <a:t>Video</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0">
                  <a:extLst>
                    <a:ext uri="{A12FA001-AC4F-418D-AE19-62706E023703}">
                      <ahyp:hlinkClr val="tx"/>
                    </a:ext>
                  </a:extLst>
                </a:hlinkClick>
              </a:rPr>
              <a:t>Slides + Readings</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0" lvl="0" marL="0" marR="0" rtl="0" algn="l">
              <a:lnSpc>
                <a:spcPct val="107000"/>
              </a:lnSpc>
              <a:spcBef>
                <a:spcPts val="1000"/>
              </a:spcBef>
              <a:spcAft>
                <a:spcPts val="0"/>
              </a:spcAft>
              <a:buClr>
                <a:srgbClr val="000000"/>
              </a:buClr>
              <a:buSzPts val="2400"/>
              <a:buFont typeface="Arial"/>
              <a:buNone/>
            </a:pPr>
            <a:r>
              <a:rPr b="1" i="0" lang="en-US" sz="2400" u="none" cap="none" strike="noStrike">
                <a:solidFill>
                  <a:srgbClr val="1F2328"/>
                </a:solidFill>
                <a:latin typeface="Times New Roman"/>
                <a:ea typeface="Times New Roman"/>
                <a:cs typeface="Times New Roman"/>
                <a:sym typeface="Times New Roman"/>
              </a:rPr>
              <a:t>Assignments</a:t>
            </a:r>
            <a:endParaRPr b="1" i="0" sz="2400" u="none" cap="none" strike="noStrike">
              <a:solidFill>
                <a:srgbClr val="2F5496"/>
              </a:solidFill>
              <a:latin typeface="Calibri"/>
              <a:ea typeface="Calibri"/>
              <a:cs typeface="Calibri"/>
              <a:sym typeface="Calibri"/>
            </a:endParaRPr>
          </a:p>
          <a:p>
            <a:pPr indent="-342900" lvl="0" marL="342900" marR="0" rtl="0" algn="l">
              <a:lnSpc>
                <a:spcPct val="107000"/>
              </a:lnSpc>
              <a:spcBef>
                <a:spcPts val="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Assignment 1 (</a:t>
            </a:r>
            <a:r>
              <a:rPr b="0" i="0" lang="en-US" sz="2400" u="sng" cap="none" strike="noStrike">
                <a:solidFill>
                  <a:srgbClr val="1F2328"/>
                </a:solidFill>
                <a:latin typeface="Times New Roman"/>
                <a:ea typeface="Times New Roman"/>
                <a:cs typeface="Times New Roman"/>
                <a:sym typeface="Times New Roman"/>
                <a:hlinkClick r:id="rId11">
                  <a:extLst>
                    <a:ext uri="{A12FA001-AC4F-418D-AE19-62706E023703}">
                      <ahyp:hlinkClr val="tx"/>
                    </a:ext>
                  </a:extLst>
                </a:hlinkClick>
              </a:rPr>
              <a:t>Problem</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2">
                  <a:extLst>
                    <a:ext uri="{A12FA001-AC4F-418D-AE19-62706E023703}">
                      <ahyp:hlinkClr val="tx"/>
                    </a:ext>
                  </a:extLst>
                </a:hlinkClick>
              </a:rPr>
              <a:t>Solutions</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1F2328"/>
                </a:solidFill>
                <a:latin typeface="Times New Roman"/>
                <a:ea typeface="Times New Roman"/>
                <a:cs typeface="Times New Roman"/>
                <a:sym typeface="Times New Roman"/>
                <a:hlinkClick r:id="rId13">
                  <a:extLst>
                    <a:ext uri="{A12FA001-AC4F-418D-AE19-62706E023703}">
                      <ahyp:hlinkClr val="tx"/>
                    </a:ext>
                  </a:extLst>
                </a:hlinkClick>
              </a:rPr>
              <a:t>Folder</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Assignment 2 (</a:t>
            </a:r>
            <a:r>
              <a:rPr b="0" i="0" lang="en-US" sz="2400" u="sng" cap="none" strike="noStrike">
                <a:solidFill>
                  <a:srgbClr val="1F2328"/>
                </a:solidFill>
                <a:latin typeface="Times New Roman"/>
                <a:ea typeface="Times New Roman"/>
                <a:cs typeface="Times New Roman"/>
                <a:sym typeface="Times New Roman"/>
                <a:hlinkClick r:id="rId14">
                  <a:extLst>
                    <a:ext uri="{A12FA001-AC4F-418D-AE19-62706E023703}">
                      <ahyp:hlinkClr val="tx"/>
                    </a:ext>
                  </a:extLst>
                </a:hlinkClick>
              </a:rPr>
              <a:t>Problem</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5">
                  <a:extLst>
                    <a:ext uri="{A12FA001-AC4F-418D-AE19-62706E023703}">
                      <ahyp:hlinkClr val="tx"/>
                    </a:ext>
                  </a:extLst>
                </a:hlinkClick>
              </a:rPr>
              <a:t>Solutions</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1F2328"/>
                </a:solidFill>
                <a:latin typeface="Times New Roman"/>
                <a:ea typeface="Times New Roman"/>
                <a:cs typeface="Times New Roman"/>
                <a:sym typeface="Times New Roman"/>
                <a:hlinkClick r:id="rId16">
                  <a:extLst>
                    <a:ext uri="{A12FA001-AC4F-418D-AE19-62706E023703}">
                      <ahyp:hlinkClr val="tx"/>
                    </a:ext>
                  </a:extLst>
                </a:hlinkClick>
              </a:rPr>
              <a:t>Folder</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rgbClr val="1F2328"/>
              </a:solidFill>
              <a:latin typeface="Calibri"/>
              <a:ea typeface="Calibri"/>
              <a:cs typeface="Calibri"/>
              <a:sym typeface="Calibri"/>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US" sz="2400" u="none" cap="none" strike="noStrike">
                <a:solidFill>
                  <a:srgbClr val="1F2328"/>
                </a:solidFill>
                <a:latin typeface="Times New Roman"/>
                <a:ea typeface="Times New Roman"/>
                <a:cs typeface="Times New Roman"/>
                <a:sym typeface="Times New Roman"/>
              </a:rPr>
              <a:t>Assignment 3 (</a:t>
            </a:r>
            <a:r>
              <a:rPr b="0" i="0" lang="en-US" sz="2400" u="sng" cap="none" strike="noStrike">
                <a:solidFill>
                  <a:srgbClr val="1F2328"/>
                </a:solidFill>
                <a:latin typeface="Times New Roman"/>
                <a:ea typeface="Times New Roman"/>
                <a:cs typeface="Times New Roman"/>
                <a:sym typeface="Times New Roman"/>
                <a:hlinkClick r:id="rId17">
                  <a:extLst>
                    <a:ext uri="{A12FA001-AC4F-418D-AE19-62706E023703}">
                      <ahyp:hlinkClr val="tx"/>
                    </a:ext>
                  </a:extLst>
                </a:hlinkClick>
              </a:rPr>
              <a:t>Problem</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000000"/>
                </a:solidFill>
                <a:latin typeface="Times New Roman"/>
                <a:ea typeface="Times New Roman"/>
                <a:cs typeface="Times New Roman"/>
                <a:sym typeface="Times New Roman"/>
                <a:hlinkClick r:id="rId18">
                  <a:extLst>
                    <a:ext uri="{A12FA001-AC4F-418D-AE19-62706E023703}">
                      <ahyp:hlinkClr val="tx"/>
                    </a:ext>
                  </a:extLst>
                </a:hlinkClick>
              </a:rPr>
              <a:t>Solutions</a:t>
            </a:r>
            <a:r>
              <a:rPr b="0" i="0" lang="en-US" sz="2400" u="none" cap="none" strike="noStrike">
                <a:solidFill>
                  <a:srgbClr val="1F2328"/>
                </a:solidFill>
                <a:latin typeface="Times New Roman"/>
                <a:ea typeface="Times New Roman"/>
                <a:cs typeface="Times New Roman"/>
                <a:sym typeface="Times New Roman"/>
              </a:rPr>
              <a:t>, </a:t>
            </a:r>
            <a:r>
              <a:rPr b="0" i="0" lang="en-US" sz="2400" u="sng" cap="none" strike="noStrike">
                <a:solidFill>
                  <a:srgbClr val="1F2328"/>
                </a:solidFill>
                <a:latin typeface="Times New Roman"/>
                <a:ea typeface="Times New Roman"/>
                <a:cs typeface="Times New Roman"/>
                <a:sym typeface="Times New Roman"/>
                <a:hlinkClick r:id="rId19">
                  <a:extLst>
                    <a:ext uri="{A12FA001-AC4F-418D-AE19-62706E023703}">
                      <ahyp:hlinkClr val="tx"/>
                    </a:ext>
                  </a:extLst>
                </a:hlinkClick>
              </a:rPr>
              <a:t>Folder</a:t>
            </a:r>
            <a:r>
              <a:rPr b="0" i="0" lang="en-US" sz="2400" u="none" cap="none" strike="noStrike">
                <a:solidFill>
                  <a:srgbClr val="1F2328"/>
                </a:solidFill>
                <a:latin typeface="Times New Roman"/>
                <a:ea typeface="Times New Roman"/>
                <a:cs typeface="Times New Roman"/>
                <a:sym typeface="Times New Roman"/>
              </a:rPr>
              <a:t>)</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sp>
        <p:nvSpPr>
          <p:cNvPr id="328" name="Google Shape;328;p8"/>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9" name="Google Shape;329;p8"/>
          <p:cNvSpPr txBox="1"/>
          <p:nvPr/>
        </p:nvSpPr>
        <p:spPr>
          <a:xfrm>
            <a:off x="793661" y="518336"/>
            <a:ext cx="10066122" cy="1298448"/>
          </a:xfrm>
          <a:prstGeom prst="rect">
            <a:avLst/>
          </a:prstGeom>
          <a:noFill/>
          <a:ln>
            <a:noFill/>
          </a:ln>
        </p:spPr>
        <p:txBody>
          <a:bodyPr anchorCtr="0" anchor="b" bIns="45700" lIns="91425" spcFirstLastPara="1" rIns="91425" wrap="square" tIns="45700">
            <a:normAutofit fontScale="92500"/>
          </a:bodyPr>
          <a:lstStyle/>
          <a:p>
            <a:pPr indent="0" lvl="0" marL="0" marR="0" rtl="0" algn="l">
              <a:lnSpc>
                <a:spcPct val="90000"/>
              </a:lnSpc>
              <a:spcBef>
                <a:spcPts val="0"/>
              </a:spcBef>
              <a:spcAft>
                <a:spcPts val="0"/>
              </a:spcAft>
              <a:buClr>
                <a:srgbClr val="000000"/>
              </a:buClr>
              <a:buSzPct val="100000"/>
              <a:buFont typeface="Arial"/>
              <a:buNone/>
            </a:pPr>
            <a:r>
              <a:rPr b="1" i="0" lang="en-US" sz="4100" u="none" cap="none" strike="noStrike">
                <a:solidFill>
                  <a:schemeClr val="dk1"/>
                </a:solidFill>
                <a:latin typeface="Play"/>
                <a:ea typeface="Play"/>
                <a:cs typeface="Play"/>
                <a:sym typeface="Play"/>
              </a:rPr>
              <a:t>ТОП-10 книг по обработке естественного языка: от новичка до профессионала</a:t>
            </a:r>
            <a:endParaRPr b="0" i="0" sz="1400" u="none" cap="none" strike="noStrike">
              <a:solidFill>
                <a:srgbClr val="000000"/>
              </a:solidFill>
              <a:latin typeface="Arial"/>
              <a:ea typeface="Arial"/>
              <a:cs typeface="Arial"/>
              <a:sym typeface="Arial"/>
            </a:endParaRPr>
          </a:p>
        </p:txBody>
      </p:sp>
      <p:sp>
        <p:nvSpPr>
          <p:cNvPr id="330" name="Google Shape;330;p8"/>
          <p:cNvSpPr/>
          <p:nvPr/>
        </p:nvSpPr>
        <p:spPr>
          <a:xfrm rot="10800000">
            <a:off x="-2" y="1998845"/>
            <a:ext cx="1145459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1" name="Google Shape;331;p8"/>
          <p:cNvSpPr/>
          <p:nvPr/>
        </p:nvSpPr>
        <p:spPr>
          <a:xfrm>
            <a:off x="0" y="2203079"/>
            <a:ext cx="11383362" cy="4267991"/>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2" name="Google Shape;332;p8"/>
          <p:cNvSpPr txBox="1"/>
          <p:nvPr/>
        </p:nvSpPr>
        <p:spPr>
          <a:xfrm>
            <a:off x="793661" y="2599509"/>
            <a:ext cx="4530898" cy="3639450"/>
          </a:xfrm>
          <a:prstGeom prst="rect">
            <a:avLst/>
          </a:prstGeom>
          <a:noFill/>
          <a:ln>
            <a:noFill/>
          </a:ln>
        </p:spPr>
        <p:txBody>
          <a:bodyPr anchorCtr="0" anchor="ctr" bIns="45700" lIns="91425" spcFirstLastPara="1" rIns="91425" wrap="square" tIns="45700">
            <a:normAutofit/>
          </a:bodyPr>
          <a:lstStyle/>
          <a:p>
            <a:pPr indent="-203200" lvl="0" marL="0" marR="0" rtl="0" algn="l">
              <a:lnSpc>
                <a:spcPct val="90000"/>
              </a:lnSpc>
              <a:spcBef>
                <a:spcPts val="0"/>
              </a:spcBef>
              <a:spcAft>
                <a:spcPts val="0"/>
              </a:spcAft>
              <a:buClr>
                <a:schemeClr val="dk1"/>
              </a:buClr>
              <a:buSzPts val="3200"/>
              <a:buFont typeface="Arial"/>
              <a:buChar char="•"/>
            </a:pPr>
            <a:r>
              <a:rPr b="0" i="0" lang="en-US" sz="3200" u="none" cap="none" strike="noStrike">
                <a:solidFill>
                  <a:schemeClr val="dk1"/>
                </a:solidFill>
                <a:latin typeface="Times New Roman"/>
                <a:ea typeface="Times New Roman"/>
                <a:cs typeface="Times New Roman"/>
                <a:sym typeface="Times New Roman"/>
              </a:rPr>
              <a:t>https://proglib.io/p/top-10-knig-po-obrabotke-estestvennogo-yazyka-ot-novichka-do-professionala-2021-03-24</a:t>
            </a:r>
            <a:endParaRPr b="0" i="0" sz="1400" u="none" cap="none" strike="noStrike">
              <a:solidFill>
                <a:srgbClr val="000000"/>
              </a:solidFill>
              <a:latin typeface="Arial"/>
              <a:ea typeface="Arial"/>
              <a:cs typeface="Arial"/>
              <a:sym typeface="Arial"/>
            </a:endParaRPr>
          </a:p>
        </p:txBody>
      </p:sp>
      <p:pic>
        <p:nvPicPr>
          <p:cNvPr descr="Изображение выглядит как текст, бумага, письмо, Бумажное изделие&#10;&#10;Автоматически созданное описание" id="333" name="Google Shape;333;p8"/>
          <p:cNvPicPr preferRelativeResize="0"/>
          <p:nvPr/>
        </p:nvPicPr>
        <p:blipFill rotWithShape="1">
          <a:blip r:embed="rId3">
            <a:alphaModFix/>
          </a:blip>
          <a:srcRect b="0" l="0" r="0" t="0"/>
          <a:stretch/>
        </p:blipFill>
        <p:spPr>
          <a:xfrm>
            <a:off x="5911532" y="2899299"/>
            <a:ext cx="5150277" cy="2884155"/>
          </a:xfrm>
          <a:prstGeom prst="rect">
            <a:avLst/>
          </a:prstGeom>
          <a:noFill/>
          <a:ln>
            <a:noFill/>
          </a:ln>
        </p:spPr>
      </p:pic>
      <p:sp>
        <p:nvSpPr>
          <p:cNvPr id="334" name="Google Shape;334;p8"/>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8" name="Shape 338"/>
        <p:cNvGrpSpPr/>
        <p:nvPr/>
      </p:nvGrpSpPr>
      <p:grpSpPr>
        <a:xfrm>
          <a:off x="0" y="0"/>
          <a:ext cx="0" cy="0"/>
          <a:chOff x="0" y="0"/>
          <a:chExt cx="0" cy="0"/>
        </a:xfrm>
      </p:grpSpPr>
      <p:sp>
        <p:nvSpPr>
          <p:cNvPr id="339" name="Google Shape;339;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0" name="Google Shape;340;p9"/>
          <p:cNvSpPr txBox="1"/>
          <p:nvPr/>
        </p:nvSpPr>
        <p:spPr>
          <a:xfrm>
            <a:off x="6330272" y="-472110"/>
            <a:ext cx="4928447" cy="2052522"/>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800"/>
              <a:buFont typeface="Arial"/>
              <a:buNone/>
            </a:pPr>
            <a:r>
              <a:rPr b="1" i="0" lang="en-US" sz="2800" u="none" cap="none" strike="noStrike">
                <a:solidFill>
                  <a:srgbClr val="78206E"/>
                </a:solidFill>
                <a:latin typeface="Times New Roman"/>
                <a:ea typeface="Times New Roman"/>
                <a:cs typeface="Times New Roman"/>
                <a:sym typeface="Times New Roman"/>
              </a:rPr>
              <a:t>Программы разных курсов</a:t>
            </a:r>
            <a:endParaRPr b="1" i="0" sz="2800" u="none" cap="none" strike="noStrike">
              <a:solidFill>
                <a:srgbClr val="78206E"/>
              </a:solidFill>
              <a:latin typeface="Times New Roman"/>
              <a:ea typeface="Times New Roman"/>
              <a:cs typeface="Times New Roman"/>
              <a:sym typeface="Times New Roman"/>
            </a:endParaRPr>
          </a:p>
          <a:p>
            <a:pPr indent="0" lvl="0" marL="0" marR="0" rtl="0" algn="l">
              <a:lnSpc>
                <a:spcPct val="90000"/>
              </a:lnSpc>
              <a:spcBef>
                <a:spcPts val="600"/>
              </a:spcBef>
              <a:spcAft>
                <a:spcPts val="0"/>
              </a:spcAft>
              <a:buClr>
                <a:srgbClr val="000000"/>
              </a:buClr>
              <a:buSzPts val="2400"/>
              <a:buFont typeface="Arial"/>
              <a:buNone/>
            </a:pPr>
            <a:r>
              <a:rPr b="0" i="0" lang="en-US" sz="2400" u="sng" cap="none" strike="noStrike">
                <a:solidFill>
                  <a:schemeClr val="dk1"/>
                </a:solidFill>
                <a:latin typeface="Times New Roman"/>
                <a:ea typeface="Times New Roman"/>
                <a:cs typeface="Times New Roman"/>
                <a:sym typeface="Times New Roman"/>
                <a:hlinkClick r:id="rId3">
                  <a:extLst>
                    <a:ext uri="{A12FA001-AC4F-418D-AE19-62706E023703}">
                      <ahyp:hlinkClr val="tx"/>
                    </a:ext>
                  </a:extLst>
                </a:hlinkClick>
              </a:rPr>
              <a:t>https://www.roschinsm.ru/courses/</a:t>
            </a:r>
            <a:endParaRPr b="0" i="0" sz="2400" u="none" cap="none" strike="noStrike">
              <a:solidFill>
                <a:schemeClr val="dk1"/>
              </a:solidFill>
              <a:latin typeface="Times New Roman"/>
              <a:ea typeface="Times New Roman"/>
              <a:cs typeface="Times New Roman"/>
              <a:sym typeface="Times New Roman"/>
            </a:endParaRPr>
          </a:p>
        </p:txBody>
      </p:sp>
      <p:sp>
        <p:nvSpPr>
          <p:cNvPr id="341" name="Google Shape;341;p9"/>
          <p:cNvSpPr/>
          <p:nvPr/>
        </p:nvSpPr>
        <p:spPr>
          <a:xfrm>
            <a:off x="322965" y="554152"/>
            <a:ext cx="5742189" cy="5742189"/>
          </a:xfrm>
          <a:prstGeom prst="ellipse">
            <a:avLst/>
          </a:prstGeom>
          <a:gradFill>
            <a:gsLst>
              <a:gs pos="0">
                <a:schemeClr val="accent1"/>
              </a:gs>
              <a:gs pos="100000">
                <a:schemeClr val="accent2"/>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Онлайн компьютерные курсы" id="342" name="Google Shape;342;p9"/>
          <p:cNvPicPr preferRelativeResize="0"/>
          <p:nvPr/>
        </p:nvPicPr>
        <p:blipFill rotWithShape="1">
          <a:blip r:embed="rId4">
            <a:alphaModFix/>
          </a:blip>
          <a:srcRect b="1" l="0" r="1" t="0"/>
          <a:stretch/>
        </p:blipFill>
        <p:spPr>
          <a:xfrm>
            <a:off x="505418" y="554151"/>
            <a:ext cx="5742189" cy="5742189"/>
          </a:xfrm>
          <a:custGeom>
            <a:rect b="b" l="l" r="r" t="t"/>
            <a:pathLst>
              <a:path extrusionOk="0" h="1838528" w="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ln>
            <a:noFill/>
          </a:ln>
        </p:spPr>
      </p:pic>
      <p:sp>
        <p:nvSpPr>
          <p:cNvPr id="343" name="Google Shape;343;p9"/>
          <p:cNvSpPr/>
          <p:nvPr/>
        </p:nvSpPr>
        <p:spPr>
          <a:xfrm>
            <a:off x="1004956" y="703679"/>
            <a:ext cx="171515" cy="171515"/>
          </a:xfrm>
          <a:custGeom>
            <a:rect b="b" l="l" r="r" t="t"/>
            <a:pathLst>
              <a:path extrusionOk="0" h="171515" w="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4" name="Google Shape;344;p9"/>
          <p:cNvSpPr/>
          <p:nvPr/>
        </p:nvSpPr>
        <p:spPr>
          <a:xfrm>
            <a:off x="422753" y="1562696"/>
            <a:ext cx="157545" cy="157545"/>
          </a:xfrm>
          <a:custGeom>
            <a:rect b="b" l="l" r="r" t="t"/>
            <a:pathLst>
              <a:path extrusionOk="0" h="157545" w="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5" name="Google Shape;345;p9"/>
          <p:cNvSpPr txBox="1"/>
          <p:nvPr/>
        </p:nvSpPr>
        <p:spPr>
          <a:xfrm>
            <a:off x="6371754" y="2773104"/>
            <a:ext cx="5214408" cy="291387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Arial"/>
              <a:buNone/>
            </a:pPr>
            <a:r>
              <a:rPr b="1" i="0" lang="en-US" sz="2800" u="none" cap="none" strike="noStrike">
                <a:solidFill>
                  <a:srgbClr val="78206E"/>
                </a:solidFill>
                <a:latin typeface="Times New Roman"/>
                <a:ea typeface="Times New Roman"/>
                <a:cs typeface="Times New Roman"/>
                <a:sym typeface="Times New Roman"/>
              </a:rPr>
              <a:t>Методы векторизации текстов</a:t>
            </a:r>
            <a:endParaRPr b="1" i="0" sz="2800" u="none" cap="none" strike="noStrike">
              <a:solidFill>
                <a:srgbClr val="78206E"/>
              </a:solidFill>
              <a:latin typeface="Times New Roman"/>
              <a:ea typeface="Times New Roman"/>
              <a:cs typeface="Times New Roman"/>
              <a:sym typeface="Times New Roman"/>
            </a:endParaRPr>
          </a:p>
          <a:p>
            <a:pPr indent="0" lvl="0" marL="0" marR="0" rtl="0" algn="l">
              <a:lnSpc>
                <a:spcPct val="90000"/>
              </a:lnSpc>
              <a:spcBef>
                <a:spcPts val="600"/>
              </a:spcBef>
              <a:spcAft>
                <a:spcPts val="0"/>
              </a:spcAft>
              <a:buClr>
                <a:srgbClr val="000000"/>
              </a:buClr>
              <a:buSzPts val="2400"/>
              <a:buFont typeface="Arial"/>
              <a:buNone/>
            </a:pPr>
            <a:r>
              <a:rPr b="0" i="0" lang="en-US" sz="2400" u="sng" cap="none" strike="noStrike">
                <a:solidFill>
                  <a:schemeClr val="dk1"/>
                </a:solidFill>
                <a:latin typeface="Times New Roman"/>
                <a:ea typeface="Times New Roman"/>
                <a:cs typeface="Times New Roman"/>
                <a:sym typeface="Times New Roman"/>
                <a:hlinkClick r:id="rId5">
                  <a:extLst>
                    <a:ext uri="{A12FA001-AC4F-418D-AE19-62706E023703}">
                      <ahyp:hlinkClr val="tx"/>
                    </a:ext>
                  </a:extLst>
                </a:hlinkClick>
              </a:rPr>
              <a:t>https://medium.com/@bigdataschool/4-%D0%BC%D0%B5%D1%82%D0%BE%D0%B4%D0%B0-%D0%B2%D0%B5%D0%BA%D1%82%D0%BE%D1%80%D0%B8%D0%B7%D0%B0%D1%86%D0%B8%D0%B8-%D1%82%D0%B5%D0%BA%D1%81%D1%82%D0%BE%D0%B2-f8ac90e4175a</a:t>
            </a:r>
            <a:endParaRPr b="0" i="0" sz="2400" u="none" cap="none" strike="noStrike">
              <a:solidFill>
                <a:schemeClr val="dk1"/>
              </a:solidFill>
              <a:latin typeface="Times New Roman"/>
              <a:ea typeface="Times New Roman"/>
              <a:cs typeface="Times New Roman"/>
              <a:sym typeface="Times New Roman"/>
            </a:endParaRPr>
          </a:p>
        </p:txBody>
      </p:sp>
      <p:sp>
        <p:nvSpPr>
          <p:cNvPr id="346" name="Google Shape;346;p9"/>
          <p:cNvSpPr/>
          <p:nvPr/>
        </p:nvSpPr>
        <p:spPr>
          <a:xfrm>
            <a:off x="5454149" y="5775082"/>
            <a:ext cx="112426" cy="112426"/>
          </a:xfrm>
          <a:custGeom>
            <a:rect b="b" l="l" r="r" t="t"/>
            <a:pathLst>
              <a:path extrusionOk="0" h="112426" w="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347" name="Google Shape;347;p9"/>
          <p:cNvCxnSpPr/>
          <p:nvPr/>
        </p:nvCxnSpPr>
        <p:spPr>
          <a:xfrm>
            <a:off x="11586162" y="3619272"/>
            <a:ext cx="0" cy="3238728"/>
          </a:xfrm>
          <a:prstGeom prst="straightConnector1">
            <a:avLst/>
          </a:prstGeom>
          <a:noFill/>
          <a:ln cap="sq" cmpd="sng" w="25400">
            <a:solidFill>
              <a:schemeClr val="accent1"/>
            </a:solidFill>
            <a:prstDash val="solid"/>
            <a:bevel/>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descr="Крупный план листа бумаги с карандашом, лежащим сверху" id="353" name="Google Shape;353;p10"/>
          <p:cNvPicPr preferRelativeResize="0"/>
          <p:nvPr/>
        </p:nvPicPr>
        <p:blipFill rotWithShape="1">
          <a:blip r:embed="rId3">
            <a:alphaModFix/>
          </a:blip>
          <a:srcRect b="0" l="0" r="0" t="0"/>
          <a:stretch/>
        </p:blipFill>
        <p:spPr>
          <a:xfrm>
            <a:off x="20" y="0"/>
            <a:ext cx="12191980" cy="6858000"/>
          </a:xfrm>
          <a:prstGeom prst="rect">
            <a:avLst/>
          </a:prstGeom>
          <a:noFill/>
          <a:ln>
            <a:noFill/>
          </a:ln>
        </p:spPr>
      </p:pic>
      <p:sp>
        <p:nvSpPr>
          <p:cNvPr id="354" name="Google Shape;354;p10"/>
          <p:cNvSpPr txBox="1"/>
          <p:nvPr>
            <p:ph type="ctrTitle"/>
          </p:nvPr>
        </p:nvSpPr>
        <p:spPr>
          <a:xfrm>
            <a:off x="5704114" y="414308"/>
            <a:ext cx="6031646" cy="2901694"/>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11111"/>
              <a:buFont typeface="Play"/>
              <a:buNone/>
            </a:pPr>
            <a:r>
              <a:rPr lang="en-US" sz="4800">
                <a:solidFill>
                  <a:schemeClr val="dk1"/>
                </a:solidFill>
              </a:rPr>
              <a:t>Морфологический анализ</a:t>
            </a:r>
            <a:br>
              <a:rPr lang="en-US" sz="4800">
                <a:solidFill>
                  <a:schemeClr val="dk1"/>
                </a:solidFill>
              </a:rPr>
            </a:br>
            <a:br>
              <a:rPr lang="en-US" sz="4800">
                <a:solidFill>
                  <a:schemeClr val="dk1"/>
                </a:solidFill>
              </a:rPr>
            </a:br>
            <a:r>
              <a:rPr lang="en-US" sz="4800">
                <a:solidFill>
                  <a:schemeClr val="dk1"/>
                </a:solidFill>
              </a:rPr>
              <a:t>Morphological analysis</a:t>
            </a:r>
            <a:endParaRPr sz="4800">
              <a:solidFill>
                <a:schemeClr val="dk1"/>
              </a:solidFill>
            </a:endParaRPr>
          </a:p>
        </p:txBody>
      </p:sp>
      <p:sp>
        <p:nvSpPr>
          <p:cNvPr id="355" name="Google Shape;355;p10"/>
          <p:cNvSpPr txBox="1"/>
          <p:nvPr/>
        </p:nvSpPr>
        <p:spPr>
          <a:xfrm>
            <a:off x="152598" y="5335835"/>
            <a:ext cx="8855330" cy="1450757"/>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ctr">
              <a:lnSpc>
                <a:spcPct val="90000"/>
              </a:lnSpc>
              <a:spcBef>
                <a:spcPts val="0"/>
              </a:spcBef>
              <a:spcAft>
                <a:spcPts val="0"/>
              </a:spcAft>
              <a:buClr>
                <a:srgbClr val="501549"/>
              </a:buClr>
              <a:buSzPct val="100000"/>
              <a:buFont typeface="Play"/>
              <a:buNone/>
            </a:pPr>
            <a:r>
              <a:rPr b="1" i="0" lang="en-US" sz="6000" u="none" cap="none" strike="noStrike">
                <a:solidFill>
                  <a:srgbClr val="501549"/>
                </a:solidFill>
                <a:latin typeface="Play"/>
                <a:ea typeface="Play"/>
                <a:cs typeface="Play"/>
                <a:sym typeface="Play"/>
              </a:rPr>
              <a:t>Морфологический анализ </a:t>
            </a:r>
            <a:r>
              <a:rPr b="0" i="0" lang="en-US" sz="6000" u="none" cap="none" strike="noStrike">
                <a:solidFill>
                  <a:srgbClr val="501549"/>
                </a:solidFill>
                <a:latin typeface="Play"/>
                <a:ea typeface="Play"/>
                <a:cs typeface="Play"/>
                <a:sym typeface="Play"/>
              </a:rPr>
              <a:t>изучает формы и свойства слова</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0" name="Shape 360"/>
        <p:cNvGrpSpPr/>
        <p:nvPr/>
      </p:nvGrpSpPr>
      <p:grpSpPr>
        <a:xfrm>
          <a:off x="0" y="0"/>
          <a:ext cx="0" cy="0"/>
          <a:chOff x="0" y="0"/>
          <a:chExt cx="0" cy="0"/>
        </a:xfrm>
      </p:grpSpPr>
      <p:sp>
        <p:nvSpPr>
          <p:cNvPr id="361" name="Google Shape;361;p11"/>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362" name="Google Shape;362;p11"/>
          <p:cNvGrpSpPr/>
          <p:nvPr/>
        </p:nvGrpSpPr>
        <p:grpSpPr>
          <a:xfrm>
            <a:off x="4" y="1216597"/>
            <a:ext cx="731521" cy="673460"/>
            <a:chOff x="3940602" y="308034"/>
            <a:chExt cx="2116791" cy="3428999"/>
          </a:xfrm>
        </p:grpSpPr>
        <p:sp>
          <p:nvSpPr>
            <p:cNvPr id="363" name="Google Shape;363;p11"/>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4" name="Google Shape;364;p11"/>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5" name="Google Shape;365;p11"/>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366" name="Google Shape;366;p11"/>
          <p:cNvSpPr/>
          <p:nvPr/>
        </p:nvSpPr>
        <p:spPr>
          <a:xfrm>
            <a:off x="640079" y="613954"/>
            <a:ext cx="10907487" cy="1894116"/>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7" name="Google Shape;367;p11"/>
          <p:cNvSpPr txBox="1"/>
          <p:nvPr>
            <p:ph type="title"/>
          </p:nvPr>
        </p:nvSpPr>
        <p:spPr>
          <a:xfrm>
            <a:off x="1043631" y="809898"/>
            <a:ext cx="10173010"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Play"/>
              <a:buNone/>
            </a:pPr>
            <a:r>
              <a:rPr b="1" lang="en-US" sz="4800"/>
              <a:t>Задачи морфологического анализа</a:t>
            </a:r>
            <a:endParaRPr/>
          </a:p>
        </p:txBody>
      </p:sp>
      <p:cxnSp>
        <p:nvCxnSpPr>
          <p:cNvPr id="368" name="Google Shape;368;p11"/>
          <p:cNvCxnSpPr/>
          <p:nvPr/>
        </p:nvCxnSpPr>
        <p:spPr>
          <a:xfrm rot="10800000">
            <a:off x="838200" y="6485313"/>
            <a:ext cx="10515600" cy="0"/>
          </a:xfrm>
          <a:prstGeom prst="straightConnector1">
            <a:avLst/>
          </a:prstGeom>
          <a:noFill/>
          <a:ln cap="flat" cmpd="sng" w="57150">
            <a:solidFill>
              <a:schemeClr val="accent4"/>
            </a:solidFill>
            <a:prstDash val="solid"/>
            <a:miter lim="800000"/>
            <a:headEnd len="sm" w="sm" type="none"/>
            <a:tailEnd len="sm" w="sm" type="none"/>
          </a:ln>
        </p:spPr>
      </p:cxnSp>
      <p:graphicFrame>
        <p:nvGraphicFramePr>
          <p:cNvPr id="369" name="Google Shape;369;p11"/>
          <p:cNvGraphicFramePr/>
          <p:nvPr/>
        </p:nvGraphicFramePr>
        <p:xfrm>
          <a:off x="391891" y="2836558"/>
          <a:ext cx="3000000" cy="3000000"/>
        </p:xfrm>
        <a:graphic>
          <a:graphicData uri="http://schemas.openxmlformats.org/drawingml/2006/table">
            <a:tbl>
              <a:tblPr bandRow="1" firstRow="1">
                <a:noFill/>
                <a:tableStyleId>{3EDC7CB1-D0B2-4275-98B9-FE7600B389A3}</a:tableStyleId>
              </a:tblPr>
              <a:tblGrid>
                <a:gridCol w="3599300"/>
                <a:gridCol w="4022600"/>
                <a:gridCol w="3533775"/>
              </a:tblGrid>
              <a:tr h="8654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Times New Roman"/>
                          <a:ea typeface="Times New Roman"/>
                          <a:cs typeface="Times New Roman"/>
                          <a:sym typeface="Times New Roman"/>
                        </a:rPr>
                        <a:t>ЛЕММАТИЗАЦИЯ</a:t>
                      </a:r>
                      <a:endParaRPr b="1" sz="2400" u="none" cap="none" strike="noStrike">
                        <a:solidFill>
                          <a:schemeClr val="dk1"/>
                        </a:solidFill>
                        <a:latin typeface="Times New Roman"/>
                        <a:ea typeface="Times New Roman"/>
                        <a:cs typeface="Times New Roman"/>
                        <a:sym typeface="Times New Roman"/>
                      </a:endParaRPr>
                    </a:p>
                  </a:txBody>
                  <a:tcPr marT="122150" marB="122150" marR="122150" marL="1221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Times New Roman"/>
                          <a:ea typeface="Times New Roman"/>
                          <a:cs typeface="Times New Roman"/>
                          <a:sym typeface="Times New Roman"/>
                        </a:rPr>
                        <a:t>ГРАММАТИЧЕСКИЕ ХАРАКТЕРИСТИКИ</a:t>
                      </a:r>
                      <a:endParaRPr sz="1400" u="none" cap="none" strike="noStrike"/>
                    </a:p>
                  </a:txBody>
                  <a:tcPr marT="122150" marB="122150" marR="122150" marL="1221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Times New Roman"/>
                          <a:ea typeface="Times New Roman"/>
                          <a:cs typeface="Times New Roman"/>
                          <a:sym typeface="Times New Roman"/>
                        </a:rPr>
                        <a:t>ГЕНЕРАЦИЯ</a:t>
                      </a:r>
                      <a:endParaRPr sz="1400" u="none" cap="none" strike="noStrike"/>
                    </a:p>
                  </a:txBody>
                  <a:tcPr marT="122150" marB="122150" marR="122150" marL="1221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23444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Times New Roman"/>
                          <a:ea typeface="Times New Roman"/>
                          <a:cs typeface="Times New Roman"/>
                          <a:sym typeface="Times New Roman"/>
                        </a:rPr>
                        <a:t>Процесс приведения словоформы к лемме — её нормальной (словарной) форме</a:t>
                      </a:r>
                      <a:endParaRPr sz="2400" u="none" cap="none" strike="noStrike">
                        <a:solidFill>
                          <a:schemeClr val="dk1"/>
                        </a:solidFill>
                        <a:latin typeface="Times New Roman"/>
                        <a:ea typeface="Times New Roman"/>
                        <a:cs typeface="Times New Roman"/>
                        <a:sym typeface="Times New Roman"/>
                      </a:endParaRPr>
                    </a:p>
                  </a:txBody>
                  <a:tcPr marT="122150" marB="122150" marR="122150" marL="1221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Times New Roman"/>
                          <a:ea typeface="Times New Roman"/>
                          <a:cs typeface="Times New Roman"/>
                          <a:sym typeface="Times New Roman"/>
                        </a:rPr>
                        <a:t>Показывает от какого «родственника» и с помощью каких морфем образовалось слово</a:t>
                      </a:r>
                      <a:endParaRPr sz="2400" u="none" cap="none" strike="noStrike">
                        <a:solidFill>
                          <a:schemeClr val="dk1"/>
                        </a:solidFill>
                        <a:latin typeface="Times New Roman"/>
                        <a:ea typeface="Times New Roman"/>
                        <a:cs typeface="Times New Roman"/>
                        <a:sym typeface="Times New Roman"/>
                      </a:endParaRPr>
                    </a:p>
                  </a:txBody>
                  <a:tcPr marT="122150" marB="122150" marR="122150" marL="1221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Times New Roman"/>
                          <a:ea typeface="Times New Roman"/>
                          <a:cs typeface="Times New Roman"/>
                          <a:sym typeface="Times New Roman"/>
                        </a:rPr>
                        <a:t>Постановка слов в заданную форму (падеж, время …)</a:t>
                      </a:r>
                      <a:endParaRPr sz="1400" u="none" cap="none" strike="noStrike"/>
                    </a:p>
                  </a:txBody>
                  <a:tcPr marT="122150" marB="122150" marR="122150" marL="1221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2"/>
          <p:cNvSpPr txBox="1"/>
          <p:nvPr>
            <p:ph type="title"/>
          </p:nvPr>
        </p:nvSpPr>
        <p:spPr>
          <a:xfrm>
            <a:off x="473678" y="202628"/>
            <a:ext cx="11025051" cy="145075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595959"/>
              </a:buClr>
              <a:buSzPts val="4400"/>
              <a:buFont typeface="Play"/>
              <a:buNone/>
            </a:pPr>
            <a:r>
              <a:rPr b="1" lang="en-US">
                <a:solidFill>
                  <a:srgbClr val="595959"/>
                </a:solidFill>
              </a:rPr>
              <a:t>Задачи морфологического анализа</a:t>
            </a:r>
            <a:endParaRPr/>
          </a:p>
        </p:txBody>
      </p:sp>
      <p:graphicFrame>
        <p:nvGraphicFramePr>
          <p:cNvPr id="376" name="Google Shape;376;p12"/>
          <p:cNvGraphicFramePr/>
          <p:nvPr/>
        </p:nvGraphicFramePr>
        <p:xfrm>
          <a:off x="323461" y="1940767"/>
          <a:ext cx="3000000" cy="3000000"/>
        </p:xfrm>
        <a:graphic>
          <a:graphicData uri="http://schemas.openxmlformats.org/drawingml/2006/table">
            <a:tbl>
              <a:tblPr bandRow="1" firstRow="1">
                <a:noFill/>
                <a:tableStyleId>{3EDC7CB1-D0B2-4275-98B9-FE7600B389A3}</a:tableStyleId>
              </a:tblPr>
              <a:tblGrid>
                <a:gridCol w="11868550"/>
              </a:tblGrid>
              <a:tr h="754500">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Times New Roman"/>
                          <a:ea typeface="Times New Roman"/>
                          <a:cs typeface="Times New Roman"/>
                          <a:sym typeface="Times New Roman"/>
                        </a:rPr>
                        <a:t>ЛЕММАТИЗАЦИЯ</a:t>
                      </a:r>
                      <a:endParaRPr b="1" sz="2400" u="none" cap="none" strike="noStrike">
                        <a:solidFill>
                          <a:schemeClr val="dk1"/>
                        </a:solidFill>
                        <a:latin typeface="Times New Roman"/>
                        <a:ea typeface="Times New Roman"/>
                        <a:cs typeface="Times New Roman"/>
                        <a:sym typeface="Times New Roman"/>
                      </a:endParaRPr>
                    </a:p>
                  </a:txBody>
                  <a:tcPr marT="151050" marB="151050" marR="151050" marL="1510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472275">
                <a:tc>
                  <a:txBody>
                    <a:bodyPr/>
                    <a:lstStyle/>
                    <a:p>
                      <a:pPr indent="0" lvl="0" marL="0" marR="0" rtl="0" algn="ctr">
                        <a:lnSpc>
                          <a:spcPct val="100000"/>
                        </a:lnSpc>
                        <a:spcBef>
                          <a:spcPts val="0"/>
                        </a:spcBef>
                        <a:spcAft>
                          <a:spcPts val="0"/>
                        </a:spcAft>
                        <a:buClr>
                          <a:srgbClr val="000000"/>
                        </a:buClr>
                        <a:buSzPts val="2800"/>
                        <a:buFont typeface="Arial"/>
                        <a:buNone/>
                      </a:pPr>
                      <a:r>
                        <a:rPr i="1" lang="en-US" sz="2800" u="none" cap="none" strike="noStrike">
                          <a:solidFill>
                            <a:schemeClr val="dk1"/>
                          </a:solidFill>
                          <a:highlight>
                            <a:srgbClr val="FFFF00"/>
                          </a:highlight>
                          <a:latin typeface="Times New Roman"/>
                          <a:ea typeface="Times New Roman"/>
                          <a:cs typeface="Times New Roman"/>
                          <a:sym typeface="Times New Roman"/>
                        </a:rPr>
                        <a:t>В последнее время в городе происходит много интересных и захватывающих событий</a:t>
                      </a:r>
                      <a:r>
                        <a:rPr lang="en-US" sz="2800" u="none" cap="none" strike="noStrike">
                          <a:solidFill>
                            <a:schemeClr val="dk1"/>
                          </a:solidFill>
                          <a:highlight>
                            <a:srgbClr val="FFFF00"/>
                          </a:highlight>
                          <a:latin typeface="Times New Roman"/>
                          <a:ea typeface="Times New Roman"/>
                          <a:cs typeface="Times New Roman"/>
                          <a:sym typeface="Times New Roman"/>
                        </a:rPr>
                        <a:t>.</a:t>
                      </a:r>
                      <a:endParaRPr sz="1400" u="none" cap="none" strike="noStrike"/>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solidFill>
                          <a:schemeClr val="dk1"/>
                        </a:solidFill>
                        <a:highlight>
                          <a:srgbClr val="FFFF00"/>
                        </a:highlight>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solidFill>
                          <a:schemeClr val="dk1"/>
                        </a:solidFill>
                        <a:highlight>
                          <a:srgbClr val="FFFF00"/>
                        </a:highlight>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i="1" lang="en-US" sz="2800" u="none" cap="none" strike="noStrike">
                          <a:solidFill>
                            <a:schemeClr val="dk1"/>
                          </a:solidFill>
                          <a:highlight>
                            <a:srgbClr val="C0C0C0"/>
                          </a:highlight>
                          <a:latin typeface="Times New Roman"/>
                          <a:ea typeface="Times New Roman"/>
                          <a:cs typeface="Times New Roman"/>
                          <a:sym typeface="Times New Roman"/>
                        </a:rPr>
                        <a:t>В последний время в город происходить много интересный и захватывать событие</a:t>
                      </a:r>
                      <a:endParaRPr sz="2800" u="none" cap="none" strike="noStrike">
                        <a:solidFill>
                          <a:schemeClr val="dk1"/>
                        </a:solidFill>
                        <a:highlight>
                          <a:srgbClr val="C0C0C0"/>
                        </a:highlight>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solidFill>
                          <a:schemeClr val="dk1"/>
                        </a:solidFill>
                        <a:highlight>
                          <a:srgbClr val="FFFF00"/>
                        </a:highlight>
                        <a:latin typeface="Times New Roman"/>
                        <a:ea typeface="Times New Roman"/>
                        <a:cs typeface="Times New Roman"/>
                        <a:sym typeface="Times New Roman"/>
                      </a:endParaRPr>
                    </a:p>
                  </a:txBody>
                  <a:tcPr marT="151050" marB="151050" marR="151050" marL="1510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3"/>
          <p:cNvSpPr txBox="1"/>
          <p:nvPr>
            <p:ph type="title"/>
          </p:nvPr>
        </p:nvSpPr>
        <p:spPr>
          <a:xfrm>
            <a:off x="473678" y="202628"/>
            <a:ext cx="11025051" cy="145075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595959"/>
              </a:buClr>
              <a:buSzPts val="4400"/>
              <a:buFont typeface="Play"/>
              <a:buNone/>
            </a:pPr>
            <a:r>
              <a:rPr b="1" lang="en-US">
                <a:solidFill>
                  <a:srgbClr val="595959"/>
                </a:solidFill>
              </a:rPr>
              <a:t>Задачи морфологического анализа</a:t>
            </a:r>
            <a:endParaRPr/>
          </a:p>
        </p:txBody>
      </p:sp>
      <p:graphicFrame>
        <p:nvGraphicFramePr>
          <p:cNvPr id="383" name="Google Shape;383;p13"/>
          <p:cNvGraphicFramePr/>
          <p:nvPr/>
        </p:nvGraphicFramePr>
        <p:xfrm>
          <a:off x="432318" y="1936962"/>
          <a:ext cx="3000000" cy="3000000"/>
        </p:xfrm>
        <a:graphic>
          <a:graphicData uri="http://schemas.openxmlformats.org/drawingml/2006/table">
            <a:tbl>
              <a:tblPr bandRow="1" firstRow="1">
                <a:noFill/>
                <a:tableStyleId>{3EDC7CB1-D0B2-4275-98B9-FE7600B389A3}</a:tableStyleId>
              </a:tblPr>
              <a:tblGrid>
                <a:gridCol w="11327375"/>
              </a:tblGrid>
              <a:tr h="6942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Times New Roman"/>
                          <a:ea typeface="Times New Roman"/>
                          <a:cs typeface="Times New Roman"/>
                          <a:sym typeface="Times New Roman"/>
                        </a:rPr>
                        <a:t>ГРАММАТИЧЕСКИЕ ХАРАКТЕРИСТИКИ</a:t>
                      </a:r>
                      <a:endParaRPr sz="1400" u="none" cap="none" strike="noStrike"/>
                    </a:p>
                  </a:txBody>
                  <a:tcPr marT="151050" marB="151050" marR="151050" marL="1510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135975">
                <a:tc>
                  <a:txBody>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chemeClr val="dk1"/>
                          </a:solidFill>
                          <a:highlight>
                            <a:srgbClr val="FFFF00"/>
                          </a:highlight>
                          <a:latin typeface="Times New Roman"/>
                          <a:ea typeface="Times New Roman"/>
                          <a:cs typeface="Times New Roman"/>
                          <a:sym typeface="Times New Roman"/>
                        </a:rPr>
                        <a:t>План, что и говорить, был превосходный: простой и ясный, лучше не придумать</a:t>
                      </a:r>
                      <a:r>
                        <a:rPr b="0" i="1" lang="en-US" sz="2800" u="none" cap="none" strike="noStrike">
                          <a:solidFill>
                            <a:schemeClr val="dk1"/>
                          </a:solidFill>
                          <a:latin typeface="Times New Roman"/>
                          <a:ea typeface="Times New Roman"/>
                          <a:cs typeface="Times New Roman"/>
                          <a:sym typeface="Times New Roman"/>
                        </a:rPr>
                        <a:t>.</a:t>
                      </a:r>
                      <a:endParaRPr sz="1400" u="none" cap="none" strike="noStrike"/>
                    </a:p>
                    <a:p>
                      <a:pPr indent="0" lvl="0" marL="0" marR="0" rtl="0" algn="ctr">
                        <a:lnSpc>
                          <a:spcPct val="100000"/>
                        </a:lnSpc>
                        <a:spcBef>
                          <a:spcPts val="0"/>
                        </a:spcBef>
                        <a:spcAft>
                          <a:spcPts val="0"/>
                        </a:spcAft>
                        <a:buClr>
                          <a:srgbClr val="000000"/>
                        </a:buClr>
                        <a:buSzPts val="2800"/>
                        <a:buFont typeface="Arial"/>
                        <a:buNone/>
                      </a:pPr>
                      <a:r>
                        <a:t/>
                      </a:r>
                      <a:endParaRPr b="0" i="1"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превосходный (какой?) — прилагательное;</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начальная форма — превосходный;</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постоянные признаки: качественное;</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непостоянные: ед.ч., им.п., муж.р., полная форма;</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часть составного сказуемого (был превосходный).</a:t>
                      </a:r>
                      <a:endParaRPr sz="1400" u="none" cap="none" strike="noStrike"/>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Times New Roman"/>
                        <a:ea typeface="Times New Roman"/>
                        <a:cs typeface="Times New Roman"/>
                        <a:sym typeface="Times New Roman"/>
                      </a:endParaRPr>
                    </a:p>
                  </a:txBody>
                  <a:tcPr marT="151050" marB="151050" marR="151050" marL="1510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4"/>
          <p:cNvSpPr txBox="1"/>
          <p:nvPr>
            <p:ph type="title"/>
          </p:nvPr>
        </p:nvSpPr>
        <p:spPr>
          <a:xfrm>
            <a:off x="473678" y="202628"/>
            <a:ext cx="11025051" cy="145075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595959"/>
              </a:buClr>
              <a:buSzPts val="4400"/>
              <a:buFont typeface="Play"/>
              <a:buNone/>
            </a:pPr>
            <a:r>
              <a:rPr b="1" lang="en-US">
                <a:solidFill>
                  <a:srgbClr val="595959"/>
                </a:solidFill>
              </a:rPr>
              <a:t>Задачи морфологического анализа</a:t>
            </a:r>
            <a:endParaRPr/>
          </a:p>
        </p:txBody>
      </p:sp>
      <p:graphicFrame>
        <p:nvGraphicFramePr>
          <p:cNvPr id="390" name="Google Shape;390;p14"/>
          <p:cNvGraphicFramePr/>
          <p:nvPr/>
        </p:nvGraphicFramePr>
        <p:xfrm>
          <a:off x="432319" y="1936962"/>
          <a:ext cx="3000000" cy="3000000"/>
        </p:xfrm>
        <a:graphic>
          <a:graphicData uri="http://schemas.openxmlformats.org/drawingml/2006/table">
            <a:tbl>
              <a:tblPr bandRow="1" firstRow="1">
                <a:noFill/>
                <a:tableStyleId>{3EDC7CB1-D0B2-4275-98B9-FE7600B389A3}</a:tableStyleId>
              </a:tblPr>
              <a:tblGrid>
                <a:gridCol w="7825275"/>
              </a:tblGrid>
              <a:tr h="6942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Times New Roman"/>
                          <a:ea typeface="Times New Roman"/>
                          <a:cs typeface="Times New Roman"/>
                          <a:sym typeface="Times New Roman"/>
                        </a:rPr>
                        <a:t>ГРАММАТИЧЕСКИЕ ХАРАКТЕРИСТИКИ</a:t>
                      </a:r>
                      <a:endParaRPr sz="1400" u="none" cap="none" strike="noStrike"/>
                    </a:p>
                  </a:txBody>
                  <a:tcPr marT="151050" marB="151050" marR="151050" marL="1510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135975">
                <a:tc>
                  <a:txBody>
                    <a:bodyPr/>
                    <a:lstStyle/>
                    <a:p>
                      <a:pPr indent="0" lvl="0" marL="0" marR="0" rtl="0" algn="ctr">
                        <a:lnSpc>
                          <a:spcPct val="100000"/>
                        </a:lnSpc>
                        <a:spcBef>
                          <a:spcPts val="0"/>
                        </a:spcBef>
                        <a:spcAft>
                          <a:spcPts val="0"/>
                        </a:spcAft>
                        <a:buClr>
                          <a:srgbClr val="000000"/>
                        </a:buClr>
                        <a:buSzPts val="2800"/>
                        <a:buFont typeface="Arial"/>
                        <a:buNone/>
                      </a:pPr>
                      <a:r>
                        <a:rPr i="1" lang="en-US" sz="2800" u="none" cap="none" strike="noStrike">
                          <a:solidFill>
                            <a:schemeClr val="dk1"/>
                          </a:solidFill>
                          <a:highlight>
                            <a:srgbClr val="FFFF00"/>
                          </a:highlight>
                          <a:latin typeface="Times New Roman"/>
                          <a:ea typeface="Times New Roman"/>
                          <a:cs typeface="Times New Roman"/>
                          <a:sym typeface="Times New Roman"/>
                        </a:rPr>
                        <a:t>В последнее время в городе происходит много интересных и захватывающих событий</a:t>
                      </a:r>
                      <a:r>
                        <a:rPr lang="en-US" sz="2800" u="none" cap="none" strike="noStrike">
                          <a:solidFill>
                            <a:schemeClr val="dk1"/>
                          </a:solidFill>
                          <a:highlight>
                            <a:srgbClr val="FFFF00"/>
                          </a:highlight>
                          <a:latin typeface="Times New Roman"/>
                          <a:ea typeface="Times New Roman"/>
                          <a:cs typeface="Times New Roman"/>
                          <a:sym typeface="Times New Roman"/>
                        </a:rPr>
                        <a:t>.</a:t>
                      </a:r>
                      <a:endParaRPr sz="1400" u="none" cap="none" strike="noStrike"/>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solidFill>
                          <a:schemeClr val="dk1"/>
                        </a:solidFill>
                        <a:highlight>
                          <a:srgbClr val="FFFF00"/>
                        </a:highlight>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i="1" lang="en-US" sz="2800" u="none" cap="none" strike="noStrike">
                          <a:solidFill>
                            <a:schemeClr val="dk1"/>
                          </a:solidFill>
                          <a:highlight>
                            <a:srgbClr val="C0C0C0"/>
                          </a:highlight>
                          <a:latin typeface="Times New Roman"/>
                          <a:ea typeface="Times New Roman"/>
                          <a:cs typeface="Times New Roman"/>
                          <a:sym typeface="Times New Roman"/>
                        </a:rPr>
                        <a:t>В|PR последний|A время|S в|PR город|S происходить|V много|ADV интересный|A и|CONJ захватывать|V событие|S</a:t>
                      </a:r>
                      <a:endParaRPr sz="2800" u="none" cap="none" strike="noStrike">
                        <a:solidFill>
                          <a:schemeClr val="dk1"/>
                        </a:solidFill>
                        <a:highlight>
                          <a:srgbClr val="C0C0C0"/>
                        </a:highlight>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Times New Roman"/>
                        <a:ea typeface="Times New Roman"/>
                        <a:cs typeface="Times New Roman"/>
                        <a:sym typeface="Times New Roman"/>
                      </a:endParaRPr>
                    </a:p>
                  </a:txBody>
                  <a:tcPr marT="151050" marB="151050" marR="151050" marL="1510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391" name="Google Shape;391;p14"/>
          <p:cNvPicPr preferRelativeResize="0"/>
          <p:nvPr/>
        </p:nvPicPr>
        <p:blipFill rotWithShape="1">
          <a:blip r:embed="rId3">
            <a:alphaModFix/>
          </a:blip>
          <a:srcRect b="0" l="0" r="0" t="0"/>
          <a:stretch/>
        </p:blipFill>
        <p:spPr>
          <a:xfrm>
            <a:off x="8535486" y="1243035"/>
            <a:ext cx="3224195" cy="54123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7"/>
          <p:cNvSpPr txBox="1"/>
          <p:nvPr>
            <p:ph type="title"/>
          </p:nvPr>
        </p:nvSpPr>
        <p:spPr>
          <a:xfrm>
            <a:off x="473678" y="202628"/>
            <a:ext cx="11025051" cy="145075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595959"/>
              </a:buClr>
              <a:buSzPts val="4400"/>
              <a:buFont typeface="Play"/>
              <a:buNone/>
            </a:pPr>
            <a:r>
              <a:rPr b="1" lang="en-US">
                <a:solidFill>
                  <a:srgbClr val="595959"/>
                </a:solidFill>
              </a:rPr>
              <a:t>Задачи морфологического анализа</a:t>
            </a:r>
            <a:endParaRPr/>
          </a:p>
        </p:txBody>
      </p:sp>
      <p:graphicFrame>
        <p:nvGraphicFramePr>
          <p:cNvPr id="398" name="Google Shape;398;p17"/>
          <p:cNvGraphicFramePr/>
          <p:nvPr/>
        </p:nvGraphicFramePr>
        <p:xfrm>
          <a:off x="369645" y="2165305"/>
          <a:ext cx="3000000" cy="3000000"/>
        </p:xfrm>
        <a:graphic>
          <a:graphicData uri="http://schemas.openxmlformats.org/drawingml/2006/table">
            <a:tbl>
              <a:tblPr bandRow="1" firstRow="1">
                <a:noFill/>
                <a:tableStyleId>{3EDC7CB1-D0B2-4275-98B9-FE7600B389A3}</a:tableStyleId>
              </a:tblPr>
              <a:tblGrid>
                <a:gridCol w="4205475"/>
              </a:tblGrid>
              <a:tr h="5411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Times New Roman"/>
                          <a:ea typeface="Times New Roman"/>
                          <a:cs typeface="Times New Roman"/>
                          <a:sym typeface="Times New Roman"/>
                        </a:rPr>
                        <a:t>ГЕНЕРАЦИЯ</a:t>
                      </a:r>
                      <a:endParaRPr sz="1400" u="none" cap="none" strike="noStrike"/>
                    </a:p>
                  </a:txBody>
                  <a:tcPr marT="151050" marB="151050" marR="151050" marL="1510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031050">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Times New Roman"/>
                        <a:ea typeface="Times New Roman"/>
                        <a:cs typeface="Times New Roman"/>
                        <a:sym typeface="Times New Roman"/>
                      </a:endParaRPr>
                    </a:p>
                  </a:txBody>
                  <a:tcPr marT="151050" marB="151050" marR="151050" marL="1510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399" name="Google Shape;399;p17"/>
          <p:cNvPicPr preferRelativeResize="0"/>
          <p:nvPr/>
        </p:nvPicPr>
        <p:blipFill rotWithShape="1">
          <a:blip r:embed="rId3">
            <a:alphaModFix/>
          </a:blip>
          <a:srcRect b="0" l="0" r="0" t="0"/>
          <a:stretch/>
        </p:blipFill>
        <p:spPr>
          <a:xfrm>
            <a:off x="493819" y="3348995"/>
            <a:ext cx="4025074" cy="1331558"/>
          </a:xfrm>
          <a:prstGeom prst="rect">
            <a:avLst/>
          </a:prstGeom>
          <a:noFill/>
          <a:ln>
            <a:noFill/>
          </a:ln>
        </p:spPr>
      </p:pic>
      <p:pic>
        <p:nvPicPr>
          <p:cNvPr id="400" name="Google Shape;400;p17"/>
          <p:cNvPicPr preferRelativeResize="0"/>
          <p:nvPr/>
        </p:nvPicPr>
        <p:blipFill rotWithShape="1">
          <a:blip r:embed="rId4">
            <a:alphaModFix/>
          </a:blip>
          <a:srcRect b="0" l="0" r="0" t="0"/>
          <a:stretch/>
        </p:blipFill>
        <p:spPr>
          <a:xfrm>
            <a:off x="5103846" y="1534443"/>
            <a:ext cx="6214188" cy="475375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8"/>
          <p:cNvSpPr txBox="1"/>
          <p:nvPr>
            <p:ph type="title"/>
          </p:nvPr>
        </p:nvSpPr>
        <p:spPr>
          <a:xfrm>
            <a:off x="1066800" y="641167"/>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3A7D22"/>
              </a:buClr>
              <a:buSzPts val="4400"/>
              <a:buFont typeface="Times New Roman"/>
              <a:buNone/>
            </a:pPr>
            <a:r>
              <a:rPr b="1" i="1" lang="en-US">
                <a:solidFill>
                  <a:srgbClr val="3A7D22"/>
                </a:solidFill>
                <a:latin typeface="Times New Roman"/>
                <a:ea typeface="Times New Roman"/>
                <a:cs typeface="Times New Roman"/>
                <a:sym typeface="Times New Roman"/>
              </a:rPr>
              <a:t>Стемминг. Алгоритм Портера</a:t>
            </a:r>
            <a:endParaRPr i="1">
              <a:solidFill>
                <a:srgbClr val="3A7D22"/>
              </a:solidFill>
              <a:latin typeface="Times New Roman"/>
              <a:ea typeface="Times New Roman"/>
              <a:cs typeface="Times New Roman"/>
              <a:sym typeface="Times New Roman"/>
            </a:endParaRPr>
          </a:p>
        </p:txBody>
      </p:sp>
      <p:sp>
        <p:nvSpPr>
          <p:cNvPr id="407" name="Google Shape;407;p18"/>
          <p:cNvSpPr/>
          <p:nvPr/>
        </p:nvSpPr>
        <p:spPr>
          <a:xfrm>
            <a:off x="625151" y="3447661"/>
            <a:ext cx="10991461" cy="2691882"/>
          </a:xfrm>
          <a:prstGeom prst="roundRect">
            <a:avLst>
              <a:gd fmla="val 16667" name="adj"/>
            </a:avLst>
          </a:prstGeom>
          <a:solidFill>
            <a:srgbClr val="FAE2D5"/>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202124"/>
                </a:solidFill>
                <a:latin typeface="Times New Roman"/>
                <a:ea typeface="Times New Roman"/>
                <a:cs typeface="Times New Roman"/>
                <a:sym typeface="Times New Roman"/>
              </a:rPr>
              <a:t>Стеммер Портера </a:t>
            </a:r>
            <a:r>
              <a:rPr b="0" i="0" lang="en-US" sz="3200" u="none" cap="none" strike="noStrike">
                <a:solidFill>
                  <a:srgbClr val="202124"/>
                </a:solidFill>
                <a:latin typeface="Times New Roman"/>
                <a:ea typeface="Times New Roman"/>
                <a:cs typeface="Times New Roman"/>
                <a:sym typeface="Times New Roman"/>
              </a:rPr>
              <a:t>— </a:t>
            </a:r>
            <a:r>
              <a:rPr b="0" i="0" lang="en-US" sz="3200" u="none" cap="none" strike="noStrike">
                <a:solidFill>
                  <a:srgbClr val="040C28"/>
                </a:solidFill>
                <a:latin typeface="Times New Roman"/>
                <a:ea typeface="Times New Roman"/>
                <a:cs typeface="Times New Roman"/>
                <a:sym typeface="Times New Roman"/>
              </a:rPr>
              <a:t>алгоритм стемминга (нахождения основы слова для заданного исходного слова), опубликованный Мартином Портером</a:t>
            </a:r>
            <a:r>
              <a:rPr b="0" i="0" lang="en-US" sz="3200" u="none" cap="none" strike="noStrike">
                <a:solidFill>
                  <a:srgbClr val="202124"/>
                </a:solidFill>
                <a:latin typeface="Times New Roman"/>
                <a:ea typeface="Times New Roman"/>
                <a:cs typeface="Times New Roman"/>
                <a:sym typeface="Times New Roman"/>
              </a:rPr>
              <a:t>. Алгоритм не использует баз основ слов, а работает, последовательно применяя ряд правил отсечения окончаний и суффиксов.</a:t>
            </a:r>
            <a:endParaRPr b="0" i="0" sz="3200" u="none" cap="none" strike="noStrike">
              <a:solidFill>
                <a:schemeClr val="lt1"/>
              </a:solidFill>
              <a:latin typeface="Times New Roman"/>
              <a:ea typeface="Times New Roman"/>
              <a:cs typeface="Times New Roman"/>
              <a:sym typeface="Times New Roman"/>
            </a:endParaRPr>
          </a:p>
        </p:txBody>
      </p:sp>
      <p:sp>
        <p:nvSpPr>
          <p:cNvPr id="408" name="Google Shape;408;p18"/>
          <p:cNvSpPr/>
          <p:nvPr/>
        </p:nvSpPr>
        <p:spPr>
          <a:xfrm>
            <a:off x="625151" y="2052734"/>
            <a:ext cx="10991461" cy="1119673"/>
          </a:xfrm>
          <a:prstGeom prst="roundRect">
            <a:avLst>
              <a:gd fmla="val 16667" name="adj"/>
            </a:avLst>
          </a:prstGeom>
          <a:solidFill>
            <a:srgbClr val="BEF2C7"/>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141414"/>
                </a:solidFill>
                <a:latin typeface="Times New Roman"/>
                <a:ea typeface="Times New Roman"/>
                <a:cs typeface="Times New Roman"/>
                <a:sym typeface="Times New Roman"/>
              </a:rPr>
              <a:t>Стемминг</a:t>
            </a:r>
            <a:r>
              <a:rPr b="0" i="0" lang="en-US" sz="3200" u="none" cap="none" strike="noStrike">
                <a:solidFill>
                  <a:srgbClr val="141414"/>
                </a:solidFill>
                <a:latin typeface="Times New Roman"/>
                <a:ea typeface="Times New Roman"/>
                <a:cs typeface="Times New Roman"/>
                <a:sym typeface="Times New Roman"/>
              </a:rPr>
              <a:t> — это выделение основы слова (не всегда совпадает с корнем).</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3" name="Shape 413"/>
        <p:cNvGrpSpPr/>
        <p:nvPr/>
      </p:nvGrpSpPr>
      <p:grpSpPr>
        <a:xfrm>
          <a:off x="0" y="0"/>
          <a:ext cx="0" cy="0"/>
          <a:chOff x="0" y="0"/>
          <a:chExt cx="0" cy="0"/>
        </a:xfrm>
      </p:grpSpPr>
      <p:sp>
        <p:nvSpPr>
          <p:cNvPr id="414" name="Google Shape;414;p30"/>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415" name="Google Shape;415;p30"/>
          <p:cNvGrpSpPr/>
          <p:nvPr/>
        </p:nvGrpSpPr>
        <p:grpSpPr>
          <a:xfrm>
            <a:off x="4" y="1216597"/>
            <a:ext cx="731521" cy="673460"/>
            <a:chOff x="3940602" y="308034"/>
            <a:chExt cx="2116791" cy="3428999"/>
          </a:xfrm>
        </p:grpSpPr>
        <p:sp>
          <p:nvSpPr>
            <p:cNvPr id="416" name="Google Shape;416;p30"/>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7" name="Google Shape;417;p30"/>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8" name="Google Shape;418;p30"/>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419" name="Google Shape;419;p30"/>
          <p:cNvSpPr/>
          <p:nvPr/>
        </p:nvSpPr>
        <p:spPr>
          <a:xfrm>
            <a:off x="640079" y="613954"/>
            <a:ext cx="10907487" cy="1894116"/>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0" name="Google Shape;420;p30"/>
          <p:cNvSpPr txBox="1"/>
          <p:nvPr/>
        </p:nvSpPr>
        <p:spPr>
          <a:xfrm>
            <a:off x="1043631" y="809898"/>
            <a:ext cx="9942716" cy="155448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800"/>
              <a:buFont typeface="Arial"/>
              <a:buNone/>
            </a:pPr>
            <a:r>
              <a:rPr b="1" i="1" lang="en-US" sz="4800" u="none" cap="none" strike="noStrike">
                <a:solidFill>
                  <a:schemeClr val="dk1"/>
                </a:solidFill>
                <a:latin typeface="Play"/>
                <a:ea typeface="Play"/>
                <a:cs typeface="Play"/>
                <a:sym typeface="Play"/>
              </a:rPr>
              <a:t>Токенизация </a:t>
            </a:r>
            <a:endParaRPr b="0" i="0" sz="1400" u="none" cap="none" strike="noStrike">
              <a:solidFill>
                <a:srgbClr val="000000"/>
              </a:solidFill>
              <a:latin typeface="Arial"/>
              <a:ea typeface="Arial"/>
              <a:cs typeface="Arial"/>
              <a:sym typeface="Arial"/>
            </a:endParaRPr>
          </a:p>
        </p:txBody>
      </p:sp>
      <p:sp>
        <p:nvSpPr>
          <p:cNvPr id="421" name="Google Shape;421;p30"/>
          <p:cNvSpPr/>
          <p:nvPr/>
        </p:nvSpPr>
        <p:spPr>
          <a:xfrm>
            <a:off x="1045028" y="3017522"/>
            <a:ext cx="9941319" cy="3124658"/>
          </a:xfrm>
          <a:prstGeom prst="roundRect">
            <a:avLst>
              <a:gd fmla="val 16667" name="adj"/>
            </a:avLst>
          </a:prstGeom>
          <a:solidFill>
            <a:srgbClr val="C8E09C"/>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rmAutofit/>
          </a:bodyPr>
          <a:lstStyle/>
          <a:p>
            <a:pPr indent="-177800" lvl="0" marL="0" marR="0" rtl="0" algn="l">
              <a:lnSpc>
                <a:spcPct val="90000"/>
              </a:lnSpc>
              <a:spcBef>
                <a:spcPts val="0"/>
              </a:spcBef>
              <a:spcAft>
                <a:spcPts val="0"/>
              </a:spcAft>
              <a:buClr>
                <a:schemeClr val="dk1"/>
              </a:buClr>
              <a:buSzPts val="2800"/>
              <a:buFont typeface="Arial"/>
              <a:buChar char="•"/>
            </a:pPr>
            <a:r>
              <a:rPr b="1" i="1" lang="en-US" sz="2800" u="none" cap="none" strike="noStrike">
                <a:solidFill>
                  <a:schemeClr val="dk1"/>
                </a:solidFill>
                <a:latin typeface="Arial"/>
                <a:ea typeface="Arial"/>
                <a:cs typeface="Arial"/>
                <a:sym typeface="Arial"/>
              </a:rPr>
              <a:t>Токенизация</a:t>
            </a:r>
            <a:r>
              <a:rPr b="0" i="0" lang="en-US" sz="2800" u="none" cap="none" strike="noStrike">
                <a:solidFill>
                  <a:schemeClr val="dk1"/>
                </a:solidFill>
                <a:latin typeface="Arial"/>
                <a:ea typeface="Arial"/>
                <a:cs typeface="Arial"/>
                <a:sym typeface="Arial"/>
              </a:rPr>
              <a:t> – это процесс разбиения фразы, предложения, абзаца или всего текстового документа на более мелкие единицы, например, отдельные слова или термины. Каждое из этих меньших подразделений называется </a:t>
            </a:r>
            <a:r>
              <a:rPr b="1" i="1" lang="en-US" sz="2800" u="none" cap="none" strike="noStrike">
                <a:solidFill>
                  <a:schemeClr val="dk1"/>
                </a:solidFill>
                <a:latin typeface="Arial"/>
                <a:ea typeface="Arial"/>
                <a:cs typeface="Arial"/>
                <a:sym typeface="Arial"/>
              </a:rPr>
              <a:t>токенами.</a:t>
            </a:r>
            <a:endParaRPr b="0" i="0" sz="2800" u="none" cap="none" strike="noStrike">
              <a:solidFill>
                <a:schemeClr val="dk1"/>
              </a:solidFill>
              <a:latin typeface="Arial"/>
              <a:ea typeface="Arial"/>
              <a:cs typeface="Arial"/>
              <a:sym typeface="Arial"/>
            </a:endParaRPr>
          </a:p>
        </p:txBody>
      </p:sp>
      <p:cxnSp>
        <p:nvCxnSpPr>
          <p:cNvPr id="422" name="Google Shape;422;p30"/>
          <p:cNvCxnSpPr/>
          <p:nvPr/>
        </p:nvCxnSpPr>
        <p:spPr>
          <a:xfrm rot="10800000">
            <a:off x="838200" y="6485313"/>
            <a:ext cx="10515600" cy="0"/>
          </a:xfrm>
          <a:prstGeom prst="straightConnector1">
            <a:avLst/>
          </a:prstGeom>
          <a:noFill/>
          <a:ln cap="flat" cmpd="sng" w="57150">
            <a:solidFill>
              <a:schemeClr val="accent4"/>
            </a:solidFill>
            <a:prstDash val="solid"/>
            <a:miter lim="80000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1"/>
          <p:cNvSpPr txBox="1"/>
          <p:nvPr/>
        </p:nvSpPr>
        <p:spPr>
          <a:xfrm>
            <a:off x="3394011" y="155901"/>
            <a:ext cx="6097554"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1" lang="en-US" sz="4200" u="none" cap="none" strike="noStrike">
                <a:solidFill>
                  <a:srgbClr val="0070C0"/>
                </a:solidFill>
                <a:latin typeface="Times New Roman"/>
                <a:ea typeface="Times New Roman"/>
                <a:cs typeface="Times New Roman"/>
                <a:sym typeface="Times New Roman"/>
              </a:rPr>
              <a:t>Токенизация слов </a:t>
            </a:r>
            <a:endParaRPr b="0" i="0" sz="1400" u="none" cap="none" strike="noStrike">
              <a:solidFill>
                <a:srgbClr val="000000"/>
              </a:solidFill>
              <a:latin typeface="Arial"/>
              <a:ea typeface="Arial"/>
              <a:cs typeface="Arial"/>
              <a:sym typeface="Arial"/>
            </a:endParaRPr>
          </a:p>
        </p:txBody>
      </p:sp>
      <p:sp>
        <p:nvSpPr>
          <p:cNvPr id="429" name="Google Shape;429;p31"/>
          <p:cNvSpPr txBox="1"/>
          <p:nvPr/>
        </p:nvSpPr>
        <p:spPr>
          <a:xfrm>
            <a:off x="3785895" y="986326"/>
            <a:ext cx="609755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Times New Roman"/>
                <a:ea typeface="Times New Roman"/>
                <a:cs typeface="Times New Roman"/>
                <a:sym typeface="Times New Roman"/>
              </a:rPr>
              <a:t>Метод </a:t>
            </a:r>
            <a:r>
              <a:rPr b="1" i="0" lang="en-US" sz="2800" u="none" cap="none" strike="noStrike">
                <a:solidFill>
                  <a:srgbClr val="000000"/>
                </a:solidFill>
                <a:latin typeface="Times New Roman"/>
                <a:ea typeface="Times New Roman"/>
                <a:cs typeface="Times New Roman"/>
                <a:sym typeface="Times New Roman"/>
              </a:rPr>
              <a:t>word_tokenize ()</a:t>
            </a:r>
            <a:endParaRPr b="0" i="0" sz="2800" u="none" cap="none" strike="noStrike">
              <a:solidFill>
                <a:schemeClr val="dk1"/>
              </a:solidFill>
              <a:latin typeface="Times New Roman"/>
              <a:ea typeface="Times New Roman"/>
              <a:cs typeface="Times New Roman"/>
              <a:sym typeface="Times New Roman"/>
            </a:endParaRPr>
          </a:p>
        </p:txBody>
      </p:sp>
      <p:pic>
        <p:nvPicPr>
          <p:cNvPr id="430" name="Google Shape;430;p31"/>
          <p:cNvPicPr preferRelativeResize="0"/>
          <p:nvPr/>
        </p:nvPicPr>
        <p:blipFill rotWithShape="1">
          <a:blip r:embed="rId3">
            <a:alphaModFix/>
          </a:blip>
          <a:srcRect b="0" l="0" r="0" t="0"/>
          <a:stretch/>
        </p:blipFill>
        <p:spPr>
          <a:xfrm>
            <a:off x="593280" y="2063665"/>
            <a:ext cx="11005439" cy="2208978"/>
          </a:xfrm>
          <a:prstGeom prst="rect">
            <a:avLst/>
          </a:prstGeom>
          <a:noFill/>
          <a:ln>
            <a:noFill/>
          </a:ln>
        </p:spPr>
      </p:pic>
      <p:pic>
        <p:nvPicPr>
          <p:cNvPr id="431" name="Google Shape;431;p31"/>
          <p:cNvPicPr preferRelativeResize="0"/>
          <p:nvPr/>
        </p:nvPicPr>
        <p:blipFill rotWithShape="1">
          <a:blip r:embed="rId4">
            <a:alphaModFix/>
          </a:blip>
          <a:srcRect b="0" l="0" r="0" t="0"/>
          <a:stretch/>
        </p:blipFill>
        <p:spPr>
          <a:xfrm>
            <a:off x="382680" y="5821787"/>
            <a:ext cx="11526291" cy="68142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2"/>
          <p:cNvSpPr txBox="1"/>
          <p:nvPr/>
        </p:nvSpPr>
        <p:spPr>
          <a:xfrm>
            <a:off x="2435290" y="221216"/>
            <a:ext cx="728954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1" i="1" lang="en-US" sz="4200" u="none" cap="none" strike="noStrike">
                <a:solidFill>
                  <a:srgbClr val="0070C0"/>
                </a:solidFill>
                <a:latin typeface="Times New Roman"/>
                <a:ea typeface="Times New Roman"/>
                <a:cs typeface="Times New Roman"/>
                <a:sym typeface="Times New Roman"/>
              </a:rPr>
              <a:t>Токенизация предложений </a:t>
            </a:r>
            <a:endParaRPr b="0" i="0" sz="1400" u="none" cap="none" strike="noStrike">
              <a:solidFill>
                <a:srgbClr val="000000"/>
              </a:solidFill>
              <a:latin typeface="Arial"/>
              <a:ea typeface="Arial"/>
              <a:cs typeface="Arial"/>
              <a:sym typeface="Arial"/>
            </a:endParaRPr>
          </a:p>
        </p:txBody>
      </p:sp>
      <p:sp>
        <p:nvSpPr>
          <p:cNvPr id="438" name="Google Shape;438;p32"/>
          <p:cNvSpPr txBox="1"/>
          <p:nvPr/>
        </p:nvSpPr>
        <p:spPr>
          <a:xfrm>
            <a:off x="3767235" y="1071846"/>
            <a:ext cx="609755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Times New Roman"/>
                <a:ea typeface="Times New Roman"/>
                <a:cs typeface="Times New Roman"/>
                <a:sym typeface="Times New Roman"/>
              </a:rPr>
              <a:t>Метод </a:t>
            </a:r>
            <a:r>
              <a:rPr b="1" i="0" lang="en-US" sz="2800" u="none" cap="none" strike="noStrike">
                <a:solidFill>
                  <a:srgbClr val="000000"/>
                </a:solidFill>
                <a:latin typeface="Times New Roman"/>
                <a:ea typeface="Times New Roman"/>
                <a:cs typeface="Times New Roman"/>
                <a:sym typeface="Times New Roman"/>
              </a:rPr>
              <a:t>sent_tokenize()</a:t>
            </a:r>
            <a:endParaRPr b="1" i="0" sz="2800" u="none" cap="none" strike="noStrike">
              <a:solidFill>
                <a:schemeClr val="dk1"/>
              </a:solidFill>
              <a:latin typeface="Times New Roman"/>
              <a:ea typeface="Times New Roman"/>
              <a:cs typeface="Times New Roman"/>
              <a:sym typeface="Times New Roman"/>
            </a:endParaRPr>
          </a:p>
        </p:txBody>
      </p:sp>
      <p:pic>
        <p:nvPicPr>
          <p:cNvPr id="439" name="Google Shape;439;p32"/>
          <p:cNvPicPr preferRelativeResize="0"/>
          <p:nvPr/>
        </p:nvPicPr>
        <p:blipFill rotWithShape="1">
          <a:blip r:embed="rId3">
            <a:alphaModFix/>
          </a:blip>
          <a:srcRect b="0" l="0" r="0" t="0"/>
          <a:stretch/>
        </p:blipFill>
        <p:spPr>
          <a:xfrm>
            <a:off x="1121898" y="2151056"/>
            <a:ext cx="9306544" cy="1907759"/>
          </a:xfrm>
          <a:prstGeom prst="rect">
            <a:avLst/>
          </a:prstGeom>
          <a:noFill/>
          <a:ln>
            <a:noFill/>
          </a:ln>
        </p:spPr>
      </p:pic>
      <p:pic>
        <p:nvPicPr>
          <p:cNvPr id="440" name="Google Shape;440;p32"/>
          <p:cNvPicPr preferRelativeResize="0"/>
          <p:nvPr/>
        </p:nvPicPr>
        <p:blipFill rotWithShape="1">
          <a:blip r:embed="rId4">
            <a:alphaModFix/>
          </a:blip>
          <a:srcRect b="0" l="0" r="0" t="0"/>
          <a:stretch/>
        </p:blipFill>
        <p:spPr>
          <a:xfrm>
            <a:off x="1121898" y="4437931"/>
            <a:ext cx="9969205" cy="3537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descr="Крупный план листа бумаги с карандашом, лежащим сверху" id="446" name="Google Shape;446;p51"/>
          <p:cNvPicPr preferRelativeResize="0"/>
          <p:nvPr/>
        </p:nvPicPr>
        <p:blipFill rotWithShape="1">
          <a:blip r:embed="rId3">
            <a:alphaModFix/>
          </a:blip>
          <a:srcRect b="0" l="0" r="0" t="0"/>
          <a:stretch/>
        </p:blipFill>
        <p:spPr>
          <a:xfrm>
            <a:off x="20" y="10"/>
            <a:ext cx="12191980" cy="6857990"/>
          </a:xfrm>
          <a:prstGeom prst="rect">
            <a:avLst/>
          </a:prstGeom>
          <a:noFill/>
          <a:ln>
            <a:noFill/>
          </a:ln>
        </p:spPr>
      </p:pic>
      <p:sp>
        <p:nvSpPr>
          <p:cNvPr id="447" name="Google Shape;447;p51"/>
          <p:cNvSpPr/>
          <p:nvPr/>
        </p:nvSpPr>
        <p:spPr>
          <a:xfrm>
            <a:off x="0" y="428852"/>
            <a:ext cx="12192000" cy="736551"/>
          </a:xfrm>
          <a:prstGeom prst="rect">
            <a:avLst/>
          </a:prstGeom>
          <a:solidFill>
            <a:schemeClr val="lt1">
              <a:alpha val="9254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8" name="Google Shape;448;p51"/>
          <p:cNvSpPr txBox="1"/>
          <p:nvPr>
            <p:ph type="title"/>
          </p:nvPr>
        </p:nvSpPr>
        <p:spPr>
          <a:xfrm>
            <a:off x="523875" y="425950"/>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ЯЗЫКОВЫЕ МОДЕЛИ</a:t>
            </a:r>
            <a:endParaRPr/>
          </a:p>
        </p:txBody>
      </p:sp>
      <p:cxnSp>
        <p:nvCxnSpPr>
          <p:cNvPr id="449" name="Google Shape;449;p51"/>
          <p:cNvCxnSpPr/>
          <p:nvPr/>
        </p:nvCxnSpPr>
        <p:spPr>
          <a:xfrm>
            <a:off x="0" y="350693"/>
            <a:ext cx="12192000" cy="0"/>
          </a:xfrm>
          <a:prstGeom prst="straightConnector1">
            <a:avLst/>
          </a:prstGeom>
          <a:noFill/>
          <a:ln cap="flat" cmpd="sng" w="41275">
            <a:solidFill>
              <a:schemeClr val="lt1">
                <a:alpha val="89411"/>
              </a:schemeClr>
            </a:solidFill>
            <a:prstDash val="solid"/>
            <a:miter lim="800000"/>
            <a:headEnd len="sm" w="sm" type="none"/>
            <a:tailEnd len="sm" w="sm" type="none"/>
          </a:ln>
        </p:spPr>
      </p:cxnSp>
      <p:cxnSp>
        <p:nvCxnSpPr>
          <p:cNvPr id="450" name="Google Shape;450;p51"/>
          <p:cNvCxnSpPr/>
          <p:nvPr/>
        </p:nvCxnSpPr>
        <p:spPr>
          <a:xfrm>
            <a:off x="0" y="1243562"/>
            <a:ext cx="12192000" cy="0"/>
          </a:xfrm>
          <a:prstGeom prst="straightConnector1">
            <a:avLst/>
          </a:prstGeom>
          <a:noFill/>
          <a:ln cap="flat" cmpd="sng" w="41275">
            <a:solidFill>
              <a:schemeClr val="lt1">
                <a:alpha val="89411"/>
              </a:schemeClr>
            </a:solidFill>
            <a:prstDash val="solid"/>
            <a:miter lim="800000"/>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2"/>
          <p:cNvSpPr txBox="1"/>
          <p:nvPr>
            <p:ph type="title"/>
          </p:nvPr>
        </p:nvSpPr>
        <p:spPr>
          <a:xfrm>
            <a:off x="1066800" y="641167"/>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400"/>
              <a:buFont typeface="Times New Roman"/>
              <a:buNone/>
            </a:pPr>
            <a:r>
              <a:rPr b="1" i="1" lang="en-US">
                <a:solidFill>
                  <a:srgbClr val="C00000"/>
                </a:solidFill>
                <a:latin typeface="Times New Roman"/>
                <a:ea typeface="Times New Roman"/>
                <a:cs typeface="Times New Roman"/>
                <a:sym typeface="Times New Roman"/>
              </a:rPr>
              <a:t>Языковые модели</a:t>
            </a:r>
            <a:endParaRPr i="1">
              <a:solidFill>
                <a:srgbClr val="C00000"/>
              </a:solidFill>
              <a:latin typeface="Times New Roman"/>
              <a:ea typeface="Times New Roman"/>
              <a:cs typeface="Times New Roman"/>
              <a:sym typeface="Times New Roman"/>
            </a:endParaRPr>
          </a:p>
        </p:txBody>
      </p:sp>
      <p:sp>
        <p:nvSpPr>
          <p:cNvPr id="457" name="Google Shape;457;p52"/>
          <p:cNvSpPr txBox="1"/>
          <p:nvPr/>
        </p:nvSpPr>
        <p:spPr>
          <a:xfrm>
            <a:off x="483636" y="1627949"/>
            <a:ext cx="11224728" cy="4031873"/>
          </a:xfrm>
          <a:prstGeom prst="rect">
            <a:avLst/>
          </a:prstGeom>
          <a:blipFill rotWithShape="1">
            <a:blip r:embed="rId3">
              <a:alphaModFix/>
            </a:blip>
            <a:stretch>
              <a:fillRect b="-3928" l="-1355" r="-1353" t="-211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3"/>
          <p:cNvSpPr txBox="1"/>
          <p:nvPr>
            <p:ph type="title"/>
          </p:nvPr>
        </p:nvSpPr>
        <p:spPr>
          <a:xfrm>
            <a:off x="1066799" y="183967"/>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400"/>
              <a:buFont typeface="Times New Roman"/>
              <a:buNone/>
            </a:pPr>
            <a:r>
              <a:rPr b="1" i="1" lang="en-US">
                <a:solidFill>
                  <a:srgbClr val="C00000"/>
                </a:solidFill>
                <a:latin typeface="Times New Roman"/>
                <a:ea typeface="Times New Roman"/>
                <a:cs typeface="Times New Roman"/>
                <a:sym typeface="Times New Roman"/>
              </a:rPr>
              <a:t>Языковые модели</a:t>
            </a:r>
            <a:endParaRPr i="1">
              <a:solidFill>
                <a:srgbClr val="C00000"/>
              </a:solidFill>
              <a:latin typeface="Times New Roman"/>
              <a:ea typeface="Times New Roman"/>
              <a:cs typeface="Times New Roman"/>
              <a:sym typeface="Times New Roman"/>
            </a:endParaRPr>
          </a:p>
        </p:txBody>
      </p:sp>
      <p:sp>
        <p:nvSpPr>
          <p:cNvPr id="464" name="Google Shape;464;p53"/>
          <p:cNvSpPr txBox="1"/>
          <p:nvPr/>
        </p:nvSpPr>
        <p:spPr>
          <a:xfrm>
            <a:off x="297023" y="1089423"/>
            <a:ext cx="11597951" cy="501675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a:t>
            </a:r>
            <a:r>
              <a:rPr b="0" i="0" lang="en-US" sz="3200" u="none" cap="none" strike="noStrike">
                <a:solidFill>
                  <a:schemeClr val="dk1"/>
                </a:solidFill>
                <a:latin typeface="Times New Roman"/>
                <a:ea typeface="Times New Roman"/>
                <a:cs typeface="Times New Roman"/>
                <a:sym typeface="Times New Roman"/>
              </a:rPr>
              <a:t>Учитывая, что языки могут использоваться для выражения огромного множества верных предложений (так называемая цифровая бесконечность), языковое моделирование сталкивается с проблемой задания ненулевых вероятностей лингвистически верным последовательностям, которые могут никогда не встретиться в обучающих данных. Для преодоления этой проблемы было разработано несколько подходов к моделированию, таких как применение марковских цепей или использование нейронных архитектур, таких как рекуррентные нейронные сети или трансформеры.</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4"/>
          <p:cNvSpPr txBox="1"/>
          <p:nvPr>
            <p:ph type="title"/>
          </p:nvPr>
        </p:nvSpPr>
        <p:spPr>
          <a:xfrm>
            <a:off x="1066800" y="364745"/>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CB450"/>
              </a:buClr>
              <a:buSzPts val="4400"/>
              <a:buFont typeface="Times New Roman"/>
              <a:buNone/>
            </a:pPr>
            <a:r>
              <a:rPr b="1" i="1" lang="en-US">
                <a:solidFill>
                  <a:srgbClr val="0CB450"/>
                </a:solidFill>
                <a:latin typeface="Times New Roman"/>
                <a:ea typeface="Times New Roman"/>
                <a:cs typeface="Times New Roman"/>
                <a:sym typeface="Times New Roman"/>
              </a:rPr>
              <a:t>N-грамма</a:t>
            </a:r>
            <a:endParaRPr i="1">
              <a:solidFill>
                <a:srgbClr val="0CB450"/>
              </a:solidFill>
              <a:latin typeface="Times New Roman"/>
              <a:ea typeface="Times New Roman"/>
              <a:cs typeface="Times New Roman"/>
              <a:sym typeface="Times New Roman"/>
            </a:endParaRPr>
          </a:p>
        </p:txBody>
      </p:sp>
      <p:sp>
        <p:nvSpPr>
          <p:cNvPr id="471" name="Google Shape;471;p54"/>
          <p:cNvSpPr txBox="1"/>
          <p:nvPr/>
        </p:nvSpPr>
        <p:spPr>
          <a:xfrm>
            <a:off x="949036" y="1236668"/>
            <a:ext cx="10126047" cy="304698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1" i="0" lang="en-US" sz="3200" u="none" cap="none" strike="noStrike">
                <a:solidFill>
                  <a:srgbClr val="141414"/>
                </a:solidFill>
                <a:latin typeface="Times New Roman"/>
                <a:ea typeface="Times New Roman"/>
                <a:cs typeface="Times New Roman"/>
                <a:sym typeface="Times New Roman"/>
              </a:rPr>
              <a:t>N-грамма</a:t>
            </a:r>
            <a:r>
              <a:rPr b="0" i="0" lang="en-US" sz="3200" u="none" cap="none" strike="noStrike">
                <a:solidFill>
                  <a:srgbClr val="141414"/>
                </a:solidFill>
                <a:latin typeface="Times New Roman"/>
                <a:ea typeface="Times New Roman"/>
                <a:cs typeface="Times New Roman"/>
                <a:sym typeface="Times New Roman"/>
              </a:rPr>
              <a:t> — это просто последовательность из </a:t>
            </a:r>
            <a:r>
              <a:rPr b="0" i="1" lang="en-US" sz="3200" u="none" cap="none" strike="noStrike">
                <a:solidFill>
                  <a:srgbClr val="141414"/>
                </a:solidFill>
                <a:latin typeface="Times New Roman"/>
                <a:ea typeface="Times New Roman"/>
                <a:cs typeface="Times New Roman"/>
                <a:sym typeface="Times New Roman"/>
              </a:rPr>
              <a:t>n</a:t>
            </a:r>
            <a:r>
              <a:rPr b="0" i="0" lang="en-US" sz="3200" u="none" cap="none" strike="noStrike">
                <a:solidFill>
                  <a:srgbClr val="141414"/>
                </a:solidFill>
                <a:latin typeface="Times New Roman"/>
                <a:ea typeface="Times New Roman"/>
                <a:cs typeface="Times New Roman"/>
                <a:sym typeface="Times New Roman"/>
              </a:rPr>
              <a:t> элементов (звуков, слогов, слов или символов), идущих в каком-то тексте подряд. На практике чаще имеют в виду ряд слов (реже — символов). Последовательность из двух элементов называют </a:t>
            </a:r>
            <a:r>
              <a:rPr b="1" i="0" lang="en-US" sz="3200" u="none" cap="none" strike="noStrike">
                <a:solidFill>
                  <a:srgbClr val="141414"/>
                </a:solidFill>
                <a:latin typeface="Times New Roman"/>
                <a:ea typeface="Times New Roman"/>
                <a:cs typeface="Times New Roman"/>
                <a:sym typeface="Times New Roman"/>
              </a:rPr>
              <a:t>биграмма</a:t>
            </a:r>
            <a:r>
              <a:rPr b="0" i="0" lang="en-US" sz="3200" u="none" cap="none" strike="noStrike">
                <a:solidFill>
                  <a:srgbClr val="141414"/>
                </a:solidFill>
                <a:latin typeface="Times New Roman"/>
                <a:ea typeface="Times New Roman"/>
                <a:cs typeface="Times New Roman"/>
                <a:sym typeface="Times New Roman"/>
              </a:rPr>
              <a:t>, из трёх элементов — </a:t>
            </a:r>
            <a:r>
              <a:rPr b="1" i="0" lang="en-US" sz="3200" u="none" cap="none" strike="noStrike">
                <a:solidFill>
                  <a:srgbClr val="141414"/>
                </a:solidFill>
                <a:latin typeface="Times New Roman"/>
                <a:ea typeface="Times New Roman"/>
                <a:cs typeface="Times New Roman"/>
                <a:sym typeface="Times New Roman"/>
              </a:rPr>
              <a:t>триграмма</a:t>
            </a:r>
            <a:r>
              <a:rPr b="0" i="0" lang="en-US" sz="3200" u="none" cap="none" strike="noStrike">
                <a:solidFill>
                  <a:srgbClr val="141414"/>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472" name="Google Shape;472;p54"/>
          <p:cNvSpPr txBox="1"/>
          <p:nvPr/>
        </p:nvSpPr>
        <p:spPr>
          <a:xfrm>
            <a:off x="1150386" y="4528752"/>
            <a:ext cx="879176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CB450"/>
                </a:solidFill>
                <a:latin typeface="Times New Roman"/>
                <a:ea typeface="Times New Roman"/>
                <a:cs typeface="Times New Roman"/>
                <a:sym typeface="Times New Roman"/>
              </a:rPr>
              <a:t>Биграммы </a:t>
            </a:r>
            <a:r>
              <a:rPr b="0" i="0" lang="en-US" sz="3200" u="none" cap="none" strike="noStrike">
                <a:solidFill>
                  <a:srgbClr val="111111"/>
                </a:solidFill>
                <a:latin typeface="Times New Roman"/>
                <a:ea typeface="Times New Roman"/>
                <a:cs typeface="Times New Roman"/>
                <a:sym typeface="Times New Roman"/>
              </a:rPr>
              <a:t>I want, want to, to go, go to, to the…</a:t>
            </a:r>
            <a:endParaRPr b="0" i="0" sz="3200" u="none" cap="none" strike="noStrike">
              <a:solidFill>
                <a:schemeClr val="dk1"/>
              </a:solidFill>
              <a:latin typeface="Arial"/>
              <a:ea typeface="Arial"/>
              <a:cs typeface="Arial"/>
              <a:sym typeface="Arial"/>
            </a:endParaRPr>
          </a:p>
        </p:txBody>
      </p:sp>
      <p:sp>
        <p:nvSpPr>
          <p:cNvPr id="473" name="Google Shape;473;p54"/>
          <p:cNvSpPr txBox="1"/>
          <p:nvPr/>
        </p:nvSpPr>
        <p:spPr>
          <a:xfrm>
            <a:off x="1066800" y="5297068"/>
            <a:ext cx="8549173" cy="861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CB450"/>
                </a:solidFill>
                <a:latin typeface="Times New Roman"/>
                <a:ea typeface="Times New Roman"/>
                <a:cs typeface="Times New Roman"/>
                <a:sym typeface="Times New Roman"/>
              </a:rPr>
              <a:t>Триграммы </a:t>
            </a:r>
            <a:r>
              <a:rPr b="0" i="0" lang="en-US" sz="3200" u="none" cap="none" strike="noStrike">
                <a:solidFill>
                  <a:srgbClr val="111111"/>
                </a:solidFill>
                <a:latin typeface="Times New Roman"/>
                <a:ea typeface="Times New Roman"/>
                <a:cs typeface="Times New Roman"/>
                <a:sym typeface="Times New Roman"/>
              </a:rPr>
              <a:t>I want to, want to go, to go to...</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5"/>
          <p:cNvSpPr txBox="1"/>
          <p:nvPr>
            <p:ph type="title"/>
          </p:nvPr>
        </p:nvSpPr>
        <p:spPr>
          <a:xfrm>
            <a:off x="1066800" y="258611"/>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Times New Roman"/>
              <a:buNone/>
            </a:pPr>
            <a:r>
              <a:rPr b="1" i="1" lang="en-US">
                <a:solidFill>
                  <a:srgbClr val="0070C0"/>
                </a:solidFill>
                <a:latin typeface="Times New Roman"/>
                <a:ea typeface="Times New Roman"/>
                <a:cs typeface="Times New Roman"/>
                <a:sym typeface="Times New Roman"/>
              </a:rPr>
              <a:t>N-грамма</a:t>
            </a:r>
            <a:endParaRPr i="1">
              <a:solidFill>
                <a:srgbClr val="C00000"/>
              </a:solidFill>
              <a:latin typeface="Times New Roman"/>
              <a:ea typeface="Times New Roman"/>
              <a:cs typeface="Times New Roman"/>
              <a:sym typeface="Times New Roman"/>
            </a:endParaRPr>
          </a:p>
        </p:txBody>
      </p:sp>
      <p:pic>
        <p:nvPicPr>
          <p:cNvPr id="480" name="Google Shape;480;p55"/>
          <p:cNvPicPr preferRelativeResize="0"/>
          <p:nvPr/>
        </p:nvPicPr>
        <p:blipFill rotWithShape="1">
          <a:blip r:embed="rId3">
            <a:alphaModFix/>
          </a:blip>
          <a:srcRect b="0" l="0" r="0" t="0"/>
          <a:stretch/>
        </p:blipFill>
        <p:spPr>
          <a:xfrm>
            <a:off x="1326430" y="813713"/>
            <a:ext cx="9112969" cy="57856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6"/>
          <p:cNvSpPr txBox="1"/>
          <p:nvPr>
            <p:ph type="title"/>
          </p:nvPr>
        </p:nvSpPr>
        <p:spPr>
          <a:xfrm>
            <a:off x="1066800" y="641167"/>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CB450"/>
              </a:buClr>
              <a:buSzPts val="4400"/>
              <a:buFont typeface="Times New Roman"/>
              <a:buNone/>
            </a:pPr>
            <a:r>
              <a:rPr b="1" i="1" lang="en-US">
                <a:solidFill>
                  <a:srgbClr val="0CB450"/>
                </a:solidFill>
                <a:latin typeface="Times New Roman"/>
                <a:ea typeface="Times New Roman"/>
                <a:cs typeface="Times New Roman"/>
                <a:sym typeface="Times New Roman"/>
              </a:rPr>
              <a:t>N-грамма</a:t>
            </a:r>
            <a:endParaRPr i="1">
              <a:solidFill>
                <a:srgbClr val="0070C0"/>
              </a:solidFill>
              <a:latin typeface="Times New Roman"/>
              <a:ea typeface="Times New Roman"/>
              <a:cs typeface="Times New Roman"/>
              <a:sym typeface="Times New Roman"/>
            </a:endParaRPr>
          </a:p>
        </p:txBody>
      </p:sp>
      <p:sp>
        <p:nvSpPr>
          <p:cNvPr id="487" name="Google Shape;487;p56"/>
          <p:cNvSpPr/>
          <p:nvPr/>
        </p:nvSpPr>
        <p:spPr>
          <a:xfrm>
            <a:off x="783282" y="1893718"/>
            <a:ext cx="10453200" cy="3790800"/>
          </a:xfrm>
          <a:prstGeom prst="roundRect">
            <a:avLst>
              <a:gd fmla="val 16667" name="adj"/>
            </a:avLst>
          </a:prstGeom>
          <a:solidFill>
            <a:srgbClr val="E1F7ED"/>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Целью построения N-граммных моделей </a:t>
            </a:r>
            <a:r>
              <a:rPr b="0" i="0" lang="en-US" sz="3200" u="none" cap="none" strike="noStrike">
                <a:solidFill>
                  <a:schemeClr val="dk1"/>
                </a:solidFill>
                <a:latin typeface="Times New Roman"/>
                <a:ea typeface="Times New Roman"/>
                <a:cs typeface="Times New Roman"/>
                <a:sym typeface="Times New Roman"/>
              </a:rPr>
              <a:t>является определение вероятности употребления заданной фразы. Эту вероятность можно задать формально как вероятность возникновения последовательности слов в некоем корпусе (наборе текстов).</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7"/>
          <p:cNvSpPr txBox="1"/>
          <p:nvPr>
            <p:ph type="title"/>
          </p:nvPr>
        </p:nvSpPr>
        <p:spPr>
          <a:xfrm>
            <a:off x="1200537" y="214604"/>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CB450"/>
              </a:buClr>
              <a:buSzPts val="4200"/>
              <a:buFont typeface="Times New Roman"/>
              <a:buNone/>
            </a:pPr>
            <a:r>
              <a:rPr b="1" i="1" lang="en-US" sz="4200">
                <a:solidFill>
                  <a:srgbClr val="0CB450"/>
                </a:solidFill>
                <a:latin typeface="Times New Roman"/>
                <a:ea typeface="Times New Roman"/>
                <a:cs typeface="Times New Roman"/>
                <a:sym typeface="Times New Roman"/>
              </a:rPr>
              <a:t>N-грамма</a:t>
            </a:r>
            <a:endParaRPr/>
          </a:p>
        </p:txBody>
      </p:sp>
      <p:sp>
        <p:nvSpPr>
          <p:cNvPr id="494" name="Google Shape;494;p57"/>
          <p:cNvSpPr txBox="1"/>
          <p:nvPr/>
        </p:nvSpPr>
        <p:spPr>
          <a:xfrm>
            <a:off x="1399592" y="1278294"/>
            <a:ext cx="8103052" cy="523220"/>
          </a:xfrm>
          <a:prstGeom prst="rect">
            <a:avLst/>
          </a:prstGeom>
          <a:blipFill rotWithShape="1">
            <a:blip r:embed="rId3">
              <a:alphaModFix/>
            </a:blip>
            <a:stretch>
              <a:fillRect b="-31388" l="-1577" r="0" t="-1278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95" name="Google Shape;495;p57"/>
          <p:cNvSpPr txBox="1"/>
          <p:nvPr/>
        </p:nvSpPr>
        <p:spPr>
          <a:xfrm>
            <a:off x="688134" y="2044005"/>
            <a:ext cx="10570803" cy="954107"/>
          </a:xfrm>
          <a:prstGeom prst="rect">
            <a:avLst/>
          </a:prstGeom>
          <a:blipFill rotWithShape="1">
            <a:blip r:embed="rId4">
              <a:alphaModFix/>
            </a:blip>
            <a:stretch>
              <a:fillRect b="-16556" l="-1207" r="-1150" t="-63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96" name="Google Shape;496;p57"/>
          <p:cNvSpPr txBox="1"/>
          <p:nvPr/>
        </p:nvSpPr>
        <p:spPr>
          <a:xfrm>
            <a:off x="688134" y="4266356"/>
            <a:ext cx="1008872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111111"/>
                </a:solidFill>
                <a:latin typeface="Times New Roman"/>
                <a:ea typeface="Times New Roman"/>
                <a:cs typeface="Times New Roman"/>
                <a:sym typeface="Times New Roman"/>
              </a:rPr>
              <a:t>В общем виде правило выглядит следующим образом:</a:t>
            </a:r>
            <a:endParaRPr b="0" i="0" sz="2800" u="none" cap="none" strike="noStrike">
              <a:solidFill>
                <a:schemeClr val="dk1"/>
              </a:solidFill>
              <a:latin typeface="Times New Roman"/>
              <a:ea typeface="Times New Roman"/>
              <a:cs typeface="Times New Roman"/>
              <a:sym typeface="Times New Roman"/>
            </a:endParaRPr>
          </a:p>
        </p:txBody>
      </p:sp>
      <p:sp>
        <p:nvSpPr>
          <p:cNvPr id="497" name="Google Shape;497;p57"/>
          <p:cNvSpPr txBox="1"/>
          <p:nvPr/>
        </p:nvSpPr>
        <p:spPr>
          <a:xfrm>
            <a:off x="496076" y="3336669"/>
            <a:ext cx="11467322"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98" name="Google Shape;498;p57"/>
          <p:cNvSpPr txBox="1"/>
          <p:nvPr/>
        </p:nvSpPr>
        <p:spPr>
          <a:xfrm>
            <a:off x="1768441" y="5056486"/>
            <a:ext cx="8922592" cy="523220"/>
          </a:xfrm>
          <a:prstGeom prst="rect">
            <a:avLst/>
          </a:prstGeom>
          <a:blipFill rotWithShape="1">
            <a:blip r:embed="rId6">
              <a:alphaModFix/>
            </a:blip>
            <a:stretch>
              <a:fillRect b="0" l="0" r="0" t="0"/>
            </a:stretch>
          </a:blip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8"/>
          <p:cNvSpPr txBox="1"/>
          <p:nvPr>
            <p:ph type="title"/>
          </p:nvPr>
        </p:nvSpPr>
        <p:spPr>
          <a:xfrm>
            <a:off x="1066800" y="242596"/>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CB450"/>
              </a:buClr>
              <a:buSzPts val="4200"/>
              <a:buFont typeface="Times New Roman"/>
              <a:buNone/>
            </a:pPr>
            <a:r>
              <a:rPr b="1" i="1" lang="en-US" sz="4200">
                <a:solidFill>
                  <a:srgbClr val="0CB450"/>
                </a:solidFill>
                <a:latin typeface="Times New Roman"/>
                <a:ea typeface="Times New Roman"/>
                <a:cs typeface="Times New Roman"/>
                <a:sym typeface="Times New Roman"/>
              </a:rPr>
              <a:t>N-грамма</a:t>
            </a:r>
            <a:endParaRPr/>
          </a:p>
        </p:txBody>
      </p:sp>
      <p:sp>
        <p:nvSpPr>
          <p:cNvPr id="505" name="Google Shape;505;p58"/>
          <p:cNvSpPr txBox="1"/>
          <p:nvPr/>
        </p:nvSpPr>
        <p:spPr>
          <a:xfrm>
            <a:off x="1194594" y="1222311"/>
            <a:ext cx="980281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1" lang="en-US" sz="2800" u="none" cap="none" strike="noStrike">
                <a:solidFill>
                  <a:srgbClr val="FF0000"/>
                </a:solidFill>
                <a:latin typeface="Times New Roman"/>
                <a:ea typeface="Times New Roman"/>
                <a:cs typeface="Times New Roman"/>
                <a:sym typeface="Times New Roman"/>
              </a:rPr>
              <a:t>Счастье вдохновляет людей изменять их жизнь к лучшему.</a:t>
            </a:r>
            <a:endParaRPr b="0" i="0" sz="1400" u="none" cap="none" strike="noStrike">
              <a:solidFill>
                <a:srgbClr val="000000"/>
              </a:solidFill>
              <a:latin typeface="Arial"/>
              <a:ea typeface="Arial"/>
              <a:cs typeface="Arial"/>
              <a:sym typeface="Arial"/>
            </a:endParaRPr>
          </a:p>
        </p:txBody>
      </p:sp>
      <p:sp>
        <p:nvSpPr>
          <p:cNvPr id="506" name="Google Shape;506;p58"/>
          <p:cNvSpPr txBox="1"/>
          <p:nvPr/>
        </p:nvSpPr>
        <p:spPr>
          <a:xfrm>
            <a:off x="464199" y="2181484"/>
            <a:ext cx="11413671"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rgbClr val="0070C0"/>
                </a:solidFill>
                <a:latin typeface="Times New Roman"/>
                <a:ea typeface="Times New Roman"/>
                <a:cs typeface="Times New Roman"/>
                <a:sym typeface="Times New Roman"/>
              </a:rPr>
              <a:t>P = P(счастье) * P(вдохновляет | счастье) * P(людей |счастье вдохновляет) * P(изменять | счастье вдохновляет людей) * P(их | счастье вдохновляет людей изменять) * P(жизнь | счастье вдохновляет людей изменять их) * P(к | счастье вдохновляет людей изменять их жизнь) * P(лучшему| счастье вдохновляет людей изменять их жизнь к)</a:t>
            </a:r>
            <a:endParaRPr b="0" i="0" sz="1400" u="none" cap="none" strike="noStrike">
              <a:solidFill>
                <a:srgbClr val="000000"/>
              </a:solidFill>
              <a:latin typeface="Arial"/>
              <a:ea typeface="Arial"/>
              <a:cs typeface="Arial"/>
              <a:sym typeface="Arial"/>
            </a:endParaRPr>
          </a:p>
        </p:txBody>
      </p:sp>
      <p:sp>
        <p:nvSpPr>
          <p:cNvPr id="507" name="Google Shape;507;p58"/>
          <p:cNvSpPr txBox="1"/>
          <p:nvPr/>
        </p:nvSpPr>
        <p:spPr>
          <a:xfrm>
            <a:off x="389165" y="4848501"/>
            <a:ext cx="11413670" cy="9541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Чтобы определить </a:t>
            </a:r>
            <a:r>
              <a:rPr b="1" i="0" lang="en-US" sz="2800" u="none" cap="none" strike="noStrike">
                <a:solidFill>
                  <a:schemeClr val="dk1"/>
                </a:solidFill>
                <a:latin typeface="Times New Roman"/>
                <a:ea typeface="Times New Roman"/>
                <a:cs typeface="Times New Roman"/>
                <a:sym typeface="Times New Roman"/>
              </a:rPr>
              <a:t>P(счастье</a:t>
            </a:r>
            <a:r>
              <a:rPr b="0" i="0" lang="en-US" sz="2800" u="none" cap="none" strike="noStrike">
                <a:solidFill>
                  <a:schemeClr val="dk1"/>
                </a:solidFill>
                <a:latin typeface="Times New Roman"/>
                <a:ea typeface="Times New Roman"/>
                <a:cs typeface="Times New Roman"/>
                <a:sym typeface="Times New Roman"/>
              </a:rPr>
              <a:t>), нужно посчитать, сколько раз это слово встретилось в тексте, и поделить это значение на общее число слов.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9"/>
          <p:cNvSpPr txBox="1"/>
          <p:nvPr/>
        </p:nvSpPr>
        <p:spPr>
          <a:xfrm>
            <a:off x="514666" y="1045332"/>
            <a:ext cx="11236389"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Рассчитать условную вероятность </a:t>
            </a:r>
            <a:r>
              <a:rPr b="1" i="0" lang="en-US" sz="3200" u="none" cap="none" strike="noStrike">
                <a:solidFill>
                  <a:schemeClr val="dk1"/>
                </a:solidFill>
                <a:latin typeface="Times New Roman"/>
                <a:ea typeface="Times New Roman"/>
                <a:cs typeface="Times New Roman"/>
                <a:sym typeface="Times New Roman"/>
              </a:rPr>
              <a:t>P(вдохновляет | счастье) </a:t>
            </a:r>
            <a:r>
              <a:rPr b="0" i="0" lang="en-US" sz="3200" u="none" cap="none" strike="noStrike">
                <a:solidFill>
                  <a:schemeClr val="dk1"/>
                </a:solidFill>
                <a:latin typeface="Times New Roman"/>
                <a:ea typeface="Times New Roman"/>
                <a:cs typeface="Times New Roman"/>
                <a:sym typeface="Times New Roman"/>
              </a:rPr>
              <a:t>несложно. Для этого считаем количество пар </a:t>
            </a:r>
            <a:r>
              <a:rPr b="0" i="1" lang="en-US" sz="3200" u="none" cap="none" strike="noStrike">
                <a:solidFill>
                  <a:schemeClr val="dk1"/>
                </a:solidFill>
                <a:latin typeface="Times New Roman"/>
                <a:ea typeface="Times New Roman"/>
                <a:cs typeface="Times New Roman"/>
                <a:sym typeface="Times New Roman"/>
              </a:rPr>
              <a:t>'счастье вдохновляет</a:t>
            </a:r>
            <a:r>
              <a:rPr b="0" i="0" lang="en-US" sz="3200" u="none" cap="none" strike="noStrike">
                <a:solidFill>
                  <a:schemeClr val="dk1"/>
                </a:solidFill>
                <a:latin typeface="Times New Roman"/>
                <a:ea typeface="Times New Roman"/>
                <a:cs typeface="Times New Roman"/>
                <a:sym typeface="Times New Roman"/>
              </a:rPr>
              <a:t>', и делим на количество в тексте слова '</a:t>
            </a:r>
            <a:r>
              <a:rPr b="0" i="1" lang="en-US" sz="3200" u="none" cap="none" strike="noStrike">
                <a:solidFill>
                  <a:schemeClr val="dk1"/>
                </a:solidFill>
                <a:latin typeface="Times New Roman"/>
                <a:ea typeface="Times New Roman"/>
                <a:cs typeface="Times New Roman"/>
                <a:sym typeface="Times New Roman"/>
              </a:rPr>
              <a:t>счастье</a:t>
            </a:r>
            <a:r>
              <a:rPr b="0" i="0" lang="en-US" sz="32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514" name="Google Shape;514;p59"/>
          <p:cNvSpPr txBox="1"/>
          <p:nvPr/>
        </p:nvSpPr>
        <p:spPr>
          <a:xfrm>
            <a:off x="514666" y="3429000"/>
            <a:ext cx="10804498" cy="135421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Рассчитать вероятность </a:t>
            </a:r>
            <a:r>
              <a:rPr b="1" i="0" lang="en-US" sz="3200" u="none" cap="none" strike="noStrike">
                <a:solidFill>
                  <a:schemeClr val="dk1"/>
                </a:solidFill>
                <a:latin typeface="Times New Roman"/>
                <a:ea typeface="Times New Roman"/>
                <a:cs typeface="Times New Roman"/>
                <a:sym typeface="Times New Roman"/>
              </a:rPr>
              <a:t>P(лучшему| счастье вдохновляет людей изменять их жизнь к) </a:t>
            </a:r>
            <a:r>
              <a:rPr b="0" i="0" lang="en-US" sz="3200" u="none" cap="none" strike="noStrike">
                <a:solidFill>
                  <a:schemeClr val="dk1"/>
                </a:solidFill>
                <a:latin typeface="Times New Roman"/>
                <a:ea typeface="Times New Roman"/>
                <a:cs typeface="Times New Roman"/>
                <a:sym typeface="Times New Roman"/>
              </a:rPr>
              <a:t>сложнее.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0"/>
          <p:cNvSpPr txBox="1"/>
          <p:nvPr/>
        </p:nvSpPr>
        <p:spPr>
          <a:xfrm>
            <a:off x="346791" y="473324"/>
            <a:ext cx="11236389" cy="255454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Чтобы упростить эту задачу, примем, что вероятность слова в тексте зависит только от предыдущего слова. Используем цепи Маркова, с помощью которых мы можем предсказать вероятность элемента последовательности, не учитывая слишком широкий контекст. </a:t>
            </a:r>
            <a:endParaRPr b="0" i="0" sz="1400" u="none" cap="none" strike="noStrike">
              <a:solidFill>
                <a:srgbClr val="000000"/>
              </a:solidFill>
              <a:latin typeface="Arial"/>
              <a:ea typeface="Arial"/>
              <a:cs typeface="Arial"/>
              <a:sym typeface="Arial"/>
            </a:endParaRPr>
          </a:p>
        </p:txBody>
      </p:sp>
      <p:sp>
        <p:nvSpPr>
          <p:cNvPr id="521" name="Google Shape;521;p60"/>
          <p:cNvSpPr txBox="1"/>
          <p:nvPr/>
        </p:nvSpPr>
        <p:spPr>
          <a:xfrm>
            <a:off x="428363" y="3413836"/>
            <a:ext cx="609755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111111"/>
                </a:solidFill>
                <a:latin typeface="Times New Roman"/>
                <a:ea typeface="Times New Roman"/>
                <a:cs typeface="Times New Roman"/>
                <a:sym typeface="Times New Roman"/>
              </a:rPr>
              <a:t>Марковская модель первого порядка:</a:t>
            </a:r>
            <a:endParaRPr b="0" i="0" sz="2800" u="none" cap="none" strike="noStrike">
              <a:solidFill>
                <a:schemeClr val="dk1"/>
              </a:solidFill>
              <a:latin typeface="Times New Roman"/>
              <a:ea typeface="Times New Roman"/>
              <a:cs typeface="Times New Roman"/>
              <a:sym typeface="Times New Roman"/>
            </a:endParaRPr>
          </a:p>
        </p:txBody>
      </p:sp>
      <p:sp>
        <p:nvSpPr>
          <p:cNvPr id="522" name="Google Shape;522;p60"/>
          <p:cNvSpPr txBox="1"/>
          <p:nvPr/>
        </p:nvSpPr>
        <p:spPr>
          <a:xfrm>
            <a:off x="428363" y="4865702"/>
            <a:ext cx="609755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111111"/>
                </a:solidFill>
                <a:latin typeface="Times New Roman"/>
                <a:ea typeface="Times New Roman"/>
                <a:cs typeface="Times New Roman"/>
                <a:sym typeface="Times New Roman"/>
              </a:rPr>
              <a:t>Марковская модель второго порядка:</a:t>
            </a:r>
            <a:endParaRPr b="0" i="0" sz="2800" u="none" cap="none" strike="noStrike">
              <a:solidFill>
                <a:schemeClr val="dk1"/>
              </a:solidFill>
              <a:latin typeface="Times New Roman"/>
              <a:ea typeface="Times New Roman"/>
              <a:cs typeface="Times New Roman"/>
              <a:sym typeface="Times New Roman"/>
            </a:endParaRPr>
          </a:p>
        </p:txBody>
      </p:sp>
      <p:pic>
        <p:nvPicPr>
          <p:cNvPr id="523" name="Google Shape;523;p60"/>
          <p:cNvPicPr preferRelativeResize="0"/>
          <p:nvPr/>
        </p:nvPicPr>
        <p:blipFill rotWithShape="1">
          <a:blip r:embed="rId3">
            <a:alphaModFix/>
          </a:blip>
          <a:srcRect b="0" l="0" r="0" t="0"/>
          <a:stretch/>
        </p:blipFill>
        <p:spPr>
          <a:xfrm>
            <a:off x="428363" y="3980542"/>
            <a:ext cx="10934700" cy="752475"/>
          </a:xfrm>
          <a:prstGeom prst="rect">
            <a:avLst/>
          </a:prstGeom>
          <a:noFill/>
          <a:ln>
            <a:noFill/>
          </a:ln>
        </p:spPr>
      </p:pic>
      <p:pic>
        <p:nvPicPr>
          <p:cNvPr id="524" name="Google Shape;524;p60"/>
          <p:cNvPicPr preferRelativeResize="0"/>
          <p:nvPr/>
        </p:nvPicPr>
        <p:blipFill rotWithShape="1">
          <a:blip r:embed="rId4">
            <a:alphaModFix/>
          </a:blip>
          <a:srcRect b="0" l="0" r="0" t="0"/>
          <a:stretch/>
        </p:blipFill>
        <p:spPr>
          <a:xfrm>
            <a:off x="346791" y="5540788"/>
            <a:ext cx="10858500" cy="6286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15"/>
          <p:cNvSpPr txBox="1"/>
          <p:nvPr/>
        </p:nvSpPr>
        <p:spPr>
          <a:xfrm>
            <a:off x="344843" y="3255048"/>
            <a:ext cx="11502314" cy="206210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В результате, если мы посчитаем все пары слов в некотором тексте, мы сможем вычислить вероятность произвольной фразы. Этот набор рассчитанных вероятностей и будет </a:t>
            </a:r>
            <a:r>
              <a:rPr b="1" i="1" lang="en-US" sz="3200" u="none" cap="none" strike="noStrike">
                <a:solidFill>
                  <a:srgbClr val="FF0000"/>
                </a:solidFill>
                <a:latin typeface="Times New Roman"/>
                <a:ea typeface="Times New Roman"/>
                <a:cs typeface="Times New Roman"/>
                <a:sym typeface="Times New Roman"/>
              </a:rPr>
              <a:t>биграммной моделью</a:t>
            </a: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531" name="Google Shape;531;p15"/>
          <p:cNvSpPr txBox="1"/>
          <p:nvPr/>
        </p:nvSpPr>
        <p:spPr>
          <a:xfrm>
            <a:off x="-669825" y="1488736"/>
            <a:ext cx="12924171" cy="64633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32" name="Google Shape;532;p15"/>
          <p:cNvSpPr txBox="1"/>
          <p:nvPr/>
        </p:nvSpPr>
        <p:spPr>
          <a:xfrm>
            <a:off x="256029" y="339450"/>
            <a:ext cx="1157363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Тогда наша формула для расчета фразы примет следующий вид: </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16"/>
          <p:cNvSpPr txBox="1"/>
          <p:nvPr/>
        </p:nvSpPr>
        <p:spPr>
          <a:xfrm>
            <a:off x="638650" y="1993674"/>
            <a:ext cx="11413800" cy="2555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4000"/>
              <a:buFont typeface="Arial"/>
              <a:buNone/>
            </a:pPr>
            <a:r>
              <a:rPr b="0" i="0" lang="en-US" sz="4000" u="none" cap="none" strike="noStrike">
                <a:solidFill>
                  <a:srgbClr val="1F5C99"/>
                </a:solidFill>
                <a:latin typeface="Times New Roman"/>
                <a:ea typeface="Times New Roman"/>
                <a:cs typeface="Times New Roman"/>
                <a:sym typeface="Times New Roman"/>
              </a:rPr>
              <a:t>P = P(вдохновляет | счастье) * </a:t>
            </a:r>
            <a:endParaRPr b="0" i="0" sz="4000" u="none" cap="none" strike="noStrike">
              <a:solidFill>
                <a:srgbClr val="1F5C99"/>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4000"/>
              <a:buFont typeface="Arial"/>
              <a:buNone/>
            </a:pPr>
            <a:r>
              <a:rPr b="0" i="0" lang="en-US" sz="4000" u="none" cap="none" strike="noStrike">
                <a:solidFill>
                  <a:srgbClr val="1F5C99"/>
                </a:solidFill>
                <a:latin typeface="Times New Roman"/>
                <a:ea typeface="Times New Roman"/>
                <a:cs typeface="Times New Roman"/>
                <a:sym typeface="Times New Roman"/>
              </a:rPr>
              <a:t>*P(людей | вдохновляет) * P(изменять | людей) * </a:t>
            </a:r>
            <a:endParaRPr b="0" i="0" sz="4000" u="none" cap="none" strike="noStrike">
              <a:solidFill>
                <a:srgbClr val="1F5C99"/>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4000"/>
              <a:buFont typeface="Arial"/>
              <a:buNone/>
            </a:pPr>
            <a:r>
              <a:rPr b="0" i="0" lang="en-US" sz="4000" u="none" cap="none" strike="noStrike">
                <a:solidFill>
                  <a:srgbClr val="1F5C99"/>
                </a:solidFill>
                <a:latin typeface="Times New Roman"/>
                <a:ea typeface="Times New Roman"/>
                <a:cs typeface="Times New Roman"/>
                <a:sym typeface="Times New Roman"/>
              </a:rPr>
              <a:t>*P(их | изменять) * P(жизнь | их) * P(к | жизнь) * *P(лучшему| к)</a:t>
            </a:r>
            <a:endParaRPr b="0" i="0" sz="1400" u="none" cap="none" strike="noStrike">
              <a:solidFill>
                <a:srgbClr val="000000"/>
              </a:solidFill>
              <a:latin typeface="Arial"/>
              <a:ea typeface="Arial"/>
              <a:cs typeface="Arial"/>
              <a:sym typeface="Arial"/>
            </a:endParaRPr>
          </a:p>
        </p:txBody>
      </p:sp>
      <p:sp>
        <p:nvSpPr>
          <p:cNvPr id="539" name="Google Shape;539;p16"/>
          <p:cNvSpPr txBox="1"/>
          <p:nvPr/>
        </p:nvSpPr>
        <p:spPr>
          <a:xfrm>
            <a:off x="1423186" y="564221"/>
            <a:ext cx="9345627"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rgbClr val="FF0000"/>
                </a:solidFill>
                <a:latin typeface="Times New Roman"/>
                <a:ea typeface="Times New Roman"/>
                <a:cs typeface="Times New Roman"/>
                <a:sym typeface="Times New Roman"/>
              </a:rPr>
              <a:t>Счастье вдохновляет людей изменять их жизнь к лучшему.</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1"/>
          <p:cNvSpPr txBox="1"/>
          <p:nvPr/>
        </p:nvSpPr>
        <p:spPr>
          <a:xfrm>
            <a:off x="82421" y="3151999"/>
            <a:ext cx="11467322"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46" name="Google Shape;546;p61"/>
          <p:cNvSpPr txBox="1"/>
          <p:nvPr/>
        </p:nvSpPr>
        <p:spPr>
          <a:xfrm>
            <a:off x="496855" y="307911"/>
            <a:ext cx="11198290" cy="1384995"/>
          </a:xfrm>
          <a:prstGeom prst="rect">
            <a:avLst/>
          </a:prstGeom>
          <a:blipFill rotWithShape="1">
            <a:blip r:embed="rId4">
              <a:alphaModFix/>
            </a:blip>
            <a:stretch>
              <a:fillRect b="-11450" l="-1142" r="-1140" t="-484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47" name="Google Shape;547;p61"/>
          <p:cNvSpPr txBox="1"/>
          <p:nvPr/>
        </p:nvSpPr>
        <p:spPr>
          <a:xfrm>
            <a:off x="613488" y="2076204"/>
            <a:ext cx="1076052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Поэтому на практике используются логарифмы, при этом логарифм произведения равен сумме логарифмов, т.е.</a:t>
            </a:r>
            <a:endParaRPr b="0" i="0" sz="2800" u="none" cap="none" strike="noStrike">
              <a:solidFill>
                <a:schemeClr val="dk1"/>
              </a:solidFill>
              <a:latin typeface="Arial"/>
              <a:ea typeface="Arial"/>
              <a:cs typeface="Arial"/>
              <a:sym typeface="Arial"/>
            </a:endParaRPr>
          </a:p>
        </p:txBody>
      </p:sp>
      <p:sp>
        <p:nvSpPr>
          <p:cNvPr id="548" name="Google Shape;548;p61"/>
          <p:cNvSpPr txBox="1"/>
          <p:nvPr/>
        </p:nvSpPr>
        <p:spPr>
          <a:xfrm>
            <a:off x="4797879" y="3796907"/>
            <a:ext cx="203640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заменим на:</a:t>
            </a:r>
            <a:endParaRPr b="0" i="0" sz="2800" u="none" cap="none" strike="noStrike">
              <a:solidFill>
                <a:schemeClr val="dk1"/>
              </a:solidFill>
              <a:latin typeface="Arial"/>
              <a:ea typeface="Arial"/>
              <a:cs typeface="Arial"/>
              <a:sym typeface="Arial"/>
            </a:endParaRPr>
          </a:p>
        </p:txBody>
      </p:sp>
      <p:sp>
        <p:nvSpPr>
          <p:cNvPr id="549" name="Google Shape;549;p61"/>
          <p:cNvSpPr txBox="1"/>
          <p:nvPr/>
        </p:nvSpPr>
        <p:spPr>
          <a:xfrm>
            <a:off x="362339" y="4441815"/>
            <a:ext cx="11467322" cy="149592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2"/>
          <p:cNvSpPr txBox="1"/>
          <p:nvPr>
            <p:ph type="title"/>
          </p:nvPr>
        </p:nvSpPr>
        <p:spPr>
          <a:xfrm>
            <a:off x="1066800" y="174636"/>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400"/>
              <a:buFont typeface="Times New Roman"/>
              <a:buNone/>
            </a:pPr>
            <a:r>
              <a:rPr b="1" i="1" lang="en-US">
                <a:solidFill>
                  <a:srgbClr val="C00000"/>
                </a:solidFill>
                <a:latin typeface="Times New Roman"/>
                <a:ea typeface="Times New Roman"/>
                <a:cs typeface="Times New Roman"/>
                <a:sym typeface="Times New Roman"/>
              </a:rPr>
              <a:t>Пример</a:t>
            </a:r>
            <a:endParaRPr/>
          </a:p>
        </p:txBody>
      </p:sp>
      <p:sp>
        <p:nvSpPr>
          <p:cNvPr id="556" name="Google Shape;556;p62"/>
          <p:cNvSpPr txBox="1"/>
          <p:nvPr/>
        </p:nvSpPr>
        <p:spPr>
          <a:xfrm>
            <a:off x="534955" y="2171475"/>
            <a:ext cx="6097554" cy="3903954"/>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800"/>
              <a:buFont typeface="Arial"/>
              <a:buNone/>
            </a:pPr>
            <a:r>
              <a:rPr b="0" i="0" lang="en-US" sz="2800" u="none" cap="none" strike="noStrike">
                <a:solidFill>
                  <a:srgbClr val="008000"/>
                </a:solidFill>
                <a:latin typeface="Times New Roman"/>
                <a:ea typeface="Times New Roman"/>
                <a:cs typeface="Times New Roman"/>
                <a:sym typeface="Times New Roman"/>
              </a:rPr>
              <a:t>В саду были дети.</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2800"/>
              <a:buFont typeface="Arial"/>
              <a:buNone/>
            </a:pPr>
            <a:r>
              <a:rPr b="0" i="0" lang="en-US" sz="2800" u="none" cap="none" strike="noStrike">
                <a:solidFill>
                  <a:srgbClr val="008000"/>
                </a:solidFill>
                <a:latin typeface="Times New Roman"/>
                <a:ea typeface="Times New Roman"/>
                <a:cs typeface="Times New Roman"/>
                <a:sym typeface="Times New Roman"/>
              </a:rPr>
              <a:t>Дети сорвали все ромашки.</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2800"/>
              <a:buFont typeface="Arial"/>
              <a:buNone/>
            </a:pPr>
            <a:r>
              <a:rPr b="0" i="0" lang="en-US" sz="2800" u="none" cap="none" strike="noStrike">
                <a:solidFill>
                  <a:srgbClr val="008000"/>
                </a:solidFill>
                <a:latin typeface="Times New Roman"/>
                <a:ea typeface="Times New Roman"/>
                <a:cs typeface="Times New Roman"/>
                <a:sym typeface="Times New Roman"/>
              </a:rPr>
              <a:t>Сергей купил Кате ромашки.</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2800"/>
              <a:buFont typeface="Arial"/>
              <a:buNone/>
            </a:pPr>
            <a:r>
              <a:rPr b="0" i="0" lang="en-US" sz="2800" u="none" cap="none" strike="noStrike">
                <a:solidFill>
                  <a:srgbClr val="008000"/>
                </a:solidFill>
                <a:latin typeface="Times New Roman"/>
                <a:ea typeface="Times New Roman"/>
                <a:cs typeface="Times New Roman"/>
                <a:sym typeface="Times New Roman"/>
              </a:rPr>
              <a:t>Ромашки завяли в саду.</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2800"/>
              <a:buFont typeface="Arial"/>
              <a:buNone/>
            </a:pPr>
            <a:r>
              <a:rPr b="0" i="0" lang="en-US" sz="2800" u="none" cap="none" strike="noStrike">
                <a:solidFill>
                  <a:srgbClr val="008000"/>
                </a:solidFill>
                <a:latin typeface="Times New Roman"/>
                <a:ea typeface="Times New Roman"/>
                <a:cs typeface="Times New Roman"/>
                <a:sym typeface="Times New Roman"/>
              </a:rPr>
              <a:t>Катя не любит садовые ромашки.</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2800"/>
              <a:buFont typeface="Arial"/>
              <a:buNone/>
            </a:pPr>
            <a:r>
              <a:rPr b="0" i="0" lang="en-US" sz="2800" u="none" cap="none" strike="noStrike">
                <a:solidFill>
                  <a:srgbClr val="008000"/>
                </a:solidFill>
                <a:latin typeface="Times New Roman"/>
                <a:ea typeface="Times New Roman"/>
                <a:cs typeface="Times New Roman"/>
                <a:sym typeface="Times New Roman"/>
              </a:rPr>
              <a:t>У Кати растут розы.</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557" name="Google Shape;557;p62"/>
          <p:cNvSpPr txBox="1"/>
          <p:nvPr/>
        </p:nvSpPr>
        <p:spPr>
          <a:xfrm>
            <a:off x="7042280" y="2031644"/>
            <a:ext cx="4238430" cy="52225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800"/>
              <a:buFont typeface="Arial"/>
              <a:buNone/>
            </a:pPr>
            <a:r>
              <a:rPr b="0" i="0" lang="en-US" sz="2800" u="none" cap="none" strike="noStrike">
                <a:solidFill>
                  <a:srgbClr val="FF3399"/>
                </a:solidFill>
                <a:latin typeface="Times New Roman"/>
                <a:ea typeface="Times New Roman"/>
                <a:cs typeface="Times New Roman"/>
                <a:sym typeface="Times New Roman"/>
              </a:rPr>
              <a:t>Ромашки завяли у Кати.</a:t>
            </a:r>
            <a:endParaRPr b="0" i="0" sz="1400" u="none" cap="none" strike="noStrike">
              <a:solidFill>
                <a:srgbClr val="000000"/>
              </a:solidFill>
              <a:latin typeface="Arial"/>
              <a:ea typeface="Arial"/>
              <a:cs typeface="Arial"/>
              <a:sym typeface="Arial"/>
            </a:endParaRPr>
          </a:p>
        </p:txBody>
      </p:sp>
      <p:sp>
        <p:nvSpPr>
          <p:cNvPr id="558" name="Google Shape;558;p62"/>
          <p:cNvSpPr txBox="1"/>
          <p:nvPr/>
        </p:nvSpPr>
        <p:spPr>
          <a:xfrm>
            <a:off x="469640" y="905070"/>
            <a:ext cx="11566849" cy="9541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Постройте </a:t>
            </a:r>
            <a:r>
              <a:rPr b="1" i="0" lang="en-US" sz="2800" u="none" cap="none" strike="noStrike">
                <a:solidFill>
                  <a:schemeClr val="dk1"/>
                </a:solidFill>
                <a:latin typeface="Times New Roman"/>
                <a:ea typeface="Times New Roman"/>
                <a:cs typeface="Times New Roman"/>
                <a:sym typeface="Times New Roman"/>
              </a:rPr>
              <a:t>биграммную </a:t>
            </a:r>
            <a:r>
              <a:rPr b="0" i="0" lang="en-US" sz="2800" u="none" cap="none" strike="noStrike">
                <a:solidFill>
                  <a:schemeClr val="dk1"/>
                </a:solidFill>
                <a:latin typeface="Times New Roman"/>
                <a:ea typeface="Times New Roman"/>
                <a:cs typeface="Times New Roman"/>
                <a:sym typeface="Times New Roman"/>
              </a:rPr>
              <a:t>языковую модель на основе корпуса и вычислите вероятность предложения:</a:t>
            </a:r>
            <a:endParaRPr b="0" i="0" sz="2800" u="none" cap="none" strike="noStrike">
              <a:solidFill>
                <a:schemeClr val="dk1"/>
              </a:solidFill>
              <a:latin typeface="Times New Roman"/>
              <a:ea typeface="Times New Roman"/>
              <a:cs typeface="Times New Roman"/>
              <a:sym typeface="Times New Roman"/>
            </a:endParaRPr>
          </a:p>
        </p:txBody>
      </p:sp>
      <p:sp>
        <p:nvSpPr>
          <p:cNvPr id="559" name="Google Shape;559;p62"/>
          <p:cNvSpPr txBox="1"/>
          <p:nvPr/>
        </p:nvSpPr>
        <p:spPr>
          <a:xfrm>
            <a:off x="6774024" y="3004457"/>
            <a:ext cx="4008300" cy="209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Р(завяли | ромашки) =1/4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Р(у | завяли) =1/1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Р(Кати | у) =1/1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Р =1/4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id="565" name="Google Shape;565;p19"/>
          <p:cNvPicPr preferRelativeResize="0"/>
          <p:nvPr/>
        </p:nvPicPr>
        <p:blipFill rotWithShape="1">
          <a:blip r:embed="rId3">
            <a:alphaModFix/>
          </a:blip>
          <a:srcRect b="0" l="0" r="0" t="0"/>
          <a:stretch/>
        </p:blipFill>
        <p:spPr>
          <a:xfrm>
            <a:off x="90486" y="1528762"/>
            <a:ext cx="12011025" cy="4638675"/>
          </a:xfrm>
          <a:prstGeom prst="rect">
            <a:avLst/>
          </a:prstGeom>
          <a:noFill/>
          <a:ln>
            <a:noFill/>
          </a:ln>
        </p:spPr>
      </p:pic>
      <p:sp>
        <p:nvSpPr>
          <p:cNvPr id="566" name="Google Shape;566;p19"/>
          <p:cNvSpPr txBox="1"/>
          <p:nvPr/>
        </p:nvSpPr>
        <p:spPr>
          <a:xfrm>
            <a:off x="273842" y="213509"/>
            <a:ext cx="1164431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Вероятности многих биграмм равны 0, что превращает в 0 вероятность любого предложения, содержащего эти биграммы.</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20"/>
          <p:cNvSpPr txBox="1"/>
          <p:nvPr>
            <p:ph type="title"/>
          </p:nvPr>
        </p:nvSpPr>
        <p:spPr>
          <a:xfrm>
            <a:off x="1066800" y="865101"/>
            <a:ext cx="10058400" cy="73043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Times New Roman"/>
              <a:buNone/>
            </a:pPr>
            <a:r>
              <a:rPr b="1" i="1" lang="en-US">
                <a:solidFill>
                  <a:srgbClr val="C00000"/>
                </a:solidFill>
                <a:latin typeface="Times New Roman"/>
                <a:ea typeface="Times New Roman"/>
                <a:cs typeface="Times New Roman"/>
                <a:sym typeface="Times New Roman"/>
              </a:rPr>
              <a:t>Сглаживание Лапласа</a:t>
            </a:r>
            <a:br>
              <a:rPr b="1" i="1" lang="en-US">
                <a:solidFill>
                  <a:srgbClr val="C00000"/>
                </a:solidFill>
                <a:latin typeface="Times New Roman"/>
                <a:ea typeface="Times New Roman"/>
                <a:cs typeface="Times New Roman"/>
                <a:sym typeface="Times New Roman"/>
              </a:rPr>
            </a:br>
            <a:r>
              <a:rPr b="1" i="1" lang="en-US">
                <a:solidFill>
                  <a:srgbClr val="C00000"/>
                </a:solidFill>
                <a:latin typeface="Times New Roman"/>
                <a:ea typeface="Times New Roman"/>
                <a:cs typeface="Times New Roman"/>
                <a:sym typeface="Times New Roman"/>
              </a:rPr>
              <a:t>оценка «+1»</a:t>
            </a:r>
            <a:endParaRPr/>
          </a:p>
        </p:txBody>
      </p:sp>
      <p:sp>
        <p:nvSpPr>
          <p:cNvPr id="573" name="Google Shape;573;p20"/>
          <p:cNvSpPr txBox="1"/>
          <p:nvPr/>
        </p:nvSpPr>
        <p:spPr>
          <a:xfrm>
            <a:off x="681135" y="2006081"/>
            <a:ext cx="1132736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Добавляем к частотам всех биграмм +1. Тогда вероятности будем считать по формуле:</a:t>
            </a:r>
            <a:endParaRPr b="0" i="0" sz="1400" u="none" cap="none" strike="noStrike">
              <a:solidFill>
                <a:srgbClr val="000000"/>
              </a:solidFill>
              <a:latin typeface="Arial"/>
              <a:ea typeface="Arial"/>
              <a:cs typeface="Arial"/>
              <a:sym typeface="Arial"/>
            </a:endParaRPr>
          </a:p>
        </p:txBody>
      </p:sp>
      <p:sp>
        <p:nvSpPr>
          <p:cNvPr id="574" name="Google Shape;574;p20"/>
          <p:cNvSpPr txBox="1"/>
          <p:nvPr/>
        </p:nvSpPr>
        <p:spPr>
          <a:xfrm>
            <a:off x="3043593" y="3413018"/>
            <a:ext cx="6104813" cy="1043042"/>
          </a:xfrm>
          <a:prstGeom prst="rect">
            <a:avLst/>
          </a:prstGeom>
          <a:blipFill rotWithShape="1">
            <a:blip r:embed="rId3">
              <a:alphaModFix/>
            </a:blip>
            <a:stretch>
              <a:fillRect b="0" l="0" r="0" t="0"/>
            </a:stretch>
          </a:blip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75" name="Google Shape;575;p20"/>
          <p:cNvSpPr txBox="1"/>
          <p:nvPr/>
        </p:nvSpPr>
        <p:spPr>
          <a:xfrm>
            <a:off x="746449" y="4842587"/>
            <a:ext cx="1132736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где V ‒ это размер словаря.</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21"/>
          <p:cNvSpPr txBox="1"/>
          <p:nvPr/>
        </p:nvSpPr>
        <p:spPr>
          <a:xfrm>
            <a:off x="273842" y="73550"/>
            <a:ext cx="11644312"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Частоты увеличены на 1,  вероятности  биграмм уже не будут 0, следовательно можно посчитать вероятность любого предложения, содержащего эти биграммы.</a:t>
            </a:r>
            <a:endParaRPr b="0" i="0" sz="1400" u="none" cap="none" strike="noStrike">
              <a:solidFill>
                <a:srgbClr val="000000"/>
              </a:solidFill>
              <a:latin typeface="Arial"/>
              <a:ea typeface="Arial"/>
              <a:cs typeface="Arial"/>
              <a:sym typeface="Arial"/>
            </a:endParaRPr>
          </a:p>
        </p:txBody>
      </p:sp>
      <p:pic>
        <p:nvPicPr>
          <p:cNvPr id="582" name="Google Shape;582;p21"/>
          <p:cNvPicPr preferRelativeResize="0"/>
          <p:nvPr/>
        </p:nvPicPr>
        <p:blipFill rotWithShape="1">
          <a:blip r:embed="rId3">
            <a:alphaModFix/>
          </a:blip>
          <a:srcRect b="0" l="0" r="0" t="0"/>
          <a:stretch/>
        </p:blipFill>
        <p:spPr>
          <a:xfrm>
            <a:off x="38100" y="1618278"/>
            <a:ext cx="12153900" cy="46291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22"/>
          <p:cNvSpPr txBox="1"/>
          <p:nvPr>
            <p:ph type="title"/>
          </p:nvPr>
        </p:nvSpPr>
        <p:spPr>
          <a:xfrm>
            <a:off x="1066800" y="174636"/>
            <a:ext cx="10058400" cy="7304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4400"/>
              <a:buFont typeface="Times New Roman"/>
              <a:buNone/>
            </a:pPr>
            <a:r>
              <a:rPr b="1" i="1" lang="en-US">
                <a:solidFill>
                  <a:srgbClr val="C00000"/>
                </a:solidFill>
                <a:latin typeface="Times New Roman"/>
                <a:ea typeface="Times New Roman"/>
                <a:cs typeface="Times New Roman"/>
                <a:sym typeface="Times New Roman"/>
              </a:rPr>
              <a:t>Пример</a:t>
            </a:r>
            <a:endParaRPr/>
          </a:p>
        </p:txBody>
      </p:sp>
      <p:sp>
        <p:nvSpPr>
          <p:cNvPr id="589" name="Google Shape;589;p22"/>
          <p:cNvSpPr txBox="1"/>
          <p:nvPr/>
        </p:nvSpPr>
        <p:spPr>
          <a:xfrm>
            <a:off x="912068" y="995946"/>
            <a:ext cx="4238430" cy="52225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800"/>
              <a:buFont typeface="Arial"/>
              <a:buNone/>
            </a:pPr>
            <a:r>
              <a:rPr b="0" i="0" lang="en-US" sz="2800" u="none" cap="none" strike="noStrike">
                <a:solidFill>
                  <a:srgbClr val="FF3399"/>
                </a:solidFill>
                <a:latin typeface="Times New Roman"/>
                <a:ea typeface="Times New Roman"/>
                <a:cs typeface="Times New Roman"/>
                <a:sym typeface="Times New Roman"/>
              </a:rPr>
              <a:t>Ромашки завяли у Кати. </a:t>
            </a:r>
            <a:endParaRPr b="0" i="0" sz="1400" u="none" cap="none" strike="noStrike">
              <a:solidFill>
                <a:srgbClr val="000000"/>
              </a:solidFill>
              <a:latin typeface="Arial"/>
              <a:ea typeface="Arial"/>
              <a:cs typeface="Arial"/>
              <a:sym typeface="Arial"/>
            </a:endParaRPr>
          </a:p>
        </p:txBody>
      </p:sp>
      <p:sp>
        <p:nvSpPr>
          <p:cNvPr id="590" name="Google Shape;590;p22"/>
          <p:cNvSpPr txBox="1"/>
          <p:nvPr/>
        </p:nvSpPr>
        <p:spPr>
          <a:xfrm>
            <a:off x="410547" y="2010501"/>
            <a:ext cx="10574626" cy="90896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1" name="Google Shape;591;p22"/>
          <p:cNvSpPr txBox="1"/>
          <p:nvPr/>
        </p:nvSpPr>
        <p:spPr>
          <a:xfrm>
            <a:off x="513183" y="3115932"/>
            <a:ext cx="9056582" cy="908967"/>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2" name="Google Shape;592;p22"/>
          <p:cNvSpPr txBox="1"/>
          <p:nvPr/>
        </p:nvSpPr>
        <p:spPr>
          <a:xfrm>
            <a:off x="513183" y="4221363"/>
            <a:ext cx="8532399" cy="908967"/>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3" name="Google Shape;593;p22"/>
          <p:cNvSpPr txBox="1"/>
          <p:nvPr/>
        </p:nvSpPr>
        <p:spPr>
          <a:xfrm>
            <a:off x="513183" y="5489186"/>
            <a:ext cx="437972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Р=0,087*0,05*0,1=0,000435</a:t>
            </a:r>
            <a:endParaRPr b="0" i="0" sz="1400" u="none" cap="none" strike="noStrike">
              <a:solidFill>
                <a:srgbClr val="000000"/>
              </a:solidFill>
              <a:latin typeface="Arial"/>
              <a:ea typeface="Arial"/>
              <a:cs typeface="Arial"/>
              <a:sym typeface="Arial"/>
            </a:endParaRPr>
          </a:p>
        </p:txBody>
      </p:sp>
      <p:sp>
        <p:nvSpPr>
          <p:cNvPr id="594" name="Google Shape;594;p22"/>
          <p:cNvSpPr txBox="1"/>
          <p:nvPr/>
        </p:nvSpPr>
        <p:spPr>
          <a:xfrm>
            <a:off x="5323398" y="5489186"/>
            <a:ext cx="74892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или</a:t>
            </a:r>
            <a:endParaRPr b="0" i="0" sz="1400" u="none" cap="none" strike="noStrike">
              <a:solidFill>
                <a:srgbClr val="000000"/>
              </a:solidFill>
              <a:latin typeface="Arial"/>
              <a:ea typeface="Arial"/>
              <a:cs typeface="Arial"/>
              <a:sym typeface="Arial"/>
            </a:endParaRPr>
          </a:p>
        </p:txBody>
      </p:sp>
      <p:sp>
        <p:nvSpPr>
          <p:cNvPr id="595" name="Google Shape;595;p22"/>
          <p:cNvSpPr txBox="1"/>
          <p:nvPr/>
        </p:nvSpPr>
        <p:spPr>
          <a:xfrm>
            <a:off x="6391469" y="5464686"/>
            <a:ext cx="496963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ln(Р)=ln(0,087*0,05*0,1)= ‒7,74</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pic>
        <p:nvPicPr>
          <p:cNvPr descr="Крупный план листа бумаги с карандашом, лежащим сверху" id="601" name="Google Shape;601;p63"/>
          <p:cNvPicPr preferRelativeResize="0"/>
          <p:nvPr/>
        </p:nvPicPr>
        <p:blipFill rotWithShape="1">
          <a:blip r:embed="rId3">
            <a:alphaModFix/>
          </a:blip>
          <a:srcRect b="0" l="0" r="0" t="0"/>
          <a:stretch/>
        </p:blipFill>
        <p:spPr>
          <a:xfrm>
            <a:off x="20" y="10"/>
            <a:ext cx="12191980" cy="6857990"/>
          </a:xfrm>
          <a:prstGeom prst="rect">
            <a:avLst/>
          </a:prstGeom>
          <a:noFill/>
          <a:ln>
            <a:noFill/>
          </a:ln>
        </p:spPr>
      </p:pic>
      <p:sp>
        <p:nvSpPr>
          <p:cNvPr id="602" name="Google Shape;602;p63"/>
          <p:cNvSpPr/>
          <p:nvPr/>
        </p:nvSpPr>
        <p:spPr>
          <a:xfrm>
            <a:off x="0" y="428852"/>
            <a:ext cx="12192000" cy="736551"/>
          </a:xfrm>
          <a:prstGeom prst="rect">
            <a:avLst/>
          </a:prstGeom>
          <a:solidFill>
            <a:schemeClr val="lt1">
              <a:alpha val="9254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3" name="Google Shape;603;p63"/>
          <p:cNvSpPr txBox="1"/>
          <p:nvPr>
            <p:ph type="title"/>
          </p:nvPr>
        </p:nvSpPr>
        <p:spPr>
          <a:xfrm>
            <a:off x="523875" y="425950"/>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b="1" lang="en-US" sz="4000">
                <a:latin typeface="Times New Roman"/>
                <a:ea typeface="Times New Roman"/>
                <a:cs typeface="Times New Roman"/>
                <a:sym typeface="Times New Roman"/>
              </a:rPr>
              <a:t>Информационный поиск</a:t>
            </a:r>
            <a:endParaRPr b="1" sz="4000">
              <a:latin typeface="Times New Roman"/>
              <a:ea typeface="Times New Roman"/>
              <a:cs typeface="Times New Roman"/>
              <a:sym typeface="Times New Roman"/>
            </a:endParaRPr>
          </a:p>
        </p:txBody>
      </p:sp>
      <p:cxnSp>
        <p:nvCxnSpPr>
          <p:cNvPr id="604" name="Google Shape;604;p63"/>
          <p:cNvCxnSpPr/>
          <p:nvPr/>
        </p:nvCxnSpPr>
        <p:spPr>
          <a:xfrm>
            <a:off x="0" y="350693"/>
            <a:ext cx="12192000" cy="0"/>
          </a:xfrm>
          <a:prstGeom prst="straightConnector1">
            <a:avLst/>
          </a:prstGeom>
          <a:noFill/>
          <a:ln cap="flat" cmpd="sng" w="41275">
            <a:solidFill>
              <a:schemeClr val="lt1">
                <a:alpha val="89411"/>
              </a:schemeClr>
            </a:solidFill>
            <a:prstDash val="solid"/>
            <a:miter lim="800000"/>
            <a:headEnd len="sm" w="sm" type="none"/>
            <a:tailEnd len="sm" w="sm" type="none"/>
          </a:ln>
        </p:spPr>
      </p:cxnSp>
      <p:cxnSp>
        <p:nvCxnSpPr>
          <p:cNvPr id="605" name="Google Shape;605;p63"/>
          <p:cNvCxnSpPr/>
          <p:nvPr/>
        </p:nvCxnSpPr>
        <p:spPr>
          <a:xfrm>
            <a:off x="0" y="1243562"/>
            <a:ext cx="12192000" cy="0"/>
          </a:xfrm>
          <a:prstGeom prst="straightConnector1">
            <a:avLst/>
          </a:prstGeom>
          <a:noFill/>
          <a:ln cap="flat" cmpd="sng" w="41275">
            <a:solidFill>
              <a:schemeClr val="lt1">
                <a:alpha val="89411"/>
              </a:schemeClr>
            </a:solidFill>
            <a:prstDash val="solid"/>
            <a:miter lim="800000"/>
            <a:headEnd len="sm" w="sm" type="none"/>
            <a:tailEnd len="sm" w="sm"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4"/>
          <p:cNvSpPr txBox="1"/>
          <p:nvPr>
            <p:ph idx="1" type="body"/>
          </p:nvPr>
        </p:nvSpPr>
        <p:spPr>
          <a:xfrm>
            <a:off x="796516" y="1556792"/>
            <a:ext cx="10598968" cy="3127078"/>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SzPts val="1800"/>
              <a:buNone/>
            </a:pPr>
            <a:r>
              <a:rPr b="1" i="1" lang="en-US">
                <a:solidFill>
                  <a:srgbClr val="FF0000"/>
                </a:solidFill>
                <a:latin typeface="Times New Roman"/>
                <a:ea typeface="Times New Roman"/>
                <a:cs typeface="Times New Roman"/>
                <a:sym typeface="Times New Roman"/>
              </a:rPr>
              <a:t>Информационный поиск </a:t>
            </a:r>
            <a:r>
              <a:rPr lang="en-US">
                <a:latin typeface="Times New Roman"/>
                <a:ea typeface="Times New Roman"/>
                <a:cs typeface="Times New Roman"/>
                <a:sym typeface="Times New Roman"/>
              </a:rPr>
              <a:t>– поиск в большой коллекции документов, удовлетворяющей потребности пользователя, сформулированный в виде короткого запроса на естественном языке. </a:t>
            </a:r>
            <a:endParaRPr/>
          </a:p>
          <a:p>
            <a:pPr indent="0" lvl="0" marL="0" rtl="0" algn="l">
              <a:lnSpc>
                <a:spcPct val="80000"/>
              </a:lnSpc>
              <a:spcBef>
                <a:spcPts val="1000"/>
              </a:spcBef>
              <a:spcAft>
                <a:spcPts val="0"/>
              </a:spcAft>
              <a:buSzPts val="1800"/>
              <a:buNone/>
            </a:pPr>
            <a:r>
              <a:t/>
            </a:r>
            <a:endParaRPr sz="2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25"/>
          <p:cNvSpPr txBox="1"/>
          <p:nvPr/>
        </p:nvSpPr>
        <p:spPr>
          <a:xfrm>
            <a:off x="551384" y="980728"/>
            <a:ext cx="11089232" cy="440120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Под </a:t>
            </a:r>
            <a:r>
              <a:rPr b="1" i="1" lang="en-US" sz="2800" u="none" cap="none" strike="noStrike">
                <a:solidFill>
                  <a:srgbClr val="FF0000"/>
                </a:solidFill>
                <a:latin typeface="Times New Roman"/>
                <a:ea typeface="Times New Roman"/>
                <a:cs typeface="Times New Roman"/>
                <a:sym typeface="Times New Roman"/>
              </a:rPr>
              <a:t>релевантностью</a:t>
            </a:r>
            <a:r>
              <a:rPr b="0" i="0" lang="en-US" sz="2800" u="none" cap="none" strike="noStrike">
                <a:solidFill>
                  <a:srgbClr val="000000"/>
                </a:solidFill>
                <a:latin typeface="Times New Roman"/>
                <a:ea typeface="Times New Roman"/>
                <a:cs typeface="Times New Roman"/>
                <a:sym typeface="Times New Roman"/>
              </a:rPr>
              <a:t> понимается соответствие смыслового содержания выданных документов информационному запросу. </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Документы, содержания которых отвечает запросу пользователя называются </a:t>
            </a:r>
            <a:r>
              <a:rPr b="1" i="1" lang="en-US" sz="2800" u="none" cap="none" strike="noStrike">
                <a:solidFill>
                  <a:srgbClr val="FF0000"/>
                </a:solidFill>
                <a:latin typeface="Times New Roman"/>
                <a:ea typeface="Times New Roman"/>
                <a:cs typeface="Times New Roman"/>
                <a:sym typeface="Times New Roman"/>
              </a:rPr>
              <a:t>релевантными</a:t>
            </a:r>
            <a:r>
              <a:rPr b="0" i="0" lang="en-US" sz="2800" u="none" cap="none" strike="noStrike">
                <a:solidFill>
                  <a:srgbClr val="000000"/>
                </a:solidFill>
                <a:latin typeface="Times New Roman"/>
                <a:ea typeface="Times New Roman"/>
                <a:cs typeface="Times New Roman"/>
                <a:sym typeface="Times New Roman"/>
              </a:rPr>
              <a:t>, а не отвечающие – </a:t>
            </a:r>
            <a:r>
              <a:rPr b="1" i="1" lang="en-US" sz="2800" u="none" cap="none" strike="noStrike">
                <a:solidFill>
                  <a:srgbClr val="FF0000"/>
                </a:solidFill>
                <a:latin typeface="Times New Roman"/>
                <a:ea typeface="Times New Roman"/>
                <a:cs typeface="Times New Roman"/>
                <a:sym typeface="Times New Roman"/>
              </a:rPr>
              <a:t>нерелевантными.</a:t>
            </a:r>
            <a:r>
              <a:rPr b="0" i="0" lang="en-US" sz="2800" u="none" cap="none" strike="noStrike">
                <a:solidFill>
                  <a:srgbClr val="000000"/>
                </a:solidFill>
                <a:latin typeface="Times New Roman"/>
                <a:ea typeface="Times New Roman"/>
                <a:cs typeface="Times New Roman"/>
                <a:sym typeface="Times New Roman"/>
              </a:rPr>
              <a:t> </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Соответствие содержания выданных документов к информационной потребности пользователя называется </a:t>
            </a:r>
            <a:r>
              <a:rPr b="1" i="1" lang="en-US" sz="2800" u="none" cap="none" strike="noStrike">
                <a:solidFill>
                  <a:srgbClr val="FF0000"/>
                </a:solidFill>
                <a:latin typeface="Times New Roman"/>
                <a:ea typeface="Times New Roman"/>
                <a:cs typeface="Times New Roman"/>
                <a:sym typeface="Times New Roman"/>
              </a:rPr>
              <a:t>пертинентностью</a:t>
            </a:r>
            <a:r>
              <a:rPr b="0" i="0" lang="en-US" sz="2800" u="none" cap="none" strike="noStrike">
                <a:solidFill>
                  <a:srgbClr val="000000"/>
                </a:solidFill>
                <a:latin typeface="Times New Roman"/>
                <a:ea typeface="Times New Roman"/>
                <a:cs typeface="Times New Roman"/>
                <a:sym typeface="Times New Roman"/>
              </a:rPr>
              <a:t>, а документы, содержания которых отвечают информационным потребностям пользователя называются </a:t>
            </a:r>
            <a:r>
              <a:rPr b="1" i="1" lang="en-US" sz="2800" u="none" cap="none" strike="noStrike">
                <a:solidFill>
                  <a:srgbClr val="FF0000"/>
                </a:solidFill>
                <a:latin typeface="Times New Roman"/>
                <a:ea typeface="Times New Roman"/>
                <a:cs typeface="Times New Roman"/>
                <a:sym typeface="Times New Roman"/>
              </a:rPr>
              <a:t>пертинентными</a:t>
            </a:r>
            <a:r>
              <a:rPr b="0" i="0" lang="en-US" sz="2800" u="none" cap="none" strike="noStrike">
                <a:solidFill>
                  <a:srgbClr val="000000"/>
                </a:solidFill>
                <a:latin typeface="Times New Roman"/>
                <a:ea typeface="Times New Roman"/>
                <a:cs typeface="Times New Roman"/>
                <a:sym typeface="Times New Roman"/>
              </a:rPr>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5"/>
          <p:cNvSpPr txBox="1"/>
          <p:nvPr>
            <p:ph type="title"/>
          </p:nvPr>
        </p:nvSpPr>
        <p:spPr>
          <a:xfrm>
            <a:off x="808638" y="386930"/>
            <a:ext cx="9236700"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US" sz="5400"/>
              <a:t>Процесс индексирования</a:t>
            </a:r>
            <a:endParaRPr/>
          </a:p>
        </p:txBody>
      </p:sp>
      <p:sp>
        <p:nvSpPr>
          <p:cNvPr id="621" name="Google Shape;621;p65"/>
          <p:cNvSpPr txBox="1"/>
          <p:nvPr>
            <p:ph idx="1" type="body"/>
          </p:nvPr>
        </p:nvSpPr>
        <p:spPr>
          <a:xfrm>
            <a:off x="155339" y="2559235"/>
            <a:ext cx="11881320" cy="3435531"/>
          </a:xfrm>
          <a:prstGeom prst="rect">
            <a:avLst/>
          </a:prstGeom>
          <a:noFill/>
          <a:ln>
            <a:noFill/>
          </a:ln>
        </p:spPr>
        <p:txBody>
          <a:bodyPr anchorCtr="0" anchor="ctr" bIns="45700" lIns="91425" spcFirstLastPara="1" rIns="91425" wrap="square" tIns="45700">
            <a:noAutofit/>
          </a:bodyPr>
          <a:lstStyle/>
          <a:p>
            <a:pPr indent="-609600" lvl="0" marL="609600" rtl="0" algn="l">
              <a:lnSpc>
                <a:spcPct val="100000"/>
              </a:lnSpc>
              <a:spcBef>
                <a:spcPts val="0"/>
              </a:spcBef>
              <a:spcAft>
                <a:spcPts val="0"/>
              </a:spcAft>
              <a:buSzPts val="1800"/>
              <a:buFont typeface="Noto Sans Symbols"/>
              <a:buAutoNum type="arabicPeriod"/>
            </a:pPr>
            <a:r>
              <a:rPr lang="en-US">
                <a:latin typeface="Times New Roman"/>
                <a:ea typeface="Times New Roman"/>
                <a:cs typeface="Times New Roman"/>
                <a:sym typeface="Times New Roman"/>
              </a:rPr>
              <a:t>Анализ структуры – выделение заголовков, абзацев и т.п.; удаление html-разметки и т.д;</a:t>
            </a:r>
            <a:endParaRPr/>
          </a:p>
          <a:p>
            <a:pPr indent="-609600" lvl="0" marL="609600" rtl="0" algn="l">
              <a:lnSpc>
                <a:spcPct val="100000"/>
              </a:lnSpc>
              <a:spcBef>
                <a:spcPts val="0"/>
              </a:spcBef>
              <a:spcAft>
                <a:spcPts val="0"/>
              </a:spcAft>
              <a:buSzPts val="1800"/>
              <a:buFont typeface="Noto Sans Symbols"/>
              <a:buAutoNum type="arabicPeriod"/>
            </a:pPr>
            <a:r>
              <a:rPr lang="en-US">
                <a:latin typeface="Times New Roman"/>
                <a:ea typeface="Times New Roman"/>
                <a:cs typeface="Times New Roman"/>
                <a:sym typeface="Times New Roman"/>
              </a:rPr>
              <a:t>Токенизация – разбиение текста на слова, удаление знаков препинания;</a:t>
            </a:r>
            <a:endParaRPr/>
          </a:p>
          <a:p>
            <a:pPr indent="-609600" lvl="0" marL="609600" rtl="0" algn="l">
              <a:lnSpc>
                <a:spcPct val="100000"/>
              </a:lnSpc>
              <a:spcBef>
                <a:spcPts val="0"/>
              </a:spcBef>
              <a:spcAft>
                <a:spcPts val="0"/>
              </a:spcAft>
              <a:buSzPts val="1800"/>
              <a:buFont typeface="Noto Sans Symbols"/>
              <a:buAutoNum type="arabicPeriod"/>
            </a:pPr>
            <a:r>
              <a:rPr lang="en-US">
                <a:latin typeface="Times New Roman"/>
                <a:ea typeface="Times New Roman"/>
                <a:cs typeface="Times New Roman"/>
                <a:sym typeface="Times New Roman"/>
              </a:rPr>
              <a:t>Удаление стоп-слов - высокочастотных служебных слов (предлогов, союзов и т.п.); </a:t>
            </a:r>
            <a:endParaRPr/>
          </a:p>
          <a:p>
            <a:pPr indent="-609600" lvl="0" marL="609600" rtl="0" algn="l">
              <a:lnSpc>
                <a:spcPct val="100000"/>
              </a:lnSpc>
              <a:spcBef>
                <a:spcPts val="0"/>
              </a:spcBef>
              <a:spcAft>
                <a:spcPts val="0"/>
              </a:spcAft>
              <a:buSzPts val="1800"/>
              <a:buFont typeface="Noto Sans Symbols"/>
              <a:buAutoNum type="arabicPeriod"/>
            </a:pPr>
            <a:r>
              <a:rPr lang="en-US">
                <a:latin typeface="Times New Roman"/>
                <a:ea typeface="Times New Roman"/>
                <a:cs typeface="Times New Roman"/>
                <a:sym typeface="Times New Roman"/>
              </a:rPr>
              <a:t>Лемматизация – приведение слов к нормальной (например, словарной) форме;</a:t>
            </a:r>
            <a:endParaRPr/>
          </a:p>
          <a:p>
            <a:pPr indent="-609600" lvl="0" marL="609600" rtl="0" algn="l">
              <a:lnSpc>
                <a:spcPct val="100000"/>
              </a:lnSpc>
              <a:spcBef>
                <a:spcPts val="0"/>
              </a:spcBef>
              <a:spcAft>
                <a:spcPts val="0"/>
              </a:spcAft>
              <a:buSzPts val="1800"/>
              <a:buFont typeface="Noto Sans Symbols"/>
              <a:buAutoNum type="arabicPeriod"/>
            </a:pPr>
            <a:r>
              <a:rPr lang="en-US">
                <a:latin typeface="Times New Roman"/>
                <a:ea typeface="Times New Roman"/>
                <a:cs typeface="Times New Roman"/>
                <a:sym typeface="Times New Roman"/>
              </a:rPr>
              <a:t>Взвешивание</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66"/>
          <p:cNvSpPr txBox="1"/>
          <p:nvPr>
            <p:ph type="title"/>
          </p:nvPr>
        </p:nvSpPr>
        <p:spPr>
          <a:xfrm>
            <a:off x="1043631" y="809898"/>
            <a:ext cx="9942716"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800"/>
              <a:t>Взвешивание</a:t>
            </a:r>
            <a:endParaRPr/>
          </a:p>
        </p:txBody>
      </p:sp>
      <p:sp>
        <p:nvSpPr>
          <p:cNvPr id="627" name="Google Shape;627;p66"/>
          <p:cNvSpPr txBox="1"/>
          <p:nvPr>
            <p:ph idx="1" type="body"/>
          </p:nvPr>
        </p:nvSpPr>
        <p:spPr>
          <a:xfrm>
            <a:off x="1045028" y="3017522"/>
            <a:ext cx="9941319" cy="3124658"/>
          </a:xfrm>
          <a:prstGeom prst="rect">
            <a:avLst/>
          </a:prstGeom>
          <a:noFill/>
          <a:ln>
            <a:noFill/>
          </a:ln>
        </p:spPr>
        <p:txBody>
          <a:bodyPr anchorCtr="0" anchor="ctr"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US">
                <a:latin typeface="Times New Roman"/>
                <a:ea typeface="Times New Roman"/>
                <a:cs typeface="Times New Roman"/>
                <a:sym typeface="Times New Roman"/>
              </a:rPr>
              <a:t>В индексе хочется учитывать не только сам факт вхождения слова в документ, но и «вес», т.е. информацию о частоте данного слова в документе.</a:t>
            </a:r>
            <a:endParaRPr/>
          </a:p>
          <a:p>
            <a:pPr indent="-228600" lvl="0" marL="457200" rtl="0" algn="l">
              <a:lnSpc>
                <a:spcPct val="90000"/>
              </a:lnSpc>
              <a:spcBef>
                <a:spcPts val="0"/>
              </a:spcBef>
              <a:spcAft>
                <a:spcPts val="0"/>
              </a:spcAft>
              <a:buSzPts val="1800"/>
              <a:buNone/>
            </a:pPr>
            <a:r>
              <a:t/>
            </a:r>
            <a:endParaRPr>
              <a:latin typeface="Times New Roman"/>
              <a:ea typeface="Times New Roman"/>
              <a:cs typeface="Times New Roman"/>
              <a:sym typeface="Times New Roman"/>
            </a:endParaRPr>
          </a:p>
          <a:p>
            <a:pPr indent="-342900" lvl="0" marL="457200" rtl="0" algn="l">
              <a:lnSpc>
                <a:spcPct val="90000"/>
              </a:lnSpc>
              <a:spcBef>
                <a:spcPts val="0"/>
              </a:spcBef>
              <a:spcAft>
                <a:spcPts val="0"/>
              </a:spcAft>
              <a:buSzPts val="1800"/>
              <a:buChar char="•"/>
            </a:pPr>
            <a:r>
              <a:rPr lang="en-US">
                <a:latin typeface="Times New Roman"/>
                <a:ea typeface="Times New Roman"/>
                <a:cs typeface="Times New Roman"/>
                <a:sym typeface="Times New Roman"/>
              </a:rPr>
              <a:t>Однако саму по себе частоту использовать плохо, поскольку слова распределены в языке неравномерно: некоторые встречаются гораздо чаще других </a:t>
            </a:r>
            <a:endParaRPr/>
          </a:p>
          <a:p>
            <a:pPr indent="-228600" lvl="0" marL="457200" rtl="0" algn="l">
              <a:lnSpc>
                <a:spcPct val="90000"/>
              </a:lnSpc>
              <a:spcBef>
                <a:spcPts val="1000"/>
              </a:spcBef>
              <a:spcAft>
                <a:spcPts val="0"/>
              </a:spcAft>
              <a:buSzPts val="1800"/>
              <a:buNone/>
            </a:pPr>
            <a:r>
              <a:t/>
            </a:r>
            <a:endParaRPr sz="2400"/>
          </a:p>
          <a:p>
            <a:pPr indent="-228600" lvl="0" marL="457200" rtl="0" algn="l">
              <a:lnSpc>
                <a:spcPct val="90000"/>
              </a:lnSpc>
              <a:spcBef>
                <a:spcPts val="1000"/>
              </a:spcBef>
              <a:spcAft>
                <a:spcPts val="0"/>
              </a:spcAft>
              <a:buSzPts val="1800"/>
              <a:buNone/>
            </a:pPr>
            <a:r>
              <a:t/>
            </a:r>
            <a:endParaRPr sz="24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7"/>
          <p:cNvSpPr/>
          <p:nvPr/>
        </p:nvSpPr>
        <p:spPr>
          <a:xfrm>
            <a:off x="1043631" y="809898"/>
            <a:ext cx="9942716" cy="1554480"/>
          </a:xfrm>
          <a:prstGeom prst="roundRect">
            <a:avLst>
              <a:gd fmla="val 16667" name="adj"/>
            </a:avLst>
          </a:prstGeom>
          <a:solidFill>
            <a:srgbClr val="FCFCFC"/>
          </a:solidFill>
          <a:ln cap="flat" cmpd="sng" w="25400">
            <a:solidFill>
              <a:srgbClr val="0F465E"/>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0" i="0" lang="en-US" sz="4400" u="none" cap="none" strike="noStrike">
                <a:solidFill>
                  <a:schemeClr val="dk1"/>
                </a:solidFill>
                <a:latin typeface="Times New Roman"/>
                <a:ea typeface="Times New Roman"/>
                <a:cs typeface="Times New Roman"/>
                <a:sym typeface="Times New Roman"/>
              </a:rPr>
              <a:t>Классический метод взвешивания: tf-idf</a:t>
            </a:r>
            <a:endParaRPr b="0" i="0" sz="4400" u="none" cap="none" strike="noStrike">
              <a:solidFill>
                <a:schemeClr val="dk1"/>
              </a:solidFill>
              <a:latin typeface="Times New Roman"/>
              <a:ea typeface="Times New Roman"/>
              <a:cs typeface="Times New Roman"/>
              <a:sym typeface="Times New Roman"/>
            </a:endParaRPr>
          </a:p>
        </p:txBody>
      </p:sp>
      <p:sp>
        <p:nvSpPr>
          <p:cNvPr id="633" name="Google Shape;633;p67"/>
          <p:cNvSpPr txBox="1"/>
          <p:nvPr/>
        </p:nvSpPr>
        <p:spPr>
          <a:xfrm>
            <a:off x="335360" y="3017522"/>
            <a:ext cx="11593288" cy="3124658"/>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Показатель </a:t>
            </a:r>
            <a:r>
              <a:rPr b="1" i="0" lang="en-US" sz="2800" u="none" cap="none" strike="noStrike">
                <a:solidFill>
                  <a:srgbClr val="000000"/>
                </a:solidFill>
                <a:latin typeface="Times New Roman"/>
                <a:ea typeface="Times New Roman"/>
                <a:cs typeface="Times New Roman"/>
                <a:sym typeface="Times New Roman"/>
              </a:rPr>
              <a:t>tf-idf</a:t>
            </a:r>
            <a:r>
              <a:rPr b="0" i="0" lang="en-US" sz="2800" u="none" cap="none" strike="noStrike">
                <a:solidFill>
                  <a:srgbClr val="000000"/>
                </a:solidFill>
                <a:latin typeface="Times New Roman"/>
                <a:ea typeface="Times New Roman"/>
                <a:cs typeface="Times New Roman"/>
                <a:sym typeface="Times New Roman"/>
              </a:rPr>
              <a:t> оценивает значимость слова в документе, на основе данных о всей коллекции документов. Данная мера определяет вес слова за величину пропорциональную частоте его вхождения в документ и обратно пропорциональную частоте его вхождения во всех документах коллекции.</a:t>
            </a:r>
            <a:endParaRPr/>
          </a:p>
          <a:p>
            <a:pPr indent="177800" lvl="0" marL="0" marR="0" rtl="0" algn="l">
              <a:lnSpc>
                <a:spcPct val="90000"/>
              </a:lnSpc>
              <a:spcBef>
                <a:spcPts val="60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600"/>
              </a:spcBef>
              <a:spcAft>
                <a:spcPts val="0"/>
              </a:spcAft>
              <a:buClr>
                <a:srgbClr val="000000"/>
              </a:buClr>
              <a:buSzPts val="2800"/>
              <a:buFont typeface="Arial"/>
              <a:buChar char="•"/>
            </a:pPr>
            <a:r>
              <a:rPr b="1" i="0" lang="en-US" sz="2800" u="none" cap="none" strike="noStrike">
                <a:solidFill>
                  <a:srgbClr val="000000"/>
                </a:solidFill>
                <a:latin typeface="Times New Roman"/>
                <a:ea typeface="Times New Roman"/>
                <a:cs typeface="Times New Roman"/>
                <a:sym typeface="Times New Roman"/>
              </a:rPr>
              <a:t>tf</a:t>
            </a:r>
            <a:r>
              <a:rPr b="0" i="0" lang="en-US" sz="2800" u="none" cap="none" strike="noStrike">
                <a:solidFill>
                  <a:srgbClr val="000000"/>
                </a:solidFill>
                <a:latin typeface="Times New Roman"/>
                <a:ea typeface="Times New Roman"/>
                <a:cs typeface="Times New Roman"/>
                <a:sym typeface="Times New Roman"/>
              </a:rPr>
              <a:t> - term frequency (частота слова), </a:t>
            </a:r>
            <a:endParaRPr/>
          </a:p>
          <a:p>
            <a:pPr indent="0" lvl="0" marL="0" marR="0" rtl="0" algn="l">
              <a:lnSpc>
                <a:spcPct val="90000"/>
              </a:lnSpc>
              <a:spcBef>
                <a:spcPts val="600"/>
              </a:spcBef>
              <a:spcAft>
                <a:spcPts val="0"/>
              </a:spcAft>
              <a:buClr>
                <a:srgbClr val="000000"/>
              </a:buClr>
              <a:buSzPts val="2800"/>
              <a:buFont typeface="Arial"/>
              <a:buChar char="•"/>
            </a:pPr>
            <a:r>
              <a:rPr b="1" i="0" lang="en-US" sz="2800" u="none" cap="none" strike="noStrike">
                <a:solidFill>
                  <a:srgbClr val="000000"/>
                </a:solidFill>
                <a:latin typeface="Times New Roman"/>
                <a:ea typeface="Times New Roman"/>
                <a:cs typeface="Times New Roman"/>
                <a:sym typeface="Times New Roman"/>
              </a:rPr>
              <a:t>idf </a:t>
            </a:r>
            <a:r>
              <a:rPr b="0" i="0" lang="en-US" sz="2800" u="none" cap="none" strike="noStrike">
                <a:solidFill>
                  <a:srgbClr val="000000"/>
                </a:solidFill>
                <a:latin typeface="Times New Roman"/>
                <a:ea typeface="Times New Roman"/>
                <a:cs typeface="Times New Roman"/>
                <a:sym typeface="Times New Roman"/>
              </a:rPr>
              <a:t>- inverse document frequency (обратная частота документа).</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8"/>
          <p:cNvSpPr/>
          <p:nvPr/>
        </p:nvSpPr>
        <p:spPr>
          <a:xfrm>
            <a:off x="1043631" y="809898"/>
            <a:ext cx="9942716" cy="1554480"/>
          </a:xfrm>
          <a:prstGeom prst="roundRect">
            <a:avLst>
              <a:gd fmla="val 16667" name="adj"/>
            </a:avLst>
          </a:prstGeom>
          <a:solidFill>
            <a:srgbClr val="FCFCFC"/>
          </a:solidFill>
          <a:ln cap="flat" cmpd="sng" w="25400">
            <a:solidFill>
              <a:srgbClr val="0F465E"/>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0" i="0" lang="en-US" sz="4400" u="none" cap="none" strike="noStrike">
                <a:solidFill>
                  <a:schemeClr val="dk1"/>
                </a:solidFill>
                <a:latin typeface="Times New Roman"/>
                <a:ea typeface="Times New Roman"/>
                <a:cs typeface="Times New Roman"/>
                <a:sym typeface="Times New Roman"/>
              </a:rPr>
              <a:t>Классический метод взвешивания: tf-idf</a:t>
            </a:r>
            <a:endParaRPr b="0" i="0" sz="4400" u="none" cap="none" strike="noStrike">
              <a:solidFill>
                <a:schemeClr val="dk1"/>
              </a:solidFill>
              <a:latin typeface="Times New Roman"/>
              <a:ea typeface="Times New Roman"/>
              <a:cs typeface="Times New Roman"/>
              <a:sym typeface="Times New Roman"/>
            </a:endParaRPr>
          </a:p>
        </p:txBody>
      </p:sp>
      <p:sp>
        <p:nvSpPr>
          <p:cNvPr id="639" name="Google Shape;639;p68"/>
          <p:cNvSpPr txBox="1"/>
          <p:nvPr>
            <p:ph idx="1" type="body"/>
          </p:nvPr>
        </p:nvSpPr>
        <p:spPr>
          <a:xfrm>
            <a:off x="365764" y="2939047"/>
            <a:ext cx="6162284" cy="2189163"/>
          </a:xfrm>
          <a:prstGeom prst="rect">
            <a:avLst/>
          </a:prstGeom>
          <a:noFill/>
          <a:ln>
            <a:noFill/>
          </a:ln>
        </p:spPr>
        <p:txBody>
          <a:bodyPr anchorCtr="0" anchor="t" bIns="45700" lIns="91425" spcFirstLastPara="1" rIns="91425" wrap="square" tIns="45700">
            <a:noAutofit/>
          </a:bodyPr>
          <a:lstStyle/>
          <a:p>
            <a:pPr indent="-342900" lvl="0" marL="457200" rtl="0" algn="just">
              <a:lnSpc>
                <a:spcPct val="90000"/>
              </a:lnSpc>
              <a:spcBef>
                <a:spcPts val="1000"/>
              </a:spcBef>
              <a:spcAft>
                <a:spcPts val="0"/>
              </a:spcAft>
              <a:buSzPts val="1800"/>
              <a:buChar char="•"/>
            </a:pPr>
            <a:r>
              <a:rPr b="1" lang="en-US">
                <a:solidFill>
                  <a:srgbClr val="FF0000"/>
                </a:solidFill>
                <a:latin typeface="Times New Roman"/>
                <a:ea typeface="Times New Roman"/>
                <a:cs typeface="Times New Roman"/>
                <a:sym typeface="Times New Roman"/>
              </a:rPr>
              <a:t>tf </a:t>
            </a:r>
            <a:r>
              <a:rPr lang="en-US">
                <a:latin typeface="Times New Roman"/>
                <a:ea typeface="Times New Roman"/>
                <a:cs typeface="Times New Roman"/>
                <a:sym typeface="Times New Roman"/>
              </a:rPr>
              <a:t>– относительная частота слова в документе</a:t>
            </a:r>
            <a:endParaRPr/>
          </a:p>
          <a:p>
            <a:pPr indent="-228600" lvl="0" marL="457200" rtl="0" algn="just">
              <a:lnSpc>
                <a:spcPct val="90000"/>
              </a:lnSpc>
              <a:spcBef>
                <a:spcPts val="1000"/>
              </a:spcBef>
              <a:spcAft>
                <a:spcPts val="0"/>
              </a:spcAft>
              <a:buSzPts val="1800"/>
              <a:buNone/>
            </a:pPr>
            <a:r>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b="0" i="0" lang="en-US">
                <a:solidFill>
                  <a:srgbClr val="000000"/>
                </a:solidFill>
                <a:latin typeface="Times New Roman"/>
                <a:ea typeface="Times New Roman"/>
                <a:cs typeface="Times New Roman"/>
                <a:sym typeface="Times New Roman"/>
              </a:rPr>
              <a:t>Показатель tf рассчитывается как отношение количества вхождений слова документ к количеству слов в документе.</a:t>
            </a:r>
            <a:endParaRPr>
              <a:latin typeface="Times New Roman"/>
              <a:ea typeface="Times New Roman"/>
              <a:cs typeface="Times New Roman"/>
              <a:sym typeface="Times New Roman"/>
            </a:endParaRPr>
          </a:p>
        </p:txBody>
      </p:sp>
      <p:pic>
        <p:nvPicPr>
          <p:cNvPr id="640" name="Google Shape;640;p68"/>
          <p:cNvPicPr preferRelativeResize="0"/>
          <p:nvPr/>
        </p:nvPicPr>
        <p:blipFill rotWithShape="1">
          <a:blip r:embed="rId3">
            <a:alphaModFix/>
          </a:blip>
          <a:srcRect b="0" l="0" r="0" t="0"/>
          <a:stretch/>
        </p:blipFill>
        <p:spPr>
          <a:xfrm>
            <a:off x="6806044" y="3356992"/>
            <a:ext cx="5065857" cy="208901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33"/>
          <p:cNvSpPr/>
          <p:nvPr/>
        </p:nvSpPr>
        <p:spPr>
          <a:xfrm>
            <a:off x="1103771" y="484680"/>
            <a:ext cx="9942716" cy="833978"/>
          </a:xfrm>
          <a:prstGeom prst="roundRect">
            <a:avLst>
              <a:gd fmla="val 16667" name="adj"/>
            </a:avLst>
          </a:prstGeom>
          <a:solidFill>
            <a:srgbClr val="FCFCFC"/>
          </a:solidFill>
          <a:ln cap="flat" cmpd="sng" w="25400">
            <a:solidFill>
              <a:srgbClr val="0F465E"/>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0" i="0" lang="en-US" sz="4400" u="none" cap="none" strike="noStrike">
                <a:solidFill>
                  <a:schemeClr val="dk1"/>
                </a:solidFill>
                <a:latin typeface="Times New Roman"/>
                <a:ea typeface="Times New Roman"/>
                <a:cs typeface="Times New Roman"/>
                <a:sym typeface="Times New Roman"/>
              </a:rPr>
              <a:t>Классический метод взвешивания: tf-idf</a:t>
            </a:r>
            <a:endParaRPr b="0" i="0" sz="4400" u="none" cap="none" strike="noStrike">
              <a:solidFill>
                <a:schemeClr val="dk1"/>
              </a:solidFill>
              <a:latin typeface="Times New Roman"/>
              <a:ea typeface="Times New Roman"/>
              <a:cs typeface="Times New Roman"/>
              <a:sym typeface="Times New Roman"/>
            </a:endParaRPr>
          </a:p>
        </p:txBody>
      </p:sp>
      <p:sp>
        <p:nvSpPr>
          <p:cNvPr id="646" name="Google Shape;646;p33"/>
          <p:cNvSpPr txBox="1"/>
          <p:nvPr>
            <p:ph idx="1" type="body"/>
          </p:nvPr>
        </p:nvSpPr>
        <p:spPr>
          <a:xfrm>
            <a:off x="599735" y="1717839"/>
            <a:ext cx="11305256" cy="2189163"/>
          </a:xfrm>
          <a:prstGeom prst="rect">
            <a:avLst/>
          </a:prstGeom>
          <a:noFill/>
          <a:ln>
            <a:noFill/>
          </a:ln>
        </p:spPr>
        <p:txBody>
          <a:bodyPr anchorCtr="0" anchor="t" bIns="45700" lIns="91425" spcFirstLastPara="1" rIns="91425" wrap="square" tIns="45700">
            <a:noAutofit/>
          </a:bodyPr>
          <a:lstStyle/>
          <a:p>
            <a:pPr indent="-342900" lvl="0" marL="457200" rtl="0" algn="just">
              <a:lnSpc>
                <a:spcPct val="90000"/>
              </a:lnSpc>
              <a:spcBef>
                <a:spcPts val="1000"/>
              </a:spcBef>
              <a:spcAft>
                <a:spcPts val="0"/>
              </a:spcAft>
              <a:buSzPts val="1800"/>
              <a:buChar char="•"/>
            </a:pPr>
            <a:r>
              <a:rPr lang="en-US">
                <a:solidFill>
                  <a:srgbClr val="FF0000"/>
                </a:solidFill>
                <a:latin typeface="Times New Roman"/>
                <a:ea typeface="Times New Roman"/>
                <a:cs typeface="Times New Roman"/>
                <a:sym typeface="Times New Roman"/>
              </a:rPr>
              <a:t>idf</a:t>
            </a:r>
            <a:r>
              <a:rPr lang="en-US">
                <a:latin typeface="Times New Roman"/>
                <a:ea typeface="Times New Roman"/>
                <a:cs typeface="Times New Roman"/>
                <a:sym typeface="Times New Roman"/>
              </a:rPr>
              <a:t> – обратная </a:t>
            </a:r>
            <a:r>
              <a:rPr lang="en-US">
                <a:latin typeface="Times New Roman"/>
                <a:ea typeface="Times New Roman"/>
                <a:cs typeface="Times New Roman"/>
                <a:sym typeface="Times New Roman"/>
              </a:rPr>
              <a:t>документальная</a:t>
            </a:r>
            <a:r>
              <a:rPr lang="en-US">
                <a:latin typeface="Times New Roman"/>
                <a:ea typeface="Times New Roman"/>
                <a:cs typeface="Times New Roman"/>
                <a:sym typeface="Times New Roman"/>
              </a:rPr>
              <a:t> частота (чем меньше в коллекции документов, в которые входит это слово, тем idf больше)</a:t>
            </a:r>
            <a:endParaRPr/>
          </a:p>
          <a:p>
            <a:pPr indent="-228600" lvl="0" marL="457200" rtl="0" algn="just">
              <a:lnSpc>
                <a:spcPct val="90000"/>
              </a:lnSpc>
              <a:spcBef>
                <a:spcPts val="1000"/>
              </a:spcBef>
              <a:spcAft>
                <a:spcPts val="0"/>
              </a:spcAft>
              <a:buSzPts val="1800"/>
              <a:buNone/>
            </a:pPr>
            <a:r>
              <a:t/>
            </a:r>
            <a:endParaRPr>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b="0" i="0" lang="en-US">
                <a:solidFill>
                  <a:srgbClr val="000000"/>
                </a:solidFill>
                <a:latin typeface="Times New Roman"/>
                <a:ea typeface="Times New Roman"/>
                <a:cs typeface="Times New Roman"/>
                <a:sym typeface="Times New Roman"/>
              </a:rPr>
              <a:t>Показатель idf равен логарифму отношения количества документов в коллекции к количеству документов в коллекции, в которых встречается заданное слово.</a:t>
            </a:r>
            <a:endParaRPr>
              <a:latin typeface="Times New Roman"/>
              <a:ea typeface="Times New Roman"/>
              <a:cs typeface="Times New Roman"/>
              <a:sym typeface="Times New Roman"/>
            </a:endParaRPr>
          </a:p>
        </p:txBody>
      </p:sp>
      <p:pic>
        <p:nvPicPr>
          <p:cNvPr id="647" name="Google Shape;647;p33"/>
          <p:cNvPicPr preferRelativeResize="0"/>
          <p:nvPr/>
        </p:nvPicPr>
        <p:blipFill rotWithShape="1">
          <a:blip r:embed="rId3">
            <a:alphaModFix/>
          </a:blip>
          <a:srcRect b="0" l="0" r="0" t="0"/>
          <a:stretch/>
        </p:blipFill>
        <p:spPr>
          <a:xfrm>
            <a:off x="6140526" y="4438309"/>
            <a:ext cx="5513309" cy="1296144"/>
          </a:xfrm>
          <a:prstGeom prst="rect">
            <a:avLst/>
          </a:prstGeom>
          <a:noFill/>
          <a:ln>
            <a:noFill/>
          </a:ln>
        </p:spPr>
      </p:pic>
      <p:sp>
        <p:nvSpPr>
          <p:cNvPr id="648" name="Google Shape;648;p33"/>
          <p:cNvSpPr txBox="1"/>
          <p:nvPr/>
        </p:nvSpPr>
        <p:spPr>
          <a:xfrm>
            <a:off x="640079" y="4696664"/>
            <a:ext cx="5064197"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Учет idf позволяет снизить вес слов, употребляемых часто (например, предлогов). </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34"/>
          <p:cNvSpPr/>
          <p:nvPr/>
        </p:nvSpPr>
        <p:spPr>
          <a:xfrm>
            <a:off x="1043631" y="809898"/>
            <a:ext cx="9942716" cy="1554480"/>
          </a:xfrm>
          <a:prstGeom prst="roundRect">
            <a:avLst>
              <a:gd fmla="val 16667" name="adj"/>
            </a:avLst>
          </a:prstGeom>
          <a:solidFill>
            <a:srgbClr val="FCFCFC"/>
          </a:solidFill>
          <a:ln cap="flat" cmpd="sng" w="25400">
            <a:solidFill>
              <a:srgbClr val="0F465E"/>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0" i="0" lang="en-US" sz="4400" u="none" cap="none" strike="noStrike">
                <a:solidFill>
                  <a:schemeClr val="dk1"/>
                </a:solidFill>
                <a:latin typeface="Times New Roman"/>
                <a:ea typeface="Times New Roman"/>
                <a:cs typeface="Times New Roman"/>
                <a:sym typeface="Times New Roman"/>
              </a:rPr>
              <a:t>Классический метод взвешивания: tf-idf</a:t>
            </a:r>
            <a:endParaRPr b="0" i="0" sz="4400" u="none" cap="none" strike="noStrike">
              <a:solidFill>
                <a:schemeClr val="dk1"/>
              </a:solidFill>
              <a:latin typeface="Times New Roman"/>
              <a:ea typeface="Times New Roman"/>
              <a:cs typeface="Times New Roman"/>
              <a:sym typeface="Times New Roman"/>
            </a:endParaRPr>
          </a:p>
        </p:txBody>
      </p:sp>
      <p:sp>
        <p:nvSpPr>
          <p:cNvPr id="654" name="Google Shape;654;p34"/>
          <p:cNvSpPr txBox="1"/>
          <p:nvPr/>
        </p:nvSpPr>
        <p:spPr>
          <a:xfrm>
            <a:off x="604520" y="2600737"/>
            <a:ext cx="1152128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Общий же показатель tf-idf является произведением tf и idf.</a:t>
            </a:r>
            <a:endParaRPr b="0" i="0" sz="2800" u="none" cap="none" strike="noStrike">
              <a:solidFill>
                <a:srgbClr val="000000"/>
              </a:solidFill>
              <a:latin typeface="Times New Roman"/>
              <a:ea typeface="Times New Roman"/>
              <a:cs typeface="Times New Roman"/>
              <a:sym typeface="Times New Roman"/>
            </a:endParaRPr>
          </a:p>
        </p:txBody>
      </p:sp>
      <p:sp>
        <p:nvSpPr>
          <p:cNvPr id="655" name="Google Shape;655;p34"/>
          <p:cNvSpPr txBox="1"/>
          <p:nvPr/>
        </p:nvSpPr>
        <p:spPr>
          <a:xfrm>
            <a:off x="3647728" y="3216624"/>
            <a:ext cx="434766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200" u="none" cap="none" strike="noStrike">
                <a:solidFill>
                  <a:srgbClr val="000000"/>
                </a:solidFill>
                <a:latin typeface="Times New Roman"/>
                <a:ea typeface="Times New Roman"/>
                <a:cs typeface="Times New Roman"/>
                <a:sym typeface="Times New Roman"/>
              </a:rPr>
              <a:t>Вес слова в документе: </a:t>
            </a:r>
            <a:endParaRPr/>
          </a:p>
        </p:txBody>
      </p:sp>
      <p:pic>
        <p:nvPicPr>
          <p:cNvPr id="656" name="Google Shape;656;p34"/>
          <p:cNvPicPr preferRelativeResize="0"/>
          <p:nvPr/>
        </p:nvPicPr>
        <p:blipFill rotWithShape="1">
          <a:blip r:embed="rId3">
            <a:alphaModFix/>
          </a:blip>
          <a:srcRect b="0" l="0" r="0" t="0"/>
          <a:stretch/>
        </p:blipFill>
        <p:spPr>
          <a:xfrm>
            <a:off x="2279576" y="3857798"/>
            <a:ext cx="7264574" cy="899554"/>
          </a:xfrm>
          <a:prstGeom prst="rect">
            <a:avLst/>
          </a:prstGeom>
          <a:noFill/>
          <a:ln>
            <a:noFill/>
          </a:ln>
        </p:spPr>
      </p:pic>
      <p:sp>
        <p:nvSpPr>
          <p:cNvPr id="657" name="Google Shape;657;p34"/>
          <p:cNvSpPr txBox="1"/>
          <p:nvPr/>
        </p:nvSpPr>
        <p:spPr>
          <a:xfrm>
            <a:off x="880329" y="4941168"/>
            <a:ext cx="1074397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chemeClr val="dk1"/>
                </a:solidFill>
                <a:latin typeface="Times New Roman"/>
                <a:ea typeface="Times New Roman"/>
                <a:cs typeface="Times New Roman"/>
                <a:sym typeface="Times New Roman"/>
              </a:rPr>
              <a:t>В современных поисковых системах используются более сложные варианты взвешивания.</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9"/>
          <p:cNvSpPr txBox="1"/>
          <p:nvPr/>
        </p:nvSpPr>
        <p:spPr>
          <a:xfrm>
            <a:off x="476431" y="3432696"/>
            <a:ext cx="11233248" cy="156368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tf = 25 ÷ 10000 = 0,0025</a:t>
            </a:r>
            <a:endParaRPr/>
          </a:p>
          <a:p>
            <a:pPr indent="0" lvl="0" marL="0" marR="0" rtl="0" algn="ctr">
              <a:lnSpc>
                <a:spcPct val="100000"/>
              </a:lnSpc>
              <a:spcBef>
                <a:spcPts val="0"/>
              </a:spcBef>
              <a:spcAft>
                <a:spcPts val="0"/>
              </a:spcAft>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idf = lg(2000000 ÷ 2000) = lg(1000 ÷ 1) = 3 </a:t>
            </a:r>
            <a:endParaRPr b="0" i="0" sz="3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(lg - логарифм с основанием 10)</a:t>
            </a:r>
            <a:endParaRPr/>
          </a:p>
          <a:p>
            <a:pPr indent="0" lvl="0" marL="0" marR="0" rtl="0" algn="ctr">
              <a:lnSpc>
                <a:spcPct val="100000"/>
              </a:lnSpc>
              <a:spcBef>
                <a:spcPts val="0"/>
              </a:spcBef>
              <a:spcAft>
                <a:spcPts val="0"/>
              </a:spcAft>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tf-idf = 0,0025 × 3 = 0,0075</a:t>
            </a:r>
            <a:endParaRPr b="0" i="0" sz="3200" u="none" cap="none" strike="noStrike">
              <a:solidFill>
                <a:schemeClr val="dk1"/>
              </a:solidFill>
              <a:latin typeface="Times New Roman"/>
              <a:ea typeface="Times New Roman"/>
              <a:cs typeface="Times New Roman"/>
              <a:sym typeface="Times New Roman"/>
            </a:endParaRPr>
          </a:p>
        </p:txBody>
      </p:sp>
      <p:sp>
        <p:nvSpPr>
          <p:cNvPr id="663" name="Google Shape;663;p69"/>
          <p:cNvSpPr txBox="1"/>
          <p:nvPr/>
        </p:nvSpPr>
        <p:spPr>
          <a:xfrm>
            <a:off x="1055440" y="756058"/>
            <a:ext cx="10468088" cy="24006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Times New Roman"/>
                <a:ea typeface="Times New Roman"/>
                <a:cs typeface="Times New Roman"/>
                <a:sym typeface="Times New Roman"/>
              </a:rPr>
              <a:t>Расчет для тематического слова</a:t>
            </a:r>
            <a:endParaRPr b="1"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600"/>
              </a:spcBef>
              <a:spcAft>
                <a:spcPts val="0"/>
              </a:spcAft>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600"/>
              </a:spcBef>
              <a:spcAft>
                <a:spcPts val="0"/>
              </a:spcAft>
              <a:buNone/>
            </a:pPr>
            <a:r>
              <a:rPr b="0" i="0" lang="en-US" sz="2800" u="none" cap="none" strike="noStrike">
                <a:solidFill>
                  <a:srgbClr val="000000"/>
                </a:solidFill>
                <a:latin typeface="Times New Roman"/>
                <a:ea typeface="Times New Roman"/>
                <a:cs typeface="Times New Roman"/>
                <a:sym typeface="Times New Roman"/>
              </a:rPr>
              <a:t>Документ состоит из 10000 слов в котором слово “садовник” встречается 25 раз, а коллекция состоит из 2 миллионов документов, в 2000 из которых также встречается данное слово.</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35"/>
          <p:cNvSpPr txBox="1"/>
          <p:nvPr/>
        </p:nvSpPr>
        <p:spPr>
          <a:xfrm>
            <a:off x="623392" y="548680"/>
            <a:ext cx="11161240" cy="526297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800" u="none" cap="none" strike="noStrike">
                <a:solidFill>
                  <a:srgbClr val="000000"/>
                </a:solidFill>
                <a:latin typeface="Times New Roman"/>
                <a:ea typeface="Times New Roman"/>
                <a:cs typeface="Times New Roman"/>
                <a:sym typeface="Times New Roman"/>
              </a:rPr>
              <a:t>Расчет для союза</a:t>
            </a:r>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Для второго примера расчета tf-idf возьмём тот же документ из 10000 слов в котором союз “но” встречается 30 раз, а коллекция по-прежнему состоит из 2 миллионов документов, в 200000 из которых также встречается данное слово.</a:t>
            </a:r>
            <a:endParaRPr/>
          </a:p>
          <a:p>
            <a:pPr indent="0" lvl="0" marL="0" marR="0" rtl="0" algn="ctr">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tf = 30 ÷ 10000 = 0,003</a:t>
            </a:r>
            <a:endParaRPr/>
          </a:p>
          <a:p>
            <a:pPr indent="0" lvl="0" marL="0" marR="0" rtl="0" algn="ctr">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idf = lg(2000000 ÷ 200000) = lg(10 ÷ 1) = 1 </a:t>
            </a:r>
            <a:endParaRPr/>
          </a:p>
          <a:p>
            <a:pPr indent="0" lvl="0" marL="0" marR="0" rtl="0" algn="ctr">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(lg - логарифм с основанием 10)</a:t>
            </a:r>
            <a:endParaRPr/>
          </a:p>
          <a:p>
            <a:pPr indent="0" lvl="0" marL="0" marR="0" rtl="0" algn="ctr">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tf-idf = 0,003 × 1 = 0,003</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27"/>
          <p:cNvSpPr txBox="1"/>
          <p:nvPr/>
        </p:nvSpPr>
        <p:spPr>
          <a:xfrm>
            <a:off x="1271464" y="1340768"/>
            <a:ext cx="9849751" cy="3032168"/>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Сравнение расчетов</a:t>
            </a:r>
            <a:endParaRPr b="1" i="0" sz="3200" u="none" cap="none" strike="noStrike">
              <a:solidFill>
                <a:srgbClr val="000000"/>
              </a:solidFill>
              <a:latin typeface="Times New Roman"/>
              <a:ea typeface="Times New Roman"/>
              <a:cs typeface="Times New Roman"/>
              <a:sym typeface="Times New Roman"/>
            </a:endParaRPr>
          </a:p>
          <a:p>
            <a:pPr indent="203200" lvl="0" marL="0" marR="0" rtl="0" algn="l">
              <a:lnSpc>
                <a:spcPct val="90000"/>
              </a:lnSpc>
              <a:spcBef>
                <a:spcPts val="600"/>
              </a:spcBef>
              <a:spcAft>
                <a:spcPts val="0"/>
              </a:spcAft>
              <a:buClr>
                <a:srgbClr val="000000"/>
              </a:buClr>
              <a:buSzPts val="3200"/>
              <a:buFont typeface="Arial"/>
              <a:buNone/>
            </a:pPr>
            <a:r>
              <a:t/>
            </a:r>
            <a:endParaRPr b="1" i="0" sz="32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600"/>
              </a:spcBef>
              <a:spcAft>
                <a:spcPts val="0"/>
              </a:spcAft>
              <a:buNone/>
            </a:pPr>
            <a:r>
              <a:rPr b="0" i="0" lang="en-US" sz="3200" u="none" cap="none" strike="noStrike">
                <a:solidFill>
                  <a:srgbClr val="000000"/>
                </a:solidFill>
                <a:latin typeface="Times New Roman"/>
                <a:ea typeface="Times New Roman"/>
                <a:cs typeface="Times New Roman"/>
                <a:sym typeface="Times New Roman"/>
              </a:rPr>
              <a:t>Так как мы использовали идентичные документ и коллекцию, можем сравнить семантический вес слов: </a:t>
            </a:r>
            <a:endParaRPr/>
          </a:p>
          <a:p>
            <a:pPr indent="203200" lvl="0" marL="0" marR="0" rtl="0" algn="l">
              <a:lnSpc>
                <a:spcPct val="90000"/>
              </a:lnSpc>
              <a:spcBef>
                <a:spcPts val="600"/>
              </a:spcBef>
              <a:spcAft>
                <a:spcPts val="0"/>
              </a:spcAft>
              <a:buClr>
                <a:srgbClr val="000000"/>
              </a:buClr>
              <a:buSzPts val="3200"/>
              <a:buFont typeface="Arial"/>
              <a:buNone/>
            </a:pPr>
            <a:r>
              <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600"/>
              </a:spcBef>
              <a:spcAft>
                <a:spcPts val="0"/>
              </a:spcAft>
              <a:buNone/>
            </a:pPr>
            <a:r>
              <a:rPr b="0" i="0" lang="en-US" sz="3200" u="none" cap="none" strike="noStrike">
                <a:solidFill>
                  <a:srgbClr val="000000"/>
                </a:solidFill>
                <a:latin typeface="Times New Roman"/>
                <a:ea typeface="Times New Roman"/>
                <a:cs typeface="Times New Roman"/>
                <a:sym typeface="Times New Roman"/>
              </a:rPr>
              <a:t>0,0075 &gt; 0,003, </a:t>
            </a:r>
            <a:endParaRPr/>
          </a:p>
          <a:p>
            <a:pPr indent="203200" lvl="0" marL="0" marR="0" rtl="0" algn="l">
              <a:lnSpc>
                <a:spcPct val="90000"/>
              </a:lnSpc>
              <a:spcBef>
                <a:spcPts val="600"/>
              </a:spcBef>
              <a:spcAft>
                <a:spcPts val="0"/>
              </a:spcAft>
              <a:buClr>
                <a:srgbClr val="000000"/>
              </a:buClr>
              <a:buSzPts val="3200"/>
              <a:buFont typeface="Arial"/>
              <a:buNone/>
            </a:pPr>
            <a:r>
              <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600"/>
              </a:spcBef>
              <a:spcAft>
                <a:spcPts val="0"/>
              </a:spcAft>
              <a:buNone/>
            </a:pPr>
            <a:r>
              <a:rPr b="0" i="0" lang="en-US" sz="3200" u="none" cap="none" strike="noStrike">
                <a:solidFill>
                  <a:srgbClr val="000000"/>
                </a:solidFill>
                <a:latin typeface="Times New Roman"/>
                <a:ea typeface="Times New Roman"/>
                <a:cs typeface="Times New Roman"/>
                <a:sym typeface="Times New Roman"/>
              </a:rPr>
              <a:t>следовательно слово "садовник" имеет больше веса, чем союз "но", что справедливо.</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70"/>
          <p:cNvSpPr txBox="1"/>
          <p:nvPr/>
        </p:nvSpPr>
        <p:spPr>
          <a:xfrm>
            <a:off x="1199456" y="1556792"/>
            <a:ext cx="9793088" cy="35394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Стоит ли вообще работать с такой старой методикой оценки текстов?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Алгоритм tf-idf является основой информационного поиска.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Он уже давно интегрирован в формулу ранжирования Яндекс и Google, а теперь и лёг в основу более продвинутых алгоритмов вроде векторного анализа текста.</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Векторная модель</a:t>
            </a:r>
            <a:endParaRPr/>
          </a:p>
        </p:txBody>
      </p:sp>
      <p:grpSp>
        <p:nvGrpSpPr>
          <p:cNvPr id="685" name="Google Shape;685;p71"/>
          <p:cNvGrpSpPr/>
          <p:nvPr/>
        </p:nvGrpSpPr>
        <p:grpSpPr>
          <a:xfrm>
            <a:off x="838200" y="1881719"/>
            <a:ext cx="10515600" cy="4351481"/>
            <a:chOff x="0" y="531"/>
            <a:chExt cx="10515600" cy="4351481"/>
          </a:xfrm>
        </p:grpSpPr>
        <p:cxnSp>
          <p:nvCxnSpPr>
            <p:cNvPr id="686" name="Google Shape;686;p71"/>
            <p:cNvCxnSpPr/>
            <p:nvPr/>
          </p:nvCxnSpPr>
          <p:spPr>
            <a:xfrm>
              <a:off x="0" y="531"/>
              <a:ext cx="10515600" cy="0"/>
            </a:xfrm>
            <a:prstGeom prst="straightConnector1">
              <a:avLst/>
            </a:prstGeom>
            <a:gradFill>
              <a:gsLst>
                <a:gs pos="0">
                  <a:srgbClr val="016692"/>
                </a:gs>
                <a:gs pos="100000">
                  <a:srgbClr val="A3C6E2"/>
                </a:gs>
              </a:gsLst>
              <a:lin ang="16200000" scaled="0"/>
            </a:gradFill>
            <a:ln cap="flat" cmpd="sng" w="9525">
              <a:solidFill>
                <a:srgbClr val="126082"/>
              </a:solidFill>
              <a:prstDash val="solid"/>
              <a:round/>
              <a:headEnd len="sm" w="sm" type="none"/>
              <a:tailEnd len="sm" w="sm" type="none"/>
            </a:ln>
            <a:effectLst>
              <a:outerShdw blurRad="40000" rotWithShape="0" dir="5400000" dist="23000">
                <a:srgbClr val="000000">
                  <a:alpha val="34901"/>
                </a:srgbClr>
              </a:outerShdw>
            </a:effectLst>
          </p:spPr>
        </p:cxnSp>
        <p:sp>
          <p:nvSpPr>
            <p:cNvPr id="687" name="Google Shape;687;p71"/>
            <p:cNvSpPr/>
            <p:nvPr/>
          </p:nvSpPr>
          <p:spPr>
            <a:xfrm>
              <a:off x="0" y="531"/>
              <a:ext cx="10515600" cy="87029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71"/>
            <p:cNvSpPr txBox="1"/>
            <p:nvPr/>
          </p:nvSpPr>
          <p:spPr>
            <a:xfrm>
              <a:off x="0" y="531"/>
              <a:ext cx="10515600" cy="870296"/>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Коллекция из n документов и m различных терминов представляется в виде матрицы mxn, где каждый документ – вектор в m-мерном пространстве.</a:t>
              </a:r>
              <a:endParaRPr b="0" i="0" sz="2200" u="none" cap="none" strike="noStrike">
                <a:solidFill>
                  <a:srgbClr val="000000"/>
                </a:solidFill>
                <a:latin typeface="Arial"/>
                <a:ea typeface="Arial"/>
                <a:cs typeface="Arial"/>
                <a:sym typeface="Arial"/>
              </a:endParaRPr>
            </a:p>
          </p:txBody>
        </p:sp>
        <p:cxnSp>
          <p:nvCxnSpPr>
            <p:cNvPr id="689" name="Google Shape;689;p71"/>
            <p:cNvCxnSpPr/>
            <p:nvPr/>
          </p:nvCxnSpPr>
          <p:spPr>
            <a:xfrm>
              <a:off x="0" y="870827"/>
              <a:ext cx="10515600" cy="0"/>
            </a:xfrm>
            <a:prstGeom prst="straightConnector1">
              <a:avLst/>
            </a:prstGeom>
            <a:gradFill>
              <a:gsLst>
                <a:gs pos="0">
                  <a:srgbClr val="016692"/>
                </a:gs>
                <a:gs pos="100000">
                  <a:srgbClr val="A3C6E2"/>
                </a:gs>
              </a:gsLst>
              <a:lin ang="16200000" scaled="0"/>
            </a:gradFill>
            <a:ln cap="flat" cmpd="sng" w="9525">
              <a:solidFill>
                <a:srgbClr val="126082"/>
              </a:solidFill>
              <a:prstDash val="solid"/>
              <a:round/>
              <a:headEnd len="sm" w="sm" type="none"/>
              <a:tailEnd len="sm" w="sm" type="none"/>
            </a:ln>
            <a:effectLst>
              <a:outerShdw blurRad="40000" rotWithShape="0" dir="5400000" dist="23000">
                <a:srgbClr val="000000">
                  <a:alpha val="34901"/>
                </a:srgbClr>
              </a:outerShdw>
            </a:effectLst>
          </p:spPr>
        </p:cxnSp>
        <p:sp>
          <p:nvSpPr>
            <p:cNvPr id="690" name="Google Shape;690;p71"/>
            <p:cNvSpPr/>
            <p:nvPr/>
          </p:nvSpPr>
          <p:spPr>
            <a:xfrm>
              <a:off x="0" y="870827"/>
              <a:ext cx="10515600" cy="87029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71"/>
            <p:cNvSpPr txBox="1"/>
            <p:nvPr/>
          </p:nvSpPr>
          <p:spPr>
            <a:xfrm>
              <a:off x="0" y="870827"/>
              <a:ext cx="10515600" cy="870296"/>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Веса терминов можно считать по разному: частота, бинарная частота (входит – не входит), tf-idf…</a:t>
              </a:r>
              <a:endParaRPr b="0" i="0" sz="2200" u="none" cap="none" strike="noStrike">
                <a:solidFill>
                  <a:srgbClr val="000000"/>
                </a:solidFill>
                <a:latin typeface="Arial"/>
                <a:ea typeface="Arial"/>
                <a:cs typeface="Arial"/>
                <a:sym typeface="Arial"/>
              </a:endParaRPr>
            </a:p>
          </p:txBody>
        </p:sp>
        <p:cxnSp>
          <p:nvCxnSpPr>
            <p:cNvPr id="692" name="Google Shape;692;p71"/>
            <p:cNvCxnSpPr/>
            <p:nvPr/>
          </p:nvCxnSpPr>
          <p:spPr>
            <a:xfrm>
              <a:off x="0" y="1741123"/>
              <a:ext cx="10515600" cy="0"/>
            </a:xfrm>
            <a:prstGeom prst="straightConnector1">
              <a:avLst/>
            </a:prstGeom>
            <a:gradFill>
              <a:gsLst>
                <a:gs pos="0">
                  <a:srgbClr val="016692"/>
                </a:gs>
                <a:gs pos="100000">
                  <a:srgbClr val="A3C6E2"/>
                </a:gs>
              </a:gsLst>
              <a:lin ang="16200000" scaled="0"/>
            </a:gradFill>
            <a:ln cap="flat" cmpd="sng" w="9525">
              <a:solidFill>
                <a:srgbClr val="126082"/>
              </a:solidFill>
              <a:prstDash val="solid"/>
              <a:round/>
              <a:headEnd len="sm" w="sm" type="none"/>
              <a:tailEnd len="sm" w="sm" type="none"/>
            </a:ln>
            <a:effectLst>
              <a:outerShdw blurRad="40000" rotWithShape="0" dir="5400000" dist="23000">
                <a:srgbClr val="000000">
                  <a:alpha val="34901"/>
                </a:srgbClr>
              </a:outerShdw>
            </a:effectLst>
          </p:spPr>
        </p:cxnSp>
        <p:sp>
          <p:nvSpPr>
            <p:cNvPr id="693" name="Google Shape;693;p71"/>
            <p:cNvSpPr/>
            <p:nvPr/>
          </p:nvSpPr>
          <p:spPr>
            <a:xfrm>
              <a:off x="0" y="1741123"/>
              <a:ext cx="10515600" cy="87029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1"/>
            <p:cNvSpPr txBox="1"/>
            <p:nvPr/>
          </p:nvSpPr>
          <p:spPr>
            <a:xfrm>
              <a:off x="0" y="1741123"/>
              <a:ext cx="10515600" cy="870296"/>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Порядок слов не учитывается (bag of words)</a:t>
              </a:r>
              <a:endParaRPr b="0" i="0" sz="2200" u="none" cap="none" strike="noStrike">
                <a:solidFill>
                  <a:srgbClr val="000000"/>
                </a:solidFill>
                <a:latin typeface="Arial"/>
                <a:ea typeface="Arial"/>
                <a:cs typeface="Arial"/>
                <a:sym typeface="Arial"/>
              </a:endParaRPr>
            </a:p>
          </p:txBody>
        </p:sp>
        <p:cxnSp>
          <p:nvCxnSpPr>
            <p:cNvPr id="695" name="Google Shape;695;p71"/>
            <p:cNvCxnSpPr/>
            <p:nvPr/>
          </p:nvCxnSpPr>
          <p:spPr>
            <a:xfrm>
              <a:off x="0" y="2611420"/>
              <a:ext cx="10515600" cy="0"/>
            </a:xfrm>
            <a:prstGeom prst="straightConnector1">
              <a:avLst/>
            </a:prstGeom>
            <a:gradFill>
              <a:gsLst>
                <a:gs pos="0">
                  <a:srgbClr val="016692"/>
                </a:gs>
                <a:gs pos="100000">
                  <a:srgbClr val="A3C6E2"/>
                </a:gs>
              </a:gsLst>
              <a:lin ang="16200000" scaled="0"/>
            </a:gradFill>
            <a:ln cap="flat" cmpd="sng" w="9525">
              <a:solidFill>
                <a:srgbClr val="126082"/>
              </a:solidFill>
              <a:prstDash val="solid"/>
              <a:round/>
              <a:headEnd len="sm" w="sm" type="none"/>
              <a:tailEnd len="sm" w="sm" type="none"/>
            </a:ln>
            <a:effectLst>
              <a:outerShdw blurRad="40000" rotWithShape="0" dir="5400000" dist="23000">
                <a:srgbClr val="000000">
                  <a:alpha val="34901"/>
                </a:srgbClr>
              </a:outerShdw>
            </a:effectLst>
          </p:spPr>
        </p:cxnSp>
        <p:sp>
          <p:nvSpPr>
            <p:cNvPr id="696" name="Google Shape;696;p71"/>
            <p:cNvSpPr/>
            <p:nvPr/>
          </p:nvSpPr>
          <p:spPr>
            <a:xfrm>
              <a:off x="0" y="2611420"/>
              <a:ext cx="10515600" cy="87029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71"/>
            <p:cNvSpPr txBox="1"/>
            <p:nvPr/>
          </p:nvSpPr>
          <p:spPr>
            <a:xfrm>
              <a:off x="0" y="2611420"/>
              <a:ext cx="10515600" cy="870296"/>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Матрица очень большая (большое число различных терминов в гетерогенной коллекции).</a:t>
              </a:r>
              <a:endParaRPr b="0" i="0" sz="2200" u="none" cap="none" strike="noStrike">
                <a:solidFill>
                  <a:srgbClr val="000000"/>
                </a:solidFill>
                <a:latin typeface="Arial"/>
                <a:ea typeface="Arial"/>
                <a:cs typeface="Arial"/>
                <a:sym typeface="Arial"/>
              </a:endParaRPr>
            </a:p>
          </p:txBody>
        </p:sp>
        <p:cxnSp>
          <p:nvCxnSpPr>
            <p:cNvPr id="698" name="Google Shape;698;p71"/>
            <p:cNvCxnSpPr/>
            <p:nvPr/>
          </p:nvCxnSpPr>
          <p:spPr>
            <a:xfrm>
              <a:off x="0" y="3481716"/>
              <a:ext cx="10515600" cy="0"/>
            </a:xfrm>
            <a:prstGeom prst="straightConnector1">
              <a:avLst/>
            </a:prstGeom>
            <a:gradFill>
              <a:gsLst>
                <a:gs pos="0">
                  <a:srgbClr val="016692"/>
                </a:gs>
                <a:gs pos="100000">
                  <a:srgbClr val="A3C6E2"/>
                </a:gs>
              </a:gsLst>
              <a:lin ang="16200000" scaled="0"/>
            </a:gradFill>
            <a:ln cap="flat" cmpd="sng" w="9525">
              <a:solidFill>
                <a:srgbClr val="126082"/>
              </a:solidFill>
              <a:prstDash val="solid"/>
              <a:round/>
              <a:headEnd len="sm" w="sm" type="none"/>
              <a:tailEnd len="sm" w="sm" type="none"/>
            </a:ln>
            <a:effectLst>
              <a:outerShdw blurRad="40000" rotWithShape="0" dir="5400000" dist="23000">
                <a:srgbClr val="000000">
                  <a:alpha val="34901"/>
                </a:srgbClr>
              </a:outerShdw>
            </a:effectLst>
          </p:spPr>
        </p:cxnSp>
        <p:sp>
          <p:nvSpPr>
            <p:cNvPr id="699" name="Google Shape;699;p71"/>
            <p:cNvSpPr/>
            <p:nvPr/>
          </p:nvSpPr>
          <p:spPr>
            <a:xfrm>
              <a:off x="0" y="3481716"/>
              <a:ext cx="10515600" cy="87029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71"/>
            <p:cNvSpPr txBox="1"/>
            <p:nvPr/>
          </p:nvSpPr>
          <p:spPr>
            <a:xfrm>
              <a:off x="0" y="3481716"/>
              <a:ext cx="10515600" cy="870296"/>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В матрице много нулей</a:t>
              </a:r>
              <a:endParaRPr b="0" i="0" sz="2200" u="none" cap="none" strike="noStrike">
                <a:solidFill>
                  <a:srgbClr val="000000"/>
                </a:solidFill>
                <a:latin typeface="Arial"/>
                <a:ea typeface="Arial"/>
                <a:cs typeface="Arial"/>
                <a:sym typeface="Aria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72"/>
          <p:cNvSpPr txBox="1"/>
          <p:nvPr>
            <p:ph type="title"/>
          </p:nvPr>
        </p:nvSpPr>
        <p:spPr>
          <a:xfrm>
            <a:off x="609600" y="0"/>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Векторная модель</a:t>
            </a:r>
            <a:endParaRPr/>
          </a:p>
        </p:txBody>
      </p:sp>
      <p:sp>
        <p:nvSpPr>
          <p:cNvPr id="706" name="Google Shape;706;p72"/>
          <p:cNvSpPr txBox="1"/>
          <p:nvPr>
            <p:ph idx="1" type="body"/>
          </p:nvPr>
        </p:nvSpPr>
        <p:spPr>
          <a:xfrm>
            <a:off x="609600" y="1136749"/>
            <a:ext cx="11521280" cy="45259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Times New Roman"/>
                <a:ea typeface="Times New Roman"/>
                <a:cs typeface="Times New Roman"/>
                <a:sym typeface="Times New Roman"/>
              </a:rPr>
              <a:t>Близость запроса к документу: косинусная мера близости</a:t>
            </a:r>
            <a:endParaRPr/>
          </a:p>
        </p:txBody>
      </p:sp>
      <p:pic>
        <p:nvPicPr>
          <p:cNvPr id="707" name="Google Shape;707;p72"/>
          <p:cNvPicPr preferRelativeResize="0"/>
          <p:nvPr/>
        </p:nvPicPr>
        <p:blipFill rotWithShape="1">
          <a:blip r:embed="rId4">
            <a:alphaModFix/>
          </a:blip>
          <a:srcRect b="0" l="0" r="0" t="0"/>
          <a:stretch/>
        </p:blipFill>
        <p:spPr>
          <a:xfrm>
            <a:off x="2351584" y="2005111"/>
            <a:ext cx="7099081" cy="1007220"/>
          </a:xfrm>
          <a:prstGeom prst="rect">
            <a:avLst/>
          </a:prstGeom>
          <a:noFill/>
          <a:ln>
            <a:noFill/>
          </a:ln>
        </p:spPr>
      </p:pic>
      <p:graphicFrame>
        <p:nvGraphicFramePr>
          <p:cNvPr id="708" name="Google Shape;708;p72"/>
          <p:cNvGraphicFramePr/>
          <p:nvPr/>
        </p:nvGraphicFramePr>
        <p:xfrm>
          <a:off x="3657600" y="3200400"/>
          <a:ext cx="4876800" cy="3657600"/>
        </p:xfrm>
        <a:graphic>
          <a:graphicData uri="http://schemas.openxmlformats.org/presentationml/2006/ole">
            <mc:AlternateContent>
              <mc:Choice Requires="v">
                <p:oleObj r:id="rId5" imgH="3657600" imgW="4876800" progId="Paint.Picture" spid="_x0000_s1">
                  <p:embed/>
                </p:oleObj>
              </mc:Choice>
              <mc:Fallback>
                <p:oleObj r:id="rId6" imgH="3657600" imgW="4876800" progId="Paint.Picture">
                  <p:embed/>
                  <p:pic>
                    <p:nvPicPr>
                      <p:cNvPr id="708" name="Google Shape;708;p72"/>
                      <p:cNvPicPr preferRelativeResize="0"/>
                      <p:nvPr/>
                    </p:nvPicPr>
                    <p:blipFill rotWithShape="1">
                      <a:blip r:embed="rId7">
                        <a:alphaModFix/>
                      </a:blip>
                      <a:srcRect b="0" l="0" r="0" t="0"/>
                      <a:stretch/>
                    </p:blipFill>
                    <p:spPr>
                      <a:xfrm>
                        <a:off x="3657600" y="3200400"/>
                        <a:ext cx="4876800" cy="3657600"/>
                      </a:xfrm>
                      <a:prstGeom prst="rect">
                        <a:avLst/>
                      </a:prstGeom>
                      <a:noFill/>
                      <a:ln>
                        <a:noFill/>
                      </a:ln>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3"/>
          <p:cNvSpPr txBox="1"/>
          <p:nvPr>
            <p:ph type="title"/>
          </p:nvPr>
        </p:nvSpPr>
        <p:spPr>
          <a:xfrm>
            <a:off x="2374879" y="404664"/>
            <a:ext cx="8162925" cy="656975"/>
          </a:xfrm>
          <a:prstGeom prst="rect">
            <a:avLst/>
          </a:prstGeom>
          <a:noFill/>
          <a:ln>
            <a:noFill/>
          </a:ln>
        </p:spPr>
        <p:txBody>
          <a:bodyPr anchorCtr="0" anchor="b" bIns="45700" lIns="91425" spcFirstLastPara="1" rIns="91425" wrap="square" tIns="45700">
            <a:spAutoFit/>
          </a:bodyPr>
          <a:lstStyle/>
          <a:p>
            <a:pPr indent="0" lvl="0" marL="0" rtl="0" algn="l">
              <a:lnSpc>
                <a:spcPct val="80000"/>
              </a:lnSpc>
              <a:spcBef>
                <a:spcPts val="0"/>
              </a:spcBef>
              <a:spcAft>
                <a:spcPts val="0"/>
              </a:spcAft>
              <a:buSzPts val="1800"/>
              <a:buNone/>
            </a:pPr>
            <a:r>
              <a:rPr lang="en-US"/>
              <a:t>Вероятностные модели</a:t>
            </a:r>
            <a:endParaRPr/>
          </a:p>
        </p:txBody>
      </p:sp>
      <p:sp>
        <p:nvSpPr>
          <p:cNvPr id="714" name="Google Shape;714;p73"/>
          <p:cNvSpPr txBox="1"/>
          <p:nvPr>
            <p:ph idx="1" type="body"/>
          </p:nvPr>
        </p:nvSpPr>
        <p:spPr>
          <a:xfrm>
            <a:off x="623392" y="1268760"/>
            <a:ext cx="11377264" cy="5112568"/>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1000"/>
              </a:spcBef>
              <a:spcAft>
                <a:spcPts val="0"/>
              </a:spcAft>
              <a:buSzPts val="1800"/>
              <a:buChar char="•"/>
            </a:pPr>
            <a:r>
              <a:rPr lang="en-US" sz="2800">
                <a:latin typeface="Times New Roman"/>
                <a:ea typeface="Times New Roman"/>
                <a:cs typeface="Times New Roman"/>
                <a:sym typeface="Times New Roman"/>
              </a:rPr>
              <a:t>Вероятность вычисляется на основе теоремы Байеса:</a:t>
            </a:r>
            <a:endParaRPr/>
          </a:p>
          <a:p>
            <a:pPr indent="-228600" lvl="0" marL="457200" rtl="0" algn="just">
              <a:lnSpc>
                <a:spcPct val="90000"/>
              </a:lnSpc>
              <a:spcBef>
                <a:spcPts val="1000"/>
              </a:spcBef>
              <a:spcAft>
                <a:spcPts val="0"/>
              </a:spcAft>
              <a:buSzPts val="1800"/>
              <a:buNone/>
            </a:pPr>
            <a:r>
              <a:t/>
            </a:r>
            <a:endParaRPr sz="2800">
              <a:latin typeface="Times New Roman"/>
              <a:ea typeface="Times New Roman"/>
              <a:cs typeface="Times New Roman"/>
              <a:sym typeface="Times New Roman"/>
            </a:endParaRPr>
          </a:p>
          <a:p>
            <a:pPr indent="-228600" lvl="0" marL="457200" rtl="0" algn="just">
              <a:lnSpc>
                <a:spcPct val="90000"/>
              </a:lnSpc>
              <a:spcBef>
                <a:spcPts val="1000"/>
              </a:spcBef>
              <a:spcAft>
                <a:spcPts val="0"/>
              </a:spcAft>
              <a:buSzPts val="1800"/>
              <a:buNone/>
            </a:pPr>
            <a:r>
              <a:t/>
            </a:r>
            <a:endParaRPr sz="28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b="1" i="1" lang="en-US" sz="2800">
                <a:solidFill>
                  <a:schemeClr val="hlink"/>
                </a:solidFill>
                <a:latin typeface="Times New Roman"/>
                <a:ea typeface="Times New Roman"/>
                <a:cs typeface="Times New Roman"/>
                <a:sym typeface="Times New Roman"/>
              </a:rPr>
              <a:t>P(R)</a:t>
            </a:r>
            <a:r>
              <a:rPr lang="en-US" sz="2800">
                <a:latin typeface="Times New Roman"/>
                <a:ea typeface="Times New Roman"/>
                <a:cs typeface="Times New Roman"/>
                <a:sym typeface="Times New Roman"/>
              </a:rPr>
              <a:t> – вероятность того, что случайно выбранный из коллекции документ </a:t>
            </a:r>
            <a:r>
              <a:rPr b="1" i="1" lang="en-US" sz="2800">
                <a:solidFill>
                  <a:schemeClr val="hlink"/>
                </a:solidFill>
                <a:latin typeface="Times New Roman"/>
                <a:ea typeface="Times New Roman"/>
                <a:cs typeface="Times New Roman"/>
                <a:sym typeface="Times New Roman"/>
              </a:rPr>
              <a:t>D</a:t>
            </a:r>
            <a:r>
              <a:rPr lang="en-US" sz="2800">
                <a:latin typeface="Times New Roman"/>
                <a:ea typeface="Times New Roman"/>
                <a:cs typeface="Times New Roman"/>
                <a:sym typeface="Times New Roman"/>
              </a:rPr>
              <a:t> является релевантным</a:t>
            </a:r>
            <a:endParaRPr/>
          </a:p>
          <a:p>
            <a:pPr indent="-228600" lvl="0" marL="457200" rtl="0" algn="just">
              <a:lnSpc>
                <a:spcPct val="90000"/>
              </a:lnSpc>
              <a:spcBef>
                <a:spcPts val="1000"/>
              </a:spcBef>
              <a:spcAft>
                <a:spcPts val="0"/>
              </a:spcAft>
              <a:buSzPts val="1800"/>
              <a:buNone/>
            </a:pPr>
            <a:r>
              <a:t/>
            </a:r>
            <a:endParaRPr sz="28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b="1" i="1" lang="en-US" sz="2800">
                <a:solidFill>
                  <a:schemeClr val="hlink"/>
                </a:solidFill>
                <a:latin typeface="Times New Roman"/>
                <a:ea typeface="Times New Roman"/>
                <a:cs typeface="Times New Roman"/>
                <a:sym typeface="Times New Roman"/>
              </a:rPr>
              <a:t>P(d|R)</a:t>
            </a:r>
            <a:r>
              <a:rPr lang="en-US" sz="2800">
                <a:latin typeface="Times New Roman"/>
                <a:ea typeface="Times New Roman"/>
                <a:cs typeface="Times New Roman"/>
                <a:sym typeface="Times New Roman"/>
              </a:rPr>
              <a:t> – вероятность случайного выбора документа </a:t>
            </a:r>
            <a:r>
              <a:rPr b="1" i="1" lang="en-US" sz="2800">
                <a:solidFill>
                  <a:schemeClr val="hlink"/>
                </a:solidFill>
                <a:latin typeface="Times New Roman"/>
                <a:ea typeface="Times New Roman"/>
                <a:cs typeface="Times New Roman"/>
                <a:sym typeface="Times New Roman"/>
              </a:rPr>
              <a:t>d </a:t>
            </a:r>
            <a:r>
              <a:rPr lang="en-US" sz="2800">
                <a:latin typeface="Times New Roman"/>
                <a:ea typeface="Times New Roman"/>
                <a:cs typeface="Times New Roman"/>
                <a:sym typeface="Times New Roman"/>
              </a:rPr>
              <a:t>из множества релевантных документов</a:t>
            </a:r>
            <a:endParaRPr/>
          </a:p>
          <a:p>
            <a:pPr indent="-228600" lvl="0" marL="457200" rtl="0" algn="just">
              <a:lnSpc>
                <a:spcPct val="90000"/>
              </a:lnSpc>
              <a:spcBef>
                <a:spcPts val="1000"/>
              </a:spcBef>
              <a:spcAft>
                <a:spcPts val="0"/>
              </a:spcAft>
              <a:buSzPts val="1800"/>
              <a:buNone/>
            </a:pPr>
            <a:r>
              <a:t/>
            </a:r>
            <a:endParaRPr sz="2800">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ts val="1800"/>
              <a:buChar char="•"/>
            </a:pPr>
            <a:r>
              <a:rPr b="1" i="1" lang="en-US" sz="2800">
                <a:solidFill>
                  <a:schemeClr val="hlink"/>
                </a:solidFill>
                <a:latin typeface="Times New Roman"/>
                <a:ea typeface="Times New Roman"/>
                <a:cs typeface="Times New Roman"/>
                <a:sym typeface="Times New Roman"/>
              </a:rPr>
              <a:t>P(d)</a:t>
            </a:r>
            <a:r>
              <a:rPr lang="en-US" sz="2800">
                <a:latin typeface="Times New Roman"/>
                <a:ea typeface="Times New Roman"/>
                <a:cs typeface="Times New Roman"/>
                <a:sym typeface="Times New Roman"/>
              </a:rPr>
              <a:t> – вероятность случайного выбора документа </a:t>
            </a:r>
            <a:r>
              <a:rPr b="1" i="1" lang="en-US" sz="2800">
                <a:solidFill>
                  <a:schemeClr val="hlink"/>
                </a:solidFill>
                <a:latin typeface="Times New Roman"/>
                <a:ea typeface="Times New Roman"/>
                <a:cs typeface="Times New Roman"/>
                <a:sym typeface="Times New Roman"/>
              </a:rPr>
              <a:t>d</a:t>
            </a:r>
            <a:r>
              <a:rPr lang="en-US" sz="2800">
                <a:latin typeface="Times New Roman"/>
                <a:ea typeface="Times New Roman"/>
                <a:cs typeface="Times New Roman"/>
                <a:sym typeface="Times New Roman"/>
              </a:rPr>
              <a:t> из коллекции </a:t>
            </a:r>
            <a:r>
              <a:rPr b="1" i="1" lang="en-US" sz="2800">
                <a:solidFill>
                  <a:schemeClr val="hlink"/>
                </a:solidFill>
                <a:latin typeface="Times New Roman"/>
                <a:ea typeface="Times New Roman"/>
                <a:cs typeface="Times New Roman"/>
                <a:sym typeface="Times New Roman"/>
              </a:rPr>
              <a:t>D</a:t>
            </a:r>
            <a:endParaRPr/>
          </a:p>
          <a:p>
            <a:pPr indent="-228600" lvl="0" marL="457200" rtl="0" algn="l">
              <a:lnSpc>
                <a:spcPct val="90000"/>
              </a:lnSpc>
              <a:spcBef>
                <a:spcPts val="1000"/>
              </a:spcBef>
              <a:spcAft>
                <a:spcPts val="0"/>
              </a:spcAft>
              <a:buSzPts val="1800"/>
              <a:buNone/>
            </a:pPr>
            <a:r>
              <a:t/>
            </a:r>
            <a:endParaRPr sz="2400">
              <a:latin typeface="Times New Roman"/>
              <a:ea typeface="Times New Roman"/>
              <a:cs typeface="Times New Roman"/>
              <a:sym typeface="Times New Roman"/>
            </a:endParaRPr>
          </a:p>
        </p:txBody>
      </p:sp>
      <p:sp>
        <p:nvSpPr>
          <p:cNvPr id="715" name="Google Shape;715;p73"/>
          <p:cNvSpPr/>
          <p:nvPr/>
        </p:nvSpPr>
        <p:spPr>
          <a:xfrm>
            <a:off x="1524000"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Garamond"/>
              <a:ea typeface="Garamond"/>
              <a:cs typeface="Garamond"/>
              <a:sym typeface="Garamond"/>
            </a:endParaRPr>
          </a:p>
        </p:txBody>
      </p:sp>
      <p:pic>
        <p:nvPicPr>
          <p:cNvPr id="716" name="Google Shape;716;p73"/>
          <p:cNvPicPr preferRelativeResize="0"/>
          <p:nvPr/>
        </p:nvPicPr>
        <p:blipFill rotWithShape="1">
          <a:blip r:embed="rId3">
            <a:alphaModFix/>
          </a:blip>
          <a:srcRect b="0" l="0" r="0" t="0"/>
          <a:stretch/>
        </p:blipFill>
        <p:spPr>
          <a:xfrm>
            <a:off x="4223792" y="1988840"/>
            <a:ext cx="3455987" cy="9271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74"/>
          <p:cNvSpPr txBox="1"/>
          <p:nvPr>
            <p:ph type="title"/>
          </p:nvPr>
        </p:nvSpPr>
        <p:spPr>
          <a:xfrm>
            <a:off x="609600" y="0"/>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000"/>
              <a:t>Оценка информационного поиска</a:t>
            </a:r>
            <a:endParaRPr/>
          </a:p>
        </p:txBody>
      </p:sp>
      <p:sp>
        <p:nvSpPr>
          <p:cNvPr id="722" name="Google Shape;722;p74"/>
          <p:cNvSpPr txBox="1"/>
          <p:nvPr>
            <p:ph idx="1" type="body"/>
          </p:nvPr>
        </p:nvSpPr>
        <p:spPr>
          <a:xfrm>
            <a:off x="7392144" y="980728"/>
            <a:ext cx="4377269" cy="3726160"/>
          </a:xfrm>
          <a:prstGeom prst="rect">
            <a:avLst/>
          </a:prstGeom>
          <a:blipFill rotWithShape="1">
            <a:blip r:embed="rId3">
              <a:alphaModFix/>
            </a:blip>
            <a:stretch>
              <a:fillRect b="0" l="-2506" r="0" t="-3600"/>
            </a:stretch>
          </a:blip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 </a:t>
            </a:r>
            <a:endParaRPr/>
          </a:p>
        </p:txBody>
      </p:sp>
      <p:graphicFrame>
        <p:nvGraphicFramePr>
          <p:cNvPr id="723" name="Google Shape;723;p74"/>
          <p:cNvGraphicFramePr/>
          <p:nvPr/>
        </p:nvGraphicFramePr>
        <p:xfrm>
          <a:off x="151037" y="1130099"/>
          <a:ext cx="3000000" cy="3000000"/>
        </p:xfrm>
        <a:graphic>
          <a:graphicData uri="http://schemas.openxmlformats.org/drawingml/2006/table">
            <a:tbl>
              <a:tblPr>
                <a:noFill/>
                <a:tableStyleId>{C14D8E69-B1FA-4E07-9C51-2DB75BDF6932}</a:tableStyleId>
              </a:tblPr>
              <a:tblGrid>
                <a:gridCol w="2284725"/>
                <a:gridCol w="2282075"/>
                <a:gridCol w="2525925"/>
              </a:tblGrid>
              <a:tr h="839650">
                <a:tc>
                  <a:txBody>
                    <a:bodyPr/>
                    <a:lstStyle/>
                    <a:p>
                      <a:pPr indent="0" lvl="0" marL="0" marR="0" rtl="0" algn="ctr">
                        <a:lnSpc>
                          <a:spcPct val="100000"/>
                        </a:lnSpc>
                        <a:spcBef>
                          <a:spcPts val="0"/>
                        </a:spcBef>
                        <a:spcAft>
                          <a:spcPts val="0"/>
                        </a:spcAft>
                        <a:buClr>
                          <a:schemeClr val="hlink"/>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960"/>
                        <a:buFont typeface="Noto Sans Symbols"/>
                        <a:buNone/>
                      </a:pPr>
                      <a:r>
                        <a:rPr b="0" i="0" lang="en-US" sz="2800" u="none" cap="none" strike="noStrike">
                          <a:solidFill>
                            <a:schemeClr val="dk1"/>
                          </a:solidFill>
                          <a:latin typeface="Times New Roman"/>
                          <a:ea typeface="Times New Roman"/>
                          <a:cs typeface="Times New Roman"/>
                          <a:sym typeface="Times New Roman"/>
                        </a:rPr>
                        <a:t>Релевантные</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960"/>
                        <a:buFont typeface="Noto Sans Symbols"/>
                        <a:buNone/>
                      </a:pPr>
                      <a:r>
                        <a:rPr b="0" i="0" lang="en-US" sz="2800" u="none" cap="none" strike="noStrike">
                          <a:solidFill>
                            <a:schemeClr val="dk1"/>
                          </a:solidFill>
                          <a:latin typeface="Times New Roman"/>
                          <a:ea typeface="Times New Roman"/>
                          <a:cs typeface="Times New Roman"/>
                          <a:sym typeface="Times New Roman"/>
                        </a:rPr>
                        <a:t>Нерелевантные</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41950">
                <a:tc>
                  <a:txBody>
                    <a:bodyPr/>
                    <a:lstStyle/>
                    <a:p>
                      <a:pPr indent="0" lvl="0" marL="0" marR="0" rtl="0" algn="ctr">
                        <a:lnSpc>
                          <a:spcPct val="100000"/>
                        </a:lnSpc>
                        <a:spcBef>
                          <a:spcPts val="0"/>
                        </a:spcBef>
                        <a:spcAft>
                          <a:spcPts val="0"/>
                        </a:spcAft>
                        <a:buClr>
                          <a:schemeClr val="hlink"/>
                        </a:buClr>
                        <a:buSzPts val="1960"/>
                        <a:buFont typeface="Noto Sans Symbols"/>
                        <a:buNone/>
                      </a:pPr>
                      <a:r>
                        <a:rPr b="0" i="0" lang="en-US" sz="2800" u="none" cap="none" strike="noStrike">
                          <a:solidFill>
                            <a:schemeClr val="dk1"/>
                          </a:solidFill>
                          <a:latin typeface="Times New Roman"/>
                          <a:ea typeface="Times New Roman"/>
                          <a:cs typeface="Times New Roman"/>
                          <a:sym typeface="Times New Roman"/>
                        </a:rPr>
                        <a:t>Найденные</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960"/>
                        <a:buFont typeface="Noto Sans Symbols"/>
                        <a:buNone/>
                      </a:pPr>
                      <a:r>
                        <a:rPr b="0" i="1" lang="en-US" sz="2800" u="none" cap="none" strike="noStrike">
                          <a:solidFill>
                            <a:schemeClr val="dk1"/>
                          </a:solidFill>
                          <a:latin typeface="Times New Roman"/>
                          <a:ea typeface="Times New Roman"/>
                          <a:cs typeface="Times New Roman"/>
                          <a:sym typeface="Times New Roman"/>
                        </a:rPr>
                        <a:t>TP</a:t>
                      </a:r>
                      <a:endParaRPr b="0" i="1"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960"/>
                        <a:buFont typeface="Noto Sans Symbols"/>
                        <a:buNone/>
                      </a:pPr>
                      <a:r>
                        <a:rPr b="0" i="1" lang="en-US" sz="2800" u="none" cap="none" strike="noStrike">
                          <a:solidFill>
                            <a:schemeClr val="dk1"/>
                          </a:solidFill>
                          <a:latin typeface="Times New Roman"/>
                          <a:ea typeface="Times New Roman"/>
                          <a:cs typeface="Times New Roman"/>
                          <a:sym typeface="Times New Roman"/>
                        </a:rPr>
                        <a:t>FP</a:t>
                      </a:r>
                      <a:endParaRPr b="0" i="1"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05825">
                <a:tc>
                  <a:txBody>
                    <a:bodyPr/>
                    <a:lstStyle/>
                    <a:p>
                      <a:pPr indent="0" lvl="0" marL="0" marR="0" rtl="0" algn="ctr">
                        <a:lnSpc>
                          <a:spcPct val="100000"/>
                        </a:lnSpc>
                        <a:spcBef>
                          <a:spcPts val="0"/>
                        </a:spcBef>
                        <a:spcAft>
                          <a:spcPts val="0"/>
                        </a:spcAft>
                        <a:buClr>
                          <a:schemeClr val="hlink"/>
                        </a:buClr>
                        <a:buSzPts val="1960"/>
                        <a:buFont typeface="Noto Sans Symbols"/>
                        <a:buNone/>
                      </a:pPr>
                      <a:r>
                        <a:rPr b="0" i="0" lang="en-US" sz="2800" u="none" cap="none" strike="noStrike">
                          <a:solidFill>
                            <a:schemeClr val="dk1"/>
                          </a:solidFill>
                          <a:latin typeface="Times New Roman"/>
                          <a:ea typeface="Times New Roman"/>
                          <a:cs typeface="Times New Roman"/>
                          <a:sym typeface="Times New Roman"/>
                        </a:rPr>
                        <a:t>Ненайденные</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960"/>
                        <a:buFont typeface="Noto Sans Symbols"/>
                        <a:buNone/>
                      </a:pPr>
                      <a:r>
                        <a:rPr b="0" i="1" lang="en-US" sz="2800" u="none" cap="none" strike="noStrike">
                          <a:solidFill>
                            <a:schemeClr val="dk1"/>
                          </a:solidFill>
                          <a:latin typeface="Times New Roman"/>
                          <a:ea typeface="Times New Roman"/>
                          <a:cs typeface="Times New Roman"/>
                          <a:sym typeface="Times New Roman"/>
                        </a:rPr>
                        <a:t>FN</a:t>
                      </a:r>
                      <a:endParaRPr b="0" i="1"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960"/>
                        <a:buFont typeface="Noto Sans Symbols"/>
                        <a:buNone/>
                      </a:pPr>
                      <a:r>
                        <a:rPr b="0" i="1" lang="en-US" sz="2800" u="none" cap="none" strike="noStrike">
                          <a:solidFill>
                            <a:schemeClr val="dk1"/>
                          </a:solidFill>
                          <a:latin typeface="Times New Roman"/>
                          <a:ea typeface="Times New Roman"/>
                          <a:cs typeface="Times New Roman"/>
                          <a:sym typeface="Times New Roman"/>
                        </a:rPr>
                        <a:t>TN</a:t>
                      </a:r>
                      <a:endParaRPr b="0" i="1"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724" name="Google Shape;724;p74"/>
          <p:cNvSpPr txBox="1"/>
          <p:nvPr/>
        </p:nvSpPr>
        <p:spPr>
          <a:xfrm>
            <a:off x="551384" y="4149726"/>
            <a:ext cx="5182667"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Оценка требует большой коллекции размеченных документов, т.е. огромного труда асессоров.</a:t>
            </a:r>
            <a:endParaRPr/>
          </a:p>
        </p:txBody>
      </p:sp>
      <p:sp>
        <p:nvSpPr>
          <p:cNvPr id="725" name="Google Shape;725;p74"/>
          <p:cNvSpPr txBox="1"/>
          <p:nvPr/>
        </p:nvSpPr>
        <p:spPr>
          <a:xfrm>
            <a:off x="6975799" y="4841450"/>
            <a:ext cx="4606601" cy="1600375"/>
          </a:xfrm>
          <a:prstGeom prst="rect">
            <a:avLst/>
          </a:prstGeom>
          <a:blipFill rotWithShape="1">
            <a:blip r:embed="rId4">
              <a:alphaModFix/>
            </a:blip>
            <a:stretch>
              <a:fillRect b="0" l="-2644" r="0" t="-64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28"/>
          <p:cNvSpPr txBox="1"/>
          <p:nvPr/>
        </p:nvSpPr>
        <p:spPr>
          <a:xfrm>
            <a:off x="551384" y="620688"/>
            <a:ext cx="10873208" cy="569386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1" lang="en-US" sz="2800" u="none" cap="none" strike="noStrike">
                <a:solidFill>
                  <a:srgbClr val="FF0000"/>
                </a:solidFill>
                <a:latin typeface="Times New Roman"/>
                <a:ea typeface="Times New Roman"/>
                <a:cs typeface="Times New Roman"/>
                <a:sym typeface="Times New Roman"/>
              </a:rPr>
              <a:t>Полнота поиска </a:t>
            </a:r>
            <a:r>
              <a:rPr b="0" i="0" lang="en-US" sz="2800" u="none" cap="none" strike="noStrike">
                <a:solidFill>
                  <a:srgbClr val="FF0000"/>
                </a:solidFill>
                <a:latin typeface="Times New Roman"/>
                <a:ea typeface="Times New Roman"/>
                <a:cs typeface="Times New Roman"/>
                <a:sym typeface="Times New Roman"/>
              </a:rPr>
              <a:t>(recall)</a:t>
            </a:r>
            <a:r>
              <a:rPr b="1" i="1" lang="en-US" sz="2800" u="none" cap="none" strike="noStrike">
                <a:solidFill>
                  <a:srgbClr val="FF0000"/>
                </a:solidFill>
                <a:latin typeface="Times New Roman"/>
                <a:ea typeface="Times New Roman"/>
                <a:cs typeface="Times New Roman"/>
                <a:sym typeface="Times New Roman"/>
              </a:rPr>
              <a:t> </a:t>
            </a:r>
            <a:r>
              <a:rPr b="0" i="0" lang="en-US" sz="2800" u="none" cap="none" strike="noStrike">
                <a:solidFill>
                  <a:srgbClr val="000000"/>
                </a:solidFill>
                <a:latin typeface="Times New Roman"/>
                <a:ea typeface="Times New Roman"/>
                <a:cs typeface="Times New Roman"/>
                <a:sym typeface="Times New Roman"/>
              </a:rPr>
              <a:t>характеризует долю выданных ИПС релевантных документов по сравнению с количеством всех имеющихся релевантных документов в информационном (поисковом) массиве.</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1" i="1" lang="en-US" sz="2800" u="none" cap="none" strike="noStrike">
                <a:solidFill>
                  <a:srgbClr val="FF0000"/>
                </a:solidFill>
                <a:latin typeface="Times New Roman"/>
                <a:ea typeface="Times New Roman"/>
                <a:cs typeface="Times New Roman"/>
                <a:sym typeface="Times New Roman"/>
              </a:rPr>
              <a:t>Точность поиска </a:t>
            </a:r>
            <a:r>
              <a:rPr b="0" i="0" lang="en-US" sz="2800" u="none" cap="none" strike="noStrike">
                <a:solidFill>
                  <a:srgbClr val="FF0000"/>
                </a:solidFill>
                <a:latin typeface="Times New Roman"/>
                <a:ea typeface="Times New Roman"/>
                <a:cs typeface="Times New Roman"/>
                <a:sym typeface="Times New Roman"/>
              </a:rPr>
              <a:t>(presicion) </a:t>
            </a:r>
            <a:r>
              <a:rPr b="0" i="0" lang="en-US" sz="2800" u="none" cap="none" strike="noStrike">
                <a:solidFill>
                  <a:srgbClr val="000000"/>
                </a:solidFill>
                <a:latin typeface="Times New Roman"/>
                <a:ea typeface="Times New Roman"/>
                <a:cs typeface="Times New Roman"/>
                <a:sym typeface="Times New Roman"/>
              </a:rPr>
              <a:t>характеризует долю релевантных документов, действительно соответствующих запросу пользователя среди всех выданных ИПС документов. </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Другими словами можно сказать, что полнота – это способность ИПС найти и выдавать все релевантные документы, а точность – это способность ИПС задерживать, т.е. не выдавать нерелевантные документы.</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pic>
        <p:nvPicPr>
          <p:cNvPr id="735" name="Google Shape;735;p75"/>
          <p:cNvPicPr preferRelativeResize="0"/>
          <p:nvPr/>
        </p:nvPicPr>
        <p:blipFill rotWithShape="1">
          <a:blip r:embed="rId3">
            <a:alphaModFix/>
          </a:blip>
          <a:srcRect b="0" l="0" r="0" t="0"/>
          <a:stretch/>
        </p:blipFill>
        <p:spPr>
          <a:xfrm>
            <a:off x="2531604" y="284235"/>
            <a:ext cx="7128792" cy="628953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6"/>
          <p:cNvSpPr txBox="1"/>
          <p:nvPr/>
        </p:nvSpPr>
        <p:spPr>
          <a:xfrm>
            <a:off x="371364" y="332656"/>
            <a:ext cx="11449272" cy="56938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800" u="none" cap="none" strike="noStrike">
                <a:solidFill>
                  <a:srgbClr val="000000"/>
                </a:solidFill>
                <a:latin typeface="Times New Roman"/>
                <a:ea typeface="Times New Roman"/>
                <a:cs typeface="Times New Roman"/>
                <a:sym typeface="Times New Roman"/>
              </a:rPr>
              <a:t>F-мера </a:t>
            </a:r>
            <a:endParaRPr/>
          </a:p>
          <a:p>
            <a:pPr indent="0" lvl="0" marL="0" marR="0" rtl="0" algn="just">
              <a:lnSpc>
                <a:spcPct val="100000"/>
              </a:lnSpc>
              <a:spcBef>
                <a:spcPts val="0"/>
              </a:spcBef>
              <a:spcAft>
                <a:spcPts val="0"/>
              </a:spcAft>
              <a:buNone/>
            </a:pPr>
            <a:r>
              <a:rPr b="0" i="0" lang="en-US" sz="2800" u="none" cap="none" strike="noStrike">
                <a:solidFill>
                  <a:srgbClr val="212121"/>
                </a:solidFill>
                <a:latin typeface="Times New Roman"/>
                <a:ea typeface="Times New Roman"/>
                <a:cs typeface="Times New Roman"/>
                <a:sym typeface="Times New Roman"/>
              </a:rPr>
              <a:t>Понятно что чем выше точность и полнота, тем лучше. Но в реальной жизни максимальная точность и полнота не достижимы одновременно и приходится искать некий баланс. Поэтому, хотелось бы иметь некую метрику которая объединяла бы в себе информацию о точности и полноте нашего алгоритма. </a:t>
            </a:r>
            <a:endParaRPr b="0" i="0" sz="2800" u="none" cap="none" strike="noStrike">
              <a:solidFill>
                <a:srgbClr val="21212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212121"/>
                </a:solidFill>
                <a:latin typeface="Times New Roman"/>
                <a:ea typeface="Times New Roman"/>
                <a:cs typeface="Times New Roman"/>
                <a:sym typeface="Times New Roman"/>
              </a:rPr>
              <a:t>В этом случае нам будет проще принимать решение о том какую реализацию запускать в production (у кого больше тот и круче). Именно такой метрикой является F-мера.</a:t>
            </a:r>
            <a:endParaRPr b="0" i="0" sz="2800" u="none" cap="none" strike="noStrike">
              <a:solidFill>
                <a:srgbClr val="21212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800" u="none" cap="none" strike="noStrike">
              <a:solidFill>
                <a:srgbClr val="21212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212121"/>
                </a:solidFill>
                <a:latin typeface="Times New Roman"/>
                <a:ea typeface="Times New Roman"/>
                <a:cs typeface="Times New Roman"/>
                <a:sym typeface="Times New Roman"/>
              </a:rPr>
              <a:t>F-мера представляет собой </a:t>
            </a:r>
            <a:r>
              <a:rPr b="0" i="0" lang="en-US" sz="2800" u="sng" cap="none" strike="noStrike">
                <a:solidFill>
                  <a:srgbClr val="1565C0"/>
                </a:solidFill>
                <a:latin typeface="Times New Roman"/>
                <a:ea typeface="Times New Roman"/>
                <a:cs typeface="Times New Roman"/>
                <a:sym typeface="Times New Roman"/>
                <a:hlinkClick r:id="rId3">
                  <a:extLst>
                    <a:ext uri="{A12FA001-AC4F-418D-AE19-62706E023703}">
                      <ahyp:hlinkClr val="tx"/>
                    </a:ext>
                  </a:extLst>
                </a:hlinkClick>
              </a:rPr>
              <a:t>гармоническое среднее</a:t>
            </a:r>
            <a:r>
              <a:rPr b="0" i="0" lang="en-US" sz="2800" u="none" cap="none" strike="noStrike">
                <a:solidFill>
                  <a:srgbClr val="212121"/>
                </a:solidFill>
                <a:latin typeface="Times New Roman"/>
                <a:ea typeface="Times New Roman"/>
                <a:cs typeface="Times New Roman"/>
                <a:sym typeface="Times New Roman"/>
              </a:rPr>
              <a:t> между точностью и полнотой. Она стремится к нулю, если точность или полнота стремится к нулю.</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77"/>
          <p:cNvSpPr txBox="1"/>
          <p:nvPr/>
        </p:nvSpPr>
        <p:spPr>
          <a:xfrm>
            <a:off x="696583" y="2507050"/>
            <a:ext cx="11043390"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212121"/>
                </a:solidFill>
                <a:latin typeface="Times New Roman"/>
                <a:ea typeface="Times New Roman"/>
                <a:cs typeface="Times New Roman"/>
                <a:sym typeface="Times New Roman"/>
              </a:rPr>
              <a:t>Данная формула придает одинаковый вес </a:t>
            </a:r>
            <a:r>
              <a:rPr b="1" i="0" lang="en-US" sz="2800" u="none" cap="none" strike="noStrike">
                <a:solidFill>
                  <a:srgbClr val="000000"/>
                </a:solidFill>
                <a:latin typeface="Times New Roman"/>
                <a:ea typeface="Times New Roman"/>
                <a:cs typeface="Times New Roman"/>
                <a:sym typeface="Times New Roman"/>
              </a:rPr>
              <a:t>Precision-</a:t>
            </a:r>
            <a:r>
              <a:rPr b="0" i="0" lang="en-US" sz="2800" u="none" cap="none" strike="noStrike">
                <a:solidFill>
                  <a:srgbClr val="212121"/>
                </a:solidFill>
                <a:latin typeface="Times New Roman"/>
                <a:ea typeface="Times New Roman"/>
                <a:cs typeface="Times New Roman"/>
                <a:sym typeface="Times New Roman"/>
              </a:rPr>
              <a:t>точности и </a:t>
            </a:r>
            <a:r>
              <a:rPr b="1" i="0" lang="en-US" sz="2800" u="none" cap="none" strike="noStrike">
                <a:solidFill>
                  <a:srgbClr val="000000"/>
                </a:solidFill>
                <a:latin typeface="Times New Roman"/>
                <a:ea typeface="Times New Roman"/>
                <a:cs typeface="Times New Roman"/>
                <a:sym typeface="Times New Roman"/>
              </a:rPr>
              <a:t>Recall-</a:t>
            </a:r>
            <a:r>
              <a:rPr b="0" i="0" lang="en-US" sz="2800" u="none" cap="none" strike="noStrike">
                <a:solidFill>
                  <a:srgbClr val="212121"/>
                </a:solidFill>
                <a:latin typeface="Times New Roman"/>
                <a:ea typeface="Times New Roman"/>
                <a:cs typeface="Times New Roman"/>
                <a:sym typeface="Times New Roman"/>
              </a:rPr>
              <a:t>полноте, поэтому F-мера будет падать одинаково при уменьшении и точности и полноты. Возможно рассчитать F-меру придав различный вес точности и полноте, если вы осознанно отдаете приоритет одной из этих метрик при разработке алгоритма.</a:t>
            </a:r>
            <a:endParaRPr b="0" i="0" sz="2800" u="none" cap="none" strike="noStrike">
              <a:solidFill>
                <a:srgbClr val="000000"/>
              </a:solidFill>
              <a:latin typeface="Times New Roman"/>
              <a:ea typeface="Times New Roman"/>
              <a:cs typeface="Times New Roman"/>
              <a:sym typeface="Times New Roman"/>
            </a:endParaRPr>
          </a:p>
        </p:txBody>
      </p:sp>
      <p:sp>
        <p:nvSpPr>
          <p:cNvPr id="746" name="Google Shape;746;p77"/>
          <p:cNvSpPr txBox="1"/>
          <p:nvPr/>
        </p:nvSpPr>
        <p:spPr>
          <a:xfrm>
            <a:off x="4983163" y="836712"/>
            <a:ext cx="2225674" cy="93019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graphicFrame>
        <p:nvGraphicFramePr>
          <p:cNvPr id="751" name="Google Shape;751;p78"/>
          <p:cNvGraphicFramePr/>
          <p:nvPr/>
        </p:nvGraphicFramePr>
        <p:xfrm>
          <a:off x="4223792" y="776126"/>
          <a:ext cx="3200400" cy="1057275"/>
        </p:xfrm>
        <a:graphic>
          <a:graphicData uri="http://schemas.openxmlformats.org/presentationml/2006/ole">
            <mc:AlternateContent>
              <mc:Choice Requires="v">
                <p:oleObj r:id="rId4" imgH="1057275" imgW="3200400" progId="Paint.Picture" spid="_x0000_s1">
                  <p:embed/>
                </p:oleObj>
              </mc:Choice>
              <mc:Fallback>
                <p:oleObj r:id="rId5" imgH="1057275" imgW="3200400" progId="Paint.Picture">
                  <p:embed/>
                  <p:pic>
                    <p:nvPicPr>
                      <p:cNvPr id="751" name="Google Shape;751;p78"/>
                      <p:cNvPicPr preferRelativeResize="0"/>
                      <p:nvPr/>
                    </p:nvPicPr>
                    <p:blipFill rotWithShape="1">
                      <a:blip r:embed="rId6">
                        <a:alphaModFix/>
                      </a:blip>
                      <a:srcRect b="0" l="0" r="0" t="0"/>
                      <a:stretch/>
                    </p:blipFill>
                    <p:spPr>
                      <a:xfrm>
                        <a:off x="4223792" y="776126"/>
                        <a:ext cx="3200400" cy="1057275"/>
                      </a:xfrm>
                      <a:prstGeom prst="rect">
                        <a:avLst/>
                      </a:prstGeom>
                      <a:noFill/>
                      <a:ln>
                        <a:noFill/>
                      </a:ln>
                    </p:spPr>
                  </p:pic>
                </p:oleObj>
              </mc:Fallback>
            </mc:AlternateContent>
          </a:graphicData>
        </a:graphic>
      </p:graphicFrame>
      <p:sp>
        <p:nvSpPr>
          <p:cNvPr id="752" name="Google Shape;752;p78"/>
          <p:cNvSpPr txBox="1"/>
          <p:nvPr/>
        </p:nvSpPr>
        <p:spPr>
          <a:xfrm>
            <a:off x="839416" y="2564904"/>
            <a:ext cx="10945216" cy="26776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	где α принимает значения в диапазоне 0&lt; α &lt;1, если вы хотите отдать приоритет точности,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а при  α &gt;1 приоритет отдается полноте.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	При  α =1 формула сводится к предыдущей и вы получаете сбалансированную F-меру (также ее называют F</a:t>
            </a:r>
            <a:r>
              <a:rPr b="0" baseline="-25000" i="0" lang="en-US" sz="2800" u="none" cap="none" strike="noStrike">
                <a:solidFill>
                  <a:srgbClr val="000000"/>
                </a:solidFill>
                <a:latin typeface="Times New Roman"/>
                <a:ea typeface="Times New Roman"/>
                <a:cs typeface="Times New Roman"/>
                <a:sym typeface="Times New Roman"/>
              </a:rPr>
              <a:t>1</a:t>
            </a:r>
            <a:r>
              <a:rPr b="0" i="0" lang="en-US" sz="2800" u="none" cap="none" strike="noStrike">
                <a:solidFill>
                  <a:srgbClr val="000000"/>
                </a:solidFill>
                <a:latin typeface="Times New Roman"/>
                <a:ea typeface="Times New Roman"/>
                <a:cs typeface="Times New Roman"/>
                <a:sym typeface="Times New Roman"/>
              </a:rPr>
              <a:t>).</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9"/>
          <p:cNvSpPr txBox="1"/>
          <p:nvPr>
            <p:ph type="title"/>
          </p:nvPr>
        </p:nvSpPr>
        <p:spPr>
          <a:xfrm>
            <a:off x="1043631" y="809898"/>
            <a:ext cx="9942716"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800"/>
              <a:t>Пример</a:t>
            </a:r>
            <a:endParaRPr sz="4800"/>
          </a:p>
        </p:txBody>
      </p:sp>
      <p:sp>
        <p:nvSpPr>
          <p:cNvPr id="758" name="Google Shape;758;p79"/>
          <p:cNvSpPr txBox="1"/>
          <p:nvPr/>
        </p:nvSpPr>
        <p:spPr>
          <a:xfrm>
            <a:off x="922926" y="2496176"/>
            <a:ext cx="10515600"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	Для примера расчёта F-score, предположим, что у нас есть модель классификации, и она классифицирует объекты как "положительные" или "отрицательные". Мы рассчитываем F-score на основе таких метрик, как </a:t>
            </a:r>
            <a:r>
              <a:rPr b="1" i="0" lang="en-US" sz="2800" u="none" cap="none" strike="noStrike">
                <a:solidFill>
                  <a:srgbClr val="000000"/>
                </a:solidFill>
                <a:latin typeface="Times New Roman"/>
                <a:ea typeface="Times New Roman"/>
                <a:cs typeface="Times New Roman"/>
                <a:sym typeface="Times New Roman"/>
              </a:rPr>
              <a:t>Precision</a:t>
            </a:r>
            <a:r>
              <a:rPr b="0" i="0" lang="en-US" sz="2800" u="none" cap="none" strike="noStrike">
                <a:solidFill>
                  <a:srgbClr val="000000"/>
                </a:solidFill>
                <a:latin typeface="Times New Roman"/>
                <a:ea typeface="Times New Roman"/>
                <a:cs typeface="Times New Roman"/>
                <a:sym typeface="Times New Roman"/>
              </a:rPr>
              <a:t> (точность) и </a:t>
            </a:r>
            <a:r>
              <a:rPr b="1" i="0" lang="en-US" sz="2800" u="none" cap="none" strike="noStrike">
                <a:solidFill>
                  <a:srgbClr val="000000"/>
                </a:solidFill>
                <a:latin typeface="Times New Roman"/>
                <a:ea typeface="Times New Roman"/>
                <a:cs typeface="Times New Roman"/>
                <a:sym typeface="Times New Roman"/>
              </a:rPr>
              <a:t>Recall</a:t>
            </a:r>
            <a:r>
              <a:rPr b="0" i="0" lang="en-US" sz="2800" u="none" cap="none" strike="noStrike">
                <a:solidFill>
                  <a:srgbClr val="000000"/>
                </a:solidFill>
                <a:latin typeface="Times New Roman"/>
                <a:ea typeface="Times New Roman"/>
                <a:cs typeface="Times New Roman"/>
                <a:sym typeface="Times New Roman"/>
              </a:rPr>
              <a:t> (полнота).</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0"/>
          <p:cNvSpPr txBox="1"/>
          <p:nvPr/>
        </p:nvSpPr>
        <p:spPr>
          <a:xfrm>
            <a:off x="479376" y="188640"/>
            <a:ext cx="943304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Предположим, модель классификации дала следующие результаты:</a:t>
            </a:r>
            <a:endParaRPr/>
          </a:p>
          <a:p>
            <a:pPr indent="-177800" lvl="0" marL="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TP=40 (истинно положительные),</a:t>
            </a:r>
            <a:endParaRPr/>
          </a:p>
          <a:p>
            <a:pPr indent="-177800" lvl="0" marL="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FP=10 (ложно положительные),</a:t>
            </a:r>
            <a:endParaRPr/>
          </a:p>
          <a:p>
            <a:pPr indent="-177800" lvl="0" marL="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FN=5 (ложно отрицательные).</a:t>
            </a:r>
            <a:endParaRPr/>
          </a:p>
        </p:txBody>
      </p:sp>
      <p:pic>
        <p:nvPicPr>
          <p:cNvPr id="764" name="Google Shape;764;p80"/>
          <p:cNvPicPr preferRelativeResize="0"/>
          <p:nvPr/>
        </p:nvPicPr>
        <p:blipFill rotWithShape="1">
          <a:blip r:embed="rId3">
            <a:alphaModFix/>
          </a:blip>
          <a:srcRect b="0" l="0" r="0" t="0"/>
          <a:stretch/>
        </p:blipFill>
        <p:spPr>
          <a:xfrm>
            <a:off x="613597" y="2780928"/>
            <a:ext cx="10964805" cy="3496163"/>
          </a:xfrm>
          <a:prstGeom prst="rect">
            <a:avLst/>
          </a:prstGeom>
          <a:noFill/>
          <a:ln>
            <a:noFill/>
          </a:ln>
        </p:spPr>
      </p:pic>
      <p:graphicFrame>
        <p:nvGraphicFramePr>
          <p:cNvPr id="765" name="Google Shape;765;p80"/>
          <p:cNvGraphicFramePr/>
          <p:nvPr/>
        </p:nvGraphicFramePr>
        <p:xfrm>
          <a:off x="5951984" y="980728"/>
          <a:ext cx="3000000" cy="3000000"/>
        </p:xfrm>
        <a:graphic>
          <a:graphicData uri="http://schemas.openxmlformats.org/drawingml/2006/table">
            <a:tbl>
              <a:tblPr>
                <a:noFill/>
                <a:tableStyleId>{C14D8E69-B1FA-4E07-9C51-2DB75BDF6932}</a:tableStyleId>
              </a:tblPr>
              <a:tblGrid>
                <a:gridCol w="1994800"/>
                <a:gridCol w="1992500"/>
                <a:gridCol w="2205400"/>
              </a:tblGrid>
              <a:tr h="416075">
                <a:tc>
                  <a:txBody>
                    <a:bodyPr/>
                    <a:lstStyle/>
                    <a:p>
                      <a:pPr indent="0" lvl="0" marL="0" marR="0" rtl="0" algn="ctr">
                        <a:lnSpc>
                          <a:spcPct val="100000"/>
                        </a:lnSpc>
                        <a:spcBef>
                          <a:spcPts val="0"/>
                        </a:spcBef>
                        <a:spcAft>
                          <a:spcPts val="0"/>
                        </a:spcAft>
                        <a:buClr>
                          <a:schemeClr val="hlink"/>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680"/>
                        <a:buFont typeface="Noto Sans Symbols"/>
                        <a:buNone/>
                      </a:pPr>
                      <a:r>
                        <a:rPr b="0" i="0" lang="en-US" sz="2400" u="none" cap="none" strike="noStrike">
                          <a:solidFill>
                            <a:schemeClr val="dk1"/>
                          </a:solidFill>
                          <a:latin typeface="Times New Roman"/>
                          <a:ea typeface="Times New Roman"/>
                          <a:cs typeface="Times New Roman"/>
                          <a:sym typeface="Times New Roman"/>
                        </a:rPr>
                        <a:t>Релевантные</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680"/>
                        <a:buFont typeface="Noto Sans Symbols"/>
                        <a:buNone/>
                      </a:pPr>
                      <a:r>
                        <a:rPr b="0" i="0" lang="en-US" sz="2400" u="none" cap="none" strike="noStrike">
                          <a:solidFill>
                            <a:schemeClr val="dk1"/>
                          </a:solidFill>
                          <a:latin typeface="Times New Roman"/>
                          <a:ea typeface="Times New Roman"/>
                          <a:cs typeface="Times New Roman"/>
                          <a:sym typeface="Times New Roman"/>
                        </a:rPr>
                        <a:t>Нерелевантные</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7200">
                <a:tc>
                  <a:txBody>
                    <a:bodyPr/>
                    <a:lstStyle/>
                    <a:p>
                      <a:pPr indent="0" lvl="0" marL="0" marR="0" rtl="0" algn="ctr">
                        <a:lnSpc>
                          <a:spcPct val="100000"/>
                        </a:lnSpc>
                        <a:spcBef>
                          <a:spcPts val="0"/>
                        </a:spcBef>
                        <a:spcAft>
                          <a:spcPts val="0"/>
                        </a:spcAft>
                        <a:buClr>
                          <a:schemeClr val="hlink"/>
                        </a:buClr>
                        <a:buSzPts val="1680"/>
                        <a:buFont typeface="Noto Sans Symbols"/>
                        <a:buNone/>
                      </a:pPr>
                      <a:r>
                        <a:rPr b="0" i="0" lang="en-US" sz="2400" u="none" cap="none" strike="noStrike">
                          <a:solidFill>
                            <a:schemeClr val="dk1"/>
                          </a:solidFill>
                          <a:latin typeface="Times New Roman"/>
                          <a:ea typeface="Times New Roman"/>
                          <a:cs typeface="Times New Roman"/>
                          <a:sym typeface="Times New Roman"/>
                        </a:rPr>
                        <a:t>Найденные</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680"/>
                        <a:buFont typeface="Noto Sans Symbols"/>
                        <a:buNone/>
                      </a:pPr>
                      <a:r>
                        <a:rPr b="0" i="1" lang="en-US" sz="2400" u="none" cap="none" strike="noStrike">
                          <a:solidFill>
                            <a:schemeClr val="dk1"/>
                          </a:solidFill>
                          <a:latin typeface="Times New Roman"/>
                          <a:ea typeface="Times New Roman"/>
                          <a:cs typeface="Times New Roman"/>
                          <a:sym typeface="Times New Roman"/>
                        </a:rPr>
                        <a:t>TP</a:t>
                      </a:r>
                      <a:endParaRPr b="0" i="1"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680"/>
                        <a:buFont typeface="Noto Sans Symbols"/>
                        <a:buNone/>
                      </a:pPr>
                      <a:r>
                        <a:rPr b="0" i="1" lang="en-US" sz="2400" u="none" cap="none" strike="noStrike">
                          <a:solidFill>
                            <a:schemeClr val="dk1"/>
                          </a:solidFill>
                          <a:latin typeface="Times New Roman"/>
                          <a:ea typeface="Times New Roman"/>
                          <a:cs typeface="Times New Roman"/>
                          <a:sym typeface="Times New Roman"/>
                        </a:rPr>
                        <a:t>FP</a:t>
                      </a:r>
                      <a:endParaRPr b="0" i="1"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8850">
                <a:tc>
                  <a:txBody>
                    <a:bodyPr/>
                    <a:lstStyle/>
                    <a:p>
                      <a:pPr indent="0" lvl="0" marL="0" marR="0" rtl="0" algn="ctr">
                        <a:lnSpc>
                          <a:spcPct val="100000"/>
                        </a:lnSpc>
                        <a:spcBef>
                          <a:spcPts val="0"/>
                        </a:spcBef>
                        <a:spcAft>
                          <a:spcPts val="0"/>
                        </a:spcAft>
                        <a:buClr>
                          <a:schemeClr val="hlink"/>
                        </a:buClr>
                        <a:buSzPts val="1680"/>
                        <a:buFont typeface="Noto Sans Symbols"/>
                        <a:buNone/>
                      </a:pPr>
                      <a:r>
                        <a:rPr b="0" i="0" lang="en-US" sz="2400" u="none" cap="none" strike="noStrike">
                          <a:solidFill>
                            <a:schemeClr val="dk1"/>
                          </a:solidFill>
                          <a:latin typeface="Times New Roman"/>
                          <a:ea typeface="Times New Roman"/>
                          <a:cs typeface="Times New Roman"/>
                          <a:sym typeface="Times New Roman"/>
                        </a:rPr>
                        <a:t>Ненайденные</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680"/>
                        <a:buFont typeface="Noto Sans Symbols"/>
                        <a:buNone/>
                      </a:pPr>
                      <a:r>
                        <a:rPr b="0" i="1" lang="en-US" sz="2400" u="none" cap="none" strike="noStrike">
                          <a:solidFill>
                            <a:schemeClr val="dk1"/>
                          </a:solidFill>
                          <a:latin typeface="Times New Roman"/>
                          <a:ea typeface="Times New Roman"/>
                          <a:cs typeface="Times New Roman"/>
                          <a:sym typeface="Times New Roman"/>
                        </a:rPr>
                        <a:t>FN</a:t>
                      </a:r>
                      <a:endParaRPr b="0" i="1"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hlink"/>
                        </a:buClr>
                        <a:buSzPts val="1680"/>
                        <a:buFont typeface="Noto Sans Symbols"/>
                        <a:buNone/>
                      </a:pPr>
                      <a:r>
                        <a:rPr b="0" i="1" lang="en-US" sz="2400" u="none" cap="none" strike="noStrike">
                          <a:solidFill>
                            <a:schemeClr val="dk1"/>
                          </a:solidFill>
                          <a:latin typeface="Times New Roman"/>
                          <a:ea typeface="Times New Roman"/>
                          <a:cs typeface="Times New Roman"/>
                          <a:sym typeface="Times New Roman"/>
                        </a:rPr>
                        <a:t>TN</a:t>
                      </a:r>
                      <a:endParaRPr b="0" i="1"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pic>
        <p:nvPicPr>
          <p:cNvPr id="770" name="Google Shape;770;p81"/>
          <p:cNvPicPr preferRelativeResize="0"/>
          <p:nvPr/>
        </p:nvPicPr>
        <p:blipFill rotWithShape="1">
          <a:blip r:embed="rId3">
            <a:alphaModFix/>
          </a:blip>
          <a:srcRect b="0" l="0" r="0" t="0"/>
          <a:stretch/>
        </p:blipFill>
        <p:spPr>
          <a:xfrm>
            <a:off x="0" y="1131139"/>
            <a:ext cx="12192000" cy="1802051"/>
          </a:xfrm>
          <a:prstGeom prst="rect">
            <a:avLst/>
          </a:prstGeom>
          <a:noFill/>
          <a:ln>
            <a:noFill/>
          </a:ln>
        </p:spPr>
      </p:pic>
      <p:sp>
        <p:nvSpPr>
          <p:cNvPr id="771" name="Google Shape;771;p81"/>
          <p:cNvSpPr txBox="1"/>
          <p:nvPr/>
        </p:nvSpPr>
        <p:spPr>
          <a:xfrm>
            <a:off x="1199456" y="3933056"/>
            <a:ext cx="1008112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Значение F-score в данном примере составляет </a:t>
            </a:r>
            <a:r>
              <a:rPr b="1" i="0" lang="en-US" sz="2800" u="none" cap="none" strike="noStrike">
                <a:solidFill>
                  <a:srgbClr val="000000"/>
                </a:solidFill>
                <a:latin typeface="Times New Roman"/>
                <a:ea typeface="Times New Roman"/>
                <a:cs typeface="Times New Roman"/>
                <a:sym typeface="Times New Roman"/>
              </a:rPr>
              <a:t>0.842</a:t>
            </a:r>
            <a:r>
              <a:rPr b="0" i="0" lang="en-US" sz="2800" u="none" cap="none" strike="noStrike">
                <a:solidFill>
                  <a:srgbClr val="000000"/>
                </a:solidFill>
                <a:latin typeface="Times New Roman"/>
                <a:ea typeface="Times New Roman"/>
                <a:cs typeface="Times New Roman"/>
                <a:sym typeface="Times New Roman"/>
              </a:rPr>
              <a:t>, что указывает на хороший баланс между точностью и полнотой.</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36"/>
          <p:cNvSpPr txBox="1"/>
          <p:nvPr>
            <p:ph type="title"/>
          </p:nvPr>
        </p:nvSpPr>
        <p:spPr>
          <a:xfrm>
            <a:off x="1055440" y="2078799"/>
            <a:ext cx="9505056"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5454"/>
              <a:buNone/>
            </a:pPr>
            <a:r>
              <a:rPr lang="en-US"/>
              <a:t>Литература: </a:t>
            </a:r>
            <a:br>
              <a:rPr lang="en-US"/>
            </a:br>
            <a:br>
              <a:rPr lang="en-US"/>
            </a:br>
            <a:r>
              <a:rPr lang="en-US" sz="4400">
                <a:latin typeface="Times New Roman"/>
                <a:ea typeface="Times New Roman"/>
                <a:cs typeface="Times New Roman"/>
                <a:sym typeface="Times New Roman"/>
              </a:rPr>
              <a:t>К. Д. Маннинг, П. Рагхаван, Х. Шютце Введение в информационный поиск – Вильямс, 2011</a:t>
            </a:r>
            <a:br>
              <a:rPr lang="en-US" sz="4400">
                <a:latin typeface="Times New Roman"/>
                <a:ea typeface="Times New Roman"/>
                <a:cs typeface="Times New Roman"/>
                <a:sym typeface="Times New Roman"/>
              </a:rPr>
            </a:b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descr="Крупный план листа бумаги с карандашом, лежащим сверху" id="782" name="Google Shape;782;p82"/>
          <p:cNvPicPr preferRelativeResize="0"/>
          <p:nvPr/>
        </p:nvPicPr>
        <p:blipFill rotWithShape="1">
          <a:blip r:embed="rId3">
            <a:alphaModFix/>
          </a:blip>
          <a:srcRect b="0" l="0" r="0" t="0"/>
          <a:stretch/>
        </p:blipFill>
        <p:spPr>
          <a:xfrm>
            <a:off x="20" y="10"/>
            <a:ext cx="12191980" cy="6857990"/>
          </a:xfrm>
          <a:prstGeom prst="rect">
            <a:avLst/>
          </a:prstGeom>
          <a:noFill/>
          <a:ln>
            <a:noFill/>
          </a:ln>
        </p:spPr>
      </p:pic>
      <p:sp>
        <p:nvSpPr>
          <p:cNvPr id="783" name="Google Shape;783;p82"/>
          <p:cNvSpPr/>
          <p:nvPr/>
        </p:nvSpPr>
        <p:spPr>
          <a:xfrm>
            <a:off x="0" y="428852"/>
            <a:ext cx="12192000" cy="736551"/>
          </a:xfrm>
          <a:prstGeom prst="rect">
            <a:avLst/>
          </a:prstGeom>
          <a:solidFill>
            <a:schemeClr val="lt1">
              <a:alpha val="9254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4" name="Google Shape;784;p82"/>
          <p:cNvSpPr txBox="1"/>
          <p:nvPr>
            <p:ph type="title"/>
          </p:nvPr>
        </p:nvSpPr>
        <p:spPr>
          <a:xfrm>
            <a:off x="523875" y="425950"/>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b="1" i="1" lang="en-US" sz="4000">
                <a:latin typeface="Times New Roman"/>
                <a:ea typeface="Times New Roman"/>
                <a:cs typeface="Times New Roman"/>
                <a:sym typeface="Times New Roman"/>
              </a:rPr>
              <a:t>Автоматическое реферирование</a:t>
            </a:r>
            <a:endParaRPr b="1" sz="4000">
              <a:latin typeface="Times New Roman"/>
              <a:ea typeface="Times New Roman"/>
              <a:cs typeface="Times New Roman"/>
              <a:sym typeface="Times New Roman"/>
            </a:endParaRPr>
          </a:p>
        </p:txBody>
      </p:sp>
      <p:cxnSp>
        <p:nvCxnSpPr>
          <p:cNvPr id="785" name="Google Shape;785;p82"/>
          <p:cNvCxnSpPr/>
          <p:nvPr/>
        </p:nvCxnSpPr>
        <p:spPr>
          <a:xfrm>
            <a:off x="0" y="350693"/>
            <a:ext cx="12192000" cy="0"/>
          </a:xfrm>
          <a:prstGeom prst="straightConnector1">
            <a:avLst/>
          </a:prstGeom>
          <a:noFill/>
          <a:ln cap="flat" cmpd="sng" w="41275">
            <a:solidFill>
              <a:schemeClr val="lt1">
                <a:alpha val="89411"/>
              </a:schemeClr>
            </a:solidFill>
            <a:prstDash val="solid"/>
            <a:miter lim="800000"/>
            <a:headEnd len="sm" w="sm" type="none"/>
            <a:tailEnd len="sm" w="sm" type="none"/>
          </a:ln>
        </p:spPr>
      </p:cxnSp>
      <p:cxnSp>
        <p:nvCxnSpPr>
          <p:cNvPr id="786" name="Google Shape;786;p82"/>
          <p:cNvCxnSpPr/>
          <p:nvPr/>
        </p:nvCxnSpPr>
        <p:spPr>
          <a:xfrm>
            <a:off x="0" y="1243562"/>
            <a:ext cx="12192000" cy="0"/>
          </a:xfrm>
          <a:prstGeom prst="straightConnector1">
            <a:avLst/>
          </a:prstGeom>
          <a:noFill/>
          <a:ln cap="flat" cmpd="sng" w="41275">
            <a:solidFill>
              <a:schemeClr val="lt1">
                <a:alpha val="89411"/>
              </a:schemeClr>
            </a:solidFill>
            <a:prstDash val="solid"/>
            <a:miter lim="800000"/>
            <a:headEnd len="sm" w="sm" type="none"/>
            <a:tailEnd len="sm" w="sm"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83"/>
          <p:cNvSpPr txBox="1"/>
          <p:nvPr/>
        </p:nvSpPr>
        <p:spPr>
          <a:xfrm>
            <a:off x="2814034" y="1710598"/>
            <a:ext cx="7746600" cy="4525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1" i="1" lang="en-US" sz="3200" u="none" cap="none" strike="noStrike">
                <a:solidFill>
                  <a:srgbClr val="111111"/>
                </a:solidFill>
                <a:latin typeface="Times New Roman"/>
                <a:ea typeface="Times New Roman"/>
                <a:cs typeface="Times New Roman"/>
                <a:sym typeface="Times New Roman"/>
              </a:rPr>
              <a:t>Один документ</a:t>
            </a:r>
            <a:r>
              <a:rPr b="0" i="0" lang="en-US" sz="3200" u="none" cap="none" strike="noStrike">
                <a:solidFill>
                  <a:srgbClr val="111111"/>
                </a:solidFill>
                <a:latin typeface="Times New Roman"/>
                <a:ea typeface="Times New Roman"/>
                <a:cs typeface="Times New Roman"/>
                <a:sym typeface="Times New Roman"/>
              </a:rPr>
              <a:t>  текст, который необходимо сжать. </a:t>
            </a:r>
            <a:endParaRPr b="0" i="0" sz="3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rgbClr val="11111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3200"/>
              <a:buFont typeface="Arial"/>
              <a:buNone/>
            </a:pPr>
            <a:r>
              <a:rPr b="1" i="1" lang="en-US" sz="3200" u="none" cap="none" strike="noStrike">
                <a:solidFill>
                  <a:srgbClr val="111111"/>
                </a:solidFill>
                <a:latin typeface="Times New Roman"/>
                <a:ea typeface="Times New Roman"/>
                <a:cs typeface="Times New Roman"/>
                <a:sym typeface="Times New Roman"/>
              </a:rPr>
              <a:t>Несколько документов </a:t>
            </a:r>
            <a:r>
              <a:rPr b="0" i="0" lang="en-US" sz="3200" u="none" cap="none" strike="noStrike">
                <a:solidFill>
                  <a:srgbClr val="111111"/>
                </a:solidFill>
                <a:latin typeface="Times New Roman"/>
                <a:ea typeface="Times New Roman"/>
                <a:cs typeface="Times New Roman"/>
                <a:sym typeface="Times New Roman"/>
              </a:rPr>
              <a:t>− получение реферата на основе сразу нескольких текстов, объединённых одной темой или посвящённых одному событию, например, ряд новостных сообщений об одном и том же событии.</a:t>
            </a:r>
            <a:endParaRPr b="0" i="0" sz="3200" u="none" cap="none" strike="noStrike">
              <a:solidFill>
                <a:schemeClr val="dk1"/>
              </a:solidFill>
              <a:latin typeface="Times New Roman"/>
              <a:ea typeface="Times New Roman"/>
              <a:cs typeface="Times New Roman"/>
              <a:sym typeface="Times New Roman"/>
            </a:endParaRPr>
          </a:p>
        </p:txBody>
      </p:sp>
      <p:sp>
        <p:nvSpPr>
          <p:cNvPr id="792" name="Google Shape;792;p83"/>
          <p:cNvSpPr txBox="1"/>
          <p:nvPr/>
        </p:nvSpPr>
        <p:spPr>
          <a:xfrm>
            <a:off x="5682343" y="783771"/>
            <a:ext cx="217373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1" lang="en-US" sz="4000" u="none" cap="none" strike="noStrike">
                <a:solidFill>
                  <a:srgbClr val="6199D7"/>
                </a:solidFill>
                <a:latin typeface="Times New Roman"/>
                <a:ea typeface="Times New Roman"/>
                <a:cs typeface="Times New Roman"/>
                <a:sym typeface="Times New Roman"/>
              </a:rPr>
              <a:t>На входе</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84"/>
          <p:cNvSpPr txBox="1"/>
          <p:nvPr/>
        </p:nvSpPr>
        <p:spPr>
          <a:xfrm>
            <a:off x="4239986" y="680357"/>
            <a:ext cx="4634346"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1" lang="en-US" sz="4000" u="none" cap="none" strike="noStrike">
                <a:solidFill>
                  <a:srgbClr val="6199D7"/>
                </a:solidFill>
                <a:latin typeface="Times New Roman"/>
                <a:ea typeface="Times New Roman"/>
                <a:cs typeface="Times New Roman"/>
                <a:sym typeface="Times New Roman"/>
              </a:rPr>
              <a:t>Например, на входе</a:t>
            </a:r>
            <a:endParaRPr b="0" i="0" sz="1400" u="none" cap="none" strike="noStrike">
              <a:solidFill>
                <a:srgbClr val="000000"/>
              </a:solidFill>
              <a:latin typeface="Arial"/>
              <a:ea typeface="Arial"/>
              <a:cs typeface="Arial"/>
              <a:sym typeface="Arial"/>
            </a:endParaRPr>
          </a:p>
        </p:txBody>
      </p:sp>
      <p:sp>
        <p:nvSpPr>
          <p:cNvPr id="798" name="Google Shape;798;p84"/>
          <p:cNvSpPr txBox="1"/>
          <p:nvPr/>
        </p:nvSpPr>
        <p:spPr>
          <a:xfrm>
            <a:off x="2890158" y="1968246"/>
            <a:ext cx="8418544" cy="39703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rgbClr val="111111"/>
                </a:solidFill>
                <a:latin typeface="Times New Roman"/>
                <a:ea typeface="Times New Roman"/>
                <a:cs typeface="Times New Roman"/>
                <a:sym typeface="Times New Roman"/>
              </a:rPr>
              <a:t>Написанная автором </a:t>
            </a:r>
            <a:r>
              <a:rPr b="1" i="1" lang="en-US" sz="2800" u="none" cap="none" strike="noStrike">
                <a:solidFill>
                  <a:srgbClr val="111111"/>
                </a:solidFill>
                <a:latin typeface="Times New Roman"/>
                <a:ea typeface="Times New Roman"/>
                <a:cs typeface="Times New Roman"/>
                <a:sym typeface="Times New Roman"/>
              </a:rPr>
              <a:t>аннотация</a:t>
            </a:r>
            <a:r>
              <a:rPr b="0" i="0" lang="en-US" sz="2800" u="none" cap="none" strike="noStrike">
                <a:solidFill>
                  <a:srgbClr val="111111"/>
                </a:solidFill>
                <a:latin typeface="Times New Roman"/>
                <a:ea typeface="Times New Roman"/>
                <a:cs typeface="Times New Roman"/>
                <a:sym typeface="Times New Roman"/>
              </a:rPr>
              <a:t> (</a:t>
            </a:r>
            <a:r>
              <a:rPr b="1" i="1" lang="en-US" sz="2800" u="none" cap="none" strike="noStrike">
                <a:solidFill>
                  <a:srgbClr val="111111"/>
                </a:solidFill>
                <a:latin typeface="Times New Roman"/>
                <a:ea typeface="Times New Roman"/>
                <a:cs typeface="Times New Roman"/>
                <a:sym typeface="Times New Roman"/>
              </a:rPr>
              <a:t>abstract</a:t>
            </a:r>
            <a:r>
              <a:rPr b="0" i="0" lang="en-US" sz="2800" u="none" cap="none" strike="noStrike">
                <a:solidFill>
                  <a:srgbClr val="111111"/>
                </a:solidFill>
                <a:latin typeface="Times New Roman"/>
                <a:ea typeface="Times New Roman"/>
                <a:cs typeface="Times New Roman"/>
                <a:sym typeface="Times New Roman"/>
              </a:rPr>
              <a:t>), выступающая как исходный текст, подлежащий дальнейшему сокращению, или </a:t>
            </a:r>
            <a:r>
              <a:rPr b="1" i="1" lang="en-US" sz="2800" u="none" cap="none" strike="noStrike">
                <a:solidFill>
                  <a:srgbClr val="111111"/>
                </a:solidFill>
                <a:latin typeface="Times New Roman"/>
                <a:ea typeface="Times New Roman"/>
                <a:cs typeface="Times New Roman"/>
                <a:sym typeface="Times New Roman"/>
              </a:rPr>
              <a:t>полный текст</a:t>
            </a:r>
            <a:r>
              <a:rPr b="0" i="0" lang="en-US" sz="2800" u="none" cap="none" strike="noStrike">
                <a:solidFill>
                  <a:srgbClr val="11111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1" i="1" sz="2800" u="none" cap="none" strike="noStrike">
              <a:solidFill>
                <a:srgbClr val="11111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t/>
            </a:r>
            <a:endParaRPr b="1" i="1" sz="2800" u="none" cap="none" strike="noStrike">
              <a:solidFill>
                <a:srgbClr val="11111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rgbClr val="111111"/>
                </a:solidFill>
                <a:latin typeface="Times New Roman"/>
                <a:ea typeface="Times New Roman"/>
                <a:cs typeface="Times New Roman"/>
                <a:sym typeface="Times New Roman"/>
              </a:rPr>
              <a:t>Литература</a:t>
            </a:r>
            <a:r>
              <a:rPr b="0" i="0" lang="en-US" sz="2800" u="none" cap="none" strike="noStrike">
                <a:solidFill>
                  <a:srgbClr val="111111"/>
                </a:solidFill>
                <a:latin typeface="Times New Roman"/>
                <a:ea typeface="Times New Roman"/>
                <a:cs typeface="Times New Roman"/>
                <a:sym typeface="Times New Roman"/>
              </a:rPr>
              <a:t>, касающаяся биомедицинских исследований vs. </a:t>
            </a:r>
            <a:r>
              <a:rPr b="1" i="1" lang="en-US" sz="2800" u="none" cap="none" strike="noStrike">
                <a:solidFill>
                  <a:srgbClr val="111111"/>
                </a:solidFill>
                <a:latin typeface="Times New Roman"/>
                <a:ea typeface="Times New Roman"/>
                <a:cs typeface="Times New Roman"/>
                <a:sym typeface="Times New Roman"/>
              </a:rPr>
              <a:t>EHR</a:t>
            </a:r>
            <a:r>
              <a:rPr b="0" i="0" lang="en-US" sz="2800" u="none" cap="none" strike="noStrike">
                <a:solidFill>
                  <a:srgbClr val="111111"/>
                </a:solidFill>
                <a:latin typeface="Times New Roman"/>
                <a:ea typeface="Times New Roman"/>
                <a:cs typeface="Times New Roman"/>
                <a:sym typeface="Times New Roman"/>
              </a:rPr>
              <a:t> (</a:t>
            </a:r>
            <a:r>
              <a:rPr b="1" i="1" lang="en-US" sz="2800" u="none" cap="none" strike="noStrike">
                <a:solidFill>
                  <a:srgbClr val="111111"/>
                </a:solidFill>
                <a:latin typeface="Times New Roman"/>
                <a:ea typeface="Times New Roman"/>
                <a:cs typeface="Times New Roman"/>
                <a:sym typeface="Times New Roman"/>
              </a:rPr>
              <a:t>electronic health record</a:t>
            </a:r>
            <a:r>
              <a:rPr b="0" i="0" lang="en-US" sz="2800" u="none" cap="none" strike="noStrike">
                <a:solidFill>
                  <a:srgbClr val="111111"/>
                </a:solidFill>
                <a:latin typeface="Times New Roman"/>
                <a:ea typeface="Times New Roman"/>
                <a:cs typeface="Times New Roman"/>
                <a:sym typeface="Times New Roman"/>
              </a:rPr>
              <a:t>) – электронные записи медиков; критерий специфичный именно для сферы обработки медицинских текстов.</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85"/>
          <p:cNvSpPr txBox="1"/>
          <p:nvPr/>
        </p:nvSpPr>
        <p:spPr>
          <a:xfrm>
            <a:off x="5682343" y="783771"/>
            <a:ext cx="252960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1" lang="en-US" sz="4000" u="none" cap="none" strike="noStrike">
                <a:solidFill>
                  <a:srgbClr val="BE1598"/>
                </a:solidFill>
                <a:latin typeface="Times New Roman"/>
                <a:ea typeface="Times New Roman"/>
                <a:cs typeface="Times New Roman"/>
                <a:sym typeface="Times New Roman"/>
              </a:rPr>
              <a:t>На выходе</a:t>
            </a:r>
            <a:endParaRPr b="0" i="0" sz="1400" u="none" cap="none" strike="noStrike">
              <a:solidFill>
                <a:srgbClr val="000000"/>
              </a:solidFill>
              <a:latin typeface="Arial"/>
              <a:ea typeface="Arial"/>
              <a:cs typeface="Arial"/>
              <a:sym typeface="Arial"/>
            </a:endParaRPr>
          </a:p>
        </p:txBody>
      </p:sp>
      <p:sp>
        <p:nvSpPr>
          <p:cNvPr id="804" name="Google Shape;804;p85"/>
          <p:cNvSpPr txBox="1"/>
          <p:nvPr/>
        </p:nvSpPr>
        <p:spPr>
          <a:xfrm>
            <a:off x="3047223" y="1903359"/>
            <a:ext cx="7720304" cy="39703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rgbClr val="111111"/>
                </a:solidFill>
                <a:latin typeface="Times New Roman"/>
                <a:ea typeface="Times New Roman"/>
                <a:cs typeface="Times New Roman"/>
                <a:sym typeface="Times New Roman"/>
              </a:rPr>
              <a:t>Extract</a:t>
            </a:r>
            <a:r>
              <a:rPr b="0" i="0" lang="en-US" sz="2800" u="none" cap="none" strike="noStrike">
                <a:solidFill>
                  <a:srgbClr val="111111"/>
                </a:solidFill>
                <a:latin typeface="Times New Roman"/>
                <a:ea typeface="Times New Roman"/>
                <a:cs typeface="Times New Roman"/>
                <a:sym typeface="Times New Roman"/>
              </a:rPr>
              <a:t> (</a:t>
            </a:r>
            <a:r>
              <a:rPr b="1" i="1" lang="en-US" sz="2800" u="none" cap="none" strike="noStrike">
                <a:solidFill>
                  <a:srgbClr val="111111"/>
                </a:solidFill>
                <a:latin typeface="Times New Roman"/>
                <a:ea typeface="Times New Roman"/>
                <a:cs typeface="Times New Roman"/>
                <a:sym typeface="Times New Roman"/>
              </a:rPr>
              <a:t>«квазиреферат»</a:t>
            </a:r>
            <a:r>
              <a:rPr b="0" i="0" lang="en-US" sz="2800" u="none" cap="none" strike="noStrike">
                <a:solidFill>
                  <a:srgbClr val="111111"/>
                </a:solidFill>
                <a:latin typeface="Times New Roman"/>
                <a:ea typeface="Times New Roman"/>
                <a:cs typeface="Times New Roman"/>
                <a:sym typeface="Times New Roman"/>
              </a:rPr>
              <a:t>) содержит предложения из исходного текста/текстов, отобранные по определённым критериям и расположенные по порядку, возможно с минимальными изменениями.</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11111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В </a:t>
            </a:r>
            <a:r>
              <a:rPr b="1" i="1" lang="en-US" sz="2800" u="none" cap="none" strike="noStrike">
                <a:solidFill>
                  <a:schemeClr val="dk1"/>
                </a:solidFill>
                <a:latin typeface="Times New Roman"/>
                <a:ea typeface="Times New Roman"/>
                <a:cs typeface="Times New Roman"/>
                <a:sym typeface="Times New Roman"/>
              </a:rPr>
              <a:t>Extract</a:t>
            </a:r>
            <a:r>
              <a:rPr b="0" i="0" lang="en-US" sz="2800" u="none" cap="none" strike="noStrike">
                <a:solidFill>
                  <a:schemeClr val="dk1"/>
                </a:solidFill>
                <a:latin typeface="Times New Roman"/>
                <a:ea typeface="Times New Roman"/>
                <a:cs typeface="Times New Roman"/>
                <a:sym typeface="Times New Roman"/>
              </a:rPr>
              <a:t> варианте реферат собирается исключительно из предложений первичного документа.</a:t>
            </a:r>
            <a:endParaRPr b="0" i="0" sz="2800" u="none" cap="none" strike="noStrike">
              <a:solidFill>
                <a:srgbClr val="11111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86"/>
          <p:cNvSpPr txBox="1"/>
          <p:nvPr/>
        </p:nvSpPr>
        <p:spPr>
          <a:xfrm>
            <a:off x="5682343" y="783771"/>
            <a:ext cx="252960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1" lang="en-US" sz="4000" u="none" cap="none" strike="noStrike">
                <a:solidFill>
                  <a:srgbClr val="BE1598"/>
                </a:solidFill>
                <a:latin typeface="Times New Roman"/>
                <a:ea typeface="Times New Roman"/>
                <a:cs typeface="Times New Roman"/>
                <a:sym typeface="Times New Roman"/>
              </a:rPr>
              <a:t>На выходе</a:t>
            </a:r>
            <a:endParaRPr b="0" i="0" sz="1400" u="none" cap="none" strike="noStrike">
              <a:solidFill>
                <a:srgbClr val="000000"/>
              </a:solidFill>
              <a:latin typeface="Arial"/>
              <a:ea typeface="Arial"/>
              <a:cs typeface="Arial"/>
              <a:sym typeface="Arial"/>
            </a:endParaRPr>
          </a:p>
        </p:txBody>
      </p:sp>
      <p:sp>
        <p:nvSpPr>
          <p:cNvPr id="810" name="Google Shape;810;p86"/>
          <p:cNvSpPr txBox="1"/>
          <p:nvPr/>
        </p:nvSpPr>
        <p:spPr>
          <a:xfrm>
            <a:off x="3047223" y="1903359"/>
            <a:ext cx="7720304" cy="39703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rgbClr val="111111"/>
                </a:solidFill>
                <a:latin typeface="Times New Roman"/>
                <a:ea typeface="Times New Roman"/>
                <a:cs typeface="Times New Roman"/>
                <a:sym typeface="Times New Roman"/>
              </a:rPr>
              <a:t>Аbstract</a:t>
            </a:r>
            <a:r>
              <a:rPr b="0" i="0" lang="en-US" sz="2800" u="none" cap="none" strike="noStrike">
                <a:solidFill>
                  <a:srgbClr val="111111"/>
                </a:solidFill>
                <a:latin typeface="Times New Roman"/>
                <a:ea typeface="Times New Roman"/>
                <a:cs typeface="Times New Roman"/>
                <a:sym typeface="Times New Roman"/>
              </a:rPr>
              <a:t> (</a:t>
            </a:r>
            <a:r>
              <a:rPr b="1" i="1" lang="en-US" sz="2800" u="none" cap="none" strike="noStrike">
                <a:solidFill>
                  <a:srgbClr val="111111"/>
                </a:solidFill>
                <a:latin typeface="Times New Roman"/>
                <a:ea typeface="Times New Roman"/>
                <a:cs typeface="Times New Roman"/>
                <a:sym typeface="Times New Roman"/>
              </a:rPr>
              <a:t>реферат</a:t>
            </a:r>
            <a:r>
              <a:rPr b="0" i="0" lang="en-US" sz="2800" u="none" cap="none" strike="noStrike">
                <a:solidFill>
                  <a:srgbClr val="111111"/>
                </a:solidFill>
                <a:latin typeface="Times New Roman"/>
                <a:ea typeface="Times New Roman"/>
                <a:cs typeface="Times New Roman"/>
                <a:sym typeface="Times New Roman"/>
              </a:rPr>
              <a:t>) представляет собой новый текст, порождённый программой.</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11111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В </a:t>
            </a:r>
            <a:r>
              <a:rPr b="1" i="1" lang="en-US" sz="2800" u="none" cap="none" strike="noStrike">
                <a:solidFill>
                  <a:schemeClr val="dk1"/>
                </a:solidFill>
                <a:latin typeface="Times New Roman"/>
                <a:ea typeface="Times New Roman"/>
                <a:cs typeface="Times New Roman"/>
                <a:sym typeface="Times New Roman"/>
              </a:rPr>
              <a:t>abstract </a:t>
            </a:r>
            <a:r>
              <a:rPr b="0" i="0" lang="en-US" sz="2800" u="none" cap="none" strike="noStrike">
                <a:solidFill>
                  <a:schemeClr val="dk1"/>
                </a:solidFill>
                <a:latin typeface="Times New Roman"/>
                <a:ea typeface="Times New Roman"/>
                <a:cs typeface="Times New Roman"/>
                <a:sym typeface="Times New Roman"/>
              </a:rPr>
              <a:t>варианте компьютерная программа может по своему усмотрению добавлять в реферат новые слова, заменять существующие, создавая текст, которого не было в первичном документе.</a:t>
            </a:r>
            <a:endParaRPr b="0" i="0" sz="2800" u="none" cap="none" strike="noStrike">
              <a:solidFill>
                <a:srgbClr val="11111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87"/>
          <p:cNvSpPr txBox="1"/>
          <p:nvPr/>
        </p:nvSpPr>
        <p:spPr>
          <a:xfrm>
            <a:off x="5514392" y="391886"/>
            <a:ext cx="252960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1" lang="en-US" sz="4000" u="none" cap="none" strike="noStrike">
                <a:solidFill>
                  <a:srgbClr val="BE1598"/>
                </a:solidFill>
                <a:latin typeface="Times New Roman"/>
                <a:ea typeface="Times New Roman"/>
                <a:cs typeface="Times New Roman"/>
                <a:sym typeface="Times New Roman"/>
              </a:rPr>
              <a:t>На выходе</a:t>
            </a:r>
            <a:endParaRPr b="0" i="0" sz="1400" u="none" cap="none" strike="noStrike">
              <a:solidFill>
                <a:srgbClr val="000000"/>
              </a:solidFill>
              <a:latin typeface="Arial"/>
              <a:ea typeface="Arial"/>
              <a:cs typeface="Arial"/>
              <a:sym typeface="Arial"/>
            </a:endParaRPr>
          </a:p>
        </p:txBody>
      </p:sp>
      <p:sp>
        <p:nvSpPr>
          <p:cNvPr id="816" name="Google Shape;816;p87"/>
          <p:cNvSpPr txBox="1"/>
          <p:nvPr/>
        </p:nvSpPr>
        <p:spPr>
          <a:xfrm>
            <a:off x="2274337" y="1536307"/>
            <a:ext cx="9500895" cy="440120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rgbClr val="111111"/>
                </a:solidFill>
                <a:latin typeface="Times New Roman"/>
                <a:ea typeface="Times New Roman"/>
                <a:cs typeface="Times New Roman"/>
                <a:sym typeface="Times New Roman"/>
              </a:rPr>
              <a:t>Индикативный реферат (Indicative)</a:t>
            </a:r>
            <a:r>
              <a:rPr b="0" i="0" lang="en-US" sz="2800" u="none" cap="none" strike="noStrike">
                <a:solidFill>
                  <a:srgbClr val="111111"/>
                </a:solidFill>
                <a:latin typeface="Times New Roman"/>
                <a:ea typeface="Times New Roman"/>
                <a:cs typeface="Times New Roman"/>
                <a:sym typeface="Times New Roman"/>
              </a:rPr>
              <a:t> доносит до пользователя только ключевые идеи исходного документа/документов (пользователь вынужден ознакомиться с содержанием источника, чтобы понять, о чём конкретно идёт в них речь).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11111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rgbClr val="111111"/>
                </a:solidFill>
                <a:latin typeface="Times New Roman"/>
                <a:ea typeface="Times New Roman"/>
                <a:cs typeface="Times New Roman"/>
                <a:sym typeface="Times New Roman"/>
              </a:rPr>
              <a:t>Информативный реферат (informative)</a:t>
            </a:r>
            <a:r>
              <a:rPr b="0" i="0" lang="en-US" sz="2800" u="none" cap="none" strike="noStrike">
                <a:solidFill>
                  <a:srgbClr val="111111"/>
                </a:solidFill>
                <a:latin typeface="Times New Roman"/>
                <a:ea typeface="Times New Roman"/>
                <a:cs typeface="Times New Roman"/>
                <a:sym typeface="Times New Roman"/>
              </a:rPr>
              <a:t>, в свою очередь, содержит всю необходимую информацию из источника в сжатом виде, поэтому пользователь может ограничиться прочтением реферата и не читать текст в оригинале.</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88"/>
          <p:cNvSpPr txBox="1"/>
          <p:nvPr/>
        </p:nvSpPr>
        <p:spPr>
          <a:xfrm>
            <a:off x="3487317" y="2203970"/>
            <a:ext cx="6097554" cy="19389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272727"/>
                </a:solidFill>
                <a:latin typeface="Times New Roman"/>
                <a:ea typeface="Times New Roman"/>
                <a:cs typeface="Times New Roman"/>
                <a:sym typeface="Times New Roman"/>
              </a:rPr>
              <a:t>Методы  автоматического реферирования </a:t>
            </a:r>
            <a:endParaRPr b="1" i="0" sz="4000" u="none" cap="none" strike="noStrike">
              <a:solidFill>
                <a:srgbClr val="272727"/>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89"/>
          <p:cNvSpPr txBox="1"/>
          <p:nvPr/>
        </p:nvSpPr>
        <p:spPr>
          <a:xfrm>
            <a:off x="2059733" y="640236"/>
            <a:ext cx="9491565" cy="526297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sng" cap="none" strike="noStrike">
                <a:solidFill>
                  <a:srgbClr val="8F12B9"/>
                </a:solidFill>
                <a:latin typeface="Times New Roman"/>
                <a:ea typeface="Times New Roman"/>
                <a:cs typeface="Times New Roman"/>
                <a:sym typeface="Times New Roman"/>
              </a:rPr>
              <a:t>Статистические методы</a:t>
            </a:r>
            <a:r>
              <a:rPr b="0" i="0" lang="en-US" sz="2800" u="none" cap="none" strike="noStrike">
                <a:solidFill>
                  <a:srgbClr val="111111"/>
                </a:solidFill>
                <a:latin typeface="Times New Roman"/>
                <a:ea typeface="Times New Roman"/>
                <a:cs typeface="Times New Roman"/>
                <a:sym typeface="Times New Roman"/>
              </a:rPr>
              <a:t>, в которых предложения ранжируются согласно формуле, присваивающей каждому предложению значение (</a:t>
            </a:r>
            <a:r>
              <a:rPr b="1" i="1" lang="en-US" sz="2800" u="none" cap="none" strike="noStrike">
                <a:solidFill>
                  <a:srgbClr val="111111"/>
                </a:solidFill>
                <a:latin typeface="Times New Roman"/>
                <a:ea typeface="Times New Roman"/>
                <a:cs typeface="Times New Roman"/>
                <a:sym typeface="Times New Roman"/>
              </a:rPr>
              <a:t>score</a:t>
            </a:r>
            <a:r>
              <a:rPr b="0" i="0" lang="en-US" sz="2800" u="none" cap="none" strike="noStrike">
                <a:solidFill>
                  <a:srgbClr val="111111"/>
                </a:solidFill>
                <a:latin typeface="Times New Roman"/>
                <a:ea typeface="Times New Roman"/>
                <a:cs typeface="Times New Roman"/>
                <a:sym typeface="Times New Roman"/>
              </a:rPr>
              <a:t>) на основании различных факторов, например, ключевых словосочетаний, ключевых слов, положения предложения в документе.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11111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rgbClr val="111111"/>
                </a:solidFill>
                <a:latin typeface="Times New Roman"/>
                <a:ea typeface="Times New Roman"/>
                <a:cs typeface="Times New Roman"/>
                <a:sym typeface="Times New Roman"/>
              </a:rPr>
              <a:t>Например, наличие определённых слов или фраз в предложении может говорить в пользу его включения в реферат, и тогда это повышает вес, другие же, напротив, могут уменьшать вес. В отличие от машинного обучения, подразумевается ручная работа с математическими формулами.</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90"/>
          <p:cNvSpPr txBox="1"/>
          <p:nvPr/>
        </p:nvSpPr>
        <p:spPr>
          <a:xfrm>
            <a:off x="2974131" y="2376300"/>
            <a:ext cx="7952015" cy="22467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1" lang="en-US" sz="2800" u="sng" cap="none" strike="noStrike">
                <a:solidFill>
                  <a:srgbClr val="8F12B9"/>
                </a:solidFill>
                <a:latin typeface="Times New Roman"/>
                <a:ea typeface="Times New Roman"/>
                <a:cs typeface="Times New Roman"/>
                <a:sym typeface="Times New Roman"/>
              </a:rPr>
              <a:t>Автоматическая обработка языка (NLP):</a:t>
            </a:r>
            <a:endParaRPr/>
          </a:p>
          <a:p>
            <a:pPr indent="0" lvl="0" marL="0" marR="0" rtl="0" algn="l">
              <a:lnSpc>
                <a:spcPct val="100000"/>
              </a:lnSpc>
              <a:spcBef>
                <a:spcPts val="0"/>
              </a:spcBef>
              <a:spcAft>
                <a:spcPts val="0"/>
              </a:spcAft>
              <a:buClr>
                <a:srgbClr val="000000"/>
              </a:buClr>
              <a:buSzPts val="2800"/>
              <a:buFont typeface="Arial"/>
              <a:buNone/>
            </a:pPr>
            <a:r>
              <a:t/>
            </a:r>
            <a:endParaRPr b="1" i="1" sz="2800" u="sng" cap="none" strike="noStrike">
              <a:solidFill>
                <a:srgbClr val="8F12B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1" i="1" lang="en-US" sz="2800" u="sng" cap="none" strike="noStrike">
                <a:solidFill>
                  <a:srgbClr val="8F12B9"/>
                </a:solidFill>
                <a:latin typeface="Times New Roman"/>
                <a:ea typeface="Times New Roman"/>
                <a:cs typeface="Times New Roman"/>
                <a:sym typeface="Times New Roman"/>
              </a:rPr>
              <a:t> </a:t>
            </a:r>
            <a:r>
              <a:rPr b="0" i="0" lang="en-US" sz="2800" u="none" cap="none" strike="noStrike">
                <a:solidFill>
                  <a:srgbClr val="111111"/>
                </a:solidFill>
                <a:latin typeface="Times New Roman"/>
                <a:ea typeface="Times New Roman"/>
                <a:cs typeface="Times New Roman"/>
                <a:sym typeface="Times New Roman"/>
              </a:rPr>
              <a:t>компьютерные методы понимания естественного языка – от подсчёта слов до глубокого парсинга (разрешение омонимии, частеречная разметка).</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91"/>
          <p:cNvSpPr txBox="1"/>
          <p:nvPr/>
        </p:nvSpPr>
        <p:spPr>
          <a:xfrm>
            <a:off x="3039447" y="588631"/>
            <a:ext cx="8521182" cy="569386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sng" cap="none" strike="noStrike">
                <a:solidFill>
                  <a:srgbClr val="8F12B9"/>
                </a:solidFill>
                <a:latin typeface="Times New Roman"/>
                <a:ea typeface="Times New Roman"/>
                <a:cs typeface="Times New Roman"/>
                <a:sym typeface="Times New Roman"/>
              </a:rPr>
              <a:t>Подходы, основанные на графах. </a:t>
            </a:r>
            <a:r>
              <a:rPr b="0" i="0" lang="en-US" sz="2800" u="none" cap="none" strike="noStrike">
                <a:solidFill>
                  <a:schemeClr val="dk1"/>
                </a:solidFill>
                <a:latin typeface="Times New Roman"/>
                <a:ea typeface="Times New Roman"/>
                <a:cs typeface="Times New Roman"/>
                <a:sym typeface="Times New Roman"/>
              </a:rPr>
              <a:t>Эти подходы основаны на идее представления текста в виде графа. Предложения представляются вершинами графа, а связи между ними — взвешенными ребрами. С помощью различных алгоритмов каждой вершине графа, обозначающей определенное предложение текста, можно присвоить вес на основе весов ребер. Реферат формируется аналогично формированию реферата при статистическом подходе. Данные подходы широко используются на практике.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Один из таких методов реализован в библиотеке gensim для Python.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92"/>
          <p:cNvSpPr txBox="1"/>
          <p:nvPr/>
        </p:nvSpPr>
        <p:spPr>
          <a:xfrm>
            <a:off x="3114092" y="1308146"/>
            <a:ext cx="7476153"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sng" cap="none" strike="noStrike">
                <a:solidFill>
                  <a:srgbClr val="8F12B9"/>
                </a:solidFill>
                <a:latin typeface="Times New Roman"/>
                <a:ea typeface="Times New Roman"/>
                <a:cs typeface="Times New Roman"/>
                <a:sym typeface="Times New Roman"/>
              </a:rPr>
              <a:t>Машинное обучение</a:t>
            </a:r>
            <a:r>
              <a:rPr b="0" i="0" lang="en-US" sz="2800" u="sng" cap="none" strike="noStrike">
                <a:solidFill>
                  <a:srgbClr val="8F12B9"/>
                </a:solidFill>
                <a:latin typeface="Times New Roman"/>
                <a:ea typeface="Times New Roman"/>
                <a:cs typeface="Times New Roman"/>
                <a:sym typeface="Times New Roman"/>
              </a:rPr>
              <a:t>: </a:t>
            </a:r>
            <a:r>
              <a:rPr b="0" i="0" lang="en-US" sz="2800" u="none" cap="none" strike="noStrike">
                <a:solidFill>
                  <a:srgbClr val="111111"/>
                </a:solidFill>
                <a:latin typeface="Times New Roman"/>
                <a:ea typeface="Times New Roman"/>
                <a:cs typeface="Times New Roman"/>
                <a:sym typeface="Times New Roman"/>
              </a:rPr>
              <a:t>порождение рефератов моделью, обученной на большом корпусе размеченных данных.</a:t>
            </a:r>
            <a:endParaRPr b="0" i="0" sz="2800" u="none" cap="none" strike="noStrike">
              <a:solidFill>
                <a:schemeClr val="dk1"/>
              </a:solidFill>
              <a:latin typeface="Times New Roman"/>
              <a:ea typeface="Times New Roman"/>
              <a:cs typeface="Times New Roman"/>
              <a:sym typeface="Times New Roman"/>
            </a:endParaRPr>
          </a:p>
        </p:txBody>
      </p:sp>
      <p:sp>
        <p:nvSpPr>
          <p:cNvPr id="842" name="Google Shape;842;p92"/>
          <p:cNvSpPr txBox="1"/>
          <p:nvPr/>
        </p:nvSpPr>
        <p:spPr>
          <a:xfrm>
            <a:off x="3114092" y="3687806"/>
            <a:ext cx="7830716" cy="9541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sng" cap="none" strike="noStrike">
                <a:solidFill>
                  <a:srgbClr val="8F12B9"/>
                </a:solidFill>
                <a:latin typeface="Times New Roman"/>
                <a:ea typeface="Times New Roman"/>
                <a:cs typeface="Times New Roman"/>
                <a:sym typeface="Times New Roman"/>
              </a:rPr>
              <a:t>Гибридные подходы</a:t>
            </a:r>
            <a:r>
              <a:rPr b="0" i="0" lang="en-US" sz="2800" u="sng" cap="none" strike="noStrike">
                <a:solidFill>
                  <a:srgbClr val="8F12B9"/>
                </a:solidFill>
                <a:latin typeface="Times New Roman"/>
                <a:ea typeface="Times New Roman"/>
                <a:cs typeface="Times New Roman"/>
                <a:sym typeface="Times New Roman"/>
              </a:rPr>
              <a:t> </a:t>
            </a:r>
            <a:r>
              <a:rPr b="0" i="0" lang="en-US" sz="2800" u="none" cap="none" strike="noStrike">
                <a:solidFill>
                  <a:srgbClr val="111111"/>
                </a:solidFill>
                <a:latin typeface="Times New Roman"/>
                <a:ea typeface="Times New Roman"/>
                <a:cs typeface="Times New Roman"/>
                <a:sym typeface="Times New Roman"/>
              </a:rPr>
              <a:t>сочетают два или более метода, описанных выше.</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93"/>
          <p:cNvSpPr txBox="1"/>
          <p:nvPr/>
        </p:nvSpPr>
        <p:spPr>
          <a:xfrm>
            <a:off x="4411048" y="0"/>
            <a:ext cx="609755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1" lang="en-US" sz="4000" u="none" cap="none" strike="noStrike">
                <a:solidFill>
                  <a:srgbClr val="0F5E7C"/>
                </a:solidFill>
                <a:latin typeface="Times New Roman"/>
                <a:ea typeface="Times New Roman"/>
                <a:cs typeface="Times New Roman"/>
                <a:sym typeface="Times New Roman"/>
              </a:rPr>
              <a:t>Оценка качества </a:t>
            </a:r>
            <a:endParaRPr b="0" i="0" sz="4000" u="none" cap="none" strike="noStrike">
              <a:solidFill>
                <a:srgbClr val="0F5E7C"/>
              </a:solidFill>
              <a:latin typeface="Times New Roman"/>
              <a:ea typeface="Times New Roman"/>
              <a:cs typeface="Times New Roman"/>
              <a:sym typeface="Times New Roman"/>
            </a:endParaRPr>
          </a:p>
        </p:txBody>
      </p:sp>
      <p:sp>
        <p:nvSpPr>
          <p:cNvPr id="848" name="Google Shape;848;p93"/>
          <p:cNvSpPr txBox="1"/>
          <p:nvPr/>
        </p:nvSpPr>
        <p:spPr>
          <a:xfrm>
            <a:off x="753446" y="640807"/>
            <a:ext cx="10984463" cy="18158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rgbClr val="111111"/>
                </a:solidFill>
                <a:latin typeface="Times New Roman"/>
                <a:ea typeface="Times New Roman"/>
                <a:cs typeface="Times New Roman"/>
                <a:sym typeface="Times New Roman"/>
              </a:rPr>
              <a:t>Специальный программный пакет для оценки качества работы системы под названием </a:t>
            </a:r>
            <a:r>
              <a:rPr b="1" i="0" lang="en-US" sz="2800" u="none" cap="none" strike="noStrike">
                <a:solidFill>
                  <a:srgbClr val="111111"/>
                </a:solidFill>
                <a:latin typeface="Times New Roman"/>
                <a:ea typeface="Times New Roman"/>
                <a:cs typeface="Times New Roman"/>
                <a:sym typeface="Times New Roman"/>
              </a:rPr>
              <a:t>ROUGE</a:t>
            </a:r>
            <a:r>
              <a:rPr b="0" i="0" lang="en-US" sz="2800" u="none" cap="none" strike="noStrike">
                <a:solidFill>
                  <a:srgbClr val="111111"/>
                </a:solidFill>
                <a:latin typeface="Times New Roman"/>
                <a:ea typeface="Times New Roman"/>
                <a:cs typeface="Times New Roman"/>
                <a:sym typeface="Times New Roman"/>
              </a:rPr>
              <a:t> (</a:t>
            </a:r>
            <a:r>
              <a:rPr b="1" i="1" lang="en-US" sz="2800" u="none" cap="none" strike="noStrike">
                <a:solidFill>
                  <a:srgbClr val="111111"/>
                </a:solidFill>
                <a:latin typeface="Times New Roman"/>
                <a:ea typeface="Times New Roman"/>
                <a:cs typeface="Times New Roman"/>
                <a:sym typeface="Times New Roman"/>
              </a:rPr>
              <a:t>Recall-Oriented Understudy for Gisting Evaluation</a:t>
            </a:r>
            <a:r>
              <a:rPr b="0" i="0" lang="en-US" sz="2800" u="none" cap="none" strike="noStrike">
                <a:solidFill>
                  <a:srgbClr val="111111"/>
                </a:solidFill>
                <a:latin typeface="Times New Roman"/>
                <a:ea typeface="Times New Roman"/>
                <a:cs typeface="Times New Roman"/>
                <a:sym typeface="Times New Roman"/>
              </a:rPr>
              <a:t>), разработанный в Южно-Калифорнийском университете.</a:t>
            </a:r>
            <a:endParaRPr b="0" i="0" sz="2800" u="none" cap="none" strike="noStrike">
              <a:solidFill>
                <a:schemeClr val="dk1"/>
              </a:solidFill>
              <a:latin typeface="Times New Roman"/>
              <a:ea typeface="Times New Roman"/>
              <a:cs typeface="Times New Roman"/>
              <a:sym typeface="Times New Roman"/>
            </a:endParaRPr>
          </a:p>
        </p:txBody>
      </p:sp>
      <p:pic>
        <p:nvPicPr>
          <p:cNvPr id="849" name="Google Shape;849;p93"/>
          <p:cNvPicPr preferRelativeResize="0"/>
          <p:nvPr/>
        </p:nvPicPr>
        <p:blipFill rotWithShape="1">
          <a:blip r:embed="rId3">
            <a:alphaModFix/>
          </a:blip>
          <a:srcRect b="0" l="0" r="0" t="0"/>
          <a:stretch/>
        </p:blipFill>
        <p:spPr>
          <a:xfrm>
            <a:off x="1744725" y="2647950"/>
            <a:ext cx="10209275" cy="40576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pic>
        <p:nvPicPr>
          <p:cNvPr id="854" name="Google Shape;854;p94"/>
          <p:cNvPicPr preferRelativeResize="0"/>
          <p:nvPr/>
        </p:nvPicPr>
        <p:blipFill rotWithShape="1">
          <a:blip r:embed="rId3">
            <a:alphaModFix/>
          </a:blip>
          <a:srcRect b="0" l="0" r="0" t="0"/>
          <a:stretch/>
        </p:blipFill>
        <p:spPr>
          <a:xfrm>
            <a:off x="2224087" y="1404937"/>
            <a:ext cx="9393784" cy="4205288"/>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pic>
        <p:nvPicPr>
          <p:cNvPr id="859" name="Google Shape;859;p95"/>
          <p:cNvPicPr preferRelativeResize="0"/>
          <p:nvPr/>
        </p:nvPicPr>
        <p:blipFill rotWithShape="1">
          <a:blip r:embed="rId3">
            <a:alphaModFix/>
          </a:blip>
          <a:srcRect b="0" l="0" r="0" t="0"/>
          <a:stretch/>
        </p:blipFill>
        <p:spPr>
          <a:xfrm>
            <a:off x="2581274" y="366712"/>
            <a:ext cx="8194403" cy="6196013"/>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pic>
        <p:nvPicPr>
          <p:cNvPr id="864" name="Google Shape;864;p96"/>
          <p:cNvPicPr preferRelativeResize="0"/>
          <p:nvPr/>
        </p:nvPicPr>
        <p:blipFill rotWithShape="1">
          <a:blip r:embed="rId3">
            <a:alphaModFix/>
          </a:blip>
          <a:srcRect b="0" l="0" r="0" t="0"/>
          <a:stretch/>
        </p:blipFill>
        <p:spPr>
          <a:xfrm>
            <a:off x="2286000" y="1123950"/>
            <a:ext cx="9233986" cy="35623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pic>
        <p:nvPicPr>
          <p:cNvPr id="869" name="Google Shape;869;p97"/>
          <p:cNvPicPr preferRelativeResize="0"/>
          <p:nvPr/>
        </p:nvPicPr>
        <p:blipFill rotWithShape="1">
          <a:blip r:embed="rId3">
            <a:alphaModFix/>
          </a:blip>
          <a:srcRect b="0" l="0" r="0" t="0"/>
          <a:stretch/>
        </p:blipFill>
        <p:spPr>
          <a:xfrm>
            <a:off x="2287555" y="932380"/>
            <a:ext cx="9302418" cy="1839395"/>
          </a:xfrm>
          <a:prstGeom prst="rect">
            <a:avLst/>
          </a:prstGeom>
          <a:noFill/>
          <a:ln>
            <a:noFill/>
          </a:ln>
        </p:spPr>
      </p:pic>
      <p:pic>
        <p:nvPicPr>
          <p:cNvPr id="870" name="Google Shape;870;p97"/>
          <p:cNvPicPr preferRelativeResize="0"/>
          <p:nvPr/>
        </p:nvPicPr>
        <p:blipFill rotWithShape="1">
          <a:blip r:embed="rId4">
            <a:alphaModFix/>
          </a:blip>
          <a:srcRect b="0" l="0" r="0" t="0"/>
          <a:stretch/>
        </p:blipFill>
        <p:spPr>
          <a:xfrm>
            <a:off x="2212921" y="3507582"/>
            <a:ext cx="9377052" cy="2185988"/>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pic>
        <p:nvPicPr>
          <p:cNvPr id="875" name="Google Shape;875;p98"/>
          <p:cNvPicPr preferRelativeResize="0"/>
          <p:nvPr/>
        </p:nvPicPr>
        <p:blipFill rotWithShape="1">
          <a:blip r:embed="rId3">
            <a:alphaModFix/>
          </a:blip>
          <a:srcRect b="0" l="0" r="0" t="0"/>
          <a:stretch/>
        </p:blipFill>
        <p:spPr>
          <a:xfrm>
            <a:off x="2871787" y="490537"/>
            <a:ext cx="8073039" cy="587692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pic>
        <p:nvPicPr>
          <p:cNvPr id="880" name="Google Shape;880;p99"/>
          <p:cNvPicPr preferRelativeResize="0"/>
          <p:nvPr/>
        </p:nvPicPr>
        <p:blipFill rotWithShape="1">
          <a:blip r:embed="rId3">
            <a:alphaModFix/>
          </a:blip>
          <a:srcRect b="0" l="0" r="0" t="0"/>
          <a:stretch/>
        </p:blipFill>
        <p:spPr>
          <a:xfrm>
            <a:off x="2586037" y="819150"/>
            <a:ext cx="8632149" cy="44767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pic>
        <p:nvPicPr>
          <p:cNvPr id="885" name="Google Shape;885;p100"/>
          <p:cNvPicPr preferRelativeResize="0"/>
          <p:nvPr/>
        </p:nvPicPr>
        <p:blipFill rotWithShape="1">
          <a:blip r:embed="rId3">
            <a:alphaModFix/>
          </a:blip>
          <a:srcRect b="0" l="0" r="0" t="0"/>
          <a:stretch/>
        </p:blipFill>
        <p:spPr>
          <a:xfrm>
            <a:off x="2395537" y="633412"/>
            <a:ext cx="9076705" cy="4976813"/>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pic>
        <p:nvPicPr>
          <p:cNvPr id="890" name="Google Shape;890;p101"/>
          <p:cNvPicPr preferRelativeResize="0"/>
          <p:nvPr/>
        </p:nvPicPr>
        <p:blipFill rotWithShape="1">
          <a:blip r:embed="rId3">
            <a:alphaModFix/>
          </a:blip>
          <a:srcRect b="0" l="0" r="0" t="0"/>
          <a:stretch/>
        </p:blipFill>
        <p:spPr>
          <a:xfrm>
            <a:off x="2800907" y="0"/>
            <a:ext cx="8187166" cy="68580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pic>
        <p:nvPicPr>
          <p:cNvPr id="895" name="Google Shape;895;p102"/>
          <p:cNvPicPr preferRelativeResize="0"/>
          <p:nvPr/>
        </p:nvPicPr>
        <p:blipFill rotWithShape="1">
          <a:blip r:embed="rId3">
            <a:alphaModFix/>
          </a:blip>
          <a:srcRect b="0" l="0" r="0" t="0"/>
          <a:stretch/>
        </p:blipFill>
        <p:spPr>
          <a:xfrm>
            <a:off x="2631374" y="0"/>
            <a:ext cx="9453512" cy="68580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pic>
        <p:nvPicPr>
          <p:cNvPr id="900" name="Google Shape;900;p103"/>
          <p:cNvPicPr preferRelativeResize="0"/>
          <p:nvPr/>
        </p:nvPicPr>
        <p:blipFill rotWithShape="1">
          <a:blip r:embed="rId3">
            <a:alphaModFix/>
          </a:blip>
          <a:srcRect b="0" l="0" r="0" t="0"/>
          <a:stretch/>
        </p:blipFill>
        <p:spPr>
          <a:xfrm>
            <a:off x="2135982" y="0"/>
            <a:ext cx="9800351" cy="68580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04"/>
          <p:cNvSpPr txBox="1"/>
          <p:nvPr>
            <p:ph type="ctrTitle"/>
          </p:nvPr>
        </p:nvSpPr>
        <p:spPr>
          <a:xfrm>
            <a:off x="6676705" y="2060710"/>
            <a:ext cx="4881092" cy="23876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51515"/>
              <a:buFont typeface="Play"/>
              <a:buNone/>
            </a:pPr>
            <a:br>
              <a:rPr b="1" i="1" lang="en-US" sz="4400">
                <a:latin typeface="Times New Roman"/>
                <a:ea typeface="Times New Roman"/>
                <a:cs typeface="Times New Roman"/>
                <a:sym typeface="Times New Roman"/>
              </a:rPr>
            </a:br>
            <a:r>
              <a:rPr b="1" i="1" lang="en-US" sz="4400">
                <a:latin typeface="Times New Roman"/>
                <a:ea typeface="Times New Roman"/>
                <a:cs typeface="Times New Roman"/>
                <a:sym typeface="Times New Roman"/>
              </a:rPr>
              <a:t>Автоматический анализ </a:t>
            </a:r>
            <a:br>
              <a:rPr b="1" i="1" lang="en-US" sz="4400">
                <a:latin typeface="Times New Roman"/>
                <a:ea typeface="Times New Roman"/>
                <a:cs typeface="Times New Roman"/>
                <a:sym typeface="Times New Roman"/>
              </a:rPr>
            </a:br>
            <a:r>
              <a:rPr b="1" i="1" lang="en-US" sz="4400">
                <a:latin typeface="Times New Roman"/>
                <a:ea typeface="Times New Roman"/>
                <a:cs typeface="Times New Roman"/>
                <a:sym typeface="Times New Roman"/>
              </a:rPr>
              <a:t>тональности</a:t>
            </a:r>
            <a:endParaRPr/>
          </a:p>
        </p:txBody>
      </p:sp>
      <p:pic>
        <p:nvPicPr>
          <p:cNvPr id="907" name="Google Shape;907;p104"/>
          <p:cNvPicPr preferRelativeResize="0"/>
          <p:nvPr/>
        </p:nvPicPr>
        <p:blipFill rotWithShape="1">
          <a:blip r:embed="rId3">
            <a:alphaModFix/>
          </a:blip>
          <a:srcRect b="0" l="0" r="0" t="0"/>
          <a:stretch/>
        </p:blipFill>
        <p:spPr>
          <a:xfrm>
            <a:off x="761762" y="666728"/>
            <a:ext cx="5479490" cy="5465791"/>
          </a:xfrm>
          <a:prstGeom prst="rect">
            <a:avLst/>
          </a:prstGeom>
          <a:noFill/>
          <a:ln>
            <a:noFill/>
          </a:ln>
        </p:spPr>
      </p:pic>
    </p:spTree>
  </p:cSld>
  <p:clrMapOvr>
    <a:masterClrMapping/>
  </p:clrMapOvr>
  <p:transition>
    <p:push dir="r"/>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05"/>
          <p:cNvSpPr/>
          <p:nvPr/>
        </p:nvSpPr>
        <p:spPr>
          <a:xfrm>
            <a:off x="7633678" y="102275"/>
            <a:ext cx="4407245" cy="3108543"/>
          </a:xfrm>
          <a:prstGeom prst="rect">
            <a:avLst/>
          </a:prstGeom>
          <a:solidFill>
            <a:srgbClr val="FCFCFC"/>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800" u="none" cap="none" strike="noStrike">
                <a:solidFill>
                  <a:srgbClr val="FF0000"/>
                </a:solidFill>
                <a:latin typeface="Times New Roman"/>
                <a:ea typeface="Times New Roman"/>
                <a:cs typeface="Times New Roman"/>
                <a:sym typeface="Times New Roman"/>
              </a:rPr>
              <a:t>Анализ тональности </a:t>
            </a:r>
            <a:r>
              <a:rPr b="0" i="0" lang="en-US" sz="2800" u="none" cap="none" strike="noStrike">
                <a:solidFill>
                  <a:srgbClr val="002060"/>
                </a:solidFill>
                <a:latin typeface="Times New Roman"/>
                <a:ea typeface="Times New Roman"/>
                <a:cs typeface="Times New Roman"/>
                <a:sym typeface="Times New Roman"/>
              </a:rPr>
              <a:t>(сентимент-анализ) </a:t>
            </a:r>
            <a:r>
              <a:rPr b="0" i="0" lang="en-US" sz="2800" u="none" cap="none" strike="noStrike">
                <a:solidFill>
                  <a:srgbClr val="000000"/>
                </a:solidFill>
                <a:latin typeface="Times New Roman"/>
                <a:ea typeface="Times New Roman"/>
                <a:cs typeface="Times New Roman"/>
                <a:sym typeface="Times New Roman"/>
              </a:rPr>
              <a:t>− </a:t>
            </a:r>
            <a:r>
              <a:rPr b="0" i="0" lang="en-US" sz="2800" u="none" cap="none" strike="noStrike">
                <a:solidFill>
                  <a:srgbClr val="002060"/>
                </a:solidFill>
                <a:latin typeface="Times New Roman"/>
                <a:ea typeface="Times New Roman"/>
                <a:cs typeface="Times New Roman"/>
                <a:sym typeface="Times New Roman"/>
              </a:rPr>
              <a:t>это область компьютерной лингвистики, которая занимается изучением мнений и эмоций в</a:t>
            </a:r>
            <a:r>
              <a:rPr b="0" i="0" lang="en-US" sz="2800" u="none" cap="none" strike="noStrike">
                <a:solidFill>
                  <a:srgbClr val="000000"/>
                </a:solidFill>
                <a:latin typeface="Times New Roman"/>
                <a:ea typeface="Times New Roman"/>
                <a:cs typeface="Times New Roman"/>
                <a:sym typeface="Times New Roman"/>
              </a:rPr>
              <a:t> </a:t>
            </a:r>
            <a:r>
              <a:rPr b="0" i="0" lang="en-US" sz="2800" u="none" cap="none" strike="noStrike">
                <a:solidFill>
                  <a:srgbClr val="002060"/>
                </a:solidFill>
                <a:latin typeface="Times New Roman"/>
                <a:ea typeface="Times New Roman"/>
                <a:cs typeface="Times New Roman"/>
                <a:sym typeface="Times New Roman"/>
              </a:rPr>
              <a:t>текстовых документах.</a:t>
            </a:r>
            <a:endParaRPr b="0" i="0" sz="2400" u="none" cap="none" strike="noStrike">
              <a:solidFill>
                <a:srgbClr val="000000"/>
              </a:solidFill>
              <a:latin typeface="Arial"/>
              <a:ea typeface="Arial"/>
              <a:cs typeface="Arial"/>
              <a:sym typeface="Arial"/>
            </a:endParaRPr>
          </a:p>
        </p:txBody>
      </p:sp>
      <p:pic>
        <p:nvPicPr>
          <p:cNvPr id="913" name="Google Shape;913;p105"/>
          <p:cNvPicPr preferRelativeResize="0"/>
          <p:nvPr/>
        </p:nvPicPr>
        <p:blipFill rotWithShape="1">
          <a:blip r:embed="rId3">
            <a:alphaModFix/>
          </a:blip>
          <a:srcRect b="0" l="0" r="0" t="0"/>
          <a:stretch/>
        </p:blipFill>
        <p:spPr>
          <a:xfrm>
            <a:off x="292007" y="339065"/>
            <a:ext cx="7219692" cy="4251596"/>
          </a:xfrm>
          <a:prstGeom prst="rect">
            <a:avLst/>
          </a:prstGeom>
          <a:noFill/>
          <a:ln>
            <a:noFill/>
          </a:ln>
        </p:spPr>
      </p:pic>
      <p:pic>
        <p:nvPicPr>
          <p:cNvPr id="914" name="Google Shape;914;p105"/>
          <p:cNvPicPr preferRelativeResize="0"/>
          <p:nvPr/>
        </p:nvPicPr>
        <p:blipFill rotWithShape="1">
          <a:blip r:embed="rId4">
            <a:alphaModFix/>
          </a:blip>
          <a:srcRect b="0" l="0" r="0" t="0"/>
          <a:stretch/>
        </p:blipFill>
        <p:spPr>
          <a:xfrm>
            <a:off x="3006410" y="3262460"/>
            <a:ext cx="7089312" cy="3430313"/>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06"/>
          <p:cNvSpPr txBox="1"/>
          <p:nvPr>
            <p:ph type="title"/>
          </p:nvPr>
        </p:nvSpPr>
        <p:spPr>
          <a:xfrm>
            <a:off x="808638" y="386930"/>
            <a:ext cx="9236700"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US" sz="3800">
                <a:latin typeface="Times New Roman"/>
                <a:ea typeface="Times New Roman"/>
                <a:cs typeface="Times New Roman"/>
                <a:sym typeface="Times New Roman"/>
              </a:rPr>
              <a:t>Зачем нужны системы автоматического анализа тональности?</a:t>
            </a:r>
            <a:endParaRPr/>
          </a:p>
        </p:txBody>
      </p:sp>
      <p:sp>
        <p:nvSpPr>
          <p:cNvPr id="921" name="Google Shape;921;p106"/>
          <p:cNvSpPr txBox="1"/>
          <p:nvPr>
            <p:ph idx="1" type="body"/>
          </p:nvPr>
        </p:nvSpPr>
        <p:spPr>
          <a:xfrm>
            <a:off x="77273" y="2599509"/>
            <a:ext cx="11990231" cy="3435531"/>
          </a:xfrm>
          <a:prstGeom prst="rect">
            <a:avLst/>
          </a:prstGeom>
          <a:noFill/>
          <a:ln>
            <a:noFill/>
          </a:ln>
        </p:spPr>
        <p:txBody>
          <a:bodyPr anchorCtr="0" anchor="ctr" bIns="45700" lIns="91425" spcFirstLastPara="1" rIns="91425" wrap="square" tIns="45700">
            <a:noAutofit/>
          </a:bodyPr>
          <a:lstStyle/>
          <a:p>
            <a:pPr indent="-342900" lvl="0" marL="457200" rtl="0" algn="l">
              <a:lnSpc>
                <a:spcPct val="100000"/>
              </a:lnSpc>
              <a:spcBef>
                <a:spcPts val="0"/>
              </a:spcBef>
              <a:spcAft>
                <a:spcPts val="0"/>
              </a:spcAft>
              <a:buSzPts val="1800"/>
              <a:buFont typeface="Noto Sans Symbols"/>
              <a:buChar char="❑"/>
            </a:pPr>
            <a:r>
              <a:rPr b="1" lang="en-US" sz="2400" cap="none">
                <a:latin typeface="Times New Roman"/>
                <a:ea typeface="Times New Roman"/>
                <a:cs typeface="Times New Roman"/>
                <a:sym typeface="Times New Roman"/>
              </a:rPr>
              <a:t>Социология</a:t>
            </a:r>
            <a:r>
              <a:rPr lang="en-US" sz="2400" cap="none">
                <a:latin typeface="Times New Roman"/>
                <a:ea typeface="Times New Roman"/>
                <a:cs typeface="Times New Roman"/>
                <a:sym typeface="Times New Roman"/>
              </a:rPr>
              <a:t>: данные о религиозных взглядах населения;</a:t>
            </a:r>
            <a:endParaRPr/>
          </a:p>
          <a:p>
            <a:pPr indent="-342900" lvl="0" marL="457200" rtl="0" algn="l">
              <a:lnSpc>
                <a:spcPct val="100000"/>
              </a:lnSpc>
              <a:spcBef>
                <a:spcPts val="0"/>
              </a:spcBef>
              <a:spcAft>
                <a:spcPts val="0"/>
              </a:spcAft>
              <a:buSzPts val="1800"/>
              <a:buFont typeface="Noto Sans Symbols"/>
              <a:buChar char="❑"/>
            </a:pPr>
            <a:r>
              <a:rPr b="1" lang="en-US" sz="2400" cap="none">
                <a:latin typeface="Times New Roman"/>
                <a:ea typeface="Times New Roman"/>
                <a:cs typeface="Times New Roman"/>
                <a:sym typeface="Times New Roman"/>
              </a:rPr>
              <a:t>Политология</a:t>
            </a:r>
            <a:r>
              <a:rPr lang="en-US" sz="2400" cap="none">
                <a:latin typeface="Times New Roman"/>
                <a:ea typeface="Times New Roman"/>
                <a:cs typeface="Times New Roman"/>
                <a:sym typeface="Times New Roman"/>
              </a:rPr>
              <a:t>: мониторинг политических взглядов населения;</a:t>
            </a:r>
            <a:endParaRPr/>
          </a:p>
          <a:p>
            <a:pPr indent="-342900" lvl="0" marL="457200" rtl="0" algn="l">
              <a:lnSpc>
                <a:spcPct val="100000"/>
              </a:lnSpc>
              <a:spcBef>
                <a:spcPts val="0"/>
              </a:spcBef>
              <a:spcAft>
                <a:spcPts val="0"/>
              </a:spcAft>
              <a:buSzPts val="1800"/>
              <a:buFont typeface="Noto Sans Symbols"/>
              <a:buChar char="❑"/>
            </a:pPr>
            <a:r>
              <a:rPr b="1" lang="en-US" sz="2400" cap="none">
                <a:latin typeface="Times New Roman"/>
                <a:ea typeface="Times New Roman"/>
                <a:cs typeface="Times New Roman"/>
                <a:sym typeface="Times New Roman"/>
              </a:rPr>
              <a:t>Маркетинг</a:t>
            </a:r>
            <a:r>
              <a:rPr lang="en-US" sz="2400" cap="none">
                <a:latin typeface="Times New Roman"/>
                <a:ea typeface="Times New Roman"/>
                <a:cs typeface="Times New Roman"/>
                <a:sym typeface="Times New Roman"/>
              </a:rPr>
              <a:t>: анализ сообщений на предмет того, какая модель ноутбуков пользуется наибольшим спросом;</a:t>
            </a:r>
            <a:endParaRPr/>
          </a:p>
          <a:p>
            <a:pPr indent="-342900" lvl="0" marL="457200" rtl="0" algn="l">
              <a:lnSpc>
                <a:spcPct val="100000"/>
              </a:lnSpc>
              <a:spcBef>
                <a:spcPts val="0"/>
              </a:spcBef>
              <a:spcAft>
                <a:spcPts val="0"/>
              </a:spcAft>
              <a:buSzPts val="1800"/>
              <a:buFont typeface="Noto Sans Symbols"/>
              <a:buChar char="❑"/>
            </a:pPr>
            <a:r>
              <a:rPr b="1" lang="en-US" sz="2400" cap="none">
                <a:latin typeface="Times New Roman"/>
                <a:ea typeface="Times New Roman"/>
                <a:cs typeface="Times New Roman"/>
                <a:sym typeface="Times New Roman"/>
              </a:rPr>
              <a:t>Медицина  и  психология</a:t>
            </a:r>
            <a:r>
              <a:rPr lang="en-US" sz="2400" cap="none">
                <a:latin typeface="Times New Roman"/>
                <a:ea typeface="Times New Roman"/>
                <a:cs typeface="Times New Roman"/>
                <a:sym typeface="Times New Roman"/>
              </a:rPr>
              <a:t>:  сентимент-анализ  может использоваться  для  определения депрессии у пользователей социальных сетей;</a:t>
            </a:r>
            <a:endParaRPr/>
          </a:p>
          <a:p>
            <a:pPr indent="-342900" lvl="0" marL="457200" rtl="0" algn="l">
              <a:lnSpc>
                <a:spcPct val="100000"/>
              </a:lnSpc>
              <a:spcBef>
                <a:spcPts val="0"/>
              </a:spcBef>
              <a:spcAft>
                <a:spcPts val="0"/>
              </a:spcAft>
              <a:buSzPts val="1800"/>
              <a:buFont typeface="Noto Sans Symbols"/>
              <a:buChar char="❑"/>
            </a:pPr>
            <a:r>
              <a:rPr b="1" lang="en-US" sz="2400" cap="none">
                <a:latin typeface="Times New Roman"/>
                <a:ea typeface="Times New Roman"/>
                <a:cs typeface="Times New Roman"/>
                <a:sym typeface="Times New Roman"/>
              </a:rPr>
              <a:t>Сфера финансов</a:t>
            </a:r>
            <a:r>
              <a:rPr lang="en-US" sz="2400" cap="none">
                <a:latin typeface="Times New Roman"/>
                <a:ea typeface="Times New Roman"/>
                <a:cs typeface="Times New Roman"/>
                <a:sym typeface="Times New Roman"/>
              </a:rPr>
              <a:t>: анализ тональности финансовых отчётов и финансовых новостей для определения трендов на фондовом и валютных рынках;</a:t>
            </a:r>
            <a:endParaRPr/>
          </a:p>
          <a:p>
            <a:pPr indent="-342900" lvl="0" marL="457200" rtl="0" algn="l">
              <a:lnSpc>
                <a:spcPct val="100000"/>
              </a:lnSpc>
              <a:spcBef>
                <a:spcPts val="0"/>
              </a:spcBef>
              <a:spcAft>
                <a:spcPts val="0"/>
              </a:spcAft>
              <a:buSzPts val="1800"/>
              <a:buFont typeface="Noto Sans Symbols"/>
              <a:buChar char="❑"/>
            </a:pPr>
            <a:r>
              <a:rPr b="1" lang="en-US" sz="2400" cap="none">
                <a:latin typeface="Times New Roman"/>
                <a:ea typeface="Times New Roman"/>
                <a:cs typeface="Times New Roman"/>
                <a:sym typeface="Times New Roman"/>
              </a:rPr>
              <a:t>Поиск спама в отзывах</a:t>
            </a:r>
            <a:r>
              <a:rPr lang="en-US" sz="2400" cap="none">
                <a:latin typeface="Times New Roman"/>
                <a:ea typeface="Times New Roman"/>
                <a:cs typeface="Times New Roman"/>
                <a:sym typeface="Times New Roman"/>
              </a:rPr>
              <a:t>;</a:t>
            </a:r>
            <a:endParaRPr/>
          </a:p>
          <a:p>
            <a:pPr indent="0" lvl="0" marL="0" rtl="0" algn="l">
              <a:lnSpc>
                <a:spcPct val="100000"/>
              </a:lnSpc>
              <a:spcBef>
                <a:spcPts val="0"/>
              </a:spcBef>
              <a:spcAft>
                <a:spcPts val="0"/>
              </a:spcAft>
              <a:buSzPts val="1800"/>
              <a:buNone/>
            </a:pPr>
            <a:r>
              <a:rPr lang="en-US" sz="2400" cap="none">
                <a:latin typeface="Times New Roman"/>
                <a:ea typeface="Times New Roman"/>
                <a:cs typeface="Times New Roman"/>
                <a:sym typeface="Times New Roman"/>
              </a:rPr>
              <a:t>А также в </a:t>
            </a:r>
            <a:r>
              <a:rPr b="1" lang="en-US" sz="2400" cap="none">
                <a:latin typeface="Times New Roman"/>
                <a:ea typeface="Times New Roman"/>
                <a:cs typeface="Times New Roman"/>
                <a:sym typeface="Times New Roman"/>
              </a:rPr>
              <a:t>журналистике</a:t>
            </a:r>
            <a:r>
              <a:rPr lang="en-US" sz="2400" cap="none">
                <a:latin typeface="Times New Roman"/>
                <a:ea typeface="Times New Roman"/>
                <a:cs typeface="Times New Roman"/>
                <a:sym typeface="Times New Roman"/>
              </a:rPr>
              <a:t>, </a:t>
            </a:r>
            <a:r>
              <a:rPr b="1" lang="en-US" sz="2400" cap="none">
                <a:latin typeface="Times New Roman"/>
                <a:ea typeface="Times New Roman"/>
                <a:cs typeface="Times New Roman"/>
                <a:sym typeface="Times New Roman"/>
              </a:rPr>
              <a:t>бизнесе</a:t>
            </a:r>
            <a:r>
              <a:rPr lang="en-US" sz="2400" cap="none">
                <a:latin typeface="Times New Roman"/>
                <a:ea typeface="Times New Roman"/>
                <a:cs typeface="Times New Roman"/>
                <a:sym typeface="Times New Roman"/>
              </a:rPr>
              <a:t>, и т.д. </a:t>
            </a:r>
            <a:endParaRPr sz="24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24"/>
          <p:cNvSpPr txBox="1"/>
          <p:nvPr>
            <p:ph idx="4294967295" type="title"/>
          </p:nvPr>
        </p:nvSpPr>
        <p:spPr>
          <a:xfrm>
            <a:off x="1078137" y="234804"/>
            <a:ext cx="9942716" cy="155448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Play"/>
              <a:buNone/>
            </a:pPr>
            <a:r>
              <a:rPr lang="en-US" sz="4800">
                <a:solidFill>
                  <a:schemeClr val="dk1"/>
                </a:solidFill>
                <a:latin typeface="Arial"/>
                <a:ea typeface="Arial"/>
                <a:cs typeface="Arial"/>
                <a:sym typeface="Arial"/>
              </a:rPr>
              <a:t>Анализ тональности</a:t>
            </a:r>
            <a:endParaRPr sz="4800">
              <a:solidFill>
                <a:schemeClr val="dk1"/>
              </a:solidFill>
              <a:latin typeface="Arial"/>
              <a:ea typeface="Arial"/>
              <a:cs typeface="Arial"/>
              <a:sym typeface="Arial"/>
            </a:endParaRPr>
          </a:p>
        </p:txBody>
      </p:sp>
      <p:sp>
        <p:nvSpPr>
          <p:cNvPr id="927" name="Google Shape;927;p24"/>
          <p:cNvSpPr txBox="1"/>
          <p:nvPr>
            <p:ph idx="4294967295" type="body"/>
          </p:nvPr>
        </p:nvSpPr>
        <p:spPr>
          <a:xfrm>
            <a:off x="691268" y="2408655"/>
            <a:ext cx="11291659" cy="3124658"/>
          </a:xfrm>
          <a:prstGeom prst="rect">
            <a:avLst/>
          </a:prstGeom>
          <a:noFill/>
          <a:ln>
            <a:noFill/>
          </a:ln>
        </p:spPr>
        <p:txBody>
          <a:bodyPr anchorCtr="0" anchor="ctr" bIns="45700" lIns="91425" spcFirstLastPara="1" rIns="91425" wrap="square" tIns="45700">
            <a:noAutofit/>
          </a:bodyPr>
          <a:lstStyle/>
          <a:p>
            <a:pPr indent="-406400" lvl="0" marL="457200" rtl="0" algn="l">
              <a:lnSpc>
                <a:spcPct val="100000"/>
              </a:lnSpc>
              <a:spcBef>
                <a:spcPts val="0"/>
              </a:spcBef>
              <a:spcAft>
                <a:spcPts val="0"/>
              </a:spcAft>
              <a:buSzPts val="2800"/>
              <a:buChar char="•"/>
            </a:pPr>
            <a:r>
              <a:rPr b="1" lang="en-US" cap="none">
                <a:latin typeface="Times New Roman"/>
                <a:ea typeface="Times New Roman"/>
                <a:cs typeface="Times New Roman"/>
                <a:sym typeface="Times New Roman"/>
              </a:rPr>
              <a:t>Мнение</a:t>
            </a:r>
            <a:r>
              <a:rPr lang="en-US" cap="none">
                <a:latin typeface="Times New Roman"/>
                <a:ea typeface="Times New Roman"/>
                <a:cs typeface="Times New Roman"/>
                <a:sym typeface="Times New Roman"/>
              </a:rPr>
              <a:t> – это общая эмоция, суждение или оценка по поводу некоторого объекта описанного автором</a:t>
            </a:r>
            <a:endParaRPr cap="none">
              <a:latin typeface="Times New Roman"/>
              <a:ea typeface="Times New Roman"/>
              <a:cs typeface="Times New Roman"/>
              <a:sym typeface="Times New Roman"/>
            </a:endParaRPr>
          </a:p>
          <a:p>
            <a:pPr indent="-406400" lvl="0" marL="457200" rtl="0" algn="l">
              <a:lnSpc>
                <a:spcPct val="100000"/>
              </a:lnSpc>
              <a:spcBef>
                <a:spcPts val="0"/>
              </a:spcBef>
              <a:spcAft>
                <a:spcPts val="0"/>
              </a:spcAft>
              <a:buSzPts val="2800"/>
              <a:buChar char="•"/>
            </a:pPr>
            <a:r>
              <a:rPr b="1" lang="en-US" cap="none">
                <a:latin typeface="Times New Roman"/>
                <a:ea typeface="Times New Roman"/>
                <a:cs typeface="Times New Roman"/>
                <a:sym typeface="Times New Roman"/>
              </a:rPr>
              <a:t>Классификация мнений </a:t>
            </a:r>
            <a:r>
              <a:rPr lang="en-US" cap="none">
                <a:latin typeface="Times New Roman"/>
                <a:ea typeface="Times New Roman"/>
                <a:cs typeface="Times New Roman"/>
                <a:sym typeface="Times New Roman"/>
              </a:rPr>
              <a:t>– это задача определения общей оценки текста (документа, предложения и т.п.)</a:t>
            </a:r>
            <a:endParaRPr/>
          </a:p>
          <a:p>
            <a:pPr indent="-381000" lvl="1" marL="914400" rtl="0" algn="l">
              <a:lnSpc>
                <a:spcPct val="100000"/>
              </a:lnSpc>
              <a:spcBef>
                <a:spcPts val="0"/>
              </a:spcBef>
              <a:spcAft>
                <a:spcPts val="0"/>
              </a:spcAft>
              <a:buSzPts val="2400"/>
              <a:buChar char="•"/>
            </a:pPr>
            <a:r>
              <a:rPr lang="en-US" sz="2800" cap="none">
                <a:latin typeface="Times New Roman"/>
                <a:ea typeface="Times New Roman"/>
                <a:cs typeface="Times New Roman"/>
                <a:sym typeface="Times New Roman"/>
              </a:rPr>
              <a:t>Двоичная</a:t>
            </a:r>
            <a:endParaRPr sz="2800" cap="none">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Char char="•"/>
            </a:pPr>
            <a:r>
              <a:rPr lang="en-US" sz="2800" cap="none">
                <a:latin typeface="Times New Roman"/>
                <a:ea typeface="Times New Roman"/>
                <a:cs typeface="Times New Roman"/>
                <a:sym typeface="Times New Roman"/>
              </a:rPr>
              <a:t>Троичная</a:t>
            </a:r>
            <a:endParaRPr sz="2800" cap="none">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Char char="•"/>
            </a:pPr>
            <a:r>
              <a:rPr lang="en-US" sz="2800" cap="none">
                <a:latin typeface="Times New Roman"/>
                <a:ea typeface="Times New Roman"/>
                <a:cs typeface="Times New Roman"/>
                <a:sym typeface="Times New Roman"/>
              </a:rPr>
              <a:t>По некоторой шкале</a:t>
            </a:r>
            <a:endParaRPr sz="2800" cap="none">
              <a:latin typeface="Times New Roman"/>
              <a:ea typeface="Times New Roman"/>
              <a:cs typeface="Times New Roman"/>
              <a:sym typeface="Times New Roman"/>
            </a:endParaRPr>
          </a:p>
          <a:p>
            <a:pPr indent="-406400" lvl="0" marL="457200" rtl="0" algn="l">
              <a:lnSpc>
                <a:spcPct val="100000"/>
              </a:lnSpc>
              <a:spcBef>
                <a:spcPts val="0"/>
              </a:spcBef>
              <a:spcAft>
                <a:spcPts val="0"/>
              </a:spcAft>
              <a:buSzPts val="2800"/>
              <a:buChar char="•"/>
            </a:pPr>
            <a:r>
              <a:rPr lang="en-US" cap="none">
                <a:latin typeface="Times New Roman"/>
                <a:ea typeface="Times New Roman"/>
                <a:cs typeface="Times New Roman"/>
                <a:sym typeface="Times New Roman"/>
              </a:rPr>
              <a:t>Большое количество приложений</a:t>
            </a:r>
            <a:endParaRPr cap="none">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07"/>
          <p:cNvSpPr txBox="1"/>
          <p:nvPr>
            <p:ph type="title"/>
          </p:nvPr>
        </p:nvSpPr>
        <p:spPr>
          <a:xfrm>
            <a:off x="808638" y="386930"/>
            <a:ext cx="9236700"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800"/>
              <a:buNone/>
            </a:pPr>
            <a:r>
              <a:rPr lang="en-US" sz="5400">
                <a:latin typeface="Times New Roman"/>
                <a:ea typeface="Times New Roman"/>
                <a:cs typeface="Times New Roman"/>
                <a:sym typeface="Times New Roman"/>
              </a:rPr>
              <a:t>Задача анализа тональности</a:t>
            </a:r>
            <a:endParaRPr/>
          </a:p>
        </p:txBody>
      </p:sp>
      <p:sp>
        <p:nvSpPr>
          <p:cNvPr id="933" name="Google Shape;933;p107"/>
          <p:cNvSpPr txBox="1"/>
          <p:nvPr>
            <p:ph idx="1" type="body"/>
          </p:nvPr>
        </p:nvSpPr>
        <p:spPr>
          <a:xfrm>
            <a:off x="759154" y="1869140"/>
            <a:ext cx="10143668" cy="343553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i="1" lang="en-US" sz="3200" cap="none">
                <a:latin typeface="Times New Roman"/>
                <a:ea typeface="Times New Roman"/>
                <a:cs typeface="Times New Roman"/>
                <a:sym typeface="Times New Roman"/>
              </a:rPr>
              <a:t>Анализ тональности </a:t>
            </a:r>
            <a:r>
              <a:rPr lang="en-US" sz="3200" cap="none">
                <a:latin typeface="Times New Roman"/>
                <a:ea typeface="Times New Roman"/>
                <a:cs typeface="Times New Roman"/>
                <a:sym typeface="Times New Roman"/>
              </a:rPr>
              <a:t>- выявление мнения автора текста по поводу предмета, обсуждаемого в тексте</a:t>
            </a:r>
            <a:endParaRPr/>
          </a:p>
          <a:p>
            <a:pPr indent="-342900" lvl="0" marL="457200" rtl="0" algn="l">
              <a:lnSpc>
                <a:spcPct val="90000"/>
              </a:lnSpc>
              <a:spcBef>
                <a:spcPts val="1000"/>
              </a:spcBef>
              <a:spcAft>
                <a:spcPts val="0"/>
              </a:spcAft>
              <a:buSzPts val="1800"/>
              <a:buFont typeface="Arial"/>
              <a:buNone/>
            </a:pPr>
            <a:r>
              <a:t/>
            </a:r>
            <a:endParaRPr sz="2400" cap="none">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08"/>
          <p:cNvSpPr txBox="1"/>
          <p:nvPr>
            <p:ph idx="4294967295" type="title"/>
          </p:nvPr>
        </p:nvSpPr>
        <p:spPr>
          <a:xfrm>
            <a:off x="1349829" y="-4399"/>
            <a:ext cx="10225088" cy="83661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400"/>
              <a:buNone/>
            </a:pPr>
            <a:r>
              <a:rPr lang="en-US">
                <a:solidFill>
                  <a:srgbClr val="800080"/>
                </a:solidFill>
                <a:latin typeface="Times New Roman"/>
                <a:ea typeface="Times New Roman"/>
                <a:cs typeface="Times New Roman"/>
                <a:sym typeface="Times New Roman"/>
              </a:rPr>
              <a:t>Классификация отзывов о фильмах</a:t>
            </a:r>
            <a:endParaRPr/>
          </a:p>
        </p:txBody>
      </p:sp>
      <p:pic>
        <p:nvPicPr>
          <p:cNvPr id="939" name="Google Shape;939;p108"/>
          <p:cNvPicPr preferRelativeResize="0"/>
          <p:nvPr>
            <p:ph idx="4294967295" type="body"/>
          </p:nvPr>
        </p:nvPicPr>
        <p:blipFill rotWithShape="1">
          <a:blip r:embed="rId3">
            <a:alphaModFix/>
          </a:blip>
          <a:srcRect b="0" l="0" r="0" t="0"/>
          <a:stretch/>
        </p:blipFill>
        <p:spPr>
          <a:xfrm>
            <a:off x="1146223" y="844687"/>
            <a:ext cx="1438275" cy="1728787"/>
          </a:xfrm>
          <a:prstGeom prst="rect">
            <a:avLst/>
          </a:prstGeom>
          <a:noFill/>
          <a:ln>
            <a:noFill/>
          </a:ln>
        </p:spPr>
      </p:pic>
      <p:pic>
        <p:nvPicPr>
          <p:cNvPr id="940" name="Google Shape;940;p108"/>
          <p:cNvPicPr preferRelativeResize="0"/>
          <p:nvPr/>
        </p:nvPicPr>
        <p:blipFill rotWithShape="1">
          <a:blip r:embed="rId4">
            <a:alphaModFix/>
          </a:blip>
          <a:srcRect b="0" l="0" r="0" t="0"/>
          <a:stretch/>
        </p:blipFill>
        <p:spPr>
          <a:xfrm>
            <a:off x="1020018" y="4639486"/>
            <a:ext cx="1690687" cy="1838325"/>
          </a:xfrm>
          <a:prstGeom prst="rect">
            <a:avLst/>
          </a:prstGeom>
          <a:noFill/>
          <a:ln>
            <a:noFill/>
          </a:ln>
        </p:spPr>
      </p:pic>
      <p:pic>
        <p:nvPicPr>
          <p:cNvPr id="941" name="Google Shape;941;p108"/>
          <p:cNvPicPr preferRelativeResize="0"/>
          <p:nvPr/>
        </p:nvPicPr>
        <p:blipFill rotWithShape="1">
          <a:blip r:embed="rId5">
            <a:alphaModFix/>
          </a:blip>
          <a:srcRect b="0" l="0" r="0" t="0"/>
          <a:stretch/>
        </p:blipFill>
        <p:spPr>
          <a:xfrm>
            <a:off x="1055687" y="2772570"/>
            <a:ext cx="1727200" cy="1601788"/>
          </a:xfrm>
          <a:prstGeom prst="rect">
            <a:avLst/>
          </a:prstGeom>
          <a:noFill/>
          <a:ln>
            <a:noFill/>
          </a:ln>
        </p:spPr>
      </p:pic>
      <p:sp>
        <p:nvSpPr>
          <p:cNvPr id="942" name="Google Shape;942;p108"/>
          <p:cNvSpPr/>
          <p:nvPr/>
        </p:nvSpPr>
        <p:spPr>
          <a:xfrm>
            <a:off x="2934266" y="844687"/>
            <a:ext cx="8861683"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Это какой-то </a:t>
            </a:r>
            <a:r>
              <a:rPr b="0" i="0" lang="en-US" sz="2400" u="sng" cap="none" strike="noStrike">
                <a:solidFill>
                  <a:schemeClr val="dk1"/>
                </a:solidFill>
                <a:latin typeface="Times New Roman"/>
                <a:ea typeface="Times New Roman"/>
                <a:cs typeface="Times New Roman"/>
                <a:sym typeface="Times New Roman"/>
              </a:rPr>
              <a:t>ужас‾</a:t>
            </a:r>
            <a:r>
              <a:rPr b="0" i="0" lang="en-US" sz="2400" u="none" cap="none" strike="noStrike">
                <a:solidFill>
                  <a:schemeClr val="dk1"/>
                </a:solidFill>
                <a:latin typeface="Times New Roman"/>
                <a:ea typeface="Times New Roman"/>
                <a:cs typeface="Times New Roman"/>
                <a:sym typeface="Times New Roman"/>
              </a:rPr>
              <a:t>. В рецензии все описано так, что от фильма ждешь минимум продолжения фильма "Адреналина" с Стэтхэмом, но нет. 80 минут </a:t>
            </a:r>
            <a:r>
              <a:rPr b="0" i="0" lang="en-US" sz="2400" u="sng" cap="none" strike="noStrike">
                <a:solidFill>
                  <a:schemeClr val="dk1"/>
                </a:solidFill>
                <a:latin typeface="Times New Roman"/>
                <a:ea typeface="Times New Roman"/>
                <a:cs typeface="Times New Roman"/>
                <a:sym typeface="Times New Roman"/>
              </a:rPr>
              <a:t>бесмысленных‾</a:t>
            </a:r>
            <a:r>
              <a:rPr b="0" i="0" lang="en-US" sz="2400" u="none" cap="none" strike="noStrike">
                <a:solidFill>
                  <a:schemeClr val="dk1"/>
                </a:solidFill>
                <a:latin typeface="Times New Roman"/>
                <a:ea typeface="Times New Roman"/>
                <a:cs typeface="Times New Roman"/>
                <a:sym typeface="Times New Roman"/>
              </a:rPr>
              <a:t> бегов, туда-сюда. Единтсвенный вопрос - Зачем?!?!  </a:t>
            </a:r>
            <a:endParaRPr/>
          </a:p>
        </p:txBody>
      </p:sp>
      <p:sp>
        <p:nvSpPr>
          <p:cNvPr id="943" name="Google Shape;943;p108"/>
          <p:cNvSpPr/>
          <p:nvPr/>
        </p:nvSpPr>
        <p:spPr>
          <a:xfrm>
            <a:off x="3025757" y="4588685"/>
            <a:ext cx="8770192" cy="193899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Я в </a:t>
            </a:r>
            <a:r>
              <a:rPr b="0" i="0" lang="en-US" sz="2400" u="sng" cap="none" strike="noStrike">
                <a:solidFill>
                  <a:schemeClr val="dk1"/>
                </a:solidFill>
                <a:latin typeface="Times New Roman"/>
                <a:ea typeface="Times New Roman"/>
                <a:cs typeface="Times New Roman"/>
                <a:sym typeface="Times New Roman"/>
              </a:rPr>
              <a:t>диком восторге</a:t>
            </a:r>
            <a:r>
              <a:rPr b="0" i="0" lang="en-US" sz="2400" u="none" cap="none" strike="noStrik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Эта парочка </a:t>
            </a:r>
            <a:r>
              <a:rPr b="0" i="0" lang="en-US" sz="2400" u="sng" cap="none" strike="noStrike">
                <a:solidFill>
                  <a:schemeClr val="dk1"/>
                </a:solidFill>
                <a:latin typeface="Times New Roman"/>
                <a:ea typeface="Times New Roman"/>
                <a:cs typeface="Times New Roman"/>
                <a:sym typeface="Times New Roman"/>
              </a:rPr>
              <a:t>неподражаема+</a:t>
            </a:r>
            <a:r>
              <a:rPr b="0" i="0" lang="en-US" sz="2400" u="none" cap="none" strike="noStrik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Так всё </a:t>
            </a:r>
            <a:r>
              <a:rPr b="0" i="0" lang="en-US" sz="2400" u="sng" cap="none" strike="noStrike">
                <a:solidFill>
                  <a:schemeClr val="dk1"/>
                </a:solidFill>
                <a:latin typeface="Times New Roman"/>
                <a:ea typeface="Times New Roman"/>
                <a:cs typeface="Times New Roman"/>
                <a:sym typeface="Times New Roman"/>
              </a:rPr>
              <a:t>красиво</a:t>
            </a:r>
            <a:r>
              <a:rPr b="0" i="0" lang="en-US" sz="2400" u="none" cap="none" strike="noStrike">
                <a:solidFill>
                  <a:schemeClr val="dk1"/>
                </a:solidFill>
                <a:latin typeface="Times New Roman"/>
                <a:ea typeface="Times New Roman"/>
                <a:cs typeface="Times New Roman"/>
                <a:sym typeface="Times New Roman"/>
              </a:rPr>
              <a:t>+, </a:t>
            </a:r>
            <a:r>
              <a:rPr b="0" i="0" lang="en-US" sz="2400" u="sng" cap="none" strike="noStrike">
                <a:solidFill>
                  <a:schemeClr val="dk1"/>
                </a:solidFill>
                <a:latin typeface="Times New Roman"/>
                <a:ea typeface="Times New Roman"/>
                <a:cs typeface="Times New Roman"/>
                <a:sym typeface="Times New Roman"/>
              </a:rPr>
              <a:t>аккуратно</a:t>
            </a:r>
            <a:r>
              <a:rPr b="0" i="0" lang="en-US" sz="2400" u="none" cap="none" strike="noStrike">
                <a:solidFill>
                  <a:schemeClr val="dk1"/>
                </a:solidFill>
                <a:latin typeface="Times New Roman"/>
                <a:ea typeface="Times New Roman"/>
                <a:cs typeface="Times New Roman"/>
                <a:sym typeface="Times New Roman"/>
              </a:rPr>
              <a:t>+, </a:t>
            </a:r>
            <a:r>
              <a:rPr b="0" i="0" lang="en-US" sz="2400" u="sng" cap="none" strike="noStrike">
                <a:solidFill>
                  <a:schemeClr val="dk1"/>
                </a:solidFill>
                <a:latin typeface="Times New Roman"/>
                <a:ea typeface="Times New Roman"/>
                <a:cs typeface="Times New Roman"/>
                <a:sym typeface="Times New Roman"/>
              </a:rPr>
              <a:t>технично</a:t>
            </a:r>
            <a:r>
              <a:rPr b="0" i="0" lang="en-US" sz="2400" u="none" cap="none" strike="noStrike">
                <a:solidFill>
                  <a:schemeClr val="dk1"/>
                </a:solidFill>
                <a:latin typeface="Times New Roman"/>
                <a:ea typeface="Times New Roman"/>
                <a:cs typeface="Times New Roman"/>
                <a:sym typeface="Times New Roman"/>
              </a:rPr>
              <a:t>+, с долей юмора, и ТАК </a:t>
            </a:r>
            <a:r>
              <a:rPr b="0" i="0" lang="en-US" sz="2400" u="sng" cap="none" strike="noStrike">
                <a:solidFill>
                  <a:schemeClr val="dk1"/>
                </a:solidFill>
                <a:latin typeface="Times New Roman"/>
                <a:ea typeface="Times New Roman"/>
                <a:cs typeface="Times New Roman"/>
                <a:sym typeface="Times New Roman"/>
              </a:rPr>
              <a:t>ЗАХВАТЫВАЮЩЩЩЩЩЩЕ динамично</a:t>
            </a:r>
            <a:r>
              <a:rPr b="0" i="0" lang="en-US" sz="2400" u="none" cap="none" strike="noStrik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В </a:t>
            </a:r>
            <a:r>
              <a:rPr b="0" i="0" lang="en-US" sz="2400" u="sng" cap="none" strike="noStrike">
                <a:solidFill>
                  <a:schemeClr val="dk1"/>
                </a:solidFill>
                <a:latin typeface="Times New Roman"/>
                <a:ea typeface="Times New Roman"/>
                <a:cs typeface="Times New Roman"/>
                <a:sym typeface="Times New Roman"/>
              </a:rPr>
              <a:t>экстазе</a:t>
            </a:r>
            <a:r>
              <a:rPr b="0" i="0" lang="en-US" sz="2400" u="none" cap="none" strike="noStrike">
                <a:solidFill>
                  <a:schemeClr val="dk1"/>
                </a:solidFill>
                <a:latin typeface="Times New Roman"/>
                <a:ea typeface="Times New Roman"/>
                <a:cs typeface="Times New Roman"/>
                <a:sym typeface="Times New Roman"/>
              </a:rPr>
              <a:t>+)</a:t>
            </a:r>
            <a:endParaRPr/>
          </a:p>
        </p:txBody>
      </p:sp>
      <p:sp>
        <p:nvSpPr>
          <p:cNvPr id="944" name="Google Shape;944;p108"/>
          <p:cNvSpPr/>
          <p:nvPr/>
        </p:nvSpPr>
        <p:spPr>
          <a:xfrm>
            <a:off x="2934266" y="2676594"/>
            <a:ext cx="8708282"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sng" cap="none" strike="noStrike">
                <a:solidFill>
                  <a:schemeClr val="dk1"/>
                </a:solidFill>
                <a:latin typeface="Times New Roman"/>
                <a:ea typeface="Times New Roman"/>
                <a:cs typeface="Times New Roman"/>
                <a:sym typeface="Times New Roman"/>
              </a:rPr>
              <a:t>Хороший+</a:t>
            </a:r>
            <a:r>
              <a:rPr b="0" i="0" lang="en-US" sz="2400" u="none" cap="none" strike="noStrike">
                <a:solidFill>
                  <a:schemeClr val="dk1"/>
                </a:solidFill>
                <a:latin typeface="Times New Roman"/>
                <a:ea typeface="Times New Roman"/>
                <a:cs typeface="Times New Roman"/>
                <a:sym typeface="Times New Roman"/>
              </a:rPr>
              <a:t>, </a:t>
            </a:r>
            <a:r>
              <a:rPr b="0" i="0" lang="en-US" sz="2400" u="sng" cap="none" strike="noStrike">
                <a:solidFill>
                  <a:schemeClr val="dk1"/>
                </a:solidFill>
                <a:latin typeface="Times New Roman"/>
                <a:ea typeface="Times New Roman"/>
                <a:cs typeface="Times New Roman"/>
                <a:sym typeface="Times New Roman"/>
              </a:rPr>
              <a:t>трешовый+</a:t>
            </a:r>
            <a:r>
              <a:rPr b="0" i="0" lang="en-US" sz="2400" u="none" cap="none" strike="noStrike">
                <a:solidFill>
                  <a:schemeClr val="dk1"/>
                </a:solidFill>
                <a:latin typeface="Times New Roman"/>
                <a:ea typeface="Times New Roman"/>
                <a:cs typeface="Times New Roman"/>
                <a:sym typeface="Times New Roman"/>
              </a:rPr>
              <a:t> фильм, с </a:t>
            </a:r>
            <a:r>
              <a:rPr b="0" i="0" lang="en-US" sz="2400" u="sng" cap="none" strike="noStrike">
                <a:solidFill>
                  <a:schemeClr val="dk1"/>
                </a:solidFill>
                <a:latin typeface="Times New Roman"/>
                <a:ea typeface="Times New Roman"/>
                <a:cs typeface="Times New Roman"/>
                <a:sym typeface="Times New Roman"/>
              </a:rPr>
              <a:t>отличным+</a:t>
            </a:r>
            <a:r>
              <a:rPr b="0" i="0" lang="en-US" sz="2400" u="none" cap="none" strike="noStrike">
                <a:solidFill>
                  <a:schemeClr val="dk1"/>
                </a:solidFill>
                <a:latin typeface="Times New Roman"/>
                <a:ea typeface="Times New Roman"/>
                <a:cs typeface="Times New Roman"/>
                <a:sym typeface="Times New Roman"/>
              </a:rPr>
              <a:t> чувством юмора. Для любителей гая ритчи самое то, вот только картинка </a:t>
            </a:r>
            <a:r>
              <a:rPr b="0" i="0" lang="en-US" sz="2400" u="sng" cap="none" strike="noStrike">
                <a:solidFill>
                  <a:schemeClr val="dk1"/>
                </a:solidFill>
                <a:latin typeface="Times New Roman"/>
                <a:ea typeface="Times New Roman"/>
                <a:cs typeface="Times New Roman"/>
                <a:sym typeface="Times New Roman"/>
              </a:rPr>
              <a:t>нищенская‾</a:t>
            </a:r>
            <a:r>
              <a:rPr b="0" i="0" lang="en-US" sz="2400" u="none" cap="none" strike="noStrike">
                <a:solidFill>
                  <a:schemeClr val="dk1"/>
                </a:solidFill>
                <a:latin typeface="Times New Roman"/>
                <a:ea typeface="Times New Roman"/>
                <a:cs typeface="Times New Roman"/>
                <a:sym typeface="Times New Roman"/>
              </a:rPr>
              <a:t>, но </a:t>
            </a:r>
            <a:r>
              <a:rPr b="0" i="0" lang="en-US" sz="2400" u="sng" cap="none" strike="noStrike">
                <a:solidFill>
                  <a:schemeClr val="dk1"/>
                </a:solidFill>
                <a:latin typeface="Times New Roman"/>
                <a:ea typeface="Times New Roman"/>
                <a:cs typeface="Times New Roman"/>
                <a:sym typeface="Times New Roman"/>
              </a:rPr>
              <a:t>ничего страшного+</a:t>
            </a:r>
            <a:r>
              <a:rPr b="0" i="0" lang="en-US" sz="2400" u="none" cap="none" strike="noStrike">
                <a:solidFill>
                  <a:schemeClr val="dk1"/>
                </a:solidFill>
                <a:latin typeface="Times New Roman"/>
                <a:ea typeface="Times New Roman"/>
                <a:cs typeface="Times New Roman"/>
                <a:sym typeface="Times New Roman"/>
              </a:rPr>
              <a:t>. Это даже </a:t>
            </a:r>
            <a:r>
              <a:rPr b="0" i="0" lang="en-US" sz="2400" u="sng" cap="none" strike="noStrike">
                <a:solidFill>
                  <a:schemeClr val="dk1"/>
                </a:solidFill>
                <a:latin typeface="Times New Roman"/>
                <a:ea typeface="Times New Roman"/>
                <a:cs typeface="Times New Roman"/>
                <a:sym typeface="Times New Roman"/>
              </a:rPr>
              <a:t>колорит+ </a:t>
            </a:r>
            <a:r>
              <a:rPr b="0" i="0" lang="en-US" sz="2400" u="none" cap="none" strike="noStrike">
                <a:solidFill>
                  <a:schemeClr val="dk1"/>
                </a:solidFill>
                <a:latin typeface="Times New Roman"/>
                <a:ea typeface="Times New Roman"/>
                <a:cs typeface="Times New Roman"/>
                <a:sym typeface="Times New Roman"/>
              </a:rPr>
              <a:t>какой-то придает.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109"/>
          <p:cNvSpPr txBox="1"/>
          <p:nvPr>
            <p:ph type="title"/>
          </p:nvPr>
        </p:nvSpPr>
        <p:spPr>
          <a:xfrm>
            <a:off x="435428" y="-175759"/>
            <a:ext cx="11756572" cy="10080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3200">
                <a:solidFill>
                  <a:srgbClr val="800080"/>
                </a:solidFill>
                <a:latin typeface="Times New Roman"/>
                <a:ea typeface="Times New Roman"/>
                <a:cs typeface="Times New Roman"/>
                <a:sym typeface="Times New Roman"/>
              </a:rPr>
              <a:t>Жанры текстов относительно анализа тональности</a:t>
            </a:r>
            <a:endParaRPr/>
          </a:p>
        </p:txBody>
      </p:sp>
      <p:sp>
        <p:nvSpPr>
          <p:cNvPr id="950" name="Google Shape;950;p109"/>
          <p:cNvSpPr txBox="1"/>
          <p:nvPr>
            <p:ph idx="1" type="body"/>
          </p:nvPr>
        </p:nvSpPr>
        <p:spPr>
          <a:xfrm>
            <a:off x="273698" y="800894"/>
            <a:ext cx="11644603" cy="5256212"/>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Отзывы: </a:t>
            </a:r>
            <a:r>
              <a:rPr i="1" lang="en-US" sz="2400" cap="none">
                <a:latin typeface="Times New Roman"/>
                <a:ea typeface="Times New Roman"/>
                <a:cs typeface="Times New Roman"/>
                <a:sym typeface="Times New Roman"/>
              </a:rPr>
              <a:t>один автор – один объект </a:t>
            </a:r>
            <a:r>
              <a:rPr lang="en-US" sz="2400" cap="none">
                <a:latin typeface="Times New Roman"/>
                <a:ea typeface="Times New Roman"/>
                <a:cs typeface="Times New Roman"/>
                <a:sym typeface="Times New Roman"/>
              </a:rPr>
              <a:t>(указанный в метаданных!!)</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Но могут быть сравнения: «книга была лучше», «в прошлый раз в ресторане было лучше»</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Множество работ по обработке отзывов</a:t>
            </a:r>
            <a:endParaRPr/>
          </a:p>
          <a:p>
            <a:pPr indent="-228600" lvl="1" marL="914400" rtl="0" algn="l">
              <a:lnSpc>
                <a:spcPct val="100000"/>
              </a:lnSpc>
              <a:spcBef>
                <a:spcPts val="0"/>
              </a:spcBef>
              <a:spcAft>
                <a:spcPts val="0"/>
              </a:spcAft>
              <a:buSzPts val="1800"/>
              <a:buNone/>
            </a:pPr>
            <a:r>
              <a:t/>
            </a:r>
            <a:endParaRPr sz="2400" cap="none">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Авторский текст (блоги): </a:t>
            </a:r>
            <a:r>
              <a:rPr i="1" lang="en-US" sz="2400" cap="none">
                <a:latin typeface="Times New Roman"/>
                <a:ea typeface="Times New Roman"/>
                <a:cs typeface="Times New Roman"/>
                <a:sym typeface="Times New Roman"/>
              </a:rPr>
              <a:t>один автор – много объектов </a:t>
            </a:r>
            <a:r>
              <a:rPr lang="en-US" sz="2400" cap="none">
                <a:latin typeface="Times New Roman"/>
                <a:ea typeface="Times New Roman"/>
                <a:cs typeface="Times New Roman"/>
                <a:sym typeface="Times New Roman"/>
              </a:rPr>
              <a:t>(еда, ресторан,  официант, интерьер)</a:t>
            </a:r>
            <a:endParaRPr i="1" sz="2400" cap="none">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800"/>
              <a:buNone/>
            </a:pPr>
            <a:r>
              <a:t/>
            </a:r>
            <a:endParaRPr i="1" sz="2400" cap="none">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Char char="•"/>
            </a:pPr>
            <a:r>
              <a:rPr i="1" lang="en-US" sz="2400" cap="none">
                <a:latin typeface="Times New Roman"/>
                <a:ea typeface="Times New Roman"/>
                <a:cs typeface="Times New Roman"/>
                <a:sym typeface="Times New Roman"/>
              </a:rPr>
              <a:t>Новостные или аналитические </a:t>
            </a:r>
            <a:r>
              <a:rPr lang="en-US" sz="2400" cap="none">
                <a:latin typeface="Times New Roman"/>
                <a:ea typeface="Times New Roman"/>
                <a:cs typeface="Times New Roman"/>
                <a:sym typeface="Times New Roman"/>
              </a:rPr>
              <a:t>тексты:</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Много упоминаемых субъектов (ситуация, политики, ответственные лица), которые могут иметь свои мнения по отношению к обсуждаемой теме</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Отношения упоминаемых субъектов между собой</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Мнения в разное время</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И плюс еще мнения автора</a:t>
            </a:r>
            <a:endParaRPr/>
          </a:p>
          <a:p>
            <a:pPr indent="-342900" lvl="0" marL="457200" rtl="0" algn="l">
              <a:lnSpc>
                <a:spcPct val="100000"/>
              </a:lnSpc>
              <a:spcBef>
                <a:spcPts val="0"/>
              </a:spcBef>
              <a:spcAft>
                <a:spcPts val="0"/>
              </a:spcAft>
              <a:buSzPts val="1800"/>
              <a:buChar char="•"/>
            </a:pPr>
            <a:r>
              <a:rPr i="1" lang="en-US" sz="2400" cap="none">
                <a:latin typeface="Times New Roman"/>
                <a:ea typeface="Times New Roman"/>
                <a:cs typeface="Times New Roman"/>
                <a:sym typeface="Times New Roman"/>
              </a:rPr>
              <a:t>Короткие или Длинные тексты</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10"/>
          <p:cNvSpPr txBox="1"/>
          <p:nvPr>
            <p:ph type="title"/>
          </p:nvPr>
        </p:nvSpPr>
        <p:spPr>
          <a:xfrm>
            <a:off x="559837" y="274638"/>
            <a:ext cx="9650963" cy="6334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45454"/>
              <a:buNone/>
            </a:pPr>
            <a:r>
              <a:rPr b="1" lang="en-US">
                <a:solidFill>
                  <a:srgbClr val="800080"/>
                </a:solidFill>
                <a:latin typeface="Times New Roman"/>
                <a:ea typeface="Times New Roman"/>
                <a:cs typeface="Times New Roman"/>
                <a:sym typeface="Times New Roman"/>
              </a:rPr>
              <a:t>Эксплицитные и имлицитные оценки</a:t>
            </a:r>
            <a:endParaRPr/>
          </a:p>
        </p:txBody>
      </p:sp>
      <p:sp>
        <p:nvSpPr>
          <p:cNvPr id="956" name="Google Shape;956;p110"/>
          <p:cNvSpPr txBox="1"/>
          <p:nvPr>
            <p:ph idx="1" type="body"/>
          </p:nvPr>
        </p:nvSpPr>
        <p:spPr>
          <a:xfrm>
            <a:off x="251927" y="981076"/>
            <a:ext cx="11448661" cy="5616575"/>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Явные оценочные слова</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Хороший, гадкий, неприятный</a:t>
            </a:r>
            <a:endParaRPr/>
          </a:p>
          <a:p>
            <a:pPr indent="-228600" lvl="1" marL="914400" rtl="0" algn="l">
              <a:lnSpc>
                <a:spcPct val="100000"/>
              </a:lnSpc>
              <a:spcBef>
                <a:spcPts val="0"/>
              </a:spcBef>
              <a:spcAft>
                <a:spcPts val="0"/>
              </a:spcAft>
              <a:buSzPts val="1800"/>
              <a:buNone/>
            </a:pPr>
            <a:r>
              <a:t/>
            </a:r>
            <a:endParaRPr sz="2400" cap="none">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Оценочные факты, т.е. фактическая информация, которая подразумевает оценку</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В супе плавает муха</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Долго ждали</a:t>
            </a:r>
            <a:endParaRPr/>
          </a:p>
          <a:p>
            <a:pPr indent="-228600" lvl="1" marL="914400" rtl="0" algn="l">
              <a:lnSpc>
                <a:spcPct val="100000"/>
              </a:lnSpc>
              <a:spcBef>
                <a:spcPts val="0"/>
              </a:spcBef>
              <a:spcAft>
                <a:spcPts val="0"/>
              </a:spcAft>
              <a:buSzPts val="1800"/>
              <a:buNone/>
            </a:pPr>
            <a:r>
              <a:t/>
            </a:r>
            <a:endParaRPr sz="2400" cap="none">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И слова с коннотациями (=оценочными ассоциациями)</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Очереди</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Безработица  (в экономике)</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Муха (В ресторане)</a:t>
            </a:r>
            <a:endParaRPr/>
          </a:p>
          <a:p>
            <a:pPr indent="-342900" lvl="1" marL="9144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В отзыве о фильме: фамилии хороших актеров</a:t>
            </a:r>
            <a:endParaRPr/>
          </a:p>
          <a:p>
            <a:pPr indent="-228600" lvl="1" marL="914400" rtl="0" algn="l">
              <a:lnSpc>
                <a:spcPct val="100000"/>
              </a:lnSpc>
              <a:spcBef>
                <a:spcPts val="0"/>
              </a:spcBef>
              <a:spcAft>
                <a:spcPts val="0"/>
              </a:spcAft>
              <a:buSzPts val="1800"/>
              <a:buNone/>
            </a:pPr>
            <a:r>
              <a:t/>
            </a:r>
            <a:endParaRPr sz="2400" cap="none">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Char char="•"/>
            </a:pPr>
            <a:r>
              <a:rPr lang="en-US" sz="2400" cap="none">
                <a:latin typeface="Times New Roman"/>
                <a:ea typeface="Times New Roman"/>
                <a:cs typeface="Times New Roman"/>
                <a:sym typeface="Times New Roman"/>
              </a:rPr>
              <a:t>Проблема: оценочные факты – разнообразие выражения, высокая зависимость от предметной области</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111"/>
          <p:cNvSpPr txBox="1"/>
          <p:nvPr>
            <p:ph idx="4294967295" type="title"/>
          </p:nvPr>
        </p:nvSpPr>
        <p:spPr>
          <a:xfrm>
            <a:off x="1043631" y="809898"/>
            <a:ext cx="9942716" cy="155448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Play"/>
              <a:buNone/>
            </a:pPr>
            <a:r>
              <a:rPr b="1" lang="en-US" sz="4800">
                <a:solidFill>
                  <a:schemeClr val="dk1"/>
                </a:solidFill>
                <a:latin typeface="Arial"/>
                <a:ea typeface="Arial"/>
                <a:cs typeface="Arial"/>
                <a:sym typeface="Arial"/>
              </a:rPr>
              <a:t>Отзывы: разные типы лексики</a:t>
            </a:r>
            <a:endParaRPr/>
          </a:p>
        </p:txBody>
      </p:sp>
      <p:sp>
        <p:nvSpPr>
          <p:cNvPr id="962" name="Google Shape;962;p111"/>
          <p:cNvSpPr txBox="1"/>
          <p:nvPr>
            <p:ph idx="4294967295" type="body"/>
          </p:nvPr>
        </p:nvSpPr>
        <p:spPr>
          <a:xfrm>
            <a:off x="731525" y="2811382"/>
            <a:ext cx="10749990" cy="3124658"/>
          </a:xfrm>
          <a:prstGeom prst="rect">
            <a:avLst/>
          </a:prstGeom>
          <a:noFill/>
          <a:ln>
            <a:noFill/>
          </a:ln>
        </p:spPr>
        <p:txBody>
          <a:bodyPr anchorCtr="0" anchor="ctr" bIns="45700" lIns="91425" spcFirstLastPara="1" rIns="91425" wrap="square" tIns="45700">
            <a:noAutofit/>
          </a:bodyPr>
          <a:lstStyle/>
          <a:p>
            <a:pPr indent="-406400" lvl="0" marL="457200" rtl="0" algn="l">
              <a:lnSpc>
                <a:spcPct val="90000"/>
              </a:lnSpc>
              <a:spcBef>
                <a:spcPts val="0"/>
              </a:spcBef>
              <a:spcAft>
                <a:spcPts val="0"/>
              </a:spcAft>
              <a:buSzPts val="2800"/>
              <a:buChar char="•"/>
            </a:pPr>
            <a:r>
              <a:rPr lang="en-US" cap="none">
                <a:latin typeface="Times New Roman"/>
                <a:ea typeface="Times New Roman"/>
                <a:cs typeface="Times New Roman"/>
                <a:sym typeface="Times New Roman"/>
              </a:rPr>
              <a:t>Друзья, давайте перестанем покорно принимать </a:t>
            </a:r>
            <a:r>
              <a:rPr b="1" lang="en-US" u="sng" cap="none">
                <a:latin typeface="Times New Roman"/>
                <a:ea typeface="Times New Roman"/>
                <a:cs typeface="Times New Roman"/>
                <a:sym typeface="Times New Roman"/>
              </a:rPr>
              <a:t>курицу с сухарями</a:t>
            </a:r>
            <a:r>
              <a:rPr lang="en-US" cap="none">
                <a:latin typeface="Times New Roman"/>
                <a:ea typeface="Times New Roman"/>
                <a:cs typeface="Times New Roman"/>
                <a:sym typeface="Times New Roman"/>
              </a:rPr>
              <a:t> залитую </a:t>
            </a:r>
            <a:r>
              <a:rPr b="1" lang="en-US" u="sng" cap="none">
                <a:latin typeface="Times New Roman"/>
                <a:ea typeface="Times New Roman"/>
                <a:cs typeface="Times New Roman"/>
                <a:sym typeface="Times New Roman"/>
              </a:rPr>
              <a:t>майонезом</a:t>
            </a:r>
            <a:r>
              <a:rPr lang="en-US" cap="none">
                <a:latin typeface="Times New Roman"/>
                <a:ea typeface="Times New Roman"/>
                <a:cs typeface="Times New Roman"/>
                <a:sym typeface="Times New Roman"/>
              </a:rPr>
              <a:t> за </a:t>
            </a:r>
            <a:r>
              <a:rPr b="1" lang="en-US" u="sng" cap="none">
                <a:latin typeface="Times New Roman"/>
                <a:ea typeface="Times New Roman"/>
                <a:cs typeface="Times New Roman"/>
                <a:sym typeface="Times New Roman"/>
              </a:rPr>
              <a:t>салат цезарь</a:t>
            </a:r>
            <a:r>
              <a:rPr lang="en-US" cap="none">
                <a:latin typeface="Times New Roman"/>
                <a:ea typeface="Times New Roman"/>
                <a:cs typeface="Times New Roman"/>
                <a:sym typeface="Times New Roman"/>
              </a:rPr>
              <a:t>. Я </a:t>
            </a:r>
            <a:r>
              <a:rPr b="1" lang="en-US" u="sng" cap="none">
                <a:latin typeface="Times New Roman"/>
                <a:ea typeface="Times New Roman"/>
                <a:cs typeface="Times New Roman"/>
                <a:sym typeface="Times New Roman"/>
              </a:rPr>
              <a:t>заказала цезарь</a:t>
            </a:r>
            <a:r>
              <a:rPr lang="en-US" cap="none">
                <a:latin typeface="Times New Roman"/>
                <a:ea typeface="Times New Roman"/>
                <a:cs typeface="Times New Roman"/>
                <a:sym typeface="Times New Roman"/>
              </a:rPr>
              <a:t> во "временах года" и опять как и во многих других ресторанах, мне принесли залитую </a:t>
            </a:r>
            <a:r>
              <a:rPr b="1" lang="en-US" u="sng" cap="none">
                <a:latin typeface="Times New Roman"/>
                <a:ea typeface="Times New Roman"/>
                <a:cs typeface="Times New Roman"/>
                <a:sym typeface="Times New Roman"/>
              </a:rPr>
              <a:t>майонезом</a:t>
            </a:r>
            <a:r>
              <a:rPr lang="en-US" cap="none">
                <a:latin typeface="Times New Roman"/>
                <a:ea typeface="Times New Roman"/>
                <a:cs typeface="Times New Roman"/>
                <a:sym typeface="Times New Roman"/>
              </a:rPr>
              <a:t> </a:t>
            </a:r>
            <a:r>
              <a:rPr lang="en-US" u="sng" cap="none">
                <a:latin typeface="Times New Roman"/>
                <a:ea typeface="Times New Roman"/>
                <a:cs typeface="Times New Roman"/>
                <a:sym typeface="Times New Roman"/>
              </a:rPr>
              <a:t>кислятину</a:t>
            </a:r>
            <a:r>
              <a:rPr lang="en-US" cap="none">
                <a:latin typeface="Times New Roman"/>
                <a:ea typeface="Times New Roman"/>
                <a:cs typeface="Times New Roman"/>
                <a:sym typeface="Times New Roman"/>
              </a:rPr>
              <a:t> под названием "</a:t>
            </a:r>
            <a:r>
              <a:rPr b="1" lang="en-US" u="sng" cap="none">
                <a:latin typeface="Times New Roman"/>
                <a:ea typeface="Times New Roman"/>
                <a:cs typeface="Times New Roman"/>
                <a:sym typeface="Times New Roman"/>
              </a:rPr>
              <a:t>салат цезарь</a:t>
            </a:r>
            <a:r>
              <a:rPr lang="en-US" cap="none">
                <a:latin typeface="Times New Roman"/>
                <a:ea typeface="Times New Roman"/>
                <a:cs typeface="Times New Roman"/>
                <a:sym typeface="Times New Roman"/>
              </a:rPr>
              <a:t> с </a:t>
            </a:r>
            <a:r>
              <a:rPr b="1" lang="en-US" u="sng" cap="none">
                <a:latin typeface="Times New Roman"/>
                <a:ea typeface="Times New Roman"/>
                <a:cs typeface="Times New Roman"/>
                <a:sym typeface="Times New Roman"/>
              </a:rPr>
              <a:t>куриным филе</a:t>
            </a:r>
            <a:r>
              <a:rPr lang="en-US" cap="none">
                <a:latin typeface="Times New Roman"/>
                <a:ea typeface="Times New Roman"/>
                <a:cs typeface="Times New Roman"/>
                <a:sym typeface="Times New Roman"/>
              </a:rPr>
              <a:t>" за 280 руб. </a:t>
            </a:r>
            <a:endParaRPr/>
          </a:p>
          <a:p>
            <a:pPr indent="-406400" lvl="0" marL="457200" rtl="0" algn="l">
              <a:lnSpc>
                <a:spcPct val="90000"/>
              </a:lnSpc>
              <a:spcBef>
                <a:spcPts val="600"/>
              </a:spcBef>
              <a:spcAft>
                <a:spcPts val="600"/>
              </a:spcAft>
              <a:buSzPts val="2800"/>
              <a:buChar char="•"/>
            </a:pPr>
            <a:r>
              <a:rPr lang="en-US" cap="none">
                <a:latin typeface="Times New Roman"/>
                <a:ea typeface="Times New Roman"/>
                <a:cs typeface="Times New Roman"/>
                <a:sym typeface="Times New Roman"/>
              </a:rPr>
              <a:t>Уважаемые повара, вам не стыдно??? </a:t>
            </a:r>
            <a:r>
              <a:rPr b="1" lang="en-US" u="sng" cap="none">
                <a:latin typeface="Times New Roman"/>
                <a:ea typeface="Times New Roman"/>
                <a:cs typeface="Times New Roman"/>
                <a:sym typeface="Times New Roman"/>
              </a:rPr>
              <a:t>Цезарь</a:t>
            </a:r>
            <a:r>
              <a:rPr lang="en-US" cap="none">
                <a:latin typeface="Times New Roman"/>
                <a:ea typeface="Times New Roman"/>
                <a:cs typeface="Times New Roman"/>
                <a:sym typeface="Times New Roman"/>
              </a:rPr>
              <a:t> - это </a:t>
            </a:r>
            <a:r>
              <a:rPr b="1" lang="en-US" u="sng" cap="none">
                <a:latin typeface="Times New Roman"/>
                <a:ea typeface="Times New Roman"/>
                <a:cs typeface="Times New Roman"/>
                <a:sym typeface="Times New Roman"/>
              </a:rPr>
              <a:t>салат</a:t>
            </a:r>
            <a:r>
              <a:rPr lang="en-US" cap="none">
                <a:latin typeface="Times New Roman"/>
                <a:ea typeface="Times New Roman"/>
                <a:cs typeface="Times New Roman"/>
                <a:sym typeface="Times New Roman"/>
              </a:rPr>
              <a:t> с особым </a:t>
            </a:r>
            <a:r>
              <a:rPr b="1" lang="en-US" u="sng" cap="none">
                <a:latin typeface="Times New Roman"/>
                <a:ea typeface="Times New Roman"/>
                <a:cs typeface="Times New Roman"/>
                <a:sym typeface="Times New Roman"/>
              </a:rPr>
              <a:t>соусом</a:t>
            </a:r>
            <a:r>
              <a:rPr lang="en-US" cap="none">
                <a:latin typeface="Times New Roman"/>
                <a:ea typeface="Times New Roman"/>
                <a:cs typeface="Times New Roman"/>
                <a:sym typeface="Times New Roman"/>
              </a:rPr>
              <a:t> с  </a:t>
            </a:r>
            <a:r>
              <a:rPr b="1" lang="en-US" u="sng" cap="none">
                <a:latin typeface="Times New Roman"/>
                <a:ea typeface="Times New Roman"/>
                <a:cs typeface="Times New Roman"/>
                <a:sym typeface="Times New Roman"/>
              </a:rPr>
              <a:t>анчоусами</a:t>
            </a:r>
            <a:r>
              <a:rPr lang="en-US" cap="none">
                <a:latin typeface="Times New Roman"/>
                <a:ea typeface="Times New Roman"/>
                <a:cs typeface="Times New Roman"/>
                <a:sym typeface="Times New Roman"/>
              </a:rPr>
              <a:t> ,очень вкусный. В вашем заведении - </a:t>
            </a:r>
            <a:r>
              <a:rPr lang="en-US" u="sng" cap="none">
                <a:latin typeface="Times New Roman"/>
                <a:ea typeface="Times New Roman"/>
                <a:cs typeface="Times New Roman"/>
                <a:sym typeface="Times New Roman"/>
              </a:rPr>
              <a:t>столовская</a:t>
            </a:r>
            <a:r>
              <a:rPr lang="en-US" cap="none">
                <a:latin typeface="Times New Roman"/>
                <a:ea typeface="Times New Roman"/>
                <a:cs typeface="Times New Roman"/>
                <a:sym typeface="Times New Roman"/>
              </a:rPr>
              <a:t> кухня по ценам хорошего ресторана.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12"/>
          <p:cNvSpPr txBox="1"/>
          <p:nvPr>
            <p:ph type="title"/>
          </p:nvPr>
        </p:nvSpPr>
        <p:spPr>
          <a:xfrm>
            <a:off x="871899" y="0"/>
            <a:ext cx="9236700"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200">
                <a:latin typeface="Times New Roman"/>
                <a:ea typeface="Times New Roman"/>
                <a:cs typeface="Times New Roman"/>
                <a:sym typeface="Times New Roman"/>
              </a:rPr>
              <a:t>Многозначность оценочной лексики</a:t>
            </a:r>
            <a:endParaRPr/>
          </a:p>
        </p:txBody>
      </p:sp>
      <p:sp>
        <p:nvSpPr>
          <p:cNvPr id="968" name="Google Shape;968;p112"/>
          <p:cNvSpPr txBox="1"/>
          <p:nvPr>
            <p:ph idx="1" type="body"/>
          </p:nvPr>
        </p:nvSpPr>
        <p:spPr>
          <a:xfrm>
            <a:off x="453282" y="1691246"/>
            <a:ext cx="11016344" cy="4147845"/>
          </a:xfrm>
          <a:prstGeom prst="rect">
            <a:avLst/>
          </a:prstGeom>
          <a:noFill/>
          <a:ln>
            <a:noFill/>
          </a:ln>
        </p:spPr>
        <p:txBody>
          <a:bodyPr anchorCtr="0" anchor="ctr" bIns="45700" lIns="91425" spcFirstLastPara="1" rIns="91425" wrap="square" tIns="45700">
            <a:normAutofit fontScale="70000" lnSpcReduction="20000"/>
          </a:bodyPr>
          <a:lstStyle/>
          <a:p>
            <a:pPr indent="-342900" lvl="0" marL="457200" rtl="0" algn="l">
              <a:lnSpc>
                <a:spcPct val="120000"/>
              </a:lnSpc>
              <a:spcBef>
                <a:spcPts val="0"/>
              </a:spcBef>
              <a:spcAft>
                <a:spcPts val="0"/>
              </a:spcAft>
              <a:buSzPct val="64285"/>
              <a:buChar char="•"/>
            </a:pPr>
            <a:r>
              <a:rPr i="1" lang="en-US" sz="4000" cap="none">
                <a:solidFill>
                  <a:srgbClr val="FF0000"/>
                </a:solidFill>
                <a:latin typeface="Times New Roman"/>
                <a:ea typeface="Times New Roman"/>
                <a:cs typeface="Times New Roman"/>
                <a:sym typeface="Times New Roman"/>
              </a:rPr>
              <a:t>Разная тональность многозначного слова в разных значениях</a:t>
            </a:r>
            <a:endParaRPr/>
          </a:p>
          <a:p>
            <a:pPr indent="-342900" lvl="1" marL="914400" rtl="0" algn="l">
              <a:lnSpc>
                <a:spcPct val="120000"/>
              </a:lnSpc>
              <a:spcBef>
                <a:spcPts val="0"/>
              </a:spcBef>
              <a:spcAft>
                <a:spcPts val="0"/>
              </a:spcAft>
              <a:buSzPct val="64285"/>
              <a:buChar char="•"/>
            </a:pPr>
            <a:r>
              <a:rPr lang="en-US" sz="4000" cap="none">
                <a:latin typeface="Times New Roman"/>
                <a:ea typeface="Times New Roman"/>
                <a:cs typeface="Times New Roman"/>
                <a:sym typeface="Times New Roman"/>
              </a:rPr>
              <a:t>Пресный (невкусный, неинтересный) </a:t>
            </a:r>
            <a:r>
              <a:rPr lang="en-US" sz="4000">
                <a:latin typeface="Times New Roman"/>
                <a:ea typeface="Times New Roman"/>
                <a:cs typeface="Times New Roman"/>
                <a:sym typeface="Times New Roman"/>
              </a:rPr>
              <a:t>или</a:t>
            </a:r>
            <a:r>
              <a:rPr lang="en-US" sz="4000" cap="none">
                <a:latin typeface="Times New Roman"/>
                <a:ea typeface="Times New Roman"/>
                <a:cs typeface="Times New Roman"/>
                <a:sym typeface="Times New Roman"/>
              </a:rPr>
              <a:t> Пресная вода</a:t>
            </a:r>
            <a:endParaRPr/>
          </a:p>
          <a:p>
            <a:pPr indent="-342900" lvl="0" marL="457200" rtl="0" algn="l">
              <a:lnSpc>
                <a:spcPct val="120000"/>
              </a:lnSpc>
              <a:spcBef>
                <a:spcPts val="0"/>
              </a:spcBef>
              <a:spcAft>
                <a:spcPts val="0"/>
              </a:spcAft>
              <a:buSzPct val="64285"/>
              <a:buChar char="•"/>
            </a:pPr>
            <a:r>
              <a:rPr i="1" lang="en-US" sz="4000" cap="none">
                <a:solidFill>
                  <a:srgbClr val="FF0000"/>
                </a:solidFill>
                <a:latin typeface="Times New Roman"/>
                <a:ea typeface="Times New Roman"/>
                <a:cs typeface="Times New Roman"/>
                <a:sym typeface="Times New Roman"/>
              </a:rPr>
              <a:t>Тональность в зависимость от предметной области</a:t>
            </a:r>
            <a:endParaRPr/>
          </a:p>
          <a:p>
            <a:pPr indent="-342900" lvl="1" marL="914400" rtl="0" algn="l">
              <a:lnSpc>
                <a:spcPct val="120000"/>
              </a:lnSpc>
              <a:spcBef>
                <a:spcPts val="0"/>
              </a:spcBef>
              <a:spcAft>
                <a:spcPts val="0"/>
              </a:spcAft>
              <a:buSzPct val="64285"/>
              <a:buChar char="•"/>
            </a:pPr>
            <a:r>
              <a:rPr lang="en-US" sz="4000" cap="none">
                <a:latin typeface="Times New Roman"/>
                <a:ea typeface="Times New Roman"/>
                <a:cs typeface="Times New Roman"/>
                <a:sym typeface="Times New Roman"/>
              </a:rPr>
              <a:t>Смешной часто позитивно в области фильмов, и скорее негативно в политике</a:t>
            </a:r>
            <a:endParaRPr/>
          </a:p>
          <a:p>
            <a:pPr indent="-342900" lvl="1" marL="914400" rtl="0" algn="l">
              <a:lnSpc>
                <a:spcPct val="120000"/>
              </a:lnSpc>
              <a:spcBef>
                <a:spcPts val="0"/>
              </a:spcBef>
              <a:spcAft>
                <a:spcPts val="0"/>
              </a:spcAft>
              <a:buSzPct val="64285"/>
              <a:buChar char="•"/>
            </a:pPr>
            <a:r>
              <a:rPr lang="en-US" sz="4000" cap="none">
                <a:latin typeface="Times New Roman"/>
                <a:ea typeface="Times New Roman"/>
                <a:cs typeface="Times New Roman"/>
                <a:sym typeface="Times New Roman"/>
              </a:rPr>
              <a:t>Подлость, вероломство обычно не относятся к оценке фильмов, а к их содержанию</a:t>
            </a:r>
            <a:endParaRPr/>
          </a:p>
          <a:p>
            <a:pPr indent="-342900" lvl="0" marL="457200" rtl="0" algn="l">
              <a:lnSpc>
                <a:spcPct val="120000"/>
              </a:lnSpc>
              <a:spcBef>
                <a:spcPts val="0"/>
              </a:spcBef>
              <a:spcAft>
                <a:spcPts val="0"/>
              </a:spcAft>
              <a:buSzPct val="64285"/>
              <a:buChar char="•"/>
            </a:pPr>
            <a:r>
              <a:rPr i="1" lang="en-US" sz="4000" cap="none">
                <a:solidFill>
                  <a:srgbClr val="FF0000"/>
                </a:solidFill>
                <a:latin typeface="Times New Roman"/>
                <a:ea typeface="Times New Roman"/>
                <a:cs typeface="Times New Roman"/>
                <a:sym typeface="Times New Roman"/>
              </a:rPr>
              <a:t>Зависимость от контекста в одной предметной области</a:t>
            </a:r>
            <a:endParaRPr/>
          </a:p>
          <a:p>
            <a:pPr indent="-342900" lvl="1" marL="914400" rtl="0" algn="l">
              <a:lnSpc>
                <a:spcPct val="120000"/>
              </a:lnSpc>
              <a:spcBef>
                <a:spcPts val="0"/>
              </a:spcBef>
              <a:spcAft>
                <a:spcPts val="0"/>
              </a:spcAft>
              <a:buSzPct val="64285"/>
              <a:buChar char="•"/>
            </a:pPr>
            <a:r>
              <a:rPr lang="en-US" sz="4000" cap="none">
                <a:latin typeface="Times New Roman"/>
                <a:ea typeface="Times New Roman"/>
                <a:cs typeface="Times New Roman"/>
                <a:sym typeface="Times New Roman"/>
              </a:rPr>
              <a:t>Долго заряжается </a:t>
            </a:r>
            <a:r>
              <a:rPr lang="en-US" sz="4000">
                <a:latin typeface="Times New Roman"/>
                <a:ea typeface="Times New Roman"/>
                <a:cs typeface="Times New Roman"/>
                <a:sym typeface="Times New Roman"/>
              </a:rPr>
              <a:t> или</a:t>
            </a:r>
            <a:r>
              <a:rPr lang="en-US" sz="4000" cap="none">
                <a:latin typeface="Times New Roman"/>
                <a:ea typeface="Times New Roman"/>
                <a:cs typeface="Times New Roman"/>
                <a:sym typeface="Times New Roman"/>
              </a:rPr>
              <a:t> Долго не разряжается</a:t>
            </a:r>
            <a:endParaRPr/>
          </a:p>
          <a:p>
            <a:pPr indent="-228600" lvl="1" marL="914400" rtl="0" algn="l">
              <a:lnSpc>
                <a:spcPct val="90000"/>
              </a:lnSpc>
              <a:spcBef>
                <a:spcPts val="500"/>
              </a:spcBef>
              <a:spcAft>
                <a:spcPts val="0"/>
              </a:spcAft>
              <a:buSzPct val="116883"/>
              <a:buNone/>
            </a:pPr>
            <a:r>
              <a:t/>
            </a:r>
            <a:endParaRPr sz="22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13"/>
          <p:cNvSpPr txBox="1"/>
          <p:nvPr>
            <p:ph type="title"/>
          </p:nvPr>
        </p:nvSpPr>
        <p:spPr>
          <a:xfrm>
            <a:off x="1124642" y="73778"/>
            <a:ext cx="9942716"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latin typeface="Times New Roman"/>
                <a:ea typeface="Times New Roman"/>
                <a:cs typeface="Times New Roman"/>
                <a:sym typeface="Times New Roman"/>
              </a:rPr>
              <a:t>Модификаторы тональности</a:t>
            </a:r>
            <a:endParaRPr/>
          </a:p>
        </p:txBody>
      </p:sp>
      <p:sp>
        <p:nvSpPr>
          <p:cNvPr id="974" name="Google Shape;974;p113"/>
          <p:cNvSpPr txBox="1"/>
          <p:nvPr>
            <p:ph idx="1" type="body"/>
          </p:nvPr>
        </p:nvSpPr>
        <p:spPr>
          <a:xfrm>
            <a:off x="242207" y="2080118"/>
            <a:ext cx="11707586" cy="3124658"/>
          </a:xfrm>
          <a:prstGeom prst="rect">
            <a:avLst/>
          </a:prstGeom>
          <a:noFill/>
          <a:ln>
            <a:noFill/>
          </a:ln>
        </p:spPr>
        <p:txBody>
          <a:bodyPr anchorCtr="0" anchor="ctr" bIns="45700" lIns="91425" spcFirstLastPara="1" rIns="91425" wrap="square" tIns="45700">
            <a:noAutofit/>
          </a:bodyPr>
          <a:lstStyle/>
          <a:p>
            <a:pPr indent="-342900" lvl="0" marL="457200" rtl="0" algn="l">
              <a:lnSpc>
                <a:spcPct val="90000"/>
              </a:lnSpc>
              <a:spcBef>
                <a:spcPts val="0"/>
              </a:spcBef>
              <a:spcAft>
                <a:spcPts val="0"/>
              </a:spcAft>
              <a:buSzPts val="1800"/>
              <a:buChar char="•"/>
            </a:pPr>
            <a:r>
              <a:rPr lang="en-US" cap="none">
                <a:latin typeface="Times New Roman"/>
                <a:ea typeface="Times New Roman"/>
                <a:cs typeface="Times New Roman"/>
                <a:sym typeface="Times New Roman"/>
              </a:rPr>
              <a:t>Изменение тональности на противоположную: отрицания (не, нет), слишком, без</a:t>
            </a:r>
            <a:endParaRPr/>
          </a:p>
          <a:p>
            <a:pPr indent="-228600" lvl="0" marL="457200" rtl="0" algn="l">
              <a:lnSpc>
                <a:spcPct val="90000"/>
              </a:lnSpc>
              <a:spcBef>
                <a:spcPts val="600"/>
              </a:spcBef>
              <a:spcAft>
                <a:spcPts val="0"/>
              </a:spcAft>
              <a:buSzPts val="1800"/>
              <a:buNone/>
            </a:pPr>
            <a:r>
              <a:t/>
            </a:r>
            <a:endParaRPr cap="none">
              <a:latin typeface="Times New Roman"/>
              <a:ea typeface="Times New Roman"/>
              <a:cs typeface="Times New Roman"/>
              <a:sym typeface="Times New Roman"/>
            </a:endParaRPr>
          </a:p>
          <a:p>
            <a:pPr indent="-342900" lvl="0" marL="457200" rtl="0" algn="l">
              <a:lnSpc>
                <a:spcPct val="90000"/>
              </a:lnSpc>
              <a:spcBef>
                <a:spcPts val="600"/>
              </a:spcBef>
              <a:spcAft>
                <a:spcPts val="0"/>
              </a:spcAft>
              <a:buSzPts val="1800"/>
              <a:buChar char="•"/>
            </a:pPr>
            <a:r>
              <a:rPr lang="en-US" cap="none">
                <a:latin typeface="Times New Roman"/>
                <a:ea typeface="Times New Roman"/>
                <a:cs typeface="Times New Roman"/>
                <a:sym typeface="Times New Roman"/>
              </a:rPr>
              <a:t>Усиление тональности: очень </a:t>
            </a:r>
            <a:endParaRPr/>
          </a:p>
          <a:p>
            <a:pPr indent="-228600" lvl="0" marL="457200" rtl="0" algn="l">
              <a:lnSpc>
                <a:spcPct val="90000"/>
              </a:lnSpc>
              <a:spcBef>
                <a:spcPts val="600"/>
              </a:spcBef>
              <a:spcAft>
                <a:spcPts val="0"/>
              </a:spcAft>
              <a:buSzPts val="1800"/>
              <a:buNone/>
            </a:pPr>
            <a:r>
              <a:t/>
            </a:r>
            <a:endParaRPr cap="none">
              <a:latin typeface="Times New Roman"/>
              <a:ea typeface="Times New Roman"/>
              <a:cs typeface="Times New Roman"/>
              <a:sym typeface="Times New Roman"/>
            </a:endParaRPr>
          </a:p>
          <a:p>
            <a:pPr indent="-342900" lvl="0" marL="457200" rtl="0" algn="l">
              <a:lnSpc>
                <a:spcPct val="90000"/>
              </a:lnSpc>
              <a:spcBef>
                <a:spcPts val="600"/>
              </a:spcBef>
              <a:spcAft>
                <a:spcPts val="0"/>
              </a:spcAft>
              <a:buSzPts val="1800"/>
              <a:buChar char="•"/>
            </a:pPr>
            <a:r>
              <a:rPr lang="en-US" cap="none">
                <a:latin typeface="Times New Roman"/>
                <a:ea typeface="Times New Roman"/>
                <a:cs typeface="Times New Roman"/>
                <a:sym typeface="Times New Roman"/>
              </a:rPr>
              <a:t>Проблема: сфера действия</a:t>
            </a:r>
            <a:endParaRPr/>
          </a:p>
          <a:p>
            <a:pPr indent="-342900" lvl="1" marL="914400" rtl="0" algn="l">
              <a:lnSpc>
                <a:spcPct val="90000"/>
              </a:lnSpc>
              <a:spcBef>
                <a:spcPts val="600"/>
              </a:spcBef>
              <a:spcAft>
                <a:spcPts val="0"/>
              </a:spcAft>
              <a:buSzPts val="1800"/>
              <a:buChar char="•"/>
            </a:pPr>
            <a:r>
              <a:rPr lang="en-US" sz="2800" cap="none">
                <a:latin typeface="Times New Roman"/>
                <a:ea typeface="Times New Roman"/>
                <a:cs typeface="Times New Roman"/>
                <a:sym typeface="Times New Roman"/>
              </a:rPr>
              <a:t>Теперь я </a:t>
            </a:r>
            <a:r>
              <a:rPr b="1" i="1" lang="en-US" sz="2800" cap="none">
                <a:latin typeface="Times New Roman"/>
                <a:ea typeface="Times New Roman"/>
                <a:cs typeface="Times New Roman"/>
                <a:sym typeface="Times New Roman"/>
              </a:rPr>
              <a:t>не</a:t>
            </a:r>
            <a:r>
              <a:rPr lang="en-US" sz="2800" cap="none">
                <a:latin typeface="Times New Roman"/>
                <a:ea typeface="Times New Roman"/>
                <a:cs typeface="Times New Roman"/>
                <a:sym typeface="Times New Roman"/>
              </a:rPr>
              <a:t> знаю как буду </a:t>
            </a:r>
            <a:r>
              <a:rPr b="1" lang="en-US" sz="2800" cap="none">
                <a:latin typeface="Times New Roman"/>
                <a:ea typeface="Times New Roman"/>
                <a:cs typeface="Times New Roman"/>
                <a:sym typeface="Times New Roman"/>
              </a:rPr>
              <a:t>без</a:t>
            </a:r>
            <a:r>
              <a:rPr lang="en-US" sz="2800" cap="none">
                <a:latin typeface="Times New Roman"/>
                <a:ea typeface="Times New Roman"/>
                <a:cs typeface="Times New Roman"/>
                <a:sym typeface="Times New Roman"/>
              </a:rPr>
              <a:t> потрясающей еды в своём городе </a:t>
            </a:r>
            <a:endParaRPr/>
          </a:p>
          <a:p>
            <a:pPr indent="-342900" lvl="1" marL="914400" rtl="0" algn="l">
              <a:lnSpc>
                <a:spcPct val="90000"/>
              </a:lnSpc>
              <a:spcBef>
                <a:spcPts val="600"/>
              </a:spcBef>
              <a:spcAft>
                <a:spcPts val="600"/>
              </a:spcAft>
              <a:buSzPts val="1800"/>
              <a:buChar char="•"/>
            </a:pPr>
            <a:r>
              <a:rPr lang="en-US" sz="2800" cap="none">
                <a:latin typeface="Times New Roman"/>
                <a:ea typeface="Times New Roman"/>
                <a:cs typeface="Times New Roman"/>
                <a:sym typeface="Times New Roman"/>
              </a:rPr>
              <a:t>Жаль, что </a:t>
            </a:r>
            <a:r>
              <a:rPr b="1" lang="en-US" sz="2800" cap="none">
                <a:latin typeface="Times New Roman"/>
                <a:ea typeface="Times New Roman"/>
                <a:cs typeface="Times New Roman"/>
                <a:sym typeface="Times New Roman"/>
              </a:rPr>
              <a:t>не</a:t>
            </a:r>
            <a:r>
              <a:rPr lang="en-US" sz="2800" cap="none">
                <a:latin typeface="Times New Roman"/>
                <a:ea typeface="Times New Roman"/>
                <a:cs typeface="Times New Roman"/>
                <a:sym typeface="Times New Roman"/>
              </a:rPr>
              <a:t> спросили имя официантки, она была просто супер-мила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114"/>
          <p:cNvSpPr txBox="1"/>
          <p:nvPr>
            <p:ph type="title"/>
          </p:nvPr>
        </p:nvSpPr>
        <p:spPr>
          <a:xfrm>
            <a:off x="685254" y="112826"/>
            <a:ext cx="11009827"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3800">
                <a:latin typeface="Times New Roman"/>
                <a:ea typeface="Times New Roman"/>
                <a:cs typeface="Times New Roman"/>
                <a:sym typeface="Times New Roman"/>
              </a:rPr>
              <a:t>Факторы нереального контекста (ирреалис)</a:t>
            </a:r>
            <a:endParaRPr/>
          </a:p>
        </p:txBody>
      </p:sp>
      <p:sp>
        <p:nvSpPr>
          <p:cNvPr id="980" name="Google Shape;980;p114"/>
          <p:cNvSpPr txBox="1"/>
          <p:nvPr>
            <p:ph idx="1" type="body"/>
          </p:nvPr>
        </p:nvSpPr>
        <p:spPr>
          <a:xfrm>
            <a:off x="326265" y="1800128"/>
            <a:ext cx="11539469" cy="3435531"/>
          </a:xfrm>
          <a:prstGeom prst="rect">
            <a:avLst/>
          </a:prstGeom>
          <a:noFill/>
          <a:ln>
            <a:noFill/>
          </a:ln>
        </p:spPr>
        <p:txBody>
          <a:bodyPr anchorCtr="0" anchor="ctr" bIns="45700" lIns="91425" spcFirstLastPara="1" rIns="91425" wrap="square" tIns="45700">
            <a:noAutofit/>
          </a:bodyPr>
          <a:lstStyle/>
          <a:p>
            <a:pPr indent="-342900" lvl="0" marL="457200" rtl="0" algn="l">
              <a:lnSpc>
                <a:spcPct val="90000"/>
              </a:lnSpc>
              <a:spcBef>
                <a:spcPts val="1000"/>
              </a:spcBef>
              <a:spcAft>
                <a:spcPts val="0"/>
              </a:spcAft>
              <a:buClr>
                <a:schemeClr val="dk1"/>
              </a:buClr>
              <a:buSzPts val="1800"/>
              <a:buChar char="•"/>
            </a:pPr>
            <a:r>
              <a:rPr lang="en-US" cap="none">
                <a:latin typeface="Times New Roman"/>
                <a:ea typeface="Times New Roman"/>
                <a:cs typeface="Times New Roman"/>
                <a:sym typeface="Times New Roman"/>
              </a:rPr>
              <a:t>Ирреалис (ирреальное наклонение) – группа грамматических средств, которые показывают, что сообщаемое в предложении не относится к тому, что реально происходит (plungyan, 2005).</a:t>
            </a:r>
            <a:endParaRPr/>
          </a:p>
          <a:p>
            <a:pPr indent="0" lvl="1" marL="457200" rtl="0" algn="l">
              <a:lnSpc>
                <a:spcPct val="90000"/>
              </a:lnSpc>
              <a:spcBef>
                <a:spcPts val="500"/>
              </a:spcBef>
              <a:spcAft>
                <a:spcPts val="0"/>
              </a:spcAft>
              <a:buSzPts val="1800"/>
              <a:buNone/>
            </a:pPr>
            <a:r>
              <a:rPr lang="en-US" sz="2800" cap="none">
                <a:latin typeface="Times New Roman"/>
                <a:ea typeface="Times New Roman"/>
                <a:cs typeface="Times New Roman"/>
                <a:sym typeface="Times New Roman"/>
              </a:rPr>
              <a:t>   - Я надеялась, что мне понравится</a:t>
            </a:r>
            <a:endParaRPr/>
          </a:p>
          <a:p>
            <a:pPr indent="0" lvl="1" marL="457200" rtl="0" algn="l">
              <a:lnSpc>
                <a:spcPct val="90000"/>
              </a:lnSpc>
              <a:spcBef>
                <a:spcPts val="500"/>
              </a:spcBef>
              <a:spcAft>
                <a:spcPts val="0"/>
              </a:spcAft>
              <a:buSzPts val="1800"/>
              <a:buNone/>
            </a:pPr>
            <a:r>
              <a:rPr lang="en-US" sz="2800" cap="none">
                <a:latin typeface="Times New Roman"/>
                <a:ea typeface="Times New Roman"/>
                <a:cs typeface="Times New Roman"/>
                <a:sym typeface="Times New Roman"/>
              </a:rPr>
              <a:t>   - Если бы фильм был хорошим</a:t>
            </a:r>
            <a:endParaRPr/>
          </a:p>
          <a:p>
            <a:pPr indent="0" lvl="1" marL="457200" rtl="0" algn="l">
              <a:lnSpc>
                <a:spcPct val="90000"/>
              </a:lnSpc>
              <a:spcBef>
                <a:spcPts val="500"/>
              </a:spcBef>
              <a:spcAft>
                <a:spcPts val="0"/>
              </a:spcAft>
              <a:buSzPts val="1800"/>
              <a:buNone/>
            </a:pPr>
            <a:r>
              <a:rPr lang="en-US" sz="2800" cap="none">
                <a:latin typeface="Times New Roman"/>
                <a:ea typeface="Times New Roman"/>
                <a:cs typeface="Times New Roman"/>
                <a:sym typeface="Times New Roman"/>
              </a:rPr>
              <a:t>   - Разве это хорошо кормить холодным?</a:t>
            </a:r>
            <a:endParaRPr/>
          </a:p>
          <a:p>
            <a:pPr indent="-342900" lvl="0" marL="457200" rtl="0" algn="l">
              <a:lnSpc>
                <a:spcPct val="90000"/>
              </a:lnSpc>
              <a:spcBef>
                <a:spcPts val="1000"/>
              </a:spcBef>
              <a:spcAft>
                <a:spcPts val="0"/>
              </a:spcAft>
              <a:buClr>
                <a:schemeClr val="dk1"/>
              </a:buClr>
              <a:buSzPts val="1800"/>
              <a:buChar char="•"/>
            </a:pPr>
            <a:r>
              <a:rPr lang="en-US" cap="none">
                <a:latin typeface="Times New Roman"/>
                <a:ea typeface="Times New Roman"/>
                <a:cs typeface="Times New Roman"/>
                <a:sym typeface="Times New Roman"/>
              </a:rPr>
              <a:t>Эксперименты показывают, что оценочным словам, попавшим в такие контексты, нужно учитывать априорную оценку с понижением</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15"/>
          <p:cNvSpPr txBox="1"/>
          <p:nvPr>
            <p:ph type="title"/>
          </p:nvPr>
        </p:nvSpPr>
        <p:spPr>
          <a:xfrm>
            <a:off x="1198907" y="160041"/>
            <a:ext cx="9942716"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800">
                <a:latin typeface="Times New Roman"/>
                <a:ea typeface="Times New Roman"/>
                <a:cs typeface="Times New Roman"/>
                <a:sym typeface="Times New Roman"/>
              </a:rPr>
              <a:t>Сравнения</a:t>
            </a:r>
            <a:endParaRPr/>
          </a:p>
        </p:txBody>
      </p:sp>
      <p:sp>
        <p:nvSpPr>
          <p:cNvPr id="986" name="Google Shape;986;p115"/>
          <p:cNvSpPr txBox="1"/>
          <p:nvPr>
            <p:ph idx="1" type="body"/>
          </p:nvPr>
        </p:nvSpPr>
        <p:spPr>
          <a:xfrm>
            <a:off x="-74762" y="1714521"/>
            <a:ext cx="12191999" cy="4231270"/>
          </a:xfrm>
          <a:prstGeom prst="rect">
            <a:avLst/>
          </a:prstGeom>
          <a:noFill/>
          <a:ln>
            <a:noFill/>
          </a:ln>
        </p:spPr>
        <p:txBody>
          <a:bodyPr anchorCtr="0" anchor="ctr" bIns="45700" lIns="91425" spcFirstLastPara="1" rIns="91425" wrap="square" tIns="45700">
            <a:normAutofit fontScale="62500" lnSpcReduction="20000"/>
          </a:bodyPr>
          <a:lstStyle/>
          <a:p>
            <a:pPr indent="-342900" lvl="0" marL="457200" rtl="0" algn="just">
              <a:lnSpc>
                <a:spcPct val="120000"/>
              </a:lnSpc>
              <a:spcBef>
                <a:spcPts val="0"/>
              </a:spcBef>
              <a:spcAft>
                <a:spcPts val="0"/>
              </a:spcAft>
              <a:buSzPct val="72000"/>
              <a:buChar char="•"/>
            </a:pPr>
            <a:r>
              <a:rPr lang="en-US" sz="4000" cap="none">
                <a:latin typeface="Times New Roman"/>
                <a:ea typeface="Times New Roman"/>
                <a:cs typeface="Times New Roman"/>
                <a:sym typeface="Times New Roman"/>
              </a:rPr>
              <a:t>Семантические сравнение, а не синтаксически выделяемый сравнительный оборот</a:t>
            </a:r>
            <a:endParaRPr/>
          </a:p>
          <a:p>
            <a:pPr indent="-228600" lvl="0" marL="457200" rtl="0" algn="just">
              <a:lnSpc>
                <a:spcPct val="120000"/>
              </a:lnSpc>
              <a:spcBef>
                <a:spcPts val="0"/>
              </a:spcBef>
              <a:spcAft>
                <a:spcPts val="0"/>
              </a:spcAft>
              <a:buSzPct val="72000"/>
              <a:buNone/>
            </a:pPr>
            <a:r>
              <a:t/>
            </a:r>
            <a:endParaRPr sz="4000" cap="none">
              <a:latin typeface="Times New Roman"/>
              <a:ea typeface="Times New Roman"/>
              <a:cs typeface="Times New Roman"/>
              <a:sym typeface="Times New Roman"/>
            </a:endParaRPr>
          </a:p>
          <a:p>
            <a:pPr indent="0" lvl="1" marL="457200" rtl="0" algn="just">
              <a:lnSpc>
                <a:spcPct val="120000"/>
              </a:lnSpc>
              <a:spcBef>
                <a:spcPts val="0"/>
              </a:spcBef>
              <a:spcAft>
                <a:spcPts val="0"/>
              </a:spcAft>
              <a:buSzPct val="72000"/>
              <a:buNone/>
            </a:pPr>
            <a:r>
              <a:rPr lang="en-US" sz="4000" cap="none">
                <a:latin typeface="Times New Roman"/>
                <a:ea typeface="Times New Roman"/>
                <a:cs typeface="Times New Roman"/>
                <a:sym typeface="Times New Roman"/>
              </a:rPr>
              <a:t>	- Фильм замечательный, он получил множество наград. Но я бы не сказала, что он лучше более ранних работ на подобную тему. Мне, например, гораздо больше понравился фильм 2004 года «именины» - режиссера валерия наумова. А в восторг привел фильм еще более раннего выпуска 2001 года с очень плохим названием «механическая сюита» режиссера дмитрия месхиева. </a:t>
            </a:r>
            <a:endParaRPr/>
          </a:p>
          <a:p>
            <a:pPr indent="0" lvl="1" marL="457200" rtl="0" algn="just">
              <a:lnSpc>
                <a:spcPct val="120000"/>
              </a:lnSpc>
              <a:spcBef>
                <a:spcPts val="0"/>
              </a:spcBef>
              <a:spcAft>
                <a:spcPts val="0"/>
              </a:spcAft>
              <a:buSzPct val="72000"/>
              <a:buNone/>
            </a:pPr>
            <a:r>
              <a:rPr lang="en-US" sz="4000" cap="none">
                <a:latin typeface="Times New Roman"/>
                <a:ea typeface="Times New Roman"/>
                <a:cs typeface="Times New Roman"/>
                <a:sym typeface="Times New Roman"/>
              </a:rPr>
              <a:t>	- Зимой довольно часто посещала это место и была в восторге, все было на высоте — атмосфера дружеская, обслуживание супер... Была на выходных, и разочаровалась. </a:t>
            </a:r>
            <a:endParaRPr/>
          </a:p>
          <a:p>
            <a:pPr indent="-228600" lvl="1" marL="914400" rtl="0" algn="l">
              <a:lnSpc>
                <a:spcPct val="90000"/>
              </a:lnSpc>
              <a:spcBef>
                <a:spcPts val="500"/>
              </a:spcBef>
              <a:spcAft>
                <a:spcPts val="0"/>
              </a:spcAft>
              <a:buSzPct val="144000"/>
              <a:buNone/>
            </a:pPr>
            <a:r>
              <a:t/>
            </a:r>
            <a:endParaRPr sz="2000"/>
          </a:p>
          <a:p>
            <a:pPr indent="-228600" lvl="1" marL="914400" rtl="0" algn="l">
              <a:lnSpc>
                <a:spcPct val="90000"/>
              </a:lnSpc>
              <a:spcBef>
                <a:spcPts val="500"/>
              </a:spcBef>
              <a:spcAft>
                <a:spcPts val="0"/>
              </a:spcAft>
              <a:buSzPct val="144000"/>
              <a:buNone/>
            </a:pPr>
            <a:r>
              <a:t/>
            </a:r>
            <a:endParaRPr sz="2000"/>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16"/>
          <p:cNvSpPr txBox="1"/>
          <p:nvPr>
            <p:ph type="title"/>
          </p:nvPr>
        </p:nvSpPr>
        <p:spPr>
          <a:xfrm>
            <a:off x="685254" y="112826"/>
            <a:ext cx="11009827"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000">
                <a:solidFill>
                  <a:srgbClr val="800080"/>
                </a:solidFill>
                <a:latin typeface="Times New Roman"/>
                <a:ea typeface="Times New Roman"/>
                <a:cs typeface="Times New Roman"/>
                <a:sym typeface="Times New Roman"/>
              </a:rPr>
              <a:t>Ирония и сарказм</a:t>
            </a:r>
            <a:endParaRPr b="1" sz="3800">
              <a:latin typeface="Times New Roman"/>
              <a:ea typeface="Times New Roman"/>
              <a:cs typeface="Times New Roman"/>
              <a:sym typeface="Times New Roman"/>
            </a:endParaRPr>
          </a:p>
        </p:txBody>
      </p:sp>
      <p:sp>
        <p:nvSpPr>
          <p:cNvPr id="992" name="Google Shape;992;p116"/>
          <p:cNvSpPr txBox="1"/>
          <p:nvPr>
            <p:ph idx="1" type="body"/>
          </p:nvPr>
        </p:nvSpPr>
        <p:spPr>
          <a:xfrm>
            <a:off x="252515" y="1221992"/>
            <a:ext cx="11539469" cy="4571160"/>
          </a:xfrm>
          <a:prstGeom prst="rect">
            <a:avLst/>
          </a:prstGeom>
          <a:noFill/>
          <a:ln>
            <a:noFill/>
          </a:ln>
        </p:spPr>
        <p:txBody>
          <a:bodyPr anchorCtr="0" anchor="ctr" bIns="45700" lIns="91425" spcFirstLastPara="1" rIns="91425" wrap="square" tIns="45700">
            <a:noAutofit/>
          </a:bodyPr>
          <a:lstStyle/>
          <a:p>
            <a:pPr indent="-342900" lvl="0" marL="457200" rtl="0" algn="just">
              <a:lnSpc>
                <a:spcPct val="90000"/>
              </a:lnSpc>
              <a:spcBef>
                <a:spcPts val="1000"/>
              </a:spcBef>
              <a:spcAft>
                <a:spcPts val="0"/>
              </a:spcAft>
              <a:buSzPts val="1800"/>
              <a:buChar char="•"/>
            </a:pPr>
            <a:r>
              <a:rPr b="1" i="1" lang="en-US" sz="2400" cap="none">
                <a:solidFill>
                  <a:srgbClr val="FF0000"/>
                </a:solidFill>
                <a:latin typeface="Times New Roman"/>
                <a:ea typeface="Times New Roman"/>
                <a:cs typeface="Times New Roman"/>
                <a:sym typeface="Times New Roman"/>
              </a:rPr>
              <a:t>Ирония</a:t>
            </a:r>
            <a:r>
              <a:rPr lang="en-US" sz="2400" cap="none">
                <a:latin typeface="Times New Roman"/>
                <a:ea typeface="Times New Roman"/>
                <a:cs typeface="Times New Roman"/>
                <a:sym typeface="Times New Roman"/>
              </a:rPr>
              <a:t> – это высказывание, буквальное содержание которого не соответствует реальному содержанию.</a:t>
            </a:r>
            <a:endParaRPr/>
          </a:p>
          <a:p>
            <a:pPr indent="-342900" lvl="0" marL="457200" rtl="0" algn="just">
              <a:lnSpc>
                <a:spcPct val="90000"/>
              </a:lnSpc>
              <a:spcBef>
                <a:spcPts val="1000"/>
              </a:spcBef>
              <a:spcAft>
                <a:spcPts val="0"/>
              </a:spcAft>
              <a:buSzPts val="1800"/>
              <a:buChar char="•"/>
            </a:pPr>
            <a:r>
              <a:rPr b="1" i="1" lang="en-US" sz="2400" cap="none">
                <a:solidFill>
                  <a:srgbClr val="FF0000"/>
                </a:solidFill>
                <a:latin typeface="Times New Roman"/>
                <a:ea typeface="Times New Roman"/>
                <a:cs typeface="Times New Roman"/>
                <a:sym typeface="Times New Roman"/>
              </a:rPr>
              <a:t>Сарказм</a:t>
            </a:r>
            <a:r>
              <a:rPr lang="en-US" sz="2400" cap="none">
                <a:latin typeface="Times New Roman"/>
                <a:ea typeface="Times New Roman"/>
                <a:cs typeface="Times New Roman"/>
                <a:sym typeface="Times New Roman"/>
              </a:rPr>
              <a:t> – более резкая, агрессивная форма высказывания, чем ирония.</a:t>
            </a:r>
            <a:endParaRPr/>
          </a:p>
          <a:p>
            <a:pPr indent="-342900" lvl="0" marL="457200" rtl="0" algn="just">
              <a:lnSpc>
                <a:spcPct val="90000"/>
              </a:lnSpc>
              <a:spcBef>
                <a:spcPts val="1000"/>
              </a:spcBef>
              <a:spcAft>
                <a:spcPts val="0"/>
              </a:spcAft>
              <a:buSzPts val="1800"/>
              <a:buChar char="•"/>
            </a:pPr>
            <a:r>
              <a:rPr lang="en-US" sz="2400" cap="none">
                <a:latin typeface="Times New Roman"/>
                <a:ea typeface="Times New Roman"/>
                <a:cs typeface="Times New Roman"/>
                <a:sym typeface="Times New Roman"/>
              </a:rPr>
              <a:t>Обычно по словам выглядит положительным, а на самом деле отрицательно</a:t>
            </a:r>
            <a:endParaRPr/>
          </a:p>
          <a:p>
            <a:pPr indent="-342900" lvl="1" marL="914400" rtl="0" algn="just">
              <a:lnSpc>
                <a:spcPct val="90000"/>
              </a:lnSpc>
              <a:spcBef>
                <a:spcPts val="500"/>
              </a:spcBef>
              <a:spcAft>
                <a:spcPts val="0"/>
              </a:spcAft>
              <a:buSzPts val="1800"/>
              <a:buChar char="•"/>
            </a:pPr>
            <a:r>
              <a:rPr i="1" lang="en-US" sz="2400" cap="none">
                <a:latin typeface="Times New Roman"/>
                <a:ea typeface="Times New Roman"/>
                <a:cs typeface="Times New Roman"/>
                <a:sym typeface="Times New Roman"/>
              </a:rPr>
              <a:t>В сбербанке живая очередь опять победила электронную</a:t>
            </a:r>
            <a:endParaRPr/>
          </a:p>
          <a:p>
            <a:pPr indent="-342900" lvl="1" marL="914400" rtl="0" algn="just">
              <a:lnSpc>
                <a:spcPct val="90000"/>
              </a:lnSpc>
              <a:spcBef>
                <a:spcPts val="500"/>
              </a:spcBef>
              <a:spcAft>
                <a:spcPts val="0"/>
              </a:spcAft>
              <a:buSzPts val="1800"/>
              <a:buChar char="•"/>
            </a:pPr>
            <a:r>
              <a:rPr i="1" lang="en-US" sz="2400" cap="none">
                <a:latin typeface="Times New Roman"/>
                <a:ea typeface="Times New Roman"/>
                <a:cs typeface="Times New Roman"/>
                <a:sym typeface="Times New Roman"/>
              </a:rPr>
              <a:t>Сбербанк - самая крупная сеть неработающих банкоматов</a:t>
            </a:r>
            <a:endParaRPr/>
          </a:p>
          <a:p>
            <a:pPr indent="-342900" lvl="1" marL="914400" rtl="0" algn="just">
              <a:lnSpc>
                <a:spcPct val="90000"/>
              </a:lnSpc>
              <a:spcBef>
                <a:spcPts val="500"/>
              </a:spcBef>
              <a:spcAft>
                <a:spcPts val="0"/>
              </a:spcAft>
              <a:buSzPts val="1800"/>
              <a:buChar char="•"/>
            </a:pPr>
            <a:r>
              <a:rPr i="1" lang="en-US" sz="2400" cap="none">
                <a:latin typeface="Times New Roman"/>
                <a:ea typeface="Times New Roman"/>
                <a:cs typeface="Times New Roman"/>
                <a:sym typeface="Times New Roman"/>
              </a:rPr>
              <a:t>My car window just asked me if I </a:t>
            </a:r>
            <a:r>
              <a:rPr i="1" lang="en-US" sz="2400" u="sng" cap="none">
                <a:latin typeface="Times New Roman"/>
                <a:ea typeface="Times New Roman"/>
                <a:cs typeface="Times New Roman"/>
                <a:sym typeface="Times New Roman"/>
              </a:rPr>
              <a:t>want</a:t>
            </a:r>
            <a:r>
              <a:rPr i="1" lang="en-US" sz="2400" cap="none">
                <a:latin typeface="Times New Roman"/>
                <a:ea typeface="Times New Roman"/>
                <a:cs typeface="Times New Roman"/>
                <a:sym typeface="Times New Roman"/>
              </a:rPr>
              <a:t> to upgrade to </a:t>
            </a:r>
            <a:r>
              <a:rPr b="1" i="1" lang="en-US" sz="2400" cap="none">
                <a:solidFill>
                  <a:srgbClr val="CC0000"/>
                </a:solidFill>
                <a:latin typeface="Times New Roman"/>
                <a:ea typeface="Times New Roman"/>
                <a:cs typeface="Times New Roman"/>
                <a:sym typeface="Times New Roman"/>
              </a:rPr>
              <a:t>windows 10</a:t>
            </a:r>
            <a:r>
              <a:rPr i="1" lang="en-US" sz="2400" cap="none">
                <a:solidFill>
                  <a:srgbClr val="CC0000"/>
                </a:solidFill>
                <a:latin typeface="Times New Roman"/>
                <a:ea typeface="Times New Roman"/>
                <a:cs typeface="Times New Roman"/>
                <a:sym typeface="Times New Roman"/>
              </a:rPr>
              <a:t>.</a:t>
            </a:r>
            <a:endParaRPr/>
          </a:p>
          <a:p>
            <a:pPr indent="-342900" lvl="1" marL="914400" rtl="0" algn="just">
              <a:lnSpc>
                <a:spcPct val="90000"/>
              </a:lnSpc>
              <a:spcBef>
                <a:spcPts val="500"/>
              </a:spcBef>
              <a:spcAft>
                <a:spcPts val="0"/>
              </a:spcAft>
              <a:buSzPts val="1800"/>
              <a:buChar char="•"/>
            </a:pPr>
            <a:r>
              <a:rPr i="1" lang="en-US" sz="2400" cap="none">
                <a:latin typeface="Times New Roman"/>
                <a:ea typeface="Times New Roman"/>
                <a:cs typeface="Times New Roman"/>
                <a:sym typeface="Times New Roman"/>
              </a:rPr>
              <a:t>When you get back from vacation fired up for new music releases but your computer is still on vacation. Thanks </a:t>
            </a:r>
            <a:r>
              <a:rPr b="1" i="1" lang="en-US" sz="2400" cap="none">
                <a:latin typeface="Times New Roman"/>
                <a:ea typeface="Times New Roman"/>
                <a:cs typeface="Times New Roman"/>
                <a:sym typeface="Times New Roman"/>
              </a:rPr>
              <a:t>windows 10</a:t>
            </a:r>
            <a:r>
              <a:rPr i="1" lang="en-US" sz="2400" cap="none">
                <a:latin typeface="Times New Roman"/>
                <a:ea typeface="Times New Roman"/>
                <a:cs typeface="Times New Roman"/>
                <a:sym typeface="Times New Roman"/>
              </a:rPr>
              <a:t>!        Us so much!</a:t>
            </a:r>
            <a:endParaRPr i="1" sz="2400" cap="none">
              <a:solidFill>
                <a:srgbClr val="CC0000"/>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17"/>
          <p:cNvSpPr txBox="1"/>
          <p:nvPr>
            <p:ph type="title"/>
          </p:nvPr>
        </p:nvSpPr>
        <p:spPr>
          <a:xfrm>
            <a:off x="1277795" y="174674"/>
            <a:ext cx="9762931" cy="850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a:solidFill>
                  <a:srgbClr val="1F5C99"/>
                </a:solidFill>
                <a:latin typeface="Times New Roman"/>
                <a:ea typeface="Times New Roman"/>
                <a:cs typeface="Times New Roman"/>
                <a:sym typeface="Times New Roman"/>
              </a:rPr>
              <a:t>Подзадачи анализа тональности</a:t>
            </a:r>
            <a:endParaRPr/>
          </a:p>
        </p:txBody>
      </p:sp>
      <p:sp>
        <p:nvSpPr>
          <p:cNvPr id="998" name="Google Shape;998;p117"/>
          <p:cNvSpPr txBox="1"/>
          <p:nvPr>
            <p:ph idx="1" type="body"/>
          </p:nvPr>
        </p:nvSpPr>
        <p:spPr>
          <a:xfrm>
            <a:off x="953968" y="1148029"/>
            <a:ext cx="10772344" cy="4225257"/>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1000"/>
              </a:spcBef>
              <a:spcAft>
                <a:spcPts val="0"/>
              </a:spcAft>
              <a:buSzPts val="1800"/>
              <a:buChar char="•"/>
            </a:pPr>
            <a:r>
              <a:rPr lang="en-US" cap="none">
                <a:latin typeface="Times New Roman"/>
                <a:ea typeface="Times New Roman"/>
                <a:cs typeface="Times New Roman"/>
                <a:sym typeface="Times New Roman"/>
              </a:rPr>
              <a:t>Классификация целого документа</a:t>
            </a:r>
            <a:endParaRPr/>
          </a:p>
          <a:p>
            <a:pPr indent="-342900" lvl="0" marL="457200" rtl="0" algn="l">
              <a:lnSpc>
                <a:spcPct val="90000"/>
              </a:lnSpc>
              <a:spcBef>
                <a:spcPts val="1000"/>
              </a:spcBef>
              <a:spcAft>
                <a:spcPts val="0"/>
              </a:spcAft>
              <a:buSzPts val="1800"/>
              <a:buChar char="•"/>
            </a:pPr>
            <a:r>
              <a:rPr lang="en-US" cap="none">
                <a:latin typeface="Times New Roman"/>
                <a:ea typeface="Times New Roman"/>
                <a:cs typeface="Times New Roman"/>
                <a:sym typeface="Times New Roman"/>
              </a:rPr>
              <a:t>Классификация отдельного предложения</a:t>
            </a:r>
            <a:endParaRPr/>
          </a:p>
          <a:p>
            <a:pPr indent="-342900" lvl="1" marL="9144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Автоматическая генерация аннотаций</a:t>
            </a:r>
            <a:endParaRPr/>
          </a:p>
          <a:p>
            <a:pPr indent="-342900" lvl="1" marL="9144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Вопросно-ответные системы</a:t>
            </a:r>
            <a:endParaRPr/>
          </a:p>
          <a:p>
            <a:pPr indent="-342900" lvl="0" marL="457200" rtl="0" algn="l">
              <a:lnSpc>
                <a:spcPct val="90000"/>
              </a:lnSpc>
              <a:spcBef>
                <a:spcPts val="1000"/>
              </a:spcBef>
              <a:spcAft>
                <a:spcPts val="0"/>
              </a:spcAft>
              <a:buSzPts val="1800"/>
              <a:buChar char="•"/>
            </a:pPr>
            <a:r>
              <a:rPr lang="en-US" cap="none">
                <a:latin typeface="Times New Roman"/>
                <a:ea typeface="Times New Roman"/>
                <a:cs typeface="Times New Roman"/>
                <a:sym typeface="Times New Roman"/>
              </a:rPr>
              <a:t>Тональность по конкретным объектам</a:t>
            </a:r>
            <a:endParaRPr/>
          </a:p>
          <a:p>
            <a:pPr indent="-342900" lvl="0" marL="457200" rtl="0" algn="l">
              <a:lnSpc>
                <a:spcPct val="90000"/>
              </a:lnSpc>
              <a:spcBef>
                <a:spcPts val="1000"/>
              </a:spcBef>
              <a:spcAft>
                <a:spcPts val="0"/>
              </a:spcAft>
              <a:buSzPts val="1800"/>
              <a:buChar char="•"/>
            </a:pPr>
            <a:r>
              <a:rPr lang="en-US" cap="none">
                <a:latin typeface="Times New Roman"/>
                <a:ea typeface="Times New Roman"/>
                <a:cs typeface="Times New Roman"/>
                <a:sym typeface="Times New Roman"/>
              </a:rPr>
              <a:t>Тональность по конкретным атрибутам (аспектам)</a:t>
            </a:r>
            <a:endParaRPr/>
          </a:p>
          <a:p>
            <a:pPr indent="-342900" lvl="1" marL="9144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Выделение конкретных атрибутов</a:t>
            </a:r>
            <a:endParaRPr/>
          </a:p>
          <a:p>
            <a:pPr indent="-342900" lvl="1" marL="9144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Выделение мнений по атрибутам</a:t>
            </a:r>
            <a:endParaRPr/>
          </a:p>
          <a:p>
            <a:pPr indent="-342900" lvl="1" marL="9144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Классификация мнений по конкретному атрибуту</a:t>
            </a:r>
            <a:endParaRPr sz="2800" cap="none">
              <a:latin typeface="Times New Roman"/>
              <a:ea typeface="Times New Roman"/>
              <a:cs typeface="Times New Roman"/>
              <a:sym typeface="Times New Roman"/>
            </a:endParaRPr>
          </a:p>
          <a:p>
            <a:pPr indent="-342900" lvl="0" marL="457200" rtl="0" algn="l">
              <a:lnSpc>
                <a:spcPct val="90000"/>
              </a:lnSpc>
              <a:spcBef>
                <a:spcPts val="1000"/>
              </a:spcBef>
              <a:spcAft>
                <a:spcPts val="0"/>
              </a:spcAft>
              <a:buSzPts val="1800"/>
              <a:buChar char="•"/>
            </a:pPr>
            <a:r>
              <a:rPr lang="en-US" cap="none">
                <a:latin typeface="Times New Roman"/>
                <a:ea typeface="Times New Roman"/>
                <a:cs typeface="Times New Roman"/>
                <a:sym typeface="Times New Roman"/>
              </a:rPr>
              <a:t>Позиция по вопросу (stance detection)</a:t>
            </a:r>
            <a:endParaRPr cap="none">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118"/>
          <p:cNvSpPr txBox="1"/>
          <p:nvPr>
            <p:ph type="title"/>
          </p:nvPr>
        </p:nvSpPr>
        <p:spPr>
          <a:xfrm>
            <a:off x="1290922" y="68026"/>
            <a:ext cx="9942716" cy="120564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800">
                <a:latin typeface="Times New Roman"/>
                <a:ea typeface="Times New Roman"/>
                <a:cs typeface="Times New Roman"/>
                <a:sym typeface="Times New Roman"/>
              </a:rPr>
              <a:t>Оценка качества </a:t>
            </a:r>
            <a:endParaRPr/>
          </a:p>
        </p:txBody>
      </p:sp>
      <p:sp>
        <p:nvSpPr>
          <p:cNvPr id="1004" name="Google Shape;1004;p118"/>
          <p:cNvSpPr txBox="1"/>
          <p:nvPr>
            <p:ph idx="1" type="body"/>
          </p:nvPr>
        </p:nvSpPr>
        <p:spPr>
          <a:xfrm>
            <a:off x="0" y="1522276"/>
            <a:ext cx="12112580" cy="3363959"/>
          </a:xfrm>
          <a:prstGeom prst="rect">
            <a:avLst/>
          </a:prstGeom>
          <a:noFill/>
          <a:ln>
            <a:noFill/>
          </a:ln>
        </p:spPr>
        <p:txBody>
          <a:bodyPr anchorCtr="0" anchor="ctr" bIns="45700" lIns="91425" spcFirstLastPara="1" rIns="91425" wrap="square" tIns="45700">
            <a:noAutofit/>
          </a:bodyPr>
          <a:lstStyle/>
          <a:p>
            <a:pPr indent="-342900" lvl="0" marL="457200" rtl="0" algn="l">
              <a:lnSpc>
                <a:spcPct val="90000"/>
              </a:lnSpc>
              <a:spcBef>
                <a:spcPts val="1000"/>
              </a:spcBef>
              <a:spcAft>
                <a:spcPts val="0"/>
              </a:spcAft>
              <a:buSzPts val="1800"/>
              <a:buChar char="•"/>
            </a:pPr>
            <a:r>
              <a:rPr lang="en-US" cap="none">
                <a:latin typeface="Times New Roman"/>
                <a:ea typeface="Times New Roman"/>
                <a:cs typeface="Times New Roman"/>
                <a:sym typeface="Times New Roman"/>
              </a:rPr>
              <a:t>Сравнение с оценками людей (золотой стандарт)</a:t>
            </a:r>
            <a:endParaRPr cap="none">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Точность-полнота-f-мера</a:t>
            </a:r>
            <a:endParaRPr/>
          </a:p>
          <a:p>
            <a:pPr indent="-342900" lvl="1" marL="9144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Если у нас три класс: позитивный, негативный и нейтральный, то может считаться средняя мера по позитивному и негативному классам</a:t>
            </a:r>
            <a:endParaRPr/>
          </a:p>
          <a:p>
            <a:pPr indent="-228600" lvl="1" marL="914400" rtl="0" algn="l">
              <a:lnSpc>
                <a:spcPct val="90000"/>
              </a:lnSpc>
              <a:spcBef>
                <a:spcPts val="500"/>
              </a:spcBef>
              <a:spcAft>
                <a:spcPts val="0"/>
              </a:spcAft>
              <a:buSzPts val="1800"/>
              <a:buNone/>
            </a:pPr>
            <a:r>
              <a:t/>
            </a:r>
            <a:endParaRPr sz="2800" cap="none">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Accuracy (аккуратность – правильность классификации)</a:t>
            </a:r>
            <a:endParaRPr/>
          </a:p>
          <a:p>
            <a:pPr indent="-342900" lvl="2" marL="1371600" rtl="0" algn="l">
              <a:lnSpc>
                <a:spcPct val="90000"/>
              </a:lnSpc>
              <a:spcBef>
                <a:spcPts val="500"/>
              </a:spcBef>
              <a:spcAft>
                <a:spcPts val="0"/>
              </a:spcAft>
              <a:buSzPts val="1800"/>
              <a:buChar char="•"/>
            </a:pPr>
            <a:r>
              <a:rPr lang="en-US" sz="2800" cap="none">
                <a:latin typeface="Times New Roman"/>
                <a:ea typeface="Times New Roman"/>
                <a:cs typeface="Times New Roman"/>
                <a:sym typeface="Times New Roman"/>
              </a:rPr>
              <a:t>Отношение правильно классифицированных текстов ко всем текстам</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010" name="Google Shape;1010;p119"/>
          <p:cNvPicPr preferRelativeResize="0"/>
          <p:nvPr/>
        </p:nvPicPr>
        <p:blipFill rotWithShape="1">
          <a:blip r:embed="rId3">
            <a:alphaModFix/>
          </a:blip>
          <a:srcRect b="0" l="0" r="0" t="0"/>
          <a:stretch/>
        </p:blipFill>
        <p:spPr>
          <a:xfrm>
            <a:off x="1853889" y="439030"/>
            <a:ext cx="8000596" cy="3498145"/>
          </a:xfrm>
          <a:prstGeom prst="rect">
            <a:avLst/>
          </a:prstGeom>
          <a:noFill/>
          <a:ln>
            <a:noFill/>
          </a:ln>
        </p:spPr>
      </p:pic>
      <p:pic>
        <p:nvPicPr>
          <p:cNvPr id="1011" name="Google Shape;1011;p119"/>
          <p:cNvPicPr preferRelativeResize="0"/>
          <p:nvPr/>
        </p:nvPicPr>
        <p:blipFill rotWithShape="1">
          <a:blip r:embed="rId4">
            <a:alphaModFix/>
          </a:blip>
          <a:srcRect b="0" l="0" r="0" t="0"/>
          <a:stretch/>
        </p:blipFill>
        <p:spPr>
          <a:xfrm>
            <a:off x="0" y="4391096"/>
            <a:ext cx="12192000" cy="182356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120"/>
          <p:cNvSpPr txBox="1"/>
          <p:nvPr>
            <p:ph type="title"/>
          </p:nvPr>
        </p:nvSpPr>
        <p:spPr>
          <a:xfrm>
            <a:off x="914400" y="122238"/>
            <a:ext cx="7886700" cy="6016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3200">
                <a:solidFill>
                  <a:srgbClr val="800080"/>
                </a:solidFill>
                <a:latin typeface="Times New Roman"/>
                <a:ea typeface="Times New Roman"/>
                <a:cs typeface="Times New Roman"/>
                <a:sym typeface="Times New Roman"/>
              </a:rPr>
              <a:t>Точность, полнота, F-мера</a:t>
            </a:r>
            <a:endParaRPr/>
          </a:p>
        </p:txBody>
      </p:sp>
      <p:sp>
        <p:nvSpPr>
          <p:cNvPr id="1017" name="Google Shape;1017;p120"/>
          <p:cNvSpPr txBox="1"/>
          <p:nvPr>
            <p:ph idx="1" type="body"/>
          </p:nvPr>
        </p:nvSpPr>
        <p:spPr>
          <a:xfrm>
            <a:off x="327315" y="833772"/>
            <a:ext cx="10297142" cy="3726160"/>
          </a:xfrm>
          <a:prstGeom prst="rect">
            <a:avLst/>
          </a:prstGeom>
          <a:blipFill rotWithShape="1">
            <a:blip r:embed="rId3">
              <a:alphaModFix/>
            </a:blip>
            <a:stretch>
              <a:fillRect b="-47295" l="-1242" r="0" t="-2944"/>
            </a:stretch>
          </a:blip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 </a:t>
            </a:r>
            <a:endParaRPr/>
          </a:p>
        </p:txBody>
      </p:sp>
      <p:sp>
        <p:nvSpPr>
          <p:cNvPr id="1018" name="Google Shape;1018;p120"/>
          <p:cNvSpPr txBox="1"/>
          <p:nvPr/>
        </p:nvSpPr>
        <p:spPr>
          <a:xfrm>
            <a:off x="8801100" y="3005660"/>
            <a:ext cx="3004457"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Значение F-score в данном примере составляет </a:t>
            </a:r>
            <a:r>
              <a:rPr b="1" i="0" lang="en-US" sz="2800" u="none" cap="none" strike="noStrike">
                <a:solidFill>
                  <a:srgbClr val="000000"/>
                </a:solidFill>
                <a:latin typeface="Times New Roman"/>
                <a:ea typeface="Times New Roman"/>
                <a:cs typeface="Times New Roman"/>
                <a:sym typeface="Times New Roman"/>
              </a:rPr>
              <a:t>0. 27</a:t>
            </a:r>
            <a:r>
              <a:rPr b="0" i="0" lang="en-US" sz="2800" u="none" cap="none" strike="noStrike">
                <a:solidFill>
                  <a:srgbClr val="000000"/>
                </a:solidFill>
                <a:latin typeface="Times New Roman"/>
                <a:ea typeface="Times New Roman"/>
                <a:cs typeface="Times New Roman"/>
                <a:sym typeface="Times New Roman"/>
              </a:rPr>
              <a:t>, что указывает на слабый баланс между точностью и полнотой.</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21"/>
          <p:cNvSpPr txBox="1"/>
          <p:nvPr>
            <p:ph type="ctrTitle"/>
          </p:nvPr>
        </p:nvSpPr>
        <p:spPr>
          <a:xfrm>
            <a:off x="4657345" y="542109"/>
            <a:ext cx="6251110" cy="356616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5000">
                <a:latin typeface="Times New Roman"/>
                <a:ea typeface="Times New Roman"/>
                <a:cs typeface="Times New Roman"/>
                <a:sym typeface="Times New Roman"/>
              </a:rPr>
              <a:t>Анализ тональности целого текста </a:t>
            </a:r>
            <a:br>
              <a:rPr b="1" lang="en-US" sz="5000">
                <a:latin typeface="Times New Roman"/>
                <a:ea typeface="Times New Roman"/>
                <a:cs typeface="Times New Roman"/>
                <a:sym typeface="Times New Roman"/>
              </a:rPr>
            </a:br>
            <a:r>
              <a:rPr b="1" lang="en-US" sz="5000">
                <a:latin typeface="Times New Roman"/>
                <a:ea typeface="Times New Roman"/>
                <a:cs typeface="Times New Roman"/>
                <a:sym typeface="Times New Roman"/>
              </a:rPr>
              <a:t>(текстового фрагмента)</a:t>
            </a:r>
            <a:endParaRPr/>
          </a:p>
        </p:txBody>
      </p:sp>
      <p:pic>
        <p:nvPicPr>
          <p:cNvPr descr="Фото Book | Freepik" id="1024" name="Google Shape;1024;p121"/>
          <p:cNvPicPr preferRelativeResize="0"/>
          <p:nvPr/>
        </p:nvPicPr>
        <p:blipFill rotWithShape="1">
          <a:blip r:embed="rId3">
            <a:alphaModFix/>
          </a:blip>
          <a:srcRect b="-1" l="0" r="-1" t="1709"/>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023"/>
                                        </p:tgtEl>
                                        <p:attrNameLst>
                                          <p:attrName>style.visibility</p:attrName>
                                        </p:attrNameLst>
                                      </p:cBhvr>
                                      <p:to>
                                        <p:strVal val="visible"/>
                                      </p:to>
                                    </p:set>
                                    <p:animEffect filter="fade" transition="in">
                                      <p:cBhvr>
                                        <p:cTn dur="400"/>
                                        <p:tgtEl>
                                          <p:spTgt spid="10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22"/>
          <p:cNvSpPr txBox="1"/>
          <p:nvPr>
            <p:ph idx="4294967295" type="title"/>
          </p:nvPr>
        </p:nvSpPr>
        <p:spPr>
          <a:xfrm>
            <a:off x="0" y="130175"/>
            <a:ext cx="8229600" cy="63341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b="1" lang="en-US" sz="3200">
                <a:solidFill>
                  <a:srgbClr val="800080"/>
                </a:solidFill>
                <a:latin typeface="Times New Roman"/>
                <a:ea typeface="Times New Roman"/>
                <a:cs typeface="Times New Roman"/>
                <a:sym typeface="Times New Roman"/>
              </a:rPr>
              <a:t>Подходы к анализу тональности</a:t>
            </a:r>
            <a:endParaRPr/>
          </a:p>
        </p:txBody>
      </p:sp>
      <p:sp>
        <p:nvSpPr>
          <p:cNvPr id="1030" name="Google Shape;1030;p122"/>
          <p:cNvSpPr txBox="1"/>
          <p:nvPr>
            <p:ph idx="4294967295" type="body"/>
          </p:nvPr>
        </p:nvSpPr>
        <p:spPr>
          <a:xfrm>
            <a:off x="0" y="1038225"/>
            <a:ext cx="10133013" cy="5689600"/>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1000"/>
              </a:spcBef>
              <a:spcAft>
                <a:spcPts val="0"/>
              </a:spcAft>
              <a:buSzPts val="2800"/>
              <a:buChar char="•"/>
            </a:pPr>
            <a:r>
              <a:rPr b="1" lang="en-US" sz="2600" cap="none">
                <a:solidFill>
                  <a:srgbClr val="BF4F14"/>
                </a:solidFill>
                <a:latin typeface="Times New Roman"/>
                <a:ea typeface="Times New Roman"/>
                <a:cs typeface="Times New Roman"/>
                <a:sym typeface="Times New Roman"/>
              </a:rPr>
              <a:t>ЛИНГВИСТИКО-ИНЖЕНЕРНЫЕ ПОДХОДЫ</a:t>
            </a:r>
            <a:endParaRPr/>
          </a:p>
          <a:p>
            <a:pPr indent="-381000" lvl="1" marL="914400" rtl="0" algn="l">
              <a:lnSpc>
                <a:spcPct val="90000"/>
              </a:lnSpc>
              <a:spcBef>
                <a:spcPts val="500"/>
              </a:spcBef>
              <a:spcAft>
                <a:spcPts val="0"/>
              </a:spcAft>
              <a:buSzPts val="2400"/>
              <a:buChar char="•"/>
            </a:pPr>
            <a:r>
              <a:rPr lang="en-US" sz="2600" cap="none">
                <a:latin typeface="Times New Roman"/>
                <a:ea typeface="Times New Roman"/>
                <a:cs typeface="Times New Roman"/>
                <a:sym typeface="Times New Roman"/>
              </a:rPr>
              <a:t>Словари (жалко, скучный, мало повидавший)</a:t>
            </a:r>
            <a:endParaRPr/>
          </a:p>
          <a:p>
            <a:pPr indent="-381000" lvl="1" marL="914400" rtl="0" algn="l">
              <a:lnSpc>
                <a:spcPct val="90000"/>
              </a:lnSpc>
              <a:spcBef>
                <a:spcPts val="500"/>
              </a:spcBef>
              <a:spcAft>
                <a:spcPts val="0"/>
              </a:spcAft>
              <a:buSzPts val="2400"/>
              <a:buChar char="•"/>
            </a:pPr>
            <a:r>
              <a:rPr lang="en-US" sz="2600" cap="none">
                <a:latin typeface="Times New Roman"/>
                <a:ea typeface="Times New Roman"/>
                <a:cs typeface="Times New Roman"/>
                <a:sym typeface="Times New Roman"/>
              </a:rPr>
              <a:t>Правила (не очень скучный)</a:t>
            </a:r>
            <a:endParaRPr/>
          </a:p>
          <a:p>
            <a:pPr indent="-381000" lvl="1" marL="914400" rtl="0" algn="l">
              <a:lnSpc>
                <a:spcPct val="90000"/>
              </a:lnSpc>
              <a:spcBef>
                <a:spcPts val="500"/>
              </a:spcBef>
              <a:spcAft>
                <a:spcPts val="0"/>
              </a:spcAft>
              <a:buSzPts val="2400"/>
              <a:buChar char="•"/>
            </a:pPr>
            <a:r>
              <a:rPr lang="en-US" sz="2600" cap="none">
                <a:latin typeface="Times New Roman"/>
                <a:ea typeface="Times New Roman"/>
                <a:cs typeface="Times New Roman"/>
                <a:sym typeface="Times New Roman"/>
              </a:rPr>
              <a:t>Проблемы: трудно все зафиксировать</a:t>
            </a:r>
            <a:endParaRPr/>
          </a:p>
          <a:p>
            <a:pPr indent="-228600" lvl="1" marL="914400" rtl="0" algn="l">
              <a:lnSpc>
                <a:spcPct val="90000"/>
              </a:lnSpc>
              <a:spcBef>
                <a:spcPts val="500"/>
              </a:spcBef>
              <a:spcAft>
                <a:spcPts val="0"/>
              </a:spcAft>
              <a:buSzPts val="2400"/>
              <a:buNone/>
            </a:pPr>
            <a:r>
              <a:t/>
            </a:r>
            <a:endParaRPr sz="2600" cap="none">
              <a:latin typeface="Times New Roman"/>
              <a:ea typeface="Times New Roman"/>
              <a:cs typeface="Times New Roman"/>
              <a:sym typeface="Times New Roman"/>
            </a:endParaRPr>
          </a:p>
          <a:p>
            <a:pPr indent="-406400" lvl="0" marL="457200" rtl="0" algn="l">
              <a:lnSpc>
                <a:spcPct val="90000"/>
              </a:lnSpc>
              <a:spcBef>
                <a:spcPts val="1000"/>
              </a:spcBef>
              <a:spcAft>
                <a:spcPts val="0"/>
              </a:spcAft>
              <a:buSzPts val="2800"/>
              <a:buChar char="•"/>
            </a:pPr>
            <a:r>
              <a:rPr b="1" lang="en-US" sz="2600" cap="none">
                <a:solidFill>
                  <a:srgbClr val="BF4F14"/>
                </a:solidFill>
                <a:latin typeface="Times New Roman"/>
                <a:ea typeface="Times New Roman"/>
                <a:cs typeface="Times New Roman"/>
                <a:sym typeface="Times New Roman"/>
              </a:rPr>
              <a:t>ПОДХОДЫ, ОСНОВАННЫЕ НА МАШИННОМ ОБУЧЕНИИ</a:t>
            </a:r>
            <a:endParaRPr/>
          </a:p>
          <a:p>
            <a:pPr indent="-381000" lvl="1" marL="914400" rtl="0" algn="l">
              <a:lnSpc>
                <a:spcPct val="90000"/>
              </a:lnSpc>
              <a:spcBef>
                <a:spcPts val="500"/>
              </a:spcBef>
              <a:spcAft>
                <a:spcPts val="0"/>
              </a:spcAft>
              <a:buSzPts val="2400"/>
              <a:buChar char="•"/>
            </a:pPr>
            <a:r>
              <a:rPr lang="en-US" sz="2600" cap="none">
                <a:latin typeface="Times New Roman"/>
                <a:ea typeface="Times New Roman"/>
                <a:cs typeface="Times New Roman"/>
                <a:sym typeface="Times New Roman"/>
              </a:rPr>
              <a:t>Ручная разметка сообщений (+, -, 0)</a:t>
            </a:r>
            <a:endParaRPr/>
          </a:p>
          <a:p>
            <a:pPr indent="-381000" lvl="1" marL="914400" rtl="0" algn="l">
              <a:lnSpc>
                <a:spcPct val="90000"/>
              </a:lnSpc>
              <a:spcBef>
                <a:spcPts val="500"/>
              </a:spcBef>
              <a:spcAft>
                <a:spcPts val="0"/>
              </a:spcAft>
              <a:buSzPts val="2400"/>
              <a:buChar char="•"/>
            </a:pPr>
            <a:r>
              <a:rPr lang="en-US" sz="2600" cap="none">
                <a:latin typeface="Times New Roman"/>
                <a:ea typeface="Times New Roman"/>
                <a:cs typeface="Times New Roman"/>
                <a:sym typeface="Times New Roman"/>
              </a:rPr>
              <a:t>Выделение признаков сообщений</a:t>
            </a:r>
            <a:endParaRPr/>
          </a:p>
          <a:p>
            <a:pPr indent="-355600" lvl="2" marL="1371600" rtl="0" algn="l">
              <a:lnSpc>
                <a:spcPct val="90000"/>
              </a:lnSpc>
              <a:spcBef>
                <a:spcPts val="500"/>
              </a:spcBef>
              <a:spcAft>
                <a:spcPts val="0"/>
              </a:spcAft>
              <a:buSzPts val="2000"/>
              <a:buChar char="•"/>
            </a:pPr>
            <a:r>
              <a:rPr lang="en-US" sz="2600" cap="none">
                <a:latin typeface="Times New Roman"/>
                <a:ea typeface="Times New Roman"/>
                <a:cs typeface="Times New Roman"/>
                <a:sym typeface="Times New Roman"/>
              </a:rPr>
              <a:t>Слова, знаки препинания, смайлики, и др.</a:t>
            </a:r>
            <a:endParaRPr/>
          </a:p>
          <a:p>
            <a:pPr indent="-381000" lvl="1" marL="914400" rtl="0" algn="l">
              <a:lnSpc>
                <a:spcPct val="90000"/>
              </a:lnSpc>
              <a:spcBef>
                <a:spcPts val="500"/>
              </a:spcBef>
              <a:spcAft>
                <a:spcPts val="0"/>
              </a:spcAft>
              <a:buSzPts val="2400"/>
              <a:buChar char="•"/>
            </a:pPr>
            <a:r>
              <a:rPr lang="en-US" sz="2600" cap="none">
                <a:latin typeface="Times New Roman"/>
                <a:ea typeface="Times New Roman"/>
                <a:cs typeface="Times New Roman"/>
                <a:sym typeface="Times New Roman"/>
              </a:rPr>
              <a:t>Математические методы нахождения закономерностей</a:t>
            </a:r>
            <a:endParaRPr/>
          </a:p>
          <a:p>
            <a:pPr indent="-355600" lvl="2" marL="1371600" rtl="0" algn="l">
              <a:lnSpc>
                <a:spcPct val="90000"/>
              </a:lnSpc>
              <a:spcBef>
                <a:spcPts val="500"/>
              </a:spcBef>
              <a:spcAft>
                <a:spcPts val="0"/>
              </a:spcAft>
              <a:buSzPts val="2000"/>
              <a:buChar char="•"/>
            </a:pPr>
            <a:r>
              <a:rPr lang="en-US" sz="2600" cap="none">
                <a:latin typeface="Times New Roman"/>
                <a:ea typeface="Times New Roman"/>
                <a:cs typeface="Times New Roman"/>
                <a:sym typeface="Times New Roman"/>
              </a:rPr>
              <a:t>Нейронные сети, деревья решений, метод опорных векторов</a:t>
            </a:r>
            <a:endParaRPr/>
          </a:p>
          <a:p>
            <a:pPr indent="-381000" lvl="1" marL="914400" rtl="0" algn="l">
              <a:lnSpc>
                <a:spcPct val="90000"/>
              </a:lnSpc>
              <a:spcBef>
                <a:spcPts val="500"/>
              </a:spcBef>
              <a:spcAft>
                <a:spcPts val="0"/>
              </a:spcAft>
              <a:buSzPts val="2400"/>
              <a:buChar char="•"/>
            </a:pPr>
            <a:r>
              <a:rPr lang="en-US" sz="2600" cap="none">
                <a:latin typeface="Times New Roman"/>
                <a:ea typeface="Times New Roman"/>
                <a:cs typeface="Times New Roman"/>
                <a:sym typeface="Times New Roman"/>
              </a:rPr>
              <a:t>Проблемы: нужна ручная разметка, </a:t>
            </a:r>
            <a:endParaRPr/>
          </a:p>
          <a:p>
            <a:pPr indent="-381000" lvl="1" marL="914400" rtl="0" algn="l">
              <a:lnSpc>
                <a:spcPct val="90000"/>
              </a:lnSpc>
              <a:spcBef>
                <a:spcPts val="500"/>
              </a:spcBef>
              <a:spcAft>
                <a:spcPts val="0"/>
              </a:spcAft>
              <a:buSzPts val="2400"/>
              <a:buChar char="•"/>
            </a:pPr>
            <a:r>
              <a:rPr lang="en-US" sz="2600" cap="none">
                <a:latin typeface="Times New Roman"/>
                <a:ea typeface="Times New Roman"/>
                <a:cs typeface="Times New Roman"/>
                <a:sym typeface="Times New Roman"/>
              </a:rPr>
              <a:t>Размеченная выборка недостаточной величины</a:t>
            </a:r>
            <a:endParaRPr/>
          </a:p>
          <a:p>
            <a:pPr indent="-228600" lvl="1" marL="914400" rtl="0" algn="l">
              <a:lnSpc>
                <a:spcPct val="90000"/>
              </a:lnSpc>
              <a:spcBef>
                <a:spcPts val="500"/>
              </a:spcBef>
              <a:spcAft>
                <a:spcPts val="0"/>
              </a:spcAft>
              <a:buSzPts val="2400"/>
              <a:buNone/>
            </a:pPr>
            <a:r>
              <a:t/>
            </a:r>
            <a:endParaRPr sz="2000"/>
          </a:p>
        </p:txBody>
      </p:sp>
      <p:pic>
        <p:nvPicPr>
          <p:cNvPr id="1031" name="Google Shape;1031;p122"/>
          <p:cNvPicPr preferRelativeResize="0"/>
          <p:nvPr/>
        </p:nvPicPr>
        <p:blipFill rotWithShape="1">
          <a:blip r:embed="rId3">
            <a:alphaModFix/>
          </a:blip>
          <a:srcRect b="0" l="0" r="0" t="0"/>
          <a:stretch/>
        </p:blipFill>
        <p:spPr>
          <a:xfrm>
            <a:off x="9753936" y="4027487"/>
            <a:ext cx="1871662" cy="1092200"/>
          </a:xfrm>
          <a:prstGeom prst="rect">
            <a:avLst/>
          </a:prstGeom>
          <a:noFill/>
          <a:ln>
            <a:noFill/>
          </a:ln>
        </p:spPr>
      </p:pic>
      <p:pic>
        <p:nvPicPr>
          <p:cNvPr descr="img43" id="1032" name="Google Shape;1032;p122"/>
          <p:cNvPicPr preferRelativeResize="0"/>
          <p:nvPr/>
        </p:nvPicPr>
        <p:blipFill rotWithShape="1">
          <a:blip r:embed="rId4">
            <a:alphaModFix/>
          </a:blip>
          <a:srcRect b="0" l="0" r="0" t="0"/>
          <a:stretch/>
        </p:blipFill>
        <p:spPr>
          <a:xfrm>
            <a:off x="7535864" y="3616131"/>
            <a:ext cx="792162" cy="719137"/>
          </a:xfrm>
          <a:prstGeom prst="rect">
            <a:avLst/>
          </a:prstGeom>
          <a:noFill/>
          <a:ln>
            <a:noFill/>
          </a:ln>
        </p:spPr>
      </p:pic>
      <p:pic>
        <p:nvPicPr>
          <p:cNvPr descr="131267502-polygamy--8230-why-is-it-legal-in-islam" id="1033" name="Google Shape;1033;p122"/>
          <p:cNvPicPr preferRelativeResize="0"/>
          <p:nvPr/>
        </p:nvPicPr>
        <p:blipFill rotWithShape="1">
          <a:blip r:embed="rId5">
            <a:alphaModFix/>
          </a:blip>
          <a:srcRect b="0" l="0" r="0" t="0"/>
          <a:stretch/>
        </p:blipFill>
        <p:spPr>
          <a:xfrm>
            <a:off x="8328026" y="763588"/>
            <a:ext cx="1655763" cy="1655762"/>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23"/>
          <p:cNvSpPr txBox="1"/>
          <p:nvPr>
            <p:ph type="title"/>
          </p:nvPr>
        </p:nvSpPr>
        <p:spPr>
          <a:xfrm>
            <a:off x="1326223" y="-101900"/>
            <a:ext cx="9236700" cy="118895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40000"/>
              <a:buNone/>
            </a:pPr>
            <a:r>
              <a:rPr b="1" i="1" lang="en-US" sz="5000">
                <a:solidFill>
                  <a:schemeClr val="dk1"/>
                </a:solidFill>
                <a:latin typeface="Arial"/>
                <a:ea typeface="Arial"/>
                <a:cs typeface="Arial"/>
                <a:sym typeface="Arial"/>
              </a:rPr>
              <a:t>Предварительная обработка</a:t>
            </a:r>
            <a:endParaRPr b="1" i="1" sz="5000">
              <a:solidFill>
                <a:schemeClr val="dk1"/>
              </a:solidFill>
              <a:latin typeface="Arial"/>
              <a:ea typeface="Arial"/>
              <a:cs typeface="Arial"/>
              <a:sym typeface="Arial"/>
            </a:endParaRPr>
          </a:p>
        </p:txBody>
      </p:sp>
      <p:sp>
        <p:nvSpPr>
          <p:cNvPr id="1039" name="Google Shape;1039;p123"/>
          <p:cNvSpPr txBox="1"/>
          <p:nvPr>
            <p:ph idx="2" type="body"/>
          </p:nvPr>
        </p:nvSpPr>
        <p:spPr>
          <a:xfrm>
            <a:off x="119743" y="1449706"/>
            <a:ext cx="11952514" cy="4637314"/>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20000"/>
              </a:lnSpc>
              <a:spcBef>
                <a:spcPts val="0"/>
              </a:spcBef>
              <a:spcAft>
                <a:spcPts val="0"/>
              </a:spcAft>
              <a:buSzPts val="1800"/>
              <a:buChar char="•"/>
            </a:pPr>
            <a:r>
              <a:rPr b="0" lang="en-US" sz="2400" cap="none">
                <a:latin typeface="Times New Roman"/>
                <a:ea typeface="Times New Roman"/>
                <a:cs typeface="Times New Roman"/>
                <a:sym typeface="Times New Roman"/>
              </a:rPr>
              <a:t>Эти программы могут также осуществлять следующую обработку текстов:</a:t>
            </a:r>
            <a:endParaRPr/>
          </a:p>
          <a:p>
            <a:pPr indent="-285750" lvl="0" marL="285750" rtl="0" algn="l">
              <a:lnSpc>
                <a:spcPct val="120000"/>
              </a:lnSpc>
              <a:spcBef>
                <a:spcPts val="0"/>
              </a:spcBef>
              <a:spcAft>
                <a:spcPts val="0"/>
              </a:spcAft>
              <a:buSzPts val="1800"/>
              <a:buChar char="•"/>
            </a:pPr>
            <a:r>
              <a:rPr lang="en-US" sz="2400" cap="none">
                <a:latin typeface="Times New Roman"/>
                <a:ea typeface="Times New Roman"/>
                <a:cs typeface="Times New Roman"/>
                <a:sym typeface="Times New Roman"/>
              </a:rPr>
              <a:t>Лемматизацию</a:t>
            </a:r>
            <a:r>
              <a:rPr b="0" lang="en-US" sz="2400" cap="none">
                <a:latin typeface="Times New Roman"/>
                <a:ea typeface="Times New Roman"/>
                <a:cs typeface="Times New Roman"/>
                <a:sym typeface="Times New Roman"/>
              </a:rPr>
              <a:t> - процесс приведения слов к нормальным (словарным) формам </a:t>
            </a:r>
            <a:endParaRPr/>
          </a:p>
          <a:p>
            <a:pPr indent="0" lvl="0" marL="0" rtl="0" algn="l">
              <a:lnSpc>
                <a:spcPct val="120000"/>
              </a:lnSpc>
              <a:spcBef>
                <a:spcPts val="0"/>
              </a:spcBef>
              <a:spcAft>
                <a:spcPts val="0"/>
              </a:spcAft>
              <a:buSzPts val="1800"/>
              <a:buChar char="•"/>
            </a:pPr>
            <a:r>
              <a:rPr i="1" lang="en-US" sz="2400" cap="none">
                <a:latin typeface="Times New Roman"/>
                <a:ea typeface="Times New Roman"/>
                <a:cs typeface="Times New Roman"/>
                <a:sym typeface="Times New Roman"/>
              </a:rPr>
              <a:t>"Такой интересной книги я давно не читала" =&gt; </a:t>
            </a:r>
            <a:endParaRPr/>
          </a:p>
          <a:p>
            <a:pPr indent="0" lvl="0" marL="0" rtl="0" algn="l">
              <a:lnSpc>
                <a:spcPct val="120000"/>
              </a:lnSpc>
              <a:spcBef>
                <a:spcPts val="0"/>
              </a:spcBef>
              <a:spcAft>
                <a:spcPts val="0"/>
              </a:spcAft>
              <a:buSzPts val="1800"/>
              <a:buChar char="•"/>
            </a:pPr>
            <a:r>
              <a:rPr i="1" lang="en-US" sz="2400" cap="none">
                <a:latin typeface="Times New Roman"/>
                <a:ea typeface="Times New Roman"/>
                <a:cs typeface="Times New Roman"/>
                <a:sym typeface="Times New Roman"/>
              </a:rPr>
              <a:t>                =&gt;"такой интересный книга я давно не читать"</a:t>
            </a:r>
            <a:endParaRPr/>
          </a:p>
          <a:p>
            <a:pPr indent="-342900" lvl="0" marL="457200" rtl="0" algn="l">
              <a:lnSpc>
                <a:spcPct val="120000"/>
              </a:lnSpc>
              <a:spcBef>
                <a:spcPts val="0"/>
              </a:spcBef>
              <a:spcAft>
                <a:spcPts val="0"/>
              </a:spcAft>
              <a:buSzPts val="1800"/>
              <a:buChar char="•"/>
            </a:pPr>
            <a:r>
              <a:rPr b="1" lang="en-US" sz="2400" cap="none">
                <a:latin typeface="Times New Roman"/>
                <a:ea typeface="Times New Roman"/>
                <a:cs typeface="Times New Roman"/>
                <a:sym typeface="Times New Roman"/>
              </a:rPr>
              <a:t>Стемминг</a:t>
            </a:r>
            <a:r>
              <a:rPr lang="en-US" sz="2400" cap="none">
                <a:latin typeface="Times New Roman"/>
                <a:ea typeface="Times New Roman"/>
                <a:cs typeface="Times New Roman"/>
                <a:sym typeface="Times New Roman"/>
              </a:rPr>
              <a:t> - избавление от суффиксов и окончаний: </a:t>
            </a:r>
            <a:endParaRPr/>
          </a:p>
          <a:p>
            <a:pPr indent="0" lvl="0" marL="0" rtl="0" algn="l">
              <a:lnSpc>
                <a:spcPct val="120000"/>
              </a:lnSpc>
              <a:spcBef>
                <a:spcPts val="0"/>
              </a:spcBef>
              <a:spcAft>
                <a:spcPts val="0"/>
              </a:spcAft>
              <a:buSzPts val="1800"/>
              <a:buChar char="•"/>
            </a:pPr>
            <a:r>
              <a:rPr i="1" lang="en-US" sz="2400" cap="none">
                <a:latin typeface="Times New Roman"/>
                <a:ea typeface="Times New Roman"/>
                <a:cs typeface="Times New Roman"/>
                <a:sym typeface="Times New Roman"/>
              </a:rPr>
              <a:t>                         «</a:t>
            </a:r>
            <a:r>
              <a:rPr b="1" i="1" lang="en-US" sz="2400" cap="none">
                <a:latin typeface="Times New Roman"/>
                <a:ea typeface="Times New Roman"/>
                <a:cs typeface="Times New Roman"/>
                <a:sym typeface="Times New Roman"/>
              </a:rPr>
              <a:t>мал</a:t>
            </a:r>
            <a:r>
              <a:rPr i="1" lang="en-US" sz="2400" cap="none" strike="sngStrike">
                <a:latin typeface="Times New Roman"/>
                <a:ea typeface="Times New Roman"/>
                <a:cs typeface="Times New Roman"/>
                <a:sym typeface="Times New Roman"/>
              </a:rPr>
              <a:t>юсенький</a:t>
            </a:r>
            <a:r>
              <a:rPr i="1" lang="en-US" sz="2400" cap="none">
                <a:latin typeface="Times New Roman"/>
                <a:ea typeface="Times New Roman"/>
                <a:cs typeface="Times New Roman"/>
                <a:sym typeface="Times New Roman"/>
              </a:rPr>
              <a:t> экран»</a:t>
            </a:r>
            <a:r>
              <a:rPr lang="en-US" sz="2400" cap="none">
                <a:latin typeface="Times New Roman"/>
                <a:ea typeface="Times New Roman"/>
                <a:cs typeface="Times New Roman"/>
                <a:sym typeface="Times New Roman"/>
              </a:rPr>
              <a:t>));</a:t>
            </a:r>
            <a:endParaRPr/>
          </a:p>
          <a:p>
            <a:pPr indent="-342900" lvl="0" marL="457200" rtl="0" algn="l">
              <a:lnSpc>
                <a:spcPct val="120000"/>
              </a:lnSpc>
              <a:spcBef>
                <a:spcPts val="0"/>
              </a:spcBef>
              <a:spcAft>
                <a:spcPts val="0"/>
              </a:spcAft>
              <a:buSzPts val="1800"/>
              <a:buChar char="•"/>
            </a:pPr>
            <a:r>
              <a:rPr b="1" lang="en-US" sz="2400" cap="none">
                <a:latin typeface="Times New Roman"/>
                <a:ea typeface="Times New Roman"/>
                <a:cs typeface="Times New Roman"/>
                <a:sym typeface="Times New Roman"/>
              </a:rPr>
              <a:t>Удаление стоп-слов </a:t>
            </a:r>
            <a:r>
              <a:rPr lang="en-US" sz="2400" cap="none">
                <a:latin typeface="Times New Roman"/>
                <a:ea typeface="Times New Roman"/>
                <a:cs typeface="Times New Roman"/>
                <a:sym typeface="Times New Roman"/>
              </a:rPr>
              <a:t>- тех, которые часто встречаются, но практически не несут никакой эмоциональной нагрузки:</a:t>
            </a:r>
            <a:endParaRPr/>
          </a:p>
          <a:p>
            <a:pPr indent="0" lvl="0" marL="0" rtl="0" algn="l">
              <a:lnSpc>
                <a:spcPct val="120000"/>
              </a:lnSpc>
              <a:spcBef>
                <a:spcPts val="0"/>
              </a:spcBef>
              <a:spcAft>
                <a:spcPts val="0"/>
              </a:spcAft>
              <a:buSzPts val="1800"/>
              <a:buChar char="•"/>
            </a:pPr>
            <a:r>
              <a:rPr i="1" lang="en-US" sz="2400" cap="none">
                <a:latin typeface="Times New Roman"/>
                <a:ea typeface="Times New Roman"/>
                <a:cs typeface="Times New Roman"/>
                <a:sym typeface="Times New Roman"/>
              </a:rPr>
              <a:t>  - Предлоги (</a:t>
            </a:r>
            <a:r>
              <a:rPr b="1" i="1" lang="en-US" sz="2400" cap="none">
                <a:latin typeface="Times New Roman"/>
                <a:ea typeface="Times New Roman"/>
                <a:cs typeface="Times New Roman"/>
                <a:sym typeface="Times New Roman"/>
              </a:rPr>
              <a:t>в</a:t>
            </a:r>
            <a:r>
              <a:rPr i="1" lang="en-US" sz="2400" cap="none">
                <a:latin typeface="Times New Roman"/>
                <a:ea typeface="Times New Roman"/>
                <a:cs typeface="Times New Roman"/>
                <a:sym typeface="Times New Roman"/>
              </a:rPr>
              <a:t>, </a:t>
            </a:r>
            <a:r>
              <a:rPr b="1" i="1" lang="en-US" sz="2400" cap="none">
                <a:latin typeface="Times New Roman"/>
                <a:ea typeface="Times New Roman"/>
                <a:cs typeface="Times New Roman"/>
                <a:sym typeface="Times New Roman"/>
              </a:rPr>
              <a:t>на</a:t>
            </a:r>
            <a:r>
              <a:rPr i="1" lang="en-US" sz="2400" cap="none">
                <a:latin typeface="Times New Roman"/>
                <a:ea typeface="Times New Roman"/>
                <a:cs typeface="Times New Roman"/>
                <a:sym typeface="Times New Roman"/>
              </a:rPr>
              <a:t>, </a:t>
            </a:r>
            <a:r>
              <a:rPr b="1" i="1" lang="en-US" sz="2400" cap="none">
                <a:latin typeface="Times New Roman"/>
                <a:ea typeface="Times New Roman"/>
                <a:cs typeface="Times New Roman"/>
                <a:sym typeface="Times New Roman"/>
              </a:rPr>
              <a:t>под</a:t>
            </a:r>
            <a:r>
              <a:rPr i="1" lang="en-US" sz="2400" cap="none">
                <a:latin typeface="Times New Roman"/>
                <a:ea typeface="Times New Roman"/>
                <a:cs typeface="Times New Roman"/>
                <a:sym typeface="Times New Roman"/>
              </a:rPr>
              <a:t>); </a:t>
            </a:r>
            <a:endParaRPr/>
          </a:p>
          <a:p>
            <a:pPr indent="0" lvl="0" marL="0" rtl="0" algn="l">
              <a:lnSpc>
                <a:spcPct val="120000"/>
              </a:lnSpc>
              <a:spcBef>
                <a:spcPts val="0"/>
              </a:spcBef>
              <a:spcAft>
                <a:spcPts val="0"/>
              </a:spcAft>
              <a:buSzPts val="1800"/>
              <a:buChar char="•"/>
            </a:pPr>
            <a:r>
              <a:rPr i="1" lang="en-US" sz="2400" cap="none">
                <a:latin typeface="Times New Roman"/>
                <a:ea typeface="Times New Roman"/>
                <a:cs typeface="Times New Roman"/>
                <a:sym typeface="Times New Roman"/>
              </a:rPr>
              <a:t>  </a:t>
            </a:r>
            <a:r>
              <a:rPr lang="en-US" sz="2400" cap="none">
                <a:latin typeface="Times New Roman"/>
                <a:ea typeface="Times New Roman"/>
                <a:cs typeface="Times New Roman"/>
                <a:sym typeface="Times New Roman"/>
              </a:rPr>
              <a:t>-</a:t>
            </a:r>
            <a:r>
              <a:rPr i="1" lang="en-US" sz="2400" cap="none">
                <a:latin typeface="Times New Roman"/>
                <a:ea typeface="Times New Roman"/>
                <a:cs typeface="Times New Roman"/>
                <a:sym typeface="Times New Roman"/>
              </a:rPr>
              <a:t> некоторые местоимения (притяжательные: </a:t>
            </a:r>
            <a:r>
              <a:rPr b="1" i="1" lang="en-US" sz="2400" cap="none">
                <a:latin typeface="Times New Roman"/>
                <a:ea typeface="Times New Roman"/>
                <a:cs typeface="Times New Roman"/>
                <a:sym typeface="Times New Roman"/>
              </a:rPr>
              <a:t>его</a:t>
            </a:r>
            <a:r>
              <a:rPr i="1" lang="en-US" sz="2400" cap="none">
                <a:latin typeface="Times New Roman"/>
                <a:ea typeface="Times New Roman"/>
                <a:cs typeface="Times New Roman"/>
                <a:sym typeface="Times New Roman"/>
              </a:rPr>
              <a:t>,    </a:t>
            </a:r>
            <a:r>
              <a:rPr b="1" i="1" lang="en-US" sz="2400" cap="none">
                <a:latin typeface="Times New Roman"/>
                <a:ea typeface="Times New Roman"/>
                <a:cs typeface="Times New Roman"/>
                <a:sym typeface="Times New Roman"/>
              </a:rPr>
              <a:t>мой</a:t>
            </a:r>
            <a:r>
              <a:rPr i="1" lang="en-US" sz="2400" cap="none">
                <a:latin typeface="Times New Roman"/>
                <a:ea typeface="Times New Roman"/>
                <a:cs typeface="Times New Roman"/>
                <a:sym typeface="Times New Roman"/>
              </a:rPr>
              <a:t>);</a:t>
            </a:r>
            <a:endParaRPr/>
          </a:p>
          <a:p>
            <a:pPr indent="0" lvl="0" marL="0" rtl="0" algn="l">
              <a:lnSpc>
                <a:spcPct val="120000"/>
              </a:lnSpc>
              <a:spcBef>
                <a:spcPts val="0"/>
              </a:spcBef>
              <a:spcAft>
                <a:spcPts val="0"/>
              </a:spcAft>
              <a:buSzPts val="1800"/>
              <a:buChar char="•"/>
            </a:pPr>
            <a:r>
              <a:rPr i="1" lang="en-US" sz="2400" cap="none">
                <a:latin typeface="Times New Roman"/>
                <a:ea typeface="Times New Roman"/>
                <a:cs typeface="Times New Roman"/>
                <a:sym typeface="Times New Roman"/>
              </a:rPr>
              <a:t>  - Некоторые наречия (</a:t>
            </a:r>
            <a:r>
              <a:rPr b="1" i="1" lang="en-US" sz="2400" cap="none">
                <a:latin typeface="Times New Roman"/>
                <a:ea typeface="Times New Roman"/>
                <a:cs typeface="Times New Roman"/>
                <a:sym typeface="Times New Roman"/>
              </a:rPr>
              <a:t>туда</a:t>
            </a:r>
            <a:r>
              <a:rPr i="1" lang="en-US" sz="2400" cap="none">
                <a:latin typeface="Times New Roman"/>
                <a:ea typeface="Times New Roman"/>
                <a:cs typeface="Times New Roman"/>
                <a:sym typeface="Times New Roman"/>
              </a:rPr>
              <a:t>);   И др.</a:t>
            </a:r>
            <a:endParaRPr/>
          </a:p>
          <a:p>
            <a:pPr indent="114300" lvl="0" marL="0" rtl="0" algn="l">
              <a:lnSpc>
                <a:spcPct val="90000"/>
              </a:lnSpc>
              <a:spcBef>
                <a:spcPts val="1000"/>
              </a:spcBef>
              <a:spcAft>
                <a:spcPts val="0"/>
              </a:spcAft>
              <a:buSzPts val="1800"/>
              <a:buNone/>
            </a:pPr>
            <a:r>
              <a:t/>
            </a:r>
            <a:endParaRPr sz="1300"/>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24"/>
          <p:cNvSpPr txBox="1"/>
          <p:nvPr>
            <p:ph type="title"/>
          </p:nvPr>
        </p:nvSpPr>
        <p:spPr>
          <a:xfrm>
            <a:off x="1055133" y="0"/>
            <a:ext cx="9942716"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US" sz="4800">
                <a:latin typeface="Times New Roman"/>
                <a:ea typeface="Times New Roman"/>
                <a:cs typeface="Times New Roman"/>
                <a:sym typeface="Times New Roman"/>
              </a:rPr>
              <a:t>Предварительная обработка</a:t>
            </a:r>
            <a:endParaRPr/>
          </a:p>
        </p:txBody>
      </p:sp>
      <p:sp>
        <p:nvSpPr>
          <p:cNvPr id="1045" name="Google Shape;1045;p124"/>
          <p:cNvSpPr txBox="1"/>
          <p:nvPr>
            <p:ph idx="1" type="body"/>
          </p:nvPr>
        </p:nvSpPr>
        <p:spPr>
          <a:xfrm>
            <a:off x="397181" y="1654548"/>
            <a:ext cx="11623182" cy="3467789"/>
          </a:xfrm>
          <a:prstGeom prst="rect">
            <a:avLst/>
          </a:prstGeom>
          <a:noFill/>
          <a:ln>
            <a:noFill/>
          </a:ln>
        </p:spPr>
        <p:txBody>
          <a:bodyPr anchorCtr="0" anchor="ctr" bIns="45700" lIns="91425" spcFirstLastPara="1" rIns="91425" wrap="square" tIns="45700">
            <a:noAutofit/>
          </a:bodyPr>
          <a:lstStyle/>
          <a:p>
            <a:pPr indent="-342900" lvl="0" marL="457200" rtl="0" algn="l">
              <a:lnSpc>
                <a:spcPct val="90000"/>
              </a:lnSpc>
              <a:spcBef>
                <a:spcPts val="1000"/>
              </a:spcBef>
              <a:spcAft>
                <a:spcPts val="0"/>
              </a:spcAft>
              <a:buClr>
                <a:schemeClr val="dk1"/>
              </a:buClr>
              <a:buSzPts val="1800"/>
              <a:buChar char="•"/>
            </a:pPr>
            <a:r>
              <a:rPr lang="en-US" cap="none">
                <a:latin typeface="Times New Roman"/>
                <a:ea typeface="Times New Roman"/>
                <a:cs typeface="Times New Roman"/>
                <a:sym typeface="Times New Roman"/>
              </a:rPr>
              <a:t>Приведение к нижнему регистру (в некоторых случаях также теряется эмоциональный акцент):</a:t>
            </a:r>
            <a:endParaRPr/>
          </a:p>
          <a:p>
            <a:pPr indent="0" lvl="0" marL="0" rtl="0" algn="l">
              <a:lnSpc>
                <a:spcPct val="90000"/>
              </a:lnSpc>
              <a:spcBef>
                <a:spcPts val="1000"/>
              </a:spcBef>
              <a:spcAft>
                <a:spcPts val="0"/>
              </a:spcAft>
              <a:buSzPts val="1800"/>
              <a:buNone/>
            </a:pPr>
            <a:r>
              <a:rPr lang="en-US" cap="none">
                <a:latin typeface="Times New Roman"/>
                <a:ea typeface="Times New Roman"/>
                <a:cs typeface="Times New Roman"/>
                <a:sym typeface="Times New Roman"/>
              </a:rPr>
              <a:t>   </a:t>
            </a:r>
            <a:r>
              <a:rPr b="1" i="1" lang="en-US" cap="none">
                <a:latin typeface="Times New Roman"/>
                <a:ea typeface="Times New Roman"/>
                <a:cs typeface="Times New Roman"/>
                <a:sym typeface="Times New Roman"/>
              </a:rPr>
              <a:t>«Приобретение данного товара было ОШИБКОЙ» =&gt;</a:t>
            </a:r>
            <a:endParaRPr/>
          </a:p>
          <a:p>
            <a:pPr indent="0" lvl="0" marL="0" rtl="0" algn="l">
              <a:lnSpc>
                <a:spcPct val="90000"/>
              </a:lnSpc>
              <a:spcBef>
                <a:spcPts val="1000"/>
              </a:spcBef>
              <a:spcAft>
                <a:spcPts val="0"/>
              </a:spcAft>
              <a:buSzPts val="1800"/>
              <a:buNone/>
            </a:pPr>
            <a:r>
              <a:rPr b="1" i="1" lang="en-US" cap="none">
                <a:latin typeface="Times New Roman"/>
                <a:ea typeface="Times New Roman"/>
                <a:cs typeface="Times New Roman"/>
                <a:sym typeface="Times New Roman"/>
              </a:rPr>
              <a:t>		=&gt; «приобретение данного товара было ошибкой» </a:t>
            </a:r>
            <a:endParaRPr/>
          </a:p>
          <a:p>
            <a:pPr indent="-342900" lvl="0" marL="457200" rtl="0" algn="l">
              <a:lnSpc>
                <a:spcPct val="90000"/>
              </a:lnSpc>
              <a:spcBef>
                <a:spcPts val="1000"/>
              </a:spcBef>
              <a:spcAft>
                <a:spcPts val="0"/>
              </a:spcAft>
              <a:buClr>
                <a:schemeClr val="dk1"/>
              </a:buClr>
              <a:buSzPts val="1800"/>
              <a:buChar char="•"/>
            </a:pPr>
            <a:r>
              <a:rPr lang="en-US" cap="none">
                <a:latin typeface="Times New Roman"/>
                <a:ea typeface="Times New Roman"/>
                <a:cs typeface="Times New Roman"/>
                <a:sym typeface="Times New Roman"/>
              </a:rPr>
              <a:t>Морфологическая разметка (в текстовый корпус вставляются метаданные для обозначения частей речи и др.);</a:t>
            </a:r>
            <a:endParaRPr/>
          </a:p>
          <a:p>
            <a:pPr indent="0" lvl="0" marL="0" rtl="0" algn="l">
              <a:lnSpc>
                <a:spcPct val="90000"/>
              </a:lnSpc>
              <a:spcBef>
                <a:spcPts val="1000"/>
              </a:spcBef>
              <a:spcAft>
                <a:spcPts val="0"/>
              </a:spcAft>
              <a:buSzPts val="1800"/>
              <a:buNone/>
            </a:pPr>
            <a:r>
              <a:rPr lang="en-US" cap="none">
                <a:latin typeface="Times New Roman"/>
                <a:ea typeface="Times New Roman"/>
                <a:cs typeface="Times New Roman"/>
                <a:sym typeface="Times New Roman"/>
              </a:rPr>
              <a:t>и т.д.</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25"/>
          <p:cNvSpPr txBox="1"/>
          <p:nvPr>
            <p:ph type="title"/>
          </p:nvPr>
        </p:nvSpPr>
        <p:spPr>
          <a:xfrm>
            <a:off x="604934" y="290383"/>
            <a:ext cx="10515600" cy="59592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i="1" lang="en-US" sz="3200">
                <a:solidFill>
                  <a:srgbClr val="501549"/>
                </a:solidFill>
                <a:latin typeface="Times New Roman"/>
                <a:ea typeface="Times New Roman"/>
                <a:cs typeface="Times New Roman"/>
                <a:sym typeface="Times New Roman"/>
              </a:rPr>
              <a:t>Выделение сущностей</a:t>
            </a:r>
            <a:endParaRPr/>
          </a:p>
        </p:txBody>
      </p:sp>
      <p:sp>
        <p:nvSpPr>
          <p:cNvPr id="1051" name="Google Shape;1051;p125"/>
          <p:cNvSpPr txBox="1"/>
          <p:nvPr>
            <p:ph idx="1" type="body"/>
          </p:nvPr>
        </p:nvSpPr>
        <p:spPr>
          <a:xfrm>
            <a:off x="259701" y="1019054"/>
            <a:ext cx="11394233" cy="57176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3000" cap="none">
                <a:solidFill>
                  <a:srgbClr val="002060"/>
                </a:solidFill>
                <a:latin typeface="Times New Roman"/>
                <a:ea typeface="Times New Roman"/>
                <a:cs typeface="Times New Roman"/>
                <a:sym typeface="Times New Roman"/>
              </a:rPr>
              <a:t>При сентимент-анализе необходимо выделять следующие составляющие:</a:t>
            </a:r>
            <a:endParaRPr/>
          </a:p>
          <a:p>
            <a:pPr indent="0" lvl="0" marL="0" rtl="0" algn="just">
              <a:lnSpc>
                <a:spcPct val="90000"/>
              </a:lnSpc>
              <a:spcBef>
                <a:spcPts val="1000"/>
              </a:spcBef>
              <a:spcAft>
                <a:spcPts val="0"/>
              </a:spcAft>
              <a:buSzPts val="1800"/>
              <a:buNone/>
            </a:pPr>
            <a:r>
              <a:rPr lang="en-US" sz="3000" cap="none">
                <a:solidFill>
                  <a:srgbClr val="002060"/>
                </a:solidFill>
                <a:latin typeface="Times New Roman"/>
                <a:ea typeface="Times New Roman"/>
                <a:cs typeface="Times New Roman"/>
                <a:sym typeface="Times New Roman"/>
              </a:rPr>
              <a:t>1) </a:t>
            </a:r>
            <a:r>
              <a:rPr b="1" i="1" lang="en-US" sz="3000" cap="none">
                <a:solidFill>
                  <a:srgbClr val="FF0000"/>
                </a:solidFill>
                <a:latin typeface="Times New Roman"/>
                <a:ea typeface="Times New Roman"/>
                <a:cs typeface="Times New Roman"/>
                <a:sym typeface="Times New Roman"/>
              </a:rPr>
              <a:t>субъект тональности</a:t>
            </a:r>
            <a:r>
              <a:rPr i="1" lang="en-US" sz="3000" cap="none">
                <a:solidFill>
                  <a:srgbClr val="FF0000"/>
                </a:solidFill>
                <a:latin typeface="Times New Roman"/>
                <a:ea typeface="Times New Roman"/>
                <a:cs typeface="Times New Roman"/>
                <a:sym typeface="Times New Roman"/>
              </a:rPr>
              <a:t> </a:t>
            </a:r>
            <a:r>
              <a:rPr lang="en-US" sz="3000" cap="none">
                <a:latin typeface="Times New Roman"/>
                <a:ea typeface="Times New Roman"/>
                <a:cs typeface="Times New Roman"/>
                <a:sym typeface="Times New Roman"/>
              </a:rPr>
              <a:t>‒</a:t>
            </a:r>
            <a:r>
              <a:rPr lang="en-US" sz="3000" cap="none">
                <a:solidFill>
                  <a:srgbClr val="002060"/>
                </a:solidFill>
                <a:latin typeface="Times New Roman"/>
                <a:ea typeface="Times New Roman"/>
                <a:cs typeface="Times New Roman"/>
                <a:sym typeface="Times New Roman"/>
              </a:rPr>
              <a:t> источник мнения, тот, кто является, автором     сообщения;</a:t>
            </a:r>
            <a:endParaRPr/>
          </a:p>
          <a:p>
            <a:pPr indent="0" lvl="0" marL="0" rtl="0" algn="just">
              <a:lnSpc>
                <a:spcPct val="90000"/>
              </a:lnSpc>
              <a:spcBef>
                <a:spcPts val="1000"/>
              </a:spcBef>
              <a:spcAft>
                <a:spcPts val="0"/>
              </a:spcAft>
              <a:buSzPts val="1800"/>
              <a:buNone/>
            </a:pPr>
            <a:r>
              <a:rPr lang="en-US" sz="3000" cap="none">
                <a:solidFill>
                  <a:srgbClr val="002060"/>
                </a:solidFill>
                <a:latin typeface="Times New Roman"/>
                <a:ea typeface="Times New Roman"/>
                <a:cs typeface="Times New Roman"/>
                <a:sym typeface="Times New Roman"/>
              </a:rPr>
              <a:t>2) </a:t>
            </a:r>
            <a:r>
              <a:rPr b="1" i="1" lang="en-US" sz="3000" cap="none">
                <a:solidFill>
                  <a:srgbClr val="FF0000"/>
                </a:solidFill>
                <a:latin typeface="Times New Roman"/>
                <a:ea typeface="Times New Roman"/>
                <a:cs typeface="Times New Roman"/>
                <a:sym typeface="Times New Roman"/>
              </a:rPr>
              <a:t>объект тональности </a:t>
            </a:r>
            <a:r>
              <a:rPr lang="en-US" sz="3000" cap="none">
                <a:latin typeface="Times New Roman"/>
                <a:ea typeface="Times New Roman"/>
                <a:cs typeface="Times New Roman"/>
                <a:sym typeface="Times New Roman"/>
              </a:rPr>
              <a:t>‒</a:t>
            </a:r>
            <a:r>
              <a:rPr lang="en-US" sz="3000" cap="none">
                <a:solidFill>
                  <a:srgbClr val="002060"/>
                </a:solidFill>
                <a:latin typeface="Times New Roman"/>
                <a:ea typeface="Times New Roman"/>
                <a:cs typeface="Times New Roman"/>
                <a:sym typeface="Times New Roman"/>
              </a:rPr>
              <a:t> то, о чём идёт речь в тексте (фильм, модель ноутбука);</a:t>
            </a:r>
            <a:endParaRPr/>
          </a:p>
          <a:p>
            <a:pPr indent="0" lvl="0" marL="0" rtl="0" algn="just">
              <a:lnSpc>
                <a:spcPct val="90000"/>
              </a:lnSpc>
              <a:spcBef>
                <a:spcPts val="1000"/>
              </a:spcBef>
              <a:spcAft>
                <a:spcPts val="0"/>
              </a:spcAft>
              <a:buSzPts val="1800"/>
              <a:buNone/>
            </a:pPr>
            <a:r>
              <a:rPr lang="en-US" sz="3000" cap="none">
                <a:solidFill>
                  <a:srgbClr val="002060"/>
                </a:solidFill>
                <a:latin typeface="Times New Roman"/>
                <a:ea typeface="Times New Roman"/>
                <a:cs typeface="Times New Roman"/>
                <a:sym typeface="Times New Roman"/>
              </a:rPr>
              <a:t>3) </a:t>
            </a:r>
            <a:r>
              <a:rPr b="1" i="1" lang="en-US" sz="3000" cap="none">
                <a:solidFill>
                  <a:srgbClr val="FF0000"/>
                </a:solidFill>
                <a:latin typeface="Times New Roman"/>
                <a:ea typeface="Times New Roman"/>
                <a:cs typeface="Times New Roman"/>
                <a:sym typeface="Times New Roman"/>
              </a:rPr>
              <a:t>аспект тональности</a:t>
            </a:r>
            <a:r>
              <a:rPr i="1" lang="en-US" sz="3000" cap="none">
                <a:solidFill>
                  <a:srgbClr val="FF0000"/>
                </a:solidFill>
                <a:latin typeface="Times New Roman"/>
                <a:ea typeface="Times New Roman"/>
                <a:cs typeface="Times New Roman"/>
                <a:sym typeface="Times New Roman"/>
              </a:rPr>
              <a:t> </a:t>
            </a:r>
            <a:r>
              <a:rPr lang="en-US" sz="3000" cap="none">
                <a:latin typeface="Times New Roman"/>
                <a:ea typeface="Times New Roman"/>
                <a:cs typeface="Times New Roman"/>
                <a:sym typeface="Times New Roman"/>
              </a:rPr>
              <a:t>‒</a:t>
            </a:r>
            <a:r>
              <a:rPr lang="en-US" sz="3000" cap="none">
                <a:solidFill>
                  <a:srgbClr val="002060"/>
                </a:solidFill>
                <a:latin typeface="Times New Roman"/>
                <a:ea typeface="Times New Roman"/>
                <a:cs typeface="Times New Roman"/>
                <a:sym typeface="Times New Roman"/>
              </a:rPr>
              <a:t> характеристика объекта (например, для фильма это может быть: игра актёров, спецэффекты, сюжет, музыкальный ряд и т.д.);</a:t>
            </a:r>
            <a:endParaRPr/>
          </a:p>
          <a:p>
            <a:pPr indent="0" lvl="0" marL="0" rtl="0" algn="just">
              <a:lnSpc>
                <a:spcPct val="90000"/>
              </a:lnSpc>
              <a:spcBef>
                <a:spcPts val="1000"/>
              </a:spcBef>
              <a:spcAft>
                <a:spcPts val="0"/>
              </a:spcAft>
              <a:buSzPts val="1800"/>
              <a:buNone/>
            </a:pPr>
            <a:r>
              <a:rPr lang="en-US" sz="3000" cap="none">
                <a:solidFill>
                  <a:srgbClr val="002060"/>
                </a:solidFill>
                <a:latin typeface="Times New Roman"/>
                <a:ea typeface="Times New Roman"/>
                <a:cs typeface="Times New Roman"/>
                <a:sym typeface="Times New Roman"/>
              </a:rPr>
              <a:t>4) </a:t>
            </a:r>
            <a:r>
              <a:rPr b="1" i="1" lang="en-US" sz="3000" cap="none">
                <a:solidFill>
                  <a:srgbClr val="FF0000"/>
                </a:solidFill>
                <a:latin typeface="Times New Roman"/>
                <a:ea typeface="Times New Roman"/>
                <a:cs typeface="Times New Roman"/>
                <a:sym typeface="Times New Roman"/>
              </a:rPr>
              <a:t>тональная оценка </a:t>
            </a:r>
            <a:r>
              <a:rPr lang="en-US" sz="3000" cap="none">
                <a:latin typeface="Times New Roman"/>
                <a:ea typeface="Times New Roman"/>
                <a:cs typeface="Times New Roman"/>
                <a:sym typeface="Times New Roman"/>
              </a:rPr>
              <a:t>‒</a:t>
            </a:r>
            <a:r>
              <a:rPr lang="en-US" sz="3000" cap="none">
                <a:solidFill>
                  <a:srgbClr val="002060"/>
                </a:solidFill>
                <a:latin typeface="Times New Roman"/>
                <a:ea typeface="Times New Roman"/>
                <a:cs typeface="Times New Roman"/>
                <a:sym typeface="Times New Roman"/>
              </a:rPr>
              <a:t> тип мнения, отношение автора к отдельному аспекту или к объекту в целом.</a:t>
            </a:r>
            <a:endParaRPr/>
          </a:p>
          <a:p>
            <a:pPr indent="0" lvl="0" marL="0" rtl="0" algn="l">
              <a:lnSpc>
                <a:spcPct val="90000"/>
              </a:lnSpc>
              <a:spcBef>
                <a:spcPts val="1000"/>
              </a:spcBef>
              <a:spcAft>
                <a:spcPts val="0"/>
              </a:spcAft>
              <a:buSzPts val="1800"/>
              <a:buNone/>
            </a:pPr>
            <a:r>
              <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26"/>
          <p:cNvSpPr txBox="1"/>
          <p:nvPr>
            <p:ph type="title"/>
          </p:nvPr>
        </p:nvSpPr>
        <p:spPr>
          <a:xfrm>
            <a:off x="5255939" y="592188"/>
            <a:ext cx="6270653" cy="51036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SzPct val="62500"/>
              <a:buNone/>
            </a:pPr>
            <a:r>
              <a:rPr b="1" i="1" lang="en-US" sz="3200">
                <a:solidFill>
                  <a:srgbClr val="501549"/>
                </a:solidFill>
                <a:latin typeface="Times New Roman"/>
                <a:ea typeface="Times New Roman"/>
                <a:cs typeface="Times New Roman"/>
                <a:sym typeface="Times New Roman"/>
              </a:rPr>
              <a:t>Классификация при сентимент-анализе</a:t>
            </a:r>
            <a:endParaRPr/>
          </a:p>
        </p:txBody>
      </p:sp>
      <p:sp>
        <p:nvSpPr>
          <p:cNvPr id="1057" name="Google Shape;1057;p126"/>
          <p:cNvSpPr txBox="1"/>
          <p:nvPr>
            <p:ph idx="1" type="body"/>
          </p:nvPr>
        </p:nvSpPr>
        <p:spPr>
          <a:xfrm>
            <a:off x="3533609" y="1531377"/>
            <a:ext cx="9053855" cy="823912"/>
          </a:xfrm>
          <a:prstGeom prst="rect">
            <a:avLst/>
          </a:prstGeom>
          <a:noFill/>
          <a:ln>
            <a:noFill/>
          </a:ln>
        </p:spPr>
        <p:txBody>
          <a:bodyPr anchorCtr="0" anchor="ctr"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0" lang="en-US" sz="2800" cap="none">
                <a:solidFill>
                  <a:srgbClr val="FF0000"/>
                </a:solidFill>
                <a:latin typeface="Times New Roman"/>
                <a:ea typeface="Times New Roman"/>
                <a:cs typeface="Times New Roman"/>
                <a:sym typeface="Times New Roman"/>
              </a:rPr>
              <a:t>Текст:</a:t>
            </a:r>
            <a:r>
              <a:rPr b="0" lang="en-US" sz="2800" cap="none">
                <a:solidFill>
                  <a:srgbClr val="002060"/>
                </a:solidFill>
                <a:latin typeface="Times New Roman"/>
                <a:ea typeface="Times New Roman"/>
                <a:cs typeface="Times New Roman"/>
                <a:sym typeface="Times New Roman"/>
              </a:rPr>
              <a:t> </a:t>
            </a:r>
            <a:r>
              <a:rPr b="1" i="1" lang="en-US" sz="2800" cap="none">
                <a:solidFill>
                  <a:srgbClr val="002060"/>
                </a:solidFill>
                <a:latin typeface="Times New Roman"/>
                <a:ea typeface="Times New Roman"/>
                <a:cs typeface="Times New Roman"/>
                <a:sym typeface="Times New Roman"/>
              </a:rPr>
              <a:t>позитивный</a:t>
            </a:r>
            <a:r>
              <a:rPr b="1" lang="en-US" sz="2800" cap="none">
                <a:solidFill>
                  <a:srgbClr val="002060"/>
                </a:solidFill>
                <a:latin typeface="Times New Roman"/>
                <a:ea typeface="Times New Roman"/>
                <a:cs typeface="Times New Roman"/>
                <a:sym typeface="Times New Roman"/>
              </a:rPr>
              <a:t> / </a:t>
            </a:r>
            <a:r>
              <a:rPr b="1" i="1" lang="en-US" sz="2800" cap="none">
                <a:solidFill>
                  <a:srgbClr val="002060"/>
                </a:solidFill>
                <a:latin typeface="Times New Roman"/>
                <a:ea typeface="Times New Roman"/>
                <a:cs typeface="Times New Roman"/>
                <a:sym typeface="Times New Roman"/>
              </a:rPr>
              <a:t>негативный</a:t>
            </a:r>
            <a:endParaRPr/>
          </a:p>
        </p:txBody>
      </p:sp>
      <p:sp>
        <p:nvSpPr>
          <p:cNvPr id="1058" name="Google Shape;1058;p126"/>
          <p:cNvSpPr txBox="1"/>
          <p:nvPr>
            <p:ph idx="2" type="body"/>
          </p:nvPr>
        </p:nvSpPr>
        <p:spPr>
          <a:xfrm>
            <a:off x="5207786" y="4601539"/>
            <a:ext cx="3756884" cy="22204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800" cap="none">
                <a:solidFill>
                  <a:srgbClr val="FF0000"/>
                </a:solidFill>
                <a:latin typeface="Times New Roman"/>
                <a:ea typeface="Times New Roman"/>
                <a:cs typeface="Times New Roman"/>
                <a:sym typeface="Times New Roman"/>
              </a:rPr>
              <a:t>Комментарий:</a:t>
            </a:r>
            <a:endParaRPr/>
          </a:p>
          <a:p>
            <a:pPr indent="-342900" lvl="0" marL="457200" rtl="0" algn="l">
              <a:lnSpc>
                <a:spcPct val="90000"/>
              </a:lnSpc>
              <a:spcBef>
                <a:spcPts val="1000"/>
              </a:spcBef>
              <a:spcAft>
                <a:spcPts val="0"/>
              </a:spcAft>
              <a:buSzPts val="1800"/>
              <a:buFont typeface="Courier New"/>
              <a:buChar char="o"/>
            </a:pPr>
            <a:r>
              <a:rPr lang="en-US" sz="2800" cap="none">
                <a:solidFill>
                  <a:srgbClr val="002060"/>
                </a:solidFill>
                <a:latin typeface="Times New Roman"/>
                <a:ea typeface="Times New Roman"/>
                <a:cs typeface="Times New Roman"/>
                <a:sym typeface="Times New Roman"/>
              </a:rPr>
              <a:t> </a:t>
            </a:r>
            <a:r>
              <a:rPr b="1" i="1" lang="en-US" sz="2800" cap="none">
                <a:solidFill>
                  <a:srgbClr val="002060"/>
                </a:solidFill>
                <a:latin typeface="Times New Roman"/>
                <a:ea typeface="Times New Roman"/>
                <a:cs typeface="Times New Roman"/>
                <a:sym typeface="Times New Roman"/>
              </a:rPr>
              <a:t>Грустный</a:t>
            </a:r>
            <a:endParaRPr/>
          </a:p>
          <a:p>
            <a:pPr indent="-342900" lvl="0" marL="457200" rtl="0" algn="l">
              <a:lnSpc>
                <a:spcPct val="90000"/>
              </a:lnSpc>
              <a:spcBef>
                <a:spcPts val="1000"/>
              </a:spcBef>
              <a:spcAft>
                <a:spcPts val="0"/>
              </a:spcAft>
              <a:buSzPts val="1800"/>
              <a:buFont typeface="Courier New"/>
              <a:buChar char="o"/>
            </a:pPr>
            <a:r>
              <a:rPr b="1" i="1" lang="en-US" sz="2800" cap="none">
                <a:solidFill>
                  <a:srgbClr val="002060"/>
                </a:solidFill>
                <a:latin typeface="Times New Roman"/>
                <a:ea typeface="Times New Roman"/>
                <a:cs typeface="Times New Roman"/>
                <a:sym typeface="Times New Roman"/>
              </a:rPr>
              <a:t> Радостный</a:t>
            </a:r>
            <a:endParaRPr/>
          </a:p>
          <a:p>
            <a:pPr indent="-342900" lvl="0" marL="457200" rtl="0" algn="l">
              <a:lnSpc>
                <a:spcPct val="90000"/>
              </a:lnSpc>
              <a:spcBef>
                <a:spcPts val="1000"/>
              </a:spcBef>
              <a:spcAft>
                <a:spcPts val="0"/>
              </a:spcAft>
              <a:buSzPts val="1800"/>
              <a:buFont typeface="Courier New"/>
              <a:buChar char="o"/>
            </a:pPr>
            <a:r>
              <a:rPr b="1" i="1" lang="en-US" sz="2800" cap="none">
                <a:solidFill>
                  <a:srgbClr val="002060"/>
                </a:solidFill>
                <a:latin typeface="Times New Roman"/>
                <a:ea typeface="Times New Roman"/>
                <a:cs typeface="Times New Roman"/>
                <a:sym typeface="Times New Roman"/>
              </a:rPr>
              <a:t> Злой</a:t>
            </a:r>
            <a:endParaRPr b="1" i="1" sz="2800">
              <a:solidFill>
                <a:srgbClr val="002060"/>
              </a:solidFill>
              <a:latin typeface="Times New Roman"/>
              <a:ea typeface="Times New Roman"/>
              <a:cs typeface="Times New Roman"/>
              <a:sym typeface="Times New Roman"/>
            </a:endParaRPr>
          </a:p>
        </p:txBody>
      </p:sp>
      <p:sp>
        <p:nvSpPr>
          <p:cNvPr id="1059" name="Google Shape;1059;p126"/>
          <p:cNvSpPr txBox="1"/>
          <p:nvPr>
            <p:ph idx="4" type="body"/>
          </p:nvPr>
        </p:nvSpPr>
        <p:spPr>
          <a:xfrm>
            <a:off x="7716367" y="2439002"/>
            <a:ext cx="4707453" cy="22204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800" cap="none">
                <a:solidFill>
                  <a:srgbClr val="FF0000"/>
                </a:solidFill>
                <a:latin typeface="Times New Roman"/>
                <a:ea typeface="Times New Roman"/>
                <a:cs typeface="Times New Roman"/>
                <a:sym typeface="Times New Roman"/>
              </a:rPr>
              <a:t>Отзыв:</a:t>
            </a:r>
            <a:endParaRPr/>
          </a:p>
          <a:p>
            <a:pPr indent="-342900" lvl="0" marL="457200" rtl="0" algn="l">
              <a:lnSpc>
                <a:spcPct val="90000"/>
              </a:lnSpc>
              <a:spcBef>
                <a:spcPts val="1000"/>
              </a:spcBef>
              <a:spcAft>
                <a:spcPts val="0"/>
              </a:spcAft>
              <a:buSzPts val="1800"/>
              <a:buFont typeface="Noto Sans Symbols"/>
              <a:buChar char="❖"/>
            </a:pPr>
            <a:r>
              <a:rPr b="1" i="1" lang="en-US" sz="2800" cap="none">
                <a:solidFill>
                  <a:srgbClr val="002060"/>
                </a:solidFill>
                <a:latin typeface="Times New Roman"/>
                <a:ea typeface="Times New Roman"/>
                <a:cs typeface="Times New Roman"/>
                <a:sym typeface="Times New Roman"/>
              </a:rPr>
              <a:t> Положительный</a:t>
            </a:r>
            <a:endParaRPr/>
          </a:p>
          <a:p>
            <a:pPr indent="-342900" lvl="0" marL="457200" rtl="0" algn="l">
              <a:lnSpc>
                <a:spcPct val="90000"/>
              </a:lnSpc>
              <a:spcBef>
                <a:spcPts val="1000"/>
              </a:spcBef>
              <a:spcAft>
                <a:spcPts val="0"/>
              </a:spcAft>
              <a:buSzPts val="1800"/>
              <a:buFont typeface="Noto Sans Symbols"/>
              <a:buChar char="❖"/>
            </a:pPr>
            <a:r>
              <a:rPr b="1" i="1" lang="en-US" sz="2800" cap="none">
                <a:solidFill>
                  <a:srgbClr val="002060"/>
                </a:solidFill>
                <a:latin typeface="Times New Roman"/>
                <a:ea typeface="Times New Roman"/>
                <a:cs typeface="Times New Roman"/>
                <a:sym typeface="Times New Roman"/>
              </a:rPr>
              <a:t> Нейтральный</a:t>
            </a:r>
            <a:endParaRPr/>
          </a:p>
          <a:p>
            <a:pPr indent="-342900" lvl="0" marL="457200" rtl="0" algn="l">
              <a:lnSpc>
                <a:spcPct val="90000"/>
              </a:lnSpc>
              <a:spcBef>
                <a:spcPts val="1000"/>
              </a:spcBef>
              <a:spcAft>
                <a:spcPts val="0"/>
              </a:spcAft>
              <a:buSzPts val="1800"/>
              <a:buFont typeface="Noto Sans Symbols"/>
              <a:buChar char="❖"/>
            </a:pPr>
            <a:r>
              <a:rPr b="1" i="1" lang="en-US" sz="2800" cap="none">
                <a:solidFill>
                  <a:srgbClr val="002060"/>
                </a:solidFill>
                <a:latin typeface="Times New Roman"/>
                <a:ea typeface="Times New Roman"/>
                <a:cs typeface="Times New Roman"/>
                <a:sym typeface="Times New Roman"/>
              </a:rPr>
              <a:t> Отрицательный</a:t>
            </a:r>
            <a:endParaRPr b="1" i="1" sz="2800">
              <a:solidFill>
                <a:srgbClr val="002060"/>
              </a:solidFill>
              <a:latin typeface="Times New Roman"/>
              <a:ea typeface="Times New Roman"/>
              <a:cs typeface="Times New Roman"/>
              <a:sym typeface="Times New Roman"/>
            </a:endParaRPr>
          </a:p>
        </p:txBody>
      </p:sp>
      <p:pic>
        <p:nvPicPr>
          <p:cNvPr id="1060" name="Google Shape;1060;p126"/>
          <p:cNvPicPr preferRelativeResize="0"/>
          <p:nvPr/>
        </p:nvPicPr>
        <p:blipFill rotWithShape="1">
          <a:blip r:embed="rId3">
            <a:alphaModFix/>
          </a:blip>
          <a:srcRect b="0" l="0" r="0" t="0"/>
          <a:stretch/>
        </p:blipFill>
        <p:spPr>
          <a:xfrm>
            <a:off x="0" y="0"/>
            <a:ext cx="4874654" cy="68580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27"/>
          <p:cNvSpPr txBox="1"/>
          <p:nvPr>
            <p:ph type="title"/>
          </p:nvPr>
        </p:nvSpPr>
        <p:spPr>
          <a:xfrm>
            <a:off x="808638" y="386930"/>
            <a:ext cx="9236700"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US" sz="3800">
                <a:latin typeface="Times New Roman"/>
                <a:ea typeface="Times New Roman"/>
                <a:cs typeface="Times New Roman"/>
                <a:sym typeface="Times New Roman"/>
              </a:rPr>
              <a:t>Подходы к автоматическому анализу тональности</a:t>
            </a:r>
            <a:endParaRPr/>
          </a:p>
        </p:txBody>
      </p:sp>
      <p:sp>
        <p:nvSpPr>
          <p:cNvPr id="1066" name="Google Shape;1066;p127"/>
          <p:cNvSpPr txBox="1"/>
          <p:nvPr>
            <p:ph idx="1" type="body"/>
          </p:nvPr>
        </p:nvSpPr>
        <p:spPr>
          <a:xfrm>
            <a:off x="250371" y="2599509"/>
            <a:ext cx="11204221" cy="34355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en-US" cap="none">
                <a:latin typeface="Times New Roman"/>
                <a:ea typeface="Times New Roman"/>
                <a:cs typeface="Times New Roman"/>
                <a:sym typeface="Times New Roman"/>
              </a:rPr>
              <a:t>Основные подходы к автоматическому определению тональности текста можно разделить на 2 большие группы:</a:t>
            </a:r>
            <a:endParaRPr/>
          </a:p>
          <a:p>
            <a:pPr indent="0" lvl="0" marL="0" rtl="0" algn="l">
              <a:lnSpc>
                <a:spcPct val="100000"/>
              </a:lnSpc>
              <a:spcBef>
                <a:spcPts val="0"/>
              </a:spcBef>
              <a:spcAft>
                <a:spcPts val="0"/>
              </a:spcAft>
              <a:buSzPts val="1800"/>
              <a:buNone/>
            </a:pPr>
            <a:r>
              <a:t/>
            </a:r>
            <a:endParaRPr cap="none">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Noto Sans Symbols"/>
              <a:buChar char="▪"/>
            </a:pPr>
            <a:r>
              <a:rPr lang="en-US" cap="none">
                <a:latin typeface="Times New Roman"/>
                <a:ea typeface="Times New Roman"/>
                <a:cs typeface="Times New Roman"/>
                <a:sym typeface="Times New Roman"/>
              </a:rPr>
              <a:t>Лингвистические алгоритмы, основанные на правилах, шаблонах и словарях;</a:t>
            </a:r>
            <a:endParaRPr/>
          </a:p>
          <a:p>
            <a:pPr indent="-342900" lvl="0" marL="457200" rtl="0" algn="l">
              <a:lnSpc>
                <a:spcPct val="100000"/>
              </a:lnSpc>
              <a:spcBef>
                <a:spcPts val="0"/>
              </a:spcBef>
              <a:spcAft>
                <a:spcPts val="0"/>
              </a:spcAft>
              <a:buSzPts val="1800"/>
              <a:buFont typeface="Noto Sans Symbols"/>
              <a:buChar char="▪"/>
            </a:pPr>
            <a:r>
              <a:rPr lang="en-US" cap="none">
                <a:latin typeface="Times New Roman"/>
                <a:ea typeface="Times New Roman"/>
                <a:cs typeface="Times New Roman"/>
                <a:sym typeface="Times New Roman"/>
              </a:rPr>
              <a:t>Алгоритмы, использующие методы машинного обучения.</a:t>
            </a:r>
            <a:endParaRPr/>
          </a:p>
          <a:p>
            <a:pPr indent="0" lvl="0" marL="0" rtl="0" algn="l">
              <a:lnSpc>
                <a:spcPct val="100000"/>
              </a:lnSpc>
              <a:spcBef>
                <a:spcPts val="0"/>
              </a:spcBef>
              <a:spcAft>
                <a:spcPts val="0"/>
              </a:spcAft>
              <a:buSzPts val="1800"/>
              <a:buNone/>
            </a:pPr>
            <a:r>
              <a:t/>
            </a:r>
            <a:endParaRPr cap="none">
              <a:latin typeface="Times New Roman"/>
              <a:ea typeface="Times New Roman"/>
              <a:cs typeface="Times New Roman"/>
              <a:sym typeface="Times New Roman"/>
            </a:endParaRPr>
          </a:p>
          <a:p>
            <a:pPr indent="0" lvl="0" marL="0" rtl="0" algn="l">
              <a:lnSpc>
                <a:spcPct val="100000"/>
              </a:lnSpc>
              <a:spcBef>
                <a:spcPts val="0"/>
              </a:spcBef>
              <a:spcAft>
                <a:spcPts val="0"/>
              </a:spcAft>
              <a:buSzPts val="1800"/>
              <a:buNone/>
            </a:pPr>
            <a:r>
              <a:rPr lang="en-US" cap="none">
                <a:latin typeface="Times New Roman"/>
                <a:ea typeface="Times New Roman"/>
                <a:cs typeface="Times New Roman"/>
                <a:sym typeface="Times New Roman"/>
              </a:rPr>
              <a:t>Многие коммерческие системы используют первый подход как наиболее точный.</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28"/>
          <p:cNvSpPr txBox="1"/>
          <p:nvPr>
            <p:ph type="title"/>
          </p:nvPr>
        </p:nvSpPr>
        <p:spPr>
          <a:xfrm>
            <a:off x="838200" y="365125"/>
            <a:ext cx="10515600" cy="7016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i="1" lang="en-US" sz="3600">
                <a:solidFill>
                  <a:srgbClr val="501549"/>
                </a:solidFill>
                <a:latin typeface="Times New Roman"/>
                <a:ea typeface="Times New Roman"/>
                <a:cs typeface="Times New Roman"/>
                <a:sym typeface="Times New Roman"/>
              </a:rPr>
              <a:t>Словари оценочной лексики</a:t>
            </a:r>
            <a:endParaRPr/>
          </a:p>
        </p:txBody>
      </p:sp>
      <p:sp>
        <p:nvSpPr>
          <p:cNvPr id="1072" name="Google Shape;1072;p128"/>
          <p:cNvSpPr txBox="1"/>
          <p:nvPr>
            <p:ph idx="1" type="body"/>
          </p:nvPr>
        </p:nvSpPr>
        <p:spPr>
          <a:xfrm>
            <a:off x="456574" y="1247420"/>
            <a:ext cx="11309327" cy="4826809"/>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1000"/>
              </a:spcBef>
              <a:spcAft>
                <a:spcPts val="0"/>
              </a:spcAft>
              <a:buSzPts val="1800"/>
              <a:buNone/>
            </a:pPr>
            <a:r>
              <a:rPr b="1" i="1" lang="en-US" sz="2800" cap="none">
                <a:solidFill>
                  <a:srgbClr val="FF0000"/>
                </a:solidFill>
                <a:latin typeface="Times New Roman"/>
                <a:ea typeface="Times New Roman"/>
                <a:cs typeface="Times New Roman"/>
                <a:sym typeface="Times New Roman"/>
              </a:rPr>
              <a:t>Словарь оценочной лексики </a:t>
            </a:r>
            <a:r>
              <a:rPr lang="en-US" sz="2800" cap="none">
                <a:solidFill>
                  <a:srgbClr val="002060"/>
                </a:solidFill>
                <a:latin typeface="Times New Roman"/>
                <a:ea typeface="Times New Roman"/>
                <a:cs typeface="Times New Roman"/>
                <a:sym typeface="Times New Roman"/>
              </a:rPr>
              <a:t>– база данных, где хранятся слова и </a:t>
            </a:r>
            <a:r>
              <a:rPr i="1" lang="en-US" sz="2800" cap="none">
                <a:solidFill>
                  <a:srgbClr val="002060"/>
                </a:solidFill>
                <a:latin typeface="Times New Roman"/>
                <a:ea typeface="Times New Roman"/>
                <a:cs typeface="Times New Roman"/>
                <a:sym typeface="Times New Roman"/>
              </a:rPr>
              <a:t>n</a:t>
            </a:r>
            <a:r>
              <a:rPr lang="en-US" sz="2800" cap="none">
                <a:solidFill>
                  <a:srgbClr val="002060"/>
                </a:solidFill>
                <a:latin typeface="Times New Roman"/>
                <a:ea typeface="Times New Roman"/>
                <a:cs typeface="Times New Roman"/>
                <a:sym typeface="Times New Roman"/>
              </a:rPr>
              <a:t>‑компонентные цепочки – </a:t>
            </a:r>
            <a:r>
              <a:rPr i="1" lang="en-US" sz="2800" cap="none">
                <a:solidFill>
                  <a:srgbClr val="002060"/>
                </a:solidFill>
                <a:latin typeface="Times New Roman"/>
                <a:ea typeface="Times New Roman"/>
                <a:cs typeface="Times New Roman"/>
                <a:sym typeface="Times New Roman"/>
              </a:rPr>
              <a:t>n</a:t>
            </a:r>
            <a:r>
              <a:rPr lang="en-US" sz="2800" cap="none">
                <a:solidFill>
                  <a:srgbClr val="002060"/>
                </a:solidFill>
                <a:latin typeface="Times New Roman"/>
                <a:ea typeface="Times New Roman"/>
                <a:cs typeface="Times New Roman"/>
                <a:sym typeface="Times New Roman"/>
              </a:rPr>
              <a:t>-граммы (например, фразеологизмы и различные устойчивые словосочетания («задеть за живое», «с гулькин нос»), при этом каждой такой единице присвоен уровень эмоциональной оценки.</a:t>
            </a:r>
            <a:endParaRPr/>
          </a:p>
          <a:p>
            <a:pPr indent="0" lvl="0" marL="0" rtl="0" algn="just">
              <a:lnSpc>
                <a:spcPct val="90000"/>
              </a:lnSpc>
              <a:spcBef>
                <a:spcPts val="1000"/>
              </a:spcBef>
              <a:spcAft>
                <a:spcPts val="0"/>
              </a:spcAft>
              <a:buSzPts val="1800"/>
              <a:buNone/>
            </a:pPr>
            <a:r>
              <a:rPr i="1" lang="en-US" sz="2800" cap="none">
                <a:solidFill>
                  <a:srgbClr val="002060"/>
                </a:solidFill>
                <a:latin typeface="Times New Roman"/>
                <a:ea typeface="Times New Roman"/>
                <a:cs typeface="Times New Roman"/>
                <a:sym typeface="Times New Roman"/>
              </a:rPr>
              <a:t>Словари:</a:t>
            </a:r>
            <a:endParaRPr/>
          </a:p>
          <a:p>
            <a:pPr indent="0" lvl="0" marL="0" rtl="0" algn="just">
              <a:lnSpc>
                <a:spcPct val="90000"/>
              </a:lnSpc>
              <a:spcBef>
                <a:spcPts val="1000"/>
              </a:spcBef>
              <a:spcAft>
                <a:spcPts val="0"/>
              </a:spcAft>
              <a:buSzPts val="1800"/>
              <a:buNone/>
            </a:pPr>
            <a:r>
              <a:rPr lang="en-US" sz="2800" cap="none">
                <a:solidFill>
                  <a:srgbClr val="002060"/>
                </a:solidFill>
                <a:latin typeface="Times New Roman"/>
                <a:ea typeface="Times New Roman"/>
                <a:cs typeface="Times New Roman"/>
                <a:sym typeface="Times New Roman"/>
              </a:rPr>
              <a:t>	- Используют различные шкалы оценок;</a:t>
            </a:r>
            <a:endParaRPr/>
          </a:p>
          <a:p>
            <a:pPr indent="0" lvl="0" marL="0" rtl="0" algn="just">
              <a:lnSpc>
                <a:spcPct val="90000"/>
              </a:lnSpc>
              <a:spcBef>
                <a:spcPts val="1000"/>
              </a:spcBef>
              <a:spcAft>
                <a:spcPts val="0"/>
              </a:spcAft>
              <a:buSzPts val="1800"/>
              <a:buNone/>
            </a:pPr>
            <a:r>
              <a:rPr lang="en-US" sz="2800" cap="none">
                <a:solidFill>
                  <a:srgbClr val="002060"/>
                </a:solidFill>
                <a:latin typeface="Times New Roman"/>
                <a:ea typeface="Times New Roman"/>
                <a:cs typeface="Times New Roman"/>
                <a:sym typeface="Times New Roman"/>
              </a:rPr>
              <a:t>	- С автоматическим пополнением списков и без.</a:t>
            </a:r>
            <a:endParaRPr sz="2800">
              <a:solidFill>
                <a:srgbClr val="002060"/>
              </a:solidFill>
              <a:latin typeface="Times New Roman"/>
              <a:ea typeface="Times New Roman"/>
              <a:cs typeface="Times New Roman"/>
              <a:sym typeface="Times New Roman"/>
            </a:endParaRPr>
          </a:p>
          <a:p>
            <a:pPr indent="0" lvl="0" marL="0" rtl="0" algn="just">
              <a:lnSpc>
                <a:spcPct val="90000"/>
              </a:lnSpc>
              <a:spcBef>
                <a:spcPts val="1000"/>
              </a:spcBef>
              <a:spcAft>
                <a:spcPts val="0"/>
              </a:spcAft>
              <a:buSzPts val="1800"/>
              <a:buNone/>
            </a:pPr>
            <a:r>
              <a:t/>
            </a:r>
            <a:endParaRPr sz="2800"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29"/>
          <p:cNvSpPr txBox="1"/>
          <p:nvPr>
            <p:ph type="title"/>
          </p:nvPr>
        </p:nvSpPr>
        <p:spPr>
          <a:xfrm>
            <a:off x="3780696" y="144163"/>
            <a:ext cx="3932237" cy="82790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b="1" i="1" lang="en-US" sz="3600">
                <a:solidFill>
                  <a:srgbClr val="501549"/>
                </a:solidFill>
                <a:latin typeface="Times New Roman"/>
                <a:ea typeface="Times New Roman"/>
                <a:cs typeface="Times New Roman"/>
                <a:sym typeface="Times New Roman"/>
              </a:rPr>
              <a:t>Виды словарей</a:t>
            </a:r>
            <a:endParaRPr/>
          </a:p>
        </p:txBody>
      </p:sp>
      <p:graphicFrame>
        <p:nvGraphicFramePr>
          <p:cNvPr id="1078" name="Google Shape;1078;p129"/>
          <p:cNvGraphicFramePr/>
          <p:nvPr/>
        </p:nvGraphicFramePr>
        <p:xfrm>
          <a:off x="5361068" y="1351723"/>
          <a:ext cx="3000000" cy="3000000"/>
        </p:xfrm>
        <a:graphic>
          <a:graphicData uri="http://schemas.openxmlformats.org/drawingml/2006/table">
            <a:tbl>
              <a:tblPr bandRow="1" firstRow="1">
                <a:noFill/>
                <a:tableStyleId>{B82B3B4A-097C-44EC-8DDA-5E92EA9C3A8A}</a:tableStyleId>
              </a:tblPr>
              <a:tblGrid>
                <a:gridCol w="2603075"/>
                <a:gridCol w="4065225"/>
              </a:tblGrid>
              <a:tr h="553050">
                <a:tc>
                  <a:txBody>
                    <a:bodyPr/>
                    <a:lstStyle/>
                    <a:p>
                      <a:pPr indent="0" lvl="0" marL="0" marR="0" rtl="0" algn="ctr">
                        <a:lnSpc>
                          <a:spcPct val="100000"/>
                        </a:lnSpc>
                        <a:spcBef>
                          <a:spcPts val="0"/>
                        </a:spcBef>
                        <a:spcAft>
                          <a:spcPts val="0"/>
                        </a:spcAft>
                        <a:buNone/>
                      </a:pPr>
                      <a:r>
                        <a:rPr lang="en-US" sz="2400" u="none" cap="none" strike="noStrike">
                          <a:solidFill>
                            <a:schemeClr val="dk1"/>
                          </a:solidFill>
                        </a:rPr>
                        <a:t>Слово/</a:t>
                      </a:r>
                      <a:endParaRPr/>
                    </a:p>
                    <a:p>
                      <a:pPr indent="0" lvl="0" marL="0" marR="0" rtl="0" algn="ctr">
                        <a:lnSpc>
                          <a:spcPct val="100000"/>
                        </a:lnSpc>
                        <a:spcBef>
                          <a:spcPts val="0"/>
                        </a:spcBef>
                        <a:spcAft>
                          <a:spcPts val="0"/>
                        </a:spcAft>
                        <a:buNone/>
                      </a:pPr>
                      <a:r>
                        <a:rPr lang="en-US" sz="2400" u="none" cap="none" strike="noStrike">
                          <a:solidFill>
                            <a:schemeClr val="dk1"/>
                          </a:solidFill>
                        </a:rPr>
                        <a:t>словосочетание</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2400" u="none" cap="none" strike="noStrike">
                          <a:solidFill>
                            <a:schemeClr val="dk1"/>
                          </a:solidFill>
                        </a:rPr>
                        <a:t>Уровень</a:t>
                      </a:r>
                      <a:r>
                        <a:rPr lang="en-US" sz="1400" u="none" cap="none" strike="noStrike">
                          <a:solidFill>
                            <a:schemeClr val="dk1"/>
                          </a:solidFill>
                        </a:rPr>
                        <a:t> </a:t>
                      </a:r>
                      <a:r>
                        <a:rPr lang="en-US" sz="2400" u="none" cap="none" strike="noStrike">
                          <a:solidFill>
                            <a:schemeClr val="dk1"/>
                          </a:solidFill>
                        </a:rPr>
                        <a:t>эмоциональной</a:t>
                      </a:r>
                      <a:r>
                        <a:rPr lang="en-US" sz="1400" u="none" cap="none" strike="noStrike">
                          <a:solidFill>
                            <a:schemeClr val="dk1"/>
                          </a:solidFill>
                        </a:rPr>
                        <a:t> </a:t>
                      </a:r>
                      <a:r>
                        <a:rPr lang="en-US" sz="2400" u="none" cap="none" strike="noStrike">
                          <a:solidFill>
                            <a:schemeClr val="dk1"/>
                          </a:solidFill>
                        </a:rPr>
                        <a:t>оценки</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58400">
                <a:tc>
                  <a:txBody>
                    <a:bodyPr/>
                    <a:lstStyle/>
                    <a:p>
                      <a:pPr indent="0" lvl="0" marL="0" marR="0" rtl="0" algn="l">
                        <a:lnSpc>
                          <a:spcPct val="100000"/>
                        </a:lnSpc>
                        <a:spcBef>
                          <a:spcPts val="0"/>
                        </a:spcBef>
                        <a:spcAft>
                          <a:spcPts val="0"/>
                        </a:spcAft>
                        <a:buNone/>
                      </a:pPr>
                      <a:r>
                        <a:rPr lang="en-US" sz="2400" u="none" cap="none" strike="noStrike">
                          <a:solidFill>
                            <a:srgbClr val="002060"/>
                          </a:solidFill>
                        </a:rPr>
                        <a:t>отвратительный</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400" u="none" cap="none" strike="noStrike"/>
                        <a:t>-5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58400">
                <a:tc>
                  <a:txBody>
                    <a:bodyPr/>
                    <a:lstStyle/>
                    <a:p>
                      <a:pPr indent="0" lvl="0" marL="0" marR="0" rtl="0" algn="l">
                        <a:lnSpc>
                          <a:spcPct val="100000"/>
                        </a:lnSpc>
                        <a:spcBef>
                          <a:spcPts val="0"/>
                        </a:spcBef>
                        <a:spcAft>
                          <a:spcPts val="0"/>
                        </a:spcAft>
                        <a:buNone/>
                      </a:pPr>
                      <a:r>
                        <a:rPr lang="en-US" sz="2400" u="none" cap="none" strike="noStrike">
                          <a:solidFill>
                            <a:srgbClr val="002060"/>
                          </a:solidFill>
                        </a:rPr>
                        <a:t>с гулькин нос</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400" u="none" cap="none" strike="noStrike"/>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58400">
                <a:tc>
                  <a:txBody>
                    <a:bodyPr/>
                    <a:lstStyle/>
                    <a:p>
                      <a:pPr indent="0" lvl="0" marL="0" marR="0" rtl="0" algn="l">
                        <a:lnSpc>
                          <a:spcPct val="100000"/>
                        </a:lnSpc>
                        <a:spcBef>
                          <a:spcPts val="0"/>
                        </a:spcBef>
                        <a:spcAft>
                          <a:spcPts val="0"/>
                        </a:spcAft>
                        <a:buNone/>
                      </a:pPr>
                      <a:r>
                        <a:rPr lang="en-US" sz="2400" u="none" cap="none" strike="noStrike">
                          <a:solidFill>
                            <a:srgbClr val="002060"/>
                          </a:solidFill>
                        </a:rPr>
                        <a:t>модный</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400" u="none" cap="none" strike="noStrike"/>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58400">
                <a:tc>
                  <a:txBody>
                    <a:bodyPr/>
                    <a:lstStyle/>
                    <a:p>
                      <a:pPr indent="0" lvl="0" marL="0" marR="0" rtl="0" algn="l">
                        <a:lnSpc>
                          <a:spcPct val="100000"/>
                        </a:lnSpc>
                        <a:spcBef>
                          <a:spcPts val="0"/>
                        </a:spcBef>
                        <a:spcAft>
                          <a:spcPts val="0"/>
                        </a:spcAft>
                        <a:buNone/>
                      </a:pPr>
                      <a:r>
                        <a:rPr lang="en-US" sz="2400" u="none" cap="none" strike="noStrike">
                          <a:solidFill>
                            <a:srgbClr val="002060"/>
                          </a:solidFill>
                        </a:rPr>
                        <a:t>усталый</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400" u="none" cap="none" strike="noStrike"/>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079" name="Google Shape;1079;p129"/>
          <p:cNvSpPr txBox="1"/>
          <p:nvPr>
            <p:ph idx="2" type="body"/>
          </p:nvPr>
        </p:nvSpPr>
        <p:spPr>
          <a:xfrm>
            <a:off x="469085" y="1342768"/>
            <a:ext cx="4325336" cy="2537254"/>
          </a:xfrm>
          <a:prstGeom prst="rect">
            <a:avLst/>
          </a:prstGeom>
          <a:noFill/>
          <a:ln>
            <a:noFill/>
          </a:ln>
        </p:spPr>
        <p:txBody>
          <a:bodyPr anchorCtr="0" anchor="t" bIns="45700" lIns="91425" spcFirstLastPara="1" rIns="91425" wrap="square" tIns="45700">
            <a:noAutofit/>
          </a:bodyPr>
          <a:lstStyle/>
          <a:p>
            <a:pPr indent="-228600" lvl="0" marL="457200" rtl="0" algn="just">
              <a:lnSpc>
                <a:spcPct val="90000"/>
              </a:lnSpc>
              <a:spcBef>
                <a:spcPts val="1000"/>
              </a:spcBef>
              <a:spcAft>
                <a:spcPts val="0"/>
              </a:spcAft>
              <a:buSzPts val="1600"/>
              <a:buNone/>
            </a:pPr>
            <a:r>
              <a:rPr lang="en-US" sz="2400" cap="none">
                <a:latin typeface="Times New Roman"/>
                <a:ea typeface="Times New Roman"/>
                <a:cs typeface="Times New Roman"/>
                <a:sym typeface="Times New Roman"/>
              </a:rPr>
              <a:t>Словам может быть приписана лишь одна тональная оценка – числовое значение полярности (число большее нуля – позитивный сентимент, число меньшее нуля – негативный сентимент). </a:t>
            </a:r>
            <a:endParaRPr/>
          </a:p>
        </p:txBody>
      </p:sp>
      <p:sp>
        <p:nvSpPr>
          <p:cNvPr id="1080" name="Google Shape;1080;p1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solidFill>
                  <a:srgbClr val="501549"/>
                </a:solidFill>
              </a:rPr>
              <a:t>‹#›</a:t>
            </a:fld>
            <a:endParaRPr>
              <a:solidFill>
                <a:srgbClr val="501549"/>
              </a:solidFill>
            </a:endParaRPr>
          </a:p>
        </p:txBody>
      </p:sp>
      <p:sp>
        <p:nvSpPr>
          <p:cNvPr id="1081" name="Google Shape;1081;p129"/>
          <p:cNvSpPr/>
          <p:nvPr/>
        </p:nvSpPr>
        <p:spPr>
          <a:xfrm>
            <a:off x="469085" y="4667635"/>
            <a:ext cx="627120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sng" cap="none" strike="noStrike">
                <a:solidFill>
                  <a:srgbClr val="000000"/>
                </a:solidFill>
                <a:latin typeface="Times New Roman"/>
                <a:ea typeface="Times New Roman"/>
                <a:cs typeface="Times New Roman"/>
                <a:sym typeface="Times New Roman"/>
              </a:rPr>
              <a:t>Пример для английского языка</a:t>
            </a:r>
            <a:r>
              <a:rPr b="0" i="0" lang="en-US" sz="2800" u="none" cap="none" strike="noStrike">
                <a:solidFill>
                  <a:srgbClr val="000000"/>
                </a:solidFill>
                <a:latin typeface="Times New Roman"/>
                <a:ea typeface="Times New Roman"/>
                <a:cs typeface="Times New Roman"/>
                <a:sym typeface="Times New Roman"/>
              </a:rPr>
              <a:t>: AFINN </a:t>
            </a:r>
            <a:endParaRPr/>
          </a:p>
        </p:txBody>
      </p:sp>
      <p:sp>
        <p:nvSpPr>
          <p:cNvPr id="1082" name="Google Shape;1082;p129"/>
          <p:cNvSpPr/>
          <p:nvPr/>
        </p:nvSpPr>
        <p:spPr>
          <a:xfrm>
            <a:off x="469084" y="5364546"/>
            <a:ext cx="11418115"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Times New Roman"/>
                <a:ea typeface="Times New Roman"/>
                <a:cs typeface="Times New Roman"/>
                <a:sym typeface="Times New Roman"/>
              </a:rPr>
              <a:t>В некоторых других системах (к примеру, SentiStrength) группы слов получают не одну, а две тональные оценки (положительную и отрицательную).</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30"/>
          <p:cNvSpPr txBox="1"/>
          <p:nvPr>
            <p:ph type="title"/>
          </p:nvPr>
        </p:nvSpPr>
        <p:spPr>
          <a:xfrm>
            <a:off x="3799708" y="0"/>
            <a:ext cx="3932237" cy="78446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b="1" i="1" lang="en-US" sz="3600">
                <a:solidFill>
                  <a:srgbClr val="501549"/>
                </a:solidFill>
                <a:latin typeface="Times New Roman"/>
                <a:ea typeface="Times New Roman"/>
                <a:cs typeface="Times New Roman"/>
                <a:sym typeface="Times New Roman"/>
              </a:rPr>
              <a:t>Виды словарей</a:t>
            </a:r>
            <a:endParaRPr/>
          </a:p>
        </p:txBody>
      </p:sp>
      <p:graphicFrame>
        <p:nvGraphicFramePr>
          <p:cNvPr id="1088" name="Google Shape;1088;p130"/>
          <p:cNvGraphicFramePr/>
          <p:nvPr/>
        </p:nvGraphicFramePr>
        <p:xfrm>
          <a:off x="5371644" y="1105767"/>
          <a:ext cx="3000000" cy="3000000"/>
        </p:xfrm>
        <a:graphic>
          <a:graphicData uri="http://schemas.openxmlformats.org/drawingml/2006/table">
            <a:tbl>
              <a:tblPr bandRow="1" firstRow="1">
                <a:noFill/>
                <a:tableStyleId>{3EDC7CB1-D0B2-4275-98B9-FE7600B389A3}</a:tableStyleId>
              </a:tblPr>
              <a:tblGrid>
                <a:gridCol w="2364250"/>
                <a:gridCol w="2199500"/>
                <a:gridCol w="2049750"/>
              </a:tblGrid>
              <a:tr h="1083450">
                <a:tc>
                  <a:txBody>
                    <a:bodyPr/>
                    <a:lstStyle/>
                    <a:p>
                      <a:pPr indent="0" lvl="0" marL="0" marR="0" rtl="0" algn="ctr">
                        <a:lnSpc>
                          <a:spcPct val="100000"/>
                        </a:lnSpc>
                        <a:spcBef>
                          <a:spcPts val="0"/>
                        </a:spcBef>
                        <a:spcAft>
                          <a:spcPts val="0"/>
                        </a:spcAft>
                        <a:buNone/>
                      </a:pPr>
                      <a:r>
                        <a:rPr lang="en-US" sz="2000" u="none" cap="none" strike="noStrike"/>
                        <a:t>Слово</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2000" u="none" cap="none" strike="noStrike"/>
                        <a:t>Эмоциональная или тональная оценка</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2000" u="none" cap="none" strike="noStrike"/>
                        <a:t>Значение</a:t>
                      </a:r>
                      <a:endParaRPr/>
                    </a:p>
                    <a:p>
                      <a:pPr indent="0" lvl="0" marL="0" marR="0" rtl="0" algn="ctr">
                        <a:lnSpc>
                          <a:spcPct val="100000"/>
                        </a:lnSpc>
                        <a:spcBef>
                          <a:spcPts val="0"/>
                        </a:spcBef>
                        <a:spcAft>
                          <a:spcPts val="0"/>
                        </a:spcAft>
                        <a:buNone/>
                      </a:pPr>
                      <a:r>
                        <a:rPr lang="en-US" sz="2000" u="none" cap="none" strike="noStrike"/>
                        <a:t>(1 – присутствие;</a:t>
                      </a:r>
                      <a:endParaRPr/>
                    </a:p>
                    <a:p>
                      <a:pPr indent="0" lvl="0" marL="0" marR="0" rtl="0" algn="ctr">
                        <a:lnSpc>
                          <a:spcPct val="100000"/>
                        </a:lnSpc>
                        <a:spcBef>
                          <a:spcPts val="0"/>
                        </a:spcBef>
                        <a:spcAft>
                          <a:spcPts val="0"/>
                        </a:spcAft>
                        <a:buNone/>
                      </a:pPr>
                      <a:r>
                        <a:rPr lang="en-US" sz="2000" u="none" cap="none" strike="noStrike"/>
                        <a:t> 0 – отсутствие)</a:t>
                      </a:r>
                      <a:endParaRPr/>
                    </a:p>
                  </a:txBody>
                  <a:tcPr marT="45725" marB="45725" marR="91450" marL="91450"/>
                </a:tc>
              </a:tr>
              <a:tr h="416725">
                <a:tc rowSpan="10">
                  <a:txBody>
                    <a:bodyPr/>
                    <a:lstStyle/>
                    <a:p>
                      <a:pPr indent="0" lvl="0" marL="0" marR="0" rtl="0" algn="ctr">
                        <a:lnSpc>
                          <a:spcPct val="100000"/>
                        </a:lnSpc>
                        <a:spcBef>
                          <a:spcPts val="0"/>
                        </a:spcBef>
                        <a:spcAft>
                          <a:spcPts val="0"/>
                        </a:spcAft>
                        <a:buNone/>
                      </a:pPr>
                      <a:r>
                        <a:rPr lang="en-US" sz="2000" u="none" cap="none" strike="noStrike">
                          <a:solidFill>
                            <a:srgbClr val="002060"/>
                          </a:solidFill>
                        </a:rPr>
                        <a:t>откровенный</a:t>
                      </a:r>
                      <a:endParaRPr/>
                    </a:p>
                  </a:txBody>
                  <a:tcPr marT="45725" marB="45725" marR="91450" marL="91450" anchor="ctr"/>
                </a:tc>
                <a:tc>
                  <a:txBody>
                    <a:bodyPr/>
                    <a:lstStyle/>
                    <a:p>
                      <a:pPr indent="0" lvl="0" marL="0" marR="0" rtl="0" algn="l">
                        <a:lnSpc>
                          <a:spcPct val="100000"/>
                        </a:lnSpc>
                        <a:spcBef>
                          <a:spcPts val="0"/>
                        </a:spcBef>
                        <a:spcAft>
                          <a:spcPts val="0"/>
                        </a:spcAft>
                        <a:buNone/>
                      </a:pPr>
                      <a:r>
                        <a:rPr lang="en-US" sz="2000" u="none" cap="none" strike="noStrike">
                          <a:solidFill>
                            <a:srgbClr val="002060"/>
                          </a:solidFill>
                        </a:rPr>
                        <a:t>гнев</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0</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страх</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0</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предчувствие</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0</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вера</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1</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удивление</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0</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грусть</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0</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отвращение </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0</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радость</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0</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положительная</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1</a:t>
                      </a:r>
                      <a:endParaRPr sz="2000" u="none" cap="none" strike="noStrike">
                        <a:solidFill>
                          <a:srgbClr val="002060"/>
                        </a:solidFill>
                      </a:endParaRPr>
                    </a:p>
                  </a:txBody>
                  <a:tcPr marT="45725" marB="45725" marR="91450" marL="91450"/>
                </a:tc>
              </a:tr>
              <a:tr h="416725">
                <a:tc vMerge="1"/>
                <a:tc>
                  <a:txBody>
                    <a:bodyPr/>
                    <a:lstStyle/>
                    <a:p>
                      <a:pPr indent="0" lvl="0" marL="0" marR="0" rtl="0" algn="l">
                        <a:lnSpc>
                          <a:spcPct val="100000"/>
                        </a:lnSpc>
                        <a:spcBef>
                          <a:spcPts val="0"/>
                        </a:spcBef>
                        <a:spcAft>
                          <a:spcPts val="0"/>
                        </a:spcAft>
                        <a:buNone/>
                      </a:pPr>
                      <a:r>
                        <a:rPr lang="en-US" sz="2000" u="none" cap="none" strike="noStrike">
                          <a:solidFill>
                            <a:srgbClr val="002060"/>
                          </a:solidFill>
                        </a:rPr>
                        <a:t>отрицательная</a:t>
                      </a:r>
                      <a:endParaRPr/>
                    </a:p>
                  </a:txBody>
                  <a:tcPr marT="45725" marB="45725" marR="91450" marL="91450"/>
                </a:tc>
                <a:tc>
                  <a:txBody>
                    <a:bodyPr/>
                    <a:lstStyle/>
                    <a:p>
                      <a:pPr indent="0" lvl="0" marL="0" marR="0" rtl="0" algn="ctr">
                        <a:lnSpc>
                          <a:spcPct val="100000"/>
                        </a:lnSpc>
                        <a:spcBef>
                          <a:spcPts val="0"/>
                        </a:spcBef>
                        <a:spcAft>
                          <a:spcPts val="0"/>
                        </a:spcAft>
                        <a:buNone/>
                      </a:pPr>
                      <a:r>
                        <a:rPr lang="en-US" sz="2000" u="none" cap="none" strike="noStrike">
                          <a:solidFill>
                            <a:srgbClr val="002060"/>
                          </a:solidFill>
                        </a:rPr>
                        <a:t>0</a:t>
                      </a:r>
                      <a:endParaRPr sz="2000" u="none" cap="none" strike="noStrike">
                        <a:solidFill>
                          <a:srgbClr val="002060"/>
                        </a:solidFill>
                      </a:endParaRPr>
                    </a:p>
                  </a:txBody>
                  <a:tcPr marT="45725" marB="45725" marR="91450" marL="91450"/>
                </a:tc>
              </a:tr>
            </a:tbl>
          </a:graphicData>
        </a:graphic>
      </p:graphicFrame>
      <p:sp>
        <p:nvSpPr>
          <p:cNvPr id="1089" name="Google Shape;1089;p130"/>
          <p:cNvSpPr txBox="1"/>
          <p:nvPr>
            <p:ph idx="2" type="body"/>
          </p:nvPr>
        </p:nvSpPr>
        <p:spPr>
          <a:xfrm>
            <a:off x="206846" y="858888"/>
            <a:ext cx="5043638" cy="5024387"/>
          </a:xfrm>
          <a:prstGeom prst="rect">
            <a:avLst/>
          </a:prstGeom>
          <a:noFill/>
          <a:ln>
            <a:noFill/>
          </a:ln>
        </p:spPr>
        <p:txBody>
          <a:bodyPr anchorCtr="0" anchor="t" bIns="45700" lIns="91425" spcFirstLastPara="1" rIns="91425" wrap="square" tIns="45700">
            <a:noAutofit/>
          </a:bodyPr>
          <a:lstStyle/>
          <a:p>
            <a:pPr indent="-228600" lvl="0" marL="457200" rtl="0" algn="just">
              <a:lnSpc>
                <a:spcPct val="90000"/>
              </a:lnSpc>
              <a:spcBef>
                <a:spcPts val="1000"/>
              </a:spcBef>
              <a:spcAft>
                <a:spcPts val="0"/>
              </a:spcAft>
              <a:buSzPts val="1600"/>
              <a:buNone/>
            </a:pPr>
            <a:r>
              <a:rPr lang="en-US" sz="2400" cap="none">
                <a:latin typeface="Times New Roman"/>
                <a:ea typeface="Times New Roman"/>
                <a:cs typeface="Times New Roman"/>
                <a:sym typeface="Times New Roman"/>
              </a:rPr>
              <a:t>Существуют лексиконы, в которых словам приписываются разные эмоциональные категории, к ним относится NRC word-emotion association lexicon. Каждому слову здесь сопоставляются 2 тональные оценки и 8 эмоций: «гнев», «страх», «предчувствие», «вера», «удивление», «грусть», «отвращение», «радость». Списки данного словаря были переведены на несколько десятков языков, среди которых есть и русский. </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31"/>
          <p:cNvSpPr txBox="1"/>
          <p:nvPr>
            <p:ph type="title"/>
          </p:nvPr>
        </p:nvSpPr>
        <p:spPr>
          <a:xfrm>
            <a:off x="839788" y="172996"/>
            <a:ext cx="10289531" cy="61077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b="1" i="1" lang="en-US" sz="3200">
                <a:solidFill>
                  <a:srgbClr val="501549"/>
                </a:solidFill>
                <a:latin typeface="Times New Roman"/>
                <a:ea typeface="Times New Roman"/>
                <a:cs typeface="Times New Roman"/>
                <a:sym typeface="Times New Roman"/>
              </a:rPr>
              <a:t>Виды словарей</a:t>
            </a:r>
            <a:endParaRPr/>
          </a:p>
        </p:txBody>
      </p:sp>
      <p:pic>
        <p:nvPicPr>
          <p:cNvPr id="1095" name="Google Shape;1095;p131"/>
          <p:cNvPicPr preferRelativeResize="0"/>
          <p:nvPr>
            <p:ph idx="1" type="body"/>
          </p:nvPr>
        </p:nvPicPr>
        <p:blipFill rotWithShape="1">
          <a:blip r:embed="rId3">
            <a:alphaModFix/>
          </a:blip>
          <a:srcRect b="0" l="0" r="0" t="0"/>
          <a:stretch/>
        </p:blipFill>
        <p:spPr>
          <a:xfrm>
            <a:off x="2180731" y="849169"/>
            <a:ext cx="7830538" cy="2778577"/>
          </a:xfrm>
          <a:prstGeom prst="rect">
            <a:avLst/>
          </a:prstGeom>
          <a:noFill/>
          <a:ln>
            <a:noFill/>
          </a:ln>
        </p:spPr>
      </p:pic>
      <p:sp>
        <p:nvSpPr>
          <p:cNvPr id="1096" name="Google Shape;1096;p131"/>
          <p:cNvSpPr txBox="1"/>
          <p:nvPr>
            <p:ph idx="2" type="body"/>
          </p:nvPr>
        </p:nvSpPr>
        <p:spPr>
          <a:xfrm>
            <a:off x="266864" y="3650358"/>
            <a:ext cx="11658272" cy="2421925"/>
          </a:xfrm>
          <a:prstGeom prst="rect">
            <a:avLst/>
          </a:prstGeom>
          <a:noFill/>
          <a:ln>
            <a:noFill/>
          </a:ln>
        </p:spPr>
        <p:txBody>
          <a:bodyPr anchorCtr="0" anchor="t" bIns="45700" lIns="91425" spcFirstLastPara="1" rIns="91425" wrap="square" tIns="45700">
            <a:noAutofit/>
          </a:bodyPr>
          <a:lstStyle/>
          <a:p>
            <a:pPr indent="-228600" lvl="0" marL="457200" rtl="0" algn="just">
              <a:lnSpc>
                <a:spcPct val="90000"/>
              </a:lnSpc>
              <a:spcBef>
                <a:spcPts val="1000"/>
              </a:spcBef>
              <a:spcAft>
                <a:spcPts val="0"/>
              </a:spcAft>
              <a:buSzPts val="1600"/>
              <a:buNone/>
            </a:pPr>
            <a:r>
              <a:rPr lang="en-US" sz="2400" cap="none">
                <a:latin typeface="Times New Roman"/>
                <a:ea typeface="Times New Roman"/>
                <a:cs typeface="Times New Roman"/>
                <a:sym typeface="Times New Roman"/>
              </a:rPr>
              <a:t>В тезаурусе wordnet-affect наряду с метками, указывающими эмоциональную категорию («гнев», «страх», «удивление», «печаль», «отвращение», «радость»), и валентностями (позитивная, негативная, неоднозначная, нейтральная) словарным единицам – синсетам, синонимическим рядам – были сопоставлены метки, описывающие эмоции: «физическое состояние», «настроение», «поведение», «отношение», «чувство» и др. Данный тезаурус был переведен с английского языка на русский и румынский.</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32"/>
          <p:cNvSpPr txBox="1"/>
          <p:nvPr>
            <p:ph type="title"/>
          </p:nvPr>
        </p:nvSpPr>
        <p:spPr>
          <a:xfrm>
            <a:off x="838200" y="190307"/>
            <a:ext cx="10515600" cy="53994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i="1" lang="en-US" sz="3200">
                <a:solidFill>
                  <a:srgbClr val="501549"/>
                </a:solidFill>
                <a:latin typeface="Times New Roman"/>
                <a:ea typeface="Times New Roman"/>
                <a:cs typeface="Times New Roman"/>
                <a:sym typeface="Times New Roman"/>
              </a:rPr>
              <a:t>Лексический подход</a:t>
            </a:r>
            <a:endParaRPr/>
          </a:p>
        </p:txBody>
      </p:sp>
      <p:sp>
        <p:nvSpPr>
          <p:cNvPr id="1102" name="Google Shape;1102;p132"/>
          <p:cNvSpPr txBox="1"/>
          <p:nvPr>
            <p:ph idx="1" type="body"/>
          </p:nvPr>
        </p:nvSpPr>
        <p:spPr>
          <a:xfrm>
            <a:off x="465904" y="864866"/>
            <a:ext cx="11150707" cy="341788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2800" u="sng" cap="none">
                <a:latin typeface="Times New Roman"/>
                <a:ea typeface="Times New Roman"/>
                <a:cs typeface="Times New Roman"/>
                <a:sym typeface="Times New Roman"/>
              </a:rPr>
              <a:t>Шаблоны</a:t>
            </a:r>
            <a:r>
              <a:rPr lang="en-US" sz="2800" cap="none">
                <a:latin typeface="Times New Roman"/>
                <a:ea typeface="Times New Roman"/>
                <a:cs typeface="Times New Roman"/>
                <a:sym typeface="Times New Roman"/>
              </a:rPr>
              <a:t>: </a:t>
            </a:r>
            <a:r>
              <a:rPr b="1" i="1" lang="en-US" sz="2800" cap="none">
                <a:latin typeface="Times New Roman"/>
                <a:ea typeface="Times New Roman"/>
                <a:cs typeface="Times New Roman"/>
                <a:sym typeface="Times New Roman"/>
              </a:rPr>
              <a:t>&lt;им. Прил.  Им. Сущ.&gt;</a:t>
            </a:r>
            <a:r>
              <a:rPr i="1" lang="en-US" sz="2800" cap="none">
                <a:latin typeface="Times New Roman"/>
                <a:ea typeface="Times New Roman"/>
                <a:cs typeface="Times New Roman"/>
                <a:sym typeface="Times New Roman"/>
              </a:rPr>
              <a:t>, </a:t>
            </a:r>
            <a:r>
              <a:rPr b="1" i="1" lang="en-US" sz="2800" cap="none">
                <a:latin typeface="Times New Roman"/>
                <a:ea typeface="Times New Roman"/>
                <a:cs typeface="Times New Roman"/>
                <a:sym typeface="Times New Roman"/>
              </a:rPr>
              <a:t>&lt;Им. Прил.  Им. Прил.&gt;</a:t>
            </a:r>
            <a:endParaRPr/>
          </a:p>
          <a:p>
            <a:pPr indent="0" lvl="0" marL="0" rtl="0" algn="just">
              <a:lnSpc>
                <a:spcPct val="90000"/>
              </a:lnSpc>
              <a:spcBef>
                <a:spcPts val="1000"/>
              </a:spcBef>
              <a:spcAft>
                <a:spcPts val="0"/>
              </a:spcAft>
              <a:buSzPts val="1800"/>
              <a:buNone/>
            </a:pPr>
            <a:r>
              <a:rPr lang="en-US" sz="2800" cap="none">
                <a:latin typeface="Times New Roman"/>
                <a:ea typeface="Times New Roman"/>
                <a:cs typeface="Times New Roman"/>
                <a:sym typeface="Times New Roman"/>
              </a:rPr>
              <a:t>По шаблонам из текста извлекаются </a:t>
            </a:r>
            <a:r>
              <a:rPr i="1" lang="en-US" sz="2800" cap="none">
                <a:latin typeface="Times New Roman"/>
                <a:ea typeface="Times New Roman"/>
                <a:cs typeface="Times New Roman"/>
                <a:sym typeface="Times New Roman"/>
              </a:rPr>
              <a:t>n</a:t>
            </a:r>
            <a:r>
              <a:rPr lang="en-US" sz="2800" cap="none">
                <a:latin typeface="Times New Roman"/>
                <a:ea typeface="Times New Roman"/>
                <a:cs typeface="Times New Roman"/>
                <a:sym typeface="Times New Roman"/>
              </a:rPr>
              <a:t>-граммы. Их тональность определяется как при помощи словаря, так и посредством правил.</a:t>
            </a:r>
            <a:endParaRPr/>
          </a:p>
          <a:p>
            <a:pPr indent="0" lvl="0" marL="0" rtl="0" algn="l">
              <a:lnSpc>
                <a:spcPct val="90000"/>
              </a:lnSpc>
              <a:spcBef>
                <a:spcPts val="1000"/>
              </a:spcBef>
              <a:spcAft>
                <a:spcPts val="0"/>
              </a:spcAft>
              <a:buSzPts val="1800"/>
              <a:buNone/>
            </a:pPr>
            <a:r>
              <a:t/>
            </a:r>
            <a:endParaRPr sz="2800" cap="none">
              <a:latin typeface="Times New Roman"/>
              <a:ea typeface="Times New Roman"/>
              <a:cs typeface="Times New Roman"/>
              <a:sym typeface="Times New Roman"/>
            </a:endParaRPr>
          </a:p>
          <a:p>
            <a:pPr indent="0" lvl="0" marL="0" rtl="0" algn="just">
              <a:lnSpc>
                <a:spcPct val="90000"/>
              </a:lnSpc>
              <a:spcBef>
                <a:spcPts val="1000"/>
              </a:spcBef>
              <a:spcAft>
                <a:spcPts val="0"/>
              </a:spcAft>
              <a:buSzPts val="1800"/>
              <a:buNone/>
            </a:pPr>
            <a:r>
              <a:rPr lang="en-US" sz="2800" cap="none">
                <a:latin typeface="Times New Roman"/>
                <a:ea typeface="Times New Roman"/>
                <a:cs typeface="Times New Roman"/>
                <a:sym typeface="Times New Roman"/>
              </a:rPr>
              <a:t>Тональность всего текста складывается из тональности предложений, а тональность предложений — из тональности слов. Для получения итоговой окраски общую сумму весов нужно подсчитать по формуле, которую составляют разработчики конкретного решения, универсальной формулы не существует. Можно, к примеру, просто просуммировать полярности цепочек документа.</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33"/>
          <p:cNvSpPr txBox="1"/>
          <p:nvPr>
            <p:ph type="title"/>
          </p:nvPr>
        </p:nvSpPr>
        <p:spPr>
          <a:xfrm>
            <a:off x="295469" y="111433"/>
            <a:ext cx="11896531" cy="64812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i="1" lang="en-US" sz="3600">
                <a:solidFill>
                  <a:srgbClr val="501549"/>
                </a:solidFill>
                <a:latin typeface="Times New Roman"/>
                <a:ea typeface="Times New Roman"/>
                <a:cs typeface="Times New Roman"/>
                <a:sym typeface="Times New Roman"/>
              </a:rPr>
              <a:t>Примеры правил при лингвистическом подходе</a:t>
            </a:r>
            <a:endParaRPr/>
          </a:p>
        </p:txBody>
      </p:sp>
      <p:sp>
        <p:nvSpPr>
          <p:cNvPr id="1108" name="Google Shape;1108;p133"/>
          <p:cNvSpPr txBox="1"/>
          <p:nvPr>
            <p:ph idx="1" type="body"/>
          </p:nvPr>
        </p:nvSpPr>
        <p:spPr>
          <a:xfrm>
            <a:off x="295469" y="956682"/>
            <a:ext cx="11739466" cy="5229612"/>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800"/>
              <a:buNone/>
            </a:pPr>
            <a:r>
              <a:rPr lang="en-US" sz="2400" cap="none">
                <a:solidFill>
                  <a:srgbClr val="002060"/>
                </a:solidFill>
                <a:latin typeface="Times New Roman"/>
                <a:ea typeface="Times New Roman"/>
                <a:cs typeface="Times New Roman"/>
                <a:sym typeface="Times New Roman"/>
              </a:rPr>
              <a:t>1. Правила, построенные по модели «если… то…».</a:t>
            </a:r>
            <a:endParaRPr/>
          </a:p>
          <a:p>
            <a:pPr indent="0" lvl="0" marL="0" rtl="0" algn="just">
              <a:lnSpc>
                <a:spcPct val="100000"/>
              </a:lnSpc>
              <a:spcBef>
                <a:spcPts val="0"/>
              </a:spcBef>
              <a:spcAft>
                <a:spcPts val="0"/>
              </a:spcAft>
              <a:buSzPts val="1800"/>
              <a:buNone/>
            </a:pPr>
            <a:r>
              <a:rPr i="1" lang="en-US" sz="2400" cap="none">
                <a:solidFill>
                  <a:srgbClr val="990033"/>
                </a:solidFill>
                <a:latin typeface="Times New Roman"/>
                <a:ea typeface="Times New Roman"/>
                <a:cs typeface="Times New Roman"/>
                <a:sym typeface="Times New Roman"/>
              </a:rPr>
              <a:t>	</a:t>
            </a:r>
            <a:r>
              <a:rPr b="1" i="1" lang="en-US" sz="2400" cap="none">
                <a:solidFill>
                  <a:srgbClr val="990033"/>
                </a:solidFill>
                <a:latin typeface="Times New Roman"/>
                <a:ea typeface="Times New Roman"/>
                <a:cs typeface="Times New Roman"/>
                <a:sym typeface="Times New Roman"/>
              </a:rPr>
              <a:t>Если цепочка содержит глагол из списка («любить», «нравиться», 	«обожать» и др.) И не содержит глагола из другого списка 	(«ужасать», «отвращать» и др.) Или отрицания, то её 	тональность положительная.</a:t>
            </a:r>
            <a:endParaRPr/>
          </a:p>
          <a:p>
            <a:pPr indent="0" lvl="0" marL="0" rtl="0" algn="just">
              <a:lnSpc>
                <a:spcPct val="100000"/>
              </a:lnSpc>
              <a:spcBef>
                <a:spcPts val="0"/>
              </a:spcBef>
              <a:spcAft>
                <a:spcPts val="0"/>
              </a:spcAft>
              <a:buSzPts val="1800"/>
              <a:buNone/>
            </a:pPr>
            <a:r>
              <a:t/>
            </a:r>
            <a:endParaRPr b="1" i="1" sz="2400" cap="none">
              <a:solidFill>
                <a:srgbClr val="990033"/>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lang="en-US" sz="2400" cap="none">
                <a:solidFill>
                  <a:srgbClr val="002060"/>
                </a:solidFill>
                <a:latin typeface="Times New Roman"/>
                <a:ea typeface="Times New Roman"/>
                <a:cs typeface="Times New Roman"/>
                <a:sym typeface="Times New Roman"/>
              </a:rPr>
              <a:t>2. Правила, обрабатывающие слова с их модификаторами.</a:t>
            </a:r>
            <a:endParaRPr/>
          </a:p>
          <a:p>
            <a:pPr indent="0" lvl="0" marL="0" rtl="0" algn="l">
              <a:lnSpc>
                <a:spcPct val="100000"/>
              </a:lnSpc>
              <a:spcBef>
                <a:spcPts val="0"/>
              </a:spcBef>
              <a:spcAft>
                <a:spcPts val="0"/>
              </a:spcAft>
              <a:buSzPts val="1800"/>
              <a:buNone/>
            </a:pPr>
            <a:r>
              <a:rPr lang="en-US" sz="2400" cap="none">
                <a:solidFill>
                  <a:srgbClr val="002060"/>
                </a:solidFill>
                <a:latin typeface="Times New Roman"/>
                <a:ea typeface="Times New Roman"/>
                <a:cs typeface="Times New Roman"/>
                <a:sym typeface="Times New Roman"/>
              </a:rPr>
              <a:t>    </a:t>
            </a:r>
            <a:r>
              <a:rPr lang="en-US" sz="2400" u="sng" cap="none">
                <a:solidFill>
                  <a:srgbClr val="002060"/>
                </a:solidFill>
                <a:latin typeface="Times New Roman"/>
                <a:ea typeface="Times New Roman"/>
                <a:cs typeface="Times New Roman"/>
                <a:sym typeface="Times New Roman"/>
              </a:rPr>
              <a:t>Модификаторы:</a:t>
            </a:r>
            <a:endParaRPr/>
          </a:p>
          <a:p>
            <a:pPr indent="0" lvl="0" marL="0" rtl="0" algn="l">
              <a:lnSpc>
                <a:spcPct val="100000"/>
              </a:lnSpc>
              <a:spcBef>
                <a:spcPts val="0"/>
              </a:spcBef>
              <a:spcAft>
                <a:spcPts val="0"/>
              </a:spcAft>
              <a:buSzPts val="1800"/>
              <a:buNone/>
            </a:pPr>
            <a:r>
              <a:rPr lang="en-US" sz="2400" cap="none">
                <a:solidFill>
                  <a:srgbClr val="002060"/>
                </a:solidFill>
                <a:latin typeface="Times New Roman"/>
                <a:ea typeface="Times New Roman"/>
                <a:cs typeface="Times New Roman"/>
                <a:sym typeface="Times New Roman"/>
              </a:rPr>
              <a:t>	- Усиливающие (</a:t>
            </a:r>
            <a:r>
              <a:rPr b="1" i="1" lang="en-US" sz="2400" cap="none">
                <a:solidFill>
                  <a:srgbClr val="990033"/>
                </a:solidFill>
                <a:latin typeface="Times New Roman"/>
                <a:ea typeface="Times New Roman"/>
                <a:cs typeface="Times New Roman"/>
                <a:sym typeface="Times New Roman"/>
              </a:rPr>
              <a:t>«очень»</a:t>
            </a:r>
            <a:r>
              <a:rPr lang="en-US" sz="2400" cap="none">
                <a:solidFill>
                  <a:srgbClr val="002060"/>
                </a:solidFill>
                <a:latin typeface="Times New Roman"/>
                <a:ea typeface="Times New Roman"/>
                <a:cs typeface="Times New Roman"/>
                <a:sym typeface="Times New Roman"/>
              </a:rPr>
              <a:t>,</a:t>
            </a:r>
            <a:r>
              <a:rPr b="1" i="1" lang="en-US" sz="2400" cap="none">
                <a:solidFill>
                  <a:srgbClr val="990033"/>
                </a:solidFill>
                <a:latin typeface="Times New Roman"/>
                <a:ea typeface="Times New Roman"/>
                <a:cs typeface="Times New Roman"/>
                <a:sym typeface="Times New Roman"/>
              </a:rPr>
              <a:t> «более»</a:t>
            </a:r>
            <a:r>
              <a:rPr lang="en-US" sz="2400" cap="none">
                <a:solidFill>
                  <a:srgbClr val="002060"/>
                </a:solidFill>
                <a:latin typeface="Times New Roman"/>
                <a:ea typeface="Times New Roman"/>
                <a:cs typeface="Times New Roman"/>
                <a:sym typeface="Times New Roman"/>
              </a:rPr>
              <a:t>) исходную тональность;</a:t>
            </a:r>
            <a:endParaRPr/>
          </a:p>
          <a:p>
            <a:pPr indent="0" lvl="0" marL="0" rtl="0" algn="l">
              <a:lnSpc>
                <a:spcPct val="100000"/>
              </a:lnSpc>
              <a:spcBef>
                <a:spcPts val="0"/>
              </a:spcBef>
              <a:spcAft>
                <a:spcPts val="0"/>
              </a:spcAft>
              <a:buSzPts val="1800"/>
              <a:buNone/>
            </a:pPr>
            <a:r>
              <a:rPr lang="en-US" sz="2400" cap="none">
                <a:solidFill>
                  <a:srgbClr val="002060"/>
                </a:solidFill>
                <a:latin typeface="Times New Roman"/>
                <a:ea typeface="Times New Roman"/>
                <a:cs typeface="Times New Roman"/>
                <a:sym typeface="Times New Roman"/>
              </a:rPr>
              <a:t>	- Снижающие </a:t>
            </a:r>
            <a:r>
              <a:rPr b="1" lang="en-US" sz="2400" cap="none">
                <a:solidFill>
                  <a:srgbClr val="002060"/>
                </a:solidFill>
                <a:latin typeface="Times New Roman"/>
                <a:ea typeface="Times New Roman"/>
                <a:cs typeface="Times New Roman"/>
                <a:sym typeface="Times New Roman"/>
              </a:rPr>
              <a:t>(</a:t>
            </a:r>
            <a:r>
              <a:rPr b="1" i="1" lang="en-US" sz="2400" cap="none">
                <a:solidFill>
                  <a:srgbClr val="990033"/>
                </a:solidFill>
                <a:latin typeface="Times New Roman"/>
                <a:ea typeface="Times New Roman"/>
                <a:cs typeface="Times New Roman"/>
                <a:sym typeface="Times New Roman"/>
              </a:rPr>
              <a:t>«слишком»</a:t>
            </a:r>
            <a:r>
              <a:rPr lang="en-US" sz="2400" cap="none">
                <a:solidFill>
                  <a:srgbClr val="002060"/>
                </a:solidFill>
                <a:latin typeface="Times New Roman"/>
                <a:ea typeface="Times New Roman"/>
                <a:cs typeface="Times New Roman"/>
                <a:sym typeface="Times New Roman"/>
              </a:rPr>
              <a:t>,</a:t>
            </a:r>
            <a:r>
              <a:rPr i="1" lang="en-US" sz="2400" cap="none">
                <a:solidFill>
                  <a:srgbClr val="990033"/>
                </a:solidFill>
                <a:latin typeface="Times New Roman"/>
                <a:ea typeface="Times New Roman"/>
                <a:cs typeface="Times New Roman"/>
                <a:sym typeface="Times New Roman"/>
              </a:rPr>
              <a:t> </a:t>
            </a:r>
            <a:r>
              <a:rPr b="1" i="1" lang="en-US" sz="2400" cap="none">
                <a:solidFill>
                  <a:srgbClr val="990033"/>
                </a:solidFill>
                <a:latin typeface="Times New Roman"/>
                <a:ea typeface="Times New Roman"/>
                <a:cs typeface="Times New Roman"/>
                <a:sym typeface="Times New Roman"/>
              </a:rPr>
              <a:t>«менее»</a:t>
            </a:r>
            <a:r>
              <a:rPr lang="en-US" sz="2400" cap="none">
                <a:solidFill>
                  <a:srgbClr val="002060"/>
                </a:solidFill>
                <a:latin typeface="Times New Roman"/>
                <a:ea typeface="Times New Roman"/>
                <a:cs typeface="Times New Roman"/>
                <a:sym typeface="Times New Roman"/>
              </a:rPr>
              <a:t>) исходную тональность;</a:t>
            </a:r>
            <a:endParaRPr/>
          </a:p>
          <a:p>
            <a:pPr indent="0" lvl="0" marL="0" rtl="0" algn="l">
              <a:lnSpc>
                <a:spcPct val="100000"/>
              </a:lnSpc>
              <a:spcBef>
                <a:spcPts val="0"/>
              </a:spcBef>
              <a:spcAft>
                <a:spcPts val="0"/>
              </a:spcAft>
              <a:buSzPts val="1800"/>
              <a:buNone/>
            </a:pPr>
            <a:r>
              <a:rPr lang="en-US" sz="2400" cap="none">
                <a:solidFill>
                  <a:srgbClr val="002060"/>
                </a:solidFill>
                <a:latin typeface="Times New Roman"/>
                <a:ea typeface="Times New Roman"/>
                <a:cs typeface="Times New Roman"/>
                <a:sym typeface="Times New Roman"/>
              </a:rPr>
              <a:t>	- Преобразующие в обратную (</a:t>
            </a:r>
            <a:r>
              <a:rPr b="1" i="1" lang="en-US" sz="2400" cap="none">
                <a:solidFill>
                  <a:srgbClr val="990033"/>
                </a:solidFill>
                <a:latin typeface="Times New Roman"/>
                <a:ea typeface="Times New Roman"/>
                <a:cs typeface="Times New Roman"/>
                <a:sym typeface="Times New Roman"/>
              </a:rPr>
              <a:t>«не»</a:t>
            </a:r>
            <a:r>
              <a:rPr lang="en-US" sz="2400" cap="none">
                <a:solidFill>
                  <a:srgbClr val="002060"/>
                </a:solidFill>
                <a:latin typeface="Times New Roman"/>
                <a:ea typeface="Times New Roman"/>
                <a:cs typeface="Times New Roman"/>
                <a:sym typeface="Times New Roman"/>
              </a:rPr>
              <a:t>,</a:t>
            </a:r>
            <a:r>
              <a:rPr b="1" i="1" lang="en-US" sz="2400" cap="none">
                <a:solidFill>
                  <a:srgbClr val="990033"/>
                </a:solidFill>
                <a:latin typeface="Times New Roman"/>
                <a:ea typeface="Times New Roman"/>
                <a:cs typeface="Times New Roman"/>
                <a:sym typeface="Times New Roman"/>
              </a:rPr>
              <a:t> «нет»</a:t>
            </a:r>
            <a:r>
              <a:rPr lang="en-US" sz="2400" cap="none">
                <a:solidFill>
                  <a:srgbClr val="002060"/>
                </a:solidFill>
                <a:latin typeface="Times New Roman"/>
                <a:ea typeface="Times New Roman"/>
                <a:cs typeface="Times New Roman"/>
                <a:sym typeface="Times New Roman"/>
              </a:rPr>
              <a:t>) исходную тональность. </a:t>
            </a:r>
            <a:endParaRPr/>
          </a:p>
          <a:p>
            <a:pPr indent="0" lvl="0" marL="0" rtl="0" algn="l">
              <a:lnSpc>
                <a:spcPct val="100000"/>
              </a:lnSpc>
              <a:spcBef>
                <a:spcPts val="0"/>
              </a:spcBef>
              <a:spcAft>
                <a:spcPts val="0"/>
              </a:spcAft>
              <a:buSzPts val="1800"/>
              <a:buNone/>
            </a:pPr>
            <a:r>
              <a:t/>
            </a:r>
            <a:endParaRPr sz="2400" cap="none">
              <a:solidFill>
                <a:srgbClr val="002060"/>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800"/>
              <a:buNone/>
            </a:pPr>
            <a:r>
              <a:rPr lang="en-US" sz="2400" cap="none">
                <a:solidFill>
                  <a:srgbClr val="002060"/>
                </a:solidFill>
                <a:latin typeface="Times New Roman"/>
                <a:ea typeface="Times New Roman"/>
                <a:cs typeface="Times New Roman"/>
                <a:sym typeface="Times New Roman"/>
              </a:rPr>
              <a:t>Модификаторам тональности приписываются некоторые коэффициенты, которые рассматриваются как множители относительно априорной полярности соответствующего оценочного слова.</a:t>
            </a:r>
            <a:endParaRPr sz="2400"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34"/>
          <p:cNvSpPr txBox="1"/>
          <p:nvPr>
            <p:ph type="title"/>
          </p:nvPr>
        </p:nvSpPr>
        <p:spPr>
          <a:xfrm>
            <a:off x="354562" y="0"/>
            <a:ext cx="11905861" cy="77169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i="1" lang="en-US" sz="3600">
                <a:solidFill>
                  <a:srgbClr val="501549"/>
                </a:solidFill>
                <a:latin typeface="Times New Roman"/>
                <a:ea typeface="Times New Roman"/>
                <a:cs typeface="Times New Roman"/>
                <a:sym typeface="Times New Roman"/>
              </a:rPr>
              <a:t>Примеры правил при лингвистическом подходе</a:t>
            </a:r>
            <a:endParaRPr b="1" sz="3600">
              <a:latin typeface="Times New Roman"/>
              <a:ea typeface="Times New Roman"/>
              <a:cs typeface="Times New Roman"/>
              <a:sym typeface="Times New Roman"/>
            </a:endParaRPr>
          </a:p>
        </p:txBody>
      </p:sp>
      <p:sp>
        <p:nvSpPr>
          <p:cNvPr id="1114" name="Google Shape;1114;p134"/>
          <p:cNvSpPr txBox="1"/>
          <p:nvPr>
            <p:ph idx="1" type="body"/>
          </p:nvPr>
        </p:nvSpPr>
        <p:spPr>
          <a:xfrm>
            <a:off x="354561" y="771697"/>
            <a:ext cx="11551299" cy="5853038"/>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20000"/>
              </a:lnSpc>
              <a:spcBef>
                <a:spcPts val="0"/>
              </a:spcBef>
              <a:spcAft>
                <a:spcPts val="0"/>
              </a:spcAft>
              <a:buSzPct val="74303"/>
              <a:buNone/>
            </a:pPr>
            <a:r>
              <a:rPr lang="en-US" sz="5100" cap="none">
                <a:solidFill>
                  <a:srgbClr val="002060"/>
                </a:solidFill>
                <a:latin typeface="Times New Roman"/>
                <a:ea typeface="Times New Roman"/>
                <a:cs typeface="Times New Roman"/>
                <a:sym typeface="Times New Roman"/>
              </a:rPr>
              <a:t>3. Правила обработки слов с коннотациями. </a:t>
            </a:r>
            <a:endParaRPr/>
          </a:p>
          <a:p>
            <a:pPr indent="0" lvl="0" marL="0" rtl="0" algn="l">
              <a:lnSpc>
                <a:spcPct val="120000"/>
              </a:lnSpc>
              <a:spcBef>
                <a:spcPts val="0"/>
              </a:spcBef>
              <a:spcAft>
                <a:spcPts val="0"/>
              </a:spcAft>
              <a:buSzPct val="74303"/>
              <a:buNone/>
            </a:pPr>
            <a:r>
              <a:t/>
            </a:r>
            <a:endParaRPr sz="5100" cap="none">
              <a:solidFill>
                <a:srgbClr val="002060"/>
              </a:solidFill>
              <a:latin typeface="Times New Roman"/>
              <a:ea typeface="Times New Roman"/>
              <a:cs typeface="Times New Roman"/>
              <a:sym typeface="Times New Roman"/>
            </a:endParaRPr>
          </a:p>
          <a:p>
            <a:pPr indent="0" lvl="0" marL="0" rtl="0" algn="just">
              <a:lnSpc>
                <a:spcPct val="120000"/>
              </a:lnSpc>
              <a:spcBef>
                <a:spcPts val="0"/>
              </a:spcBef>
              <a:spcAft>
                <a:spcPts val="0"/>
              </a:spcAft>
              <a:buSzPct val="74303"/>
              <a:buNone/>
            </a:pPr>
            <a:r>
              <a:rPr b="1" lang="en-US" sz="5100" cap="none">
                <a:solidFill>
                  <a:srgbClr val="002060"/>
                </a:solidFill>
                <a:latin typeface="Times New Roman"/>
                <a:ea typeface="Times New Roman"/>
                <a:cs typeface="Times New Roman"/>
                <a:sym typeface="Times New Roman"/>
              </a:rPr>
              <a:t>Коннотации</a:t>
            </a:r>
            <a:r>
              <a:rPr lang="en-US" sz="5100" cap="none">
                <a:solidFill>
                  <a:srgbClr val="002060"/>
                </a:solidFill>
                <a:latin typeface="Times New Roman"/>
                <a:ea typeface="Times New Roman"/>
                <a:cs typeface="Times New Roman"/>
                <a:sym typeface="Times New Roman"/>
              </a:rPr>
              <a:t> — это оценочные ассоциации, связанные со словами. Появление в тексте слов с положительными или отрицательными коннотациями коррелирует с соответствующими оценками, выражаемыми в тексте. Так, в отзывах о фильмах словами с положительными коннотациями обычно являются имена известных актеров. В отзывах о ресторанах на русском языке отрицательными коннотациями обладают такие слова, как «майонез» и «клеенка». Если эти слова появляются в отзыве, обычно в этом месте выражается негативная оценка.</a:t>
            </a:r>
            <a:endParaRPr/>
          </a:p>
          <a:p>
            <a:pPr indent="0" lvl="0" marL="0" rtl="0" algn="just">
              <a:lnSpc>
                <a:spcPct val="120000"/>
              </a:lnSpc>
              <a:spcBef>
                <a:spcPts val="0"/>
              </a:spcBef>
              <a:spcAft>
                <a:spcPts val="0"/>
              </a:spcAft>
              <a:buSzPct val="74303"/>
              <a:buNone/>
            </a:pPr>
            <a:r>
              <a:rPr lang="en-US" sz="5100" cap="none">
                <a:solidFill>
                  <a:srgbClr val="002060"/>
                </a:solidFill>
                <a:latin typeface="Times New Roman"/>
                <a:ea typeface="Times New Roman"/>
                <a:cs typeface="Times New Roman"/>
                <a:sym typeface="Times New Roman"/>
              </a:rPr>
              <a:t>	</a:t>
            </a:r>
            <a:endParaRPr/>
          </a:p>
          <a:p>
            <a:pPr indent="0" lvl="0" marL="0" rtl="0" algn="just">
              <a:lnSpc>
                <a:spcPct val="120000"/>
              </a:lnSpc>
              <a:spcBef>
                <a:spcPts val="0"/>
              </a:spcBef>
              <a:spcAft>
                <a:spcPts val="0"/>
              </a:spcAft>
              <a:buSzPct val="74303"/>
              <a:buNone/>
            </a:pPr>
            <a:r>
              <a:rPr b="1" i="1" lang="en-US" sz="5100">
                <a:solidFill>
                  <a:srgbClr val="002060"/>
                </a:solidFill>
                <a:latin typeface="Times New Roman"/>
                <a:ea typeface="Times New Roman"/>
                <a:cs typeface="Times New Roman"/>
                <a:sym typeface="Times New Roman"/>
              </a:rPr>
              <a:t>	</a:t>
            </a:r>
            <a:r>
              <a:rPr b="1" i="1" lang="en-US" sz="5100" cap="none">
                <a:solidFill>
                  <a:srgbClr val="990033"/>
                </a:solidFill>
                <a:latin typeface="Times New Roman"/>
                <a:ea typeface="Times New Roman"/>
                <a:cs typeface="Times New Roman"/>
                <a:sym typeface="Times New Roman"/>
              </a:rPr>
              <a:t>«Вместо нормальных скатертей какие-то клеёнки…»</a:t>
            </a:r>
            <a:endParaRPr/>
          </a:p>
          <a:p>
            <a:pPr indent="0" lvl="0" marL="0" rtl="0" algn="just">
              <a:lnSpc>
                <a:spcPct val="120000"/>
              </a:lnSpc>
              <a:spcBef>
                <a:spcPts val="0"/>
              </a:spcBef>
              <a:spcAft>
                <a:spcPts val="0"/>
              </a:spcAft>
              <a:buSzPct val="74303"/>
              <a:buNone/>
            </a:pPr>
            <a:r>
              <a:rPr lang="en-US" sz="5100" cap="none">
                <a:solidFill>
                  <a:srgbClr val="002060"/>
                </a:solidFill>
                <a:latin typeface="Times New Roman"/>
                <a:ea typeface="Times New Roman"/>
                <a:cs typeface="Times New Roman"/>
                <a:sym typeface="Times New Roman"/>
              </a:rPr>
              <a:t>	</a:t>
            </a:r>
            <a:r>
              <a:rPr b="1" i="1" lang="en-US" sz="5100" cap="none">
                <a:solidFill>
                  <a:srgbClr val="990033"/>
                </a:solidFill>
                <a:latin typeface="Times New Roman"/>
                <a:ea typeface="Times New Roman"/>
                <a:cs typeface="Times New Roman"/>
                <a:sym typeface="Times New Roman"/>
              </a:rPr>
              <a:t>«В салатах, которые на принесли, было столько майонеза!»</a:t>
            </a:r>
            <a:endParaRPr/>
          </a:p>
          <a:p>
            <a:pPr indent="0" lvl="0" marL="0" rtl="0" algn="just">
              <a:lnSpc>
                <a:spcPct val="90000"/>
              </a:lnSpc>
              <a:spcBef>
                <a:spcPts val="1000"/>
              </a:spcBef>
              <a:spcAft>
                <a:spcPts val="0"/>
              </a:spcAft>
              <a:buSzPct val="135338"/>
              <a:buNone/>
            </a:pPr>
            <a:r>
              <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35"/>
          <p:cNvSpPr txBox="1"/>
          <p:nvPr>
            <p:ph type="title"/>
          </p:nvPr>
        </p:nvSpPr>
        <p:spPr>
          <a:xfrm>
            <a:off x="-37787" y="0"/>
            <a:ext cx="12267574" cy="1104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b="1" i="1" lang="en-US" sz="3200">
                <a:solidFill>
                  <a:srgbClr val="501549"/>
                </a:solidFill>
                <a:latin typeface="Times New Roman"/>
                <a:ea typeface="Times New Roman"/>
                <a:cs typeface="Times New Roman"/>
                <a:sym typeface="Times New Roman"/>
              </a:rPr>
              <a:t>Особенности UGC (user-generated content) текстов</a:t>
            </a:r>
            <a:endParaRPr/>
          </a:p>
        </p:txBody>
      </p:sp>
      <p:pic>
        <p:nvPicPr>
          <p:cNvPr id="1120" name="Google Shape;1120;p135"/>
          <p:cNvPicPr preferRelativeResize="0"/>
          <p:nvPr>
            <p:ph idx="1" type="body"/>
          </p:nvPr>
        </p:nvPicPr>
        <p:blipFill rotWithShape="1">
          <a:blip r:embed="rId3">
            <a:alphaModFix/>
          </a:blip>
          <a:srcRect b="0" l="0" r="0" t="0"/>
          <a:stretch/>
        </p:blipFill>
        <p:spPr>
          <a:xfrm>
            <a:off x="6641992" y="1294227"/>
            <a:ext cx="5564563" cy="5258973"/>
          </a:xfrm>
          <a:prstGeom prst="rect">
            <a:avLst/>
          </a:prstGeom>
          <a:noFill/>
          <a:ln>
            <a:noFill/>
          </a:ln>
          <a:effectLst>
            <a:outerShdw blurRad="190500" rotWithShape="0" algn="tl">
              <a:srgbClr val="000000">
                <a:alpha val="69803"/>
              </a:srgbClr>
            </a:outerShdw>
          </a:effectLst>
        </p:spPr>
      </p:pic>
      <p:sp>
        <p:nvSpPr>
          <p:cNvPr id="1121" name="Google Shape;1121;p135"/>
          <p:cNvSpPr txBox="1"/>
          <p:nvPr>
            <p:ph idx="2" type="body"/>
          </p:nvPr>
        </p:nvSpPr>
        <p:spPr>
          <a:xfrm>
            <a:off x="211992" y="1197111"/>
            <a:ext cx="6430000" cy="4463777"/>
          </a:xfrm>
          <a:prstGeom prst="rect">
            <a:avLst/>
          </a:prstGeom>
          <a:noFill/>
          <a:ln>
            <a:noFill/>
          </a:ln>
        </p:spPr>
        <p:txBody>
          <a:bodyPr anchorCtr="0" anchor="t" bIns="45700" lIns="91425" spcFirstLastPara="1" rIns="91425" wrap="square" tIns="45700">
            <a:noAutofit/>
          </a:bodyPr>
          <a:lstStyle/>
          <a:p>
            <a:pPr indent="-228600" lvl="0" marL="457200" rtl="0" algn="l">
              <a:lnSpc>
                <a:spcPct val="90000"/>
              </a:lnSpc>
              <a:spcBef>
                <a:spcPts val="0"/>
              </a:spcBef>
              <a:spcAft>
                <a:spcPts val="0"/>
              </a:spcAft>
              <a:buSzPts val="1600"/>
              <a:buNone/>
            </a:pPr>
            <a:r>
              <a:rPr lang="en-US" sz="2800" cap="none">
                <a:solidFill>
                  <a:srgbClr val="002060"/>
                </a:solidFill>
                <a:latin typeface="Times New Roman"/>
                <a:ea typeface="Times New Roman"/>
                <a:cs typeface="Times New Roman"/>
                <a:sym typeface="Times New Roman"/>
              </a:rPr>
              <a:t>Особенности языка социальных медиа:</a:t>
            </a:r>
            <a:endParaRPr/>
          </a:p>
          <a:p>
            <a:pPr indent="-285750" lvl="0" marL="285750" rtl="0" algn="l">
              <a:lnSpc>
                <a:spcPct val="90000"/>
              </a:lnSpc>
              <a:spcBef>
                <a:spcPts val="0"/>
              </a:spcBef>
              <a:spcAft>
                <a:spcPts val="0"/>
              </a:spcAft>
              <a:buSzPts val="1600"/>
              <a:buFont typeface="Arial"/>
              <a:buChar char="•"/>
            </a:pPr>
            <a:r>
              <a:rPr lang="en-US" sz="2800" cap="none">
                <a:solidFill>
                  <a:srgbClr val="002060"/>
                </a:solidFill>
                <a:latin typeface="Times New Roman"/>
                <a:ea typeface="Times New Roman"/>
                <a:cs typeface="Times New Roman"/>
                <a:sym typeface="Times New Roman"/>
              </a:rPr>
              <a:t>Эмотиконы и смайлики;</a:t>
            </a:r>
            <a:endParaRPr/>
          </a:p>
          <a:p>
            <a:pPr indent="-285750" lvl="0" marL="285750" rtl="0" algn="l">
              <a:lnSpc>
                <a:spcPct val="90000"/>
              </a:lnSpc>
              <a:spcBef>
                <a:spcPts val="0"/>
              </a:spcBef>
              <a:spcAft>
                <a:spcPts val="0"/>
              </a:spcAft>
              <a:buSzPts val="1600"/>
              <a:buFont typeface="Arial"/>
              <a:buChar char="•"/>
            </a:pPr>
            <a:r>
              <a:rPr lang="en-US" sz="2800" cap="none">
                <a:solidFill>
                  <a:srgbClr val="002060"/>
                </a:solidFill>
                <a:latin typeface="Times New Roman"/>
                <a:ea typeface="Times New Roman"/>
                <a:cs typeface="Times New Roman"/>
                <a:sym typeface="Times New Roman"/>
              </a:rPr>
              <a:t>Опечатки;</a:t>
            </a:r>
            <a:endParaRPr/>
          </a:p>
          <a:p>
            <a:pPr indent="-285750" lvl="0" marL="285750" rtl="0" algn="l">
              <a:lnSpc>
                <a:spcPct val="90000"/>
              </a:lnSpc>
              <a:spcBef>
                <a:spcPts val="0"/>
              </a:spcBef>
              <a:spcAft>
                <a:spcPts val="0"/>
              </a:spcAft>
              <a:buSzPts val="1600"/>
              <a:buFont typeface="Arial"/>
              <a:buChar char="•"/>
            </a:pPr>
            <a:r>
              <a:rPr lang="en-US" sz="2800" cap="none">
                <a:solidFill>
                  <a:srgbClr val="002060"/>
                </a:solidFill>
                <a:latin typeface="Times New Roman"/>
                <a:ea typeface="Times New Roman"/>
                <a:cs typeface="Times New Roman"/>
                <a:sym typeface="Times New Roman"/>
              </a:rPr>
              <a:t>Неологизмы (</a:t>
            </a:r>
            <a:r>
              <a:rPr i="1" lang="en-US" sz="2800" cap="none">
                <a:solidFill>
                  <a:srgbClr val="990033"/>
                </a:solidFill>
                <a:latin typeface="Times New Roman"/>
                <a:ea typeface="Times New Roman"/>
                <a:cs typeface="Times New Roman"/>
                <a:sym typeface="Times New Roman"/>
              </a:rPr>
              <a:t>«пичалька» </a:t>
            </a:r>
            <a:r>
              <a:rPr i="1" lang="en-US" sz="2800" cap="none">
                <a:solidFill>
                  <a:srgbClr val="002060"/>
                </a:solidFill>
                <a:latin typeface="Times New Roman"/>
                <a:ea typeface="Times New Roman"/>
                <a:cs typeface="Times New Roman"/>
                <a:sym typeface="Times New Roman"/>
              </a:rPr>
              <a:t>- опечатка или нет?)</a:t>
            </a:r>
            <a:r>
              <a:rPr lang="en-US" sz="2800" cap="none">
                <a:solidFill>
                  <a:srgbClr val="002060"/>
                </a:solidFill>
                <a:latin typeface="Times New Roman"/>
                <a:ea typeface="Times New Roman"/>
                <a:cs typeface="Times New Roman"/>
                <a:sym typeface="Times New Roman"/>
              </a:rPr>
              <a:t>;</a:t>
            </a:r>
            <a:endParaRPr/>
          </a:p>
          <a:p>
            <a:pPr indent="-285750" lvl="0" marL="285750" rtl="0" algn="l">
              <a:lnSpc>
                <a:spcPct val="90000"/>
              </a:lnSpc>
              <a:spcBef>
                <a:spcPts val="0"/>
              </a:spcBef>
              <a:spcAft>
                <a:spcPts val="0"/>
              </a:spcAft>
              <a:buSzPts val="1600"/>
              <a:buFont typeface="Arial"/>
              <a:buChar char="•"/>
            </a:pPr>
            <a:r>
              <a:rPr lang="en-US" sz="2800" cap="none">
                <a:solidFill>
                  <a:srgbClr val="002060"/>
                </a:solidFill>
                <a:latin typeface="Times New Roman"/>
                <a:ea typeface="Times New Roman"/>
                <a:cs typeface="Times New Roman"/>
                <a:sym typeface="Times New Roman"/>
              </a:rPr>
              <a:t>Окказионализмы – индивидуально-авторские неологизмы;</a:t>
            </a:r>
            <a:endParaRPr/>
          </a:p>
          <a:p>
            <a:pPr indent="-285750" lvl="0" marL="285750" rtl="0" algn="l">
              <a:lnSpc>
                <a:spcPct val="90000"/>
              </a:lnSpc>
              <a:spcBef>
                <a:spcPts val="0"/>
              </a:spcBef>
              <a:spcAft>
                <a:spcPts val="0"/>
              </a:spcAft>
              <a:buSzPts val="1600"/>
              <a:buFont typeface="Arial"/>
              <a:buChar char="•"/>
            </a:pPr>
            <a:r>
              <a:rPr lang="en-US" sz="2800" cap="none">
                <a:solidFill>
                  <a:srgbClr val="002060"/>
                </a:solidFill>
                <a:latin typeface="Times New Roman"/>
                <a:ea typeface="Times New Roman"/>
                <a:cs typeface="Times New Roman"/>
                <a:sym typeface="Times New Roman"/>
              </a:rPr>
              <a:t>Эмоционально окрашенные аббревиатуры (</a:t>
            </a:r>
            <a:r>
              <a:rPr i="1" lang="en-US" sz="2800" cap="none">
                <a:solidFill>
                  <a:srgbClr val="990033"/>
                </a:solidFill>
                <a:latin typeface="Times New Roman"/>
                <a:ea typeface="Times New Roman"/>
                <a:cs typeface="Times New Roman"/>
                <a:sym typeface="Times New Roman"/>
              </a:rPr>
              <a:t>«omg!..» </a:t>
            </a:r>
            <a:r>
              <a:rPr lang="en-US" sz="2800" cap="none">
                <a:solidFill>
                  <a:srgbClr val="002060"/>
                </a:solidFill>
                <a:latin typeface="Times New Roman"/>
                <a:ea typeface="Times New Roman"/>
                <a:cs typeface="Times New Roman"/>
                <a:sym typeface="Times New Roman"/>
              </a:rPr>
              <a:t>);</a:t>
            </a:r>
            <a:endParaRPr/>
          </a:p>
          <a:p>
            <a:pPr indent="-228600" lvl="0" marL="457200" rtl="0" algn="l">
              <a:lnSpc>
                <a:spcPct val="90000"/>
              </a:lnSpc>
              <a:spcBef>
                <a:spcPts val="0"/>
              </a:spcBef>
              <a:spcAft>
                <a:spcPts val="0"/>
              </a:spcAft>
              <a:buSzPts val="1600"/>
              <a:buNone/>
            </a:pPr>
            <a:r>
              <a:rPr lang="en-US" sz="2800" cap="none">
                <a:solidFill>
                  <a:srgbClr val="002060"/>
                </a:solidFill>
                <a:latin typeface="Times New Roman"/>
                <a:ea typeface="Times New Roman"/>
                <a:cs typeface="Times New Roman"/>
                <a:sym typeface="Times New Roman"/>
              </a:rPr>
              <a:t>И много другое.</a:t>
            </a:r>
            <a:endParaRPr/>
          </a:p>
        </p:txBody>
      </p:sp>
      <p:pic>
        <p:nvPicPr>
          <p:cNvPr id="1122" name="Google Shape;1122;p135"/>
          <p:cNvPicPr preferRelativeResize="0"/>
          <p:nvPr/>
        </p:nvPicPr>
        <p:blipFill rotWithShape="1">
          <a:blip r:embed="rId4">
            <a:alphaModFix/>
          </a:blip>
          <a:srcRect b="0" l="0" r="0" t="0"/>
          <a:stretch/>
        </p:blipFill>
        <p:spPr>
          <a:xfrm>
            <a:off x="3723901" y="4853614"/>
            <a:ext cx="2415642" cy="1808779"/>
          </a:xfrm>
          <a:prstGeom prst="roundRect">
            <a:avLst>
              <a:gd fmla="val 16667" name="adj"/>
            </a:avLst>
          </a:prstGeom>
          <a:noFill/>
          <a:ln>
            <a:noFill/>
          </a:ln>
          <a:effectLst>
            <a:outerShdw blurRad="76200" rotWithShape="0" algn="tl" dir="7800000" dist="38100">
              <a:srgbClr val="000000">
                <a:alpha val="40000"/>
              </a:srgbClr>
            </a:outerShdw>
          </a:effectLst>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136"/>
          <p:cNvSpPr txBox="1"/>
          <p:nvPr>
            <p:ph type="title"/>
          </p:nvPr>
        </p:nvSpPr>
        <p:spPr>
          <a:xfrm>
            <a:off x="1043631" y="809898"/>
            <a:ext cx="10173010"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US" sz="4800">
                <a:latin typeface="Times New Roman"/>
                <a:ea typeface="Times New Roman"/>
                <a:cs typeface="Times New Roman"/>
                <a:sym typeface="Times New Roman"/>
              </a:rPr>
              <a:t>Лингвистический подход</a:t>
            </a:r>
            <a:endParaRPr/>
          </a:p>
        </p:txBody>
      </p:sp>
      <p:sp>
        <p:nvSpPr>
          <p:cNvPr id="1128" name="Google Shape;1128;p136"/>
          <p:cNvSpPr txBox="1"/>
          <p:nvPr>
            <p:ph idx="12" type="sldNum"/>
          </p:nvPr>
        </p:nvSpPr>
        <p:spPr>
          <a:xfrm>
            <a:off x="8610600" y="6492240"/>
            <a:ext cx="2743200"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600"/>
              </a:spcAft>
              <a:buSzPts val="1200"/>
              <a:buNone/>
            </a:pPr>
            <a:fld id="{00000000-1234-1234-1234-123412341234}" type="slidenum">
              <a:rPr lang="en-US"/>
              <a:t>‹#›</a:t>
            </a:fld>
            <a:endParaRPr/>
          </a:p>
        </p:txBody>
      </p:sp>
      <p:grpSp>
        <p:nvGrpSpPr>
          <p:cNvPr id="1129" name="Google Shape;1129;p136"/>
          <p:cNvGrpSpPr/>
          <p:nvPr/>
        </p:nvGrpSpPr>
        <p:grpSpPr>
          <a:xfrm>
            <a:off x="771294" y="2453474"/>
            <a:ext cx="10507894" cy="3590142"/>
            <a:chOff x="3852" y="183803"/>
            <a:chExt cx="10507894" cy="3590142"/>
          </a:xfrm>
        </p:grpSpPr>
        <p:sp>
          <p:nvSpPr>
            <p:cNvPr id="1130" name="Google Shape;1130;p136"/>
            <p:cNvSpPr/>
            <p:nvPr/>
          </p:nvSpPr>
          <p:spPr>
            <a:xfrm>
              <a:off x="5135853" y="1510017"/>
              <a:ext cx="2697034" cy="638387"/>
            </a:xfrm>
            <a:custGeom>
              <a:rect b="b" l="l" r="r" t="t"/>
              <a:pathLst>
                <a:path extrusionOk="0" h="120000" w="120000">
                  <a:moveTo>
                    <a:pt x="0" y="0"/>
                  </a:moveTo>
                  <a:lnTo>
                    <a:pt x="0" y="81776"/>
                  </a:lnTo>
                  <a:lnTo>
                    <a:pt x="120000" y="81776"/>
                  </a:lnTo>
                  <a:lnTo>
                    <a:pt x="120000" y="120000"/>
                  </a:lnTo>
                </a:path>
              </a:pathLst>
            </a:custGeom>
            <a:noFill/>
            <a:ln cap="flat" cmpd="sng" w="25400">
              <a:solidFill>
                <a:srgbClr val="176B22"/>
              </a:solidFill>
              <a:prstDash val="solid"/>
              <a:round/>
              <a:headEnd len="sm" w="sm" type="none"/>
              <a:tailEnd len="sm" w="sm" type="none"/>
            </a:ln>
          </p:spPr>
        </p:sp>
        <p:sp>
          <p:nvSpPr>
            <p:cNvPr id="1131" name="Google Shape;1131;p136"/>
            <p:cNvSpPr/>
            <p:nvPr/>
          </p:nvSpPr>
          <p:spPr>
            <a:xfrm>
              <a:off x="2456994" y="1510017"/>
              <a:ext cx="2678859" cy="638387"/>
            </a:xfrm>
            <a:custGeom>
              <a:rect b="b" l="l" r="r" t="t"/>
              <a:pathLst>
                <a:path extrusionOk="0" h="120000" w="120000">
                  <a:moveTo>
                    <a:pt x="120000" y="0"/>
                  </a:moveTo>
                  <a:lnTo>
                    <a:pt x="120000" y="81776"/>
                  </a:lnTo>
                  <a:lnTo>
                    <a:pt x="0" y="81776"/>
                  </a:lnTo>
                  <a:lnTo>
                    <a:pt x="0" y="120000"/>
                  </a:lnTo>
                </a:path>
              </a:pathLst>
            </a:custGeom>
            <a:noFill/>
            <a:ln cap="flat" cmpd="sng" w="25400">
              <a:solidFill>
                <a:srgbClr val="176B22"/>
              </a:solidFill>
              <a:prstDash val="solid"/>
              <a:round/>
              <a:headEnd len="sm" w="sm" type="none"/>
              <a:tailEnd len="sm" w="sm" type="none"/>
            </a:ln>
          </p:spPr>
        </p:sp>
        <p:sp>
          <p:nvSpPr>
            <p:cNvPr id="1132" name="Google Shape;1132;p136"/>
            <p:cNvSpPr/>
            <p:nvPr/>
          </p:nvSpPr>
          <p:spPr>
            <a:xfrm>
              <a:off x="215143" y="183803"/>
              <a:ext cx="2546452" cy="1267407"/>
            </a:xfrm>
            <a:prstGeom prst="roundRect">
              <a:avLst>
                <a:gd fmla="val 10000"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36"/>
            <p:cNvSpPr/>
            <p:nvPr/>
          </p:nvSpPr>
          <p:spPr>
            <a:xfrm>
              <a:off x="459035" y="415501"/>
              <a:ext cx="2546452" cy="1267407"/>
            </a:xfrm>
            <a:prstGeom prst="roundRect">
              <a:avLst>
                <a:gd fmla="val 10000" name="adj"/>
              </a:avLst>
            </a:prstGeom>
            <a:solidFill>
              <a:schemeClr val="lt1">
                <a:alpha val="89803"/>
              </a:schemeClr>
            </a:solidFill>
            <a:ln cap="flat" cmpd="sng" w="25400">
              <a:solidFill>
                <a:srgbClr val="1260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36"/>
            <p:cNvSpPr txBox="1"/>
            <p:nvPr/>
          </p:nvSpPr>
          <p:spPr>
            <a:xfrm>
              <a:off x="496156" y="452622"/>
              <a:ext cx="2472210" cy="1193165"/>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1" i="0" lang="en-US" sz="2400" u="sng" cap="none" strike="noStrike">
                  <a:solidFill>
                    <a:srgbClr val="000000"/>
                  </a:solidFill>
                  <a:latin typeface="Times New Roman"/>
                  <a:ea typeface="Times New Roman"/>
                  <a:cs typeface="Times New Roman"/>
                  <a:sym typeface="Times New Roman"/>
                </a:rPr>
                <a:t>Плюсы</a:t>
              </a:r>
              <a:r>
                <a:rPr b="0" i="0" lang="en-US" sz="2400" u="none" cap="none" strike="noStrike">
                  <a:solidFill>
                    <a:srgbClr val="000000"/>
                  </a:solidFill>
                  <a:latin typeface="Times New Roman"/>
                  <a:ea typeface="Times New Roman"/>
                  <a:cs typeface="Times New Roman"/>
                  <a:sym typeface="Times New Roman"/>
                </a:rPr>
                <a:t>: высокая    точность</a:t>
              </a:r>
              <a:endParaRPr b="0" i="0" sz="2400" u="none" cap="none" strike="noStrike">
                <a:solidFill>
                  <a:srgbClr val="000000"/>
                </a:solidFill>
                <a:latin typeface="Times New Roman"/>
                <a:ea typeface="Times New Roman"/>
                <a:cs typeface="Times New Roman"/>
                <a:sym typeface="Times New Roman"/>
              </a:endParaRPr>
            </a:p>
          </p:txBody>
        </p:sp>
        <p:sp>
          <p:nvSpPr>
            <p:cNvPr id="1135" name="Google Shape;1135;p136"/>
            <p:cNvSpPr/>
            <p:nvPr/>
          </p:nvSpPr>
          <p:spPr>
            <a:xfrm>
              <a:off x="3249380" y="183803"/>
              <a:ext cx="3772947" cy="1326214"/>
            </a:xfrm>
            <a:prstGeom prst="roundRect">
              <a:avLst>
                <a:gd fmla="val 10000"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36"/>
            <p:cNvSpPr/>
            <p:nvPr/>
          </p:nvSpPr>
          <p:spPr>
            <a:xfrm>
              <a:off x="3493272" y="415501"/>
              <a:ext cx="3772947" cy="1326214"/>
            </a:xfrm>
            <a:prstGeom prst="roundRect">
              <a:avLst>
                <a:gd fmla="val 10000" name="adj"/>
              </a:avLst>
            </a:prstGeom>
            <a:solidFill>
              <a:schemeClr val="lt1">
                <a:alpha val="89803"/>
              </a:schemeClr>
            </a:solidFill>
            <a:ln cap="flat" cmpd="sng" w="25400">
              <a:solidFill>
                <a:srgbClr val="1260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36"/>
            <p:cNvSpPr txBox="1"/>
            <p:nvPr/>
          </p:nvSpPr>
          <p:spPr>
            <a:xfrm>
              <a:off x="3532115" y="454344"/>
              <a:ext cx="3695261" cy="1248528"/>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rgbClr val="000000"/>
                </a:buClr>
                <a:buSzPts val="2800"/>
                <a:buFont typeface="Arial"/>
                <a:buNone/>
              </a:pPr>
              <a:r>
                <a:rPr b="1" i="0" lang="en-US" sz="2800" u="sng" cap="none" strike="noStrike">
                  <a:solidFill>
                    <a:srgbClr val="000000"/>
                  </a:solidFill>
                  <a:latin typeface="Times New Roman"/>
                  <a:ea typeface="Times New Roman"/>
                  <a:cs typeface="Times New Roman"/>
                  <a:sym typeface="Times New Roman"/>
                </a:rPr>
                <a:t>Минусы</a:t>
              </a:r>
              <a:r>
                <a:rPr b="0" i="0" lang="en-US" sz="2800" u="none" cap="none" strike="noStrike">
                  <a:solidFill>
                    <a:srgbClr val="000000"/>
                  </a:solidFill>
                  <a:latin typeface="Times New Roman"/>
                  <a:ea typeface="Times New Roman"/>
                  <a:cs typeface="Times New Roman"/>
                  <a:sym typeface="Times New Roman"/>
                </a:rPr>
                <a:t>:</a:t>
              </a:r>
              <a:endParaRPr b="0" i="0" sz="2800" u="none" cap="none" strike="noStrike">
                <a:solidFill>
                  <a:srgbClr val="000000"/>
                </a:solidFill>
                <a:latin typeface="Times New Roman"/>
                <a:ea typeface="Times New Roman"/>
                <a:cs typeface="Times New Roman"/>
                <a:sym typeface="Times New Roman"/>
              </a:endParaRPr>
            </a:p>
          </p:txBody>
        </p:sp>
        <p:sp>
          <p:nvSpPr>
            <p:cNvPr id="1138" name="Google Shape;1138;p136"/>
            <p:cNvSpPr/>
            <p:nvPr/>
          </p:nvSpPr>
          <p:spPr>
            <a:xfrm>
              <a:off x="3852" y="2148405"/>
              <a:ext cx="4906284" cy="1393843"/>
            </a:xfrm>
            <a:prstGeom prst="roundRect">
              <a:avLst>
                <a:gd fmla="val 10000" name="adj"/>
              </a:avLst>
            </a:prstGeom>
            <a:solidFill>
              <a:srgbClr val="176B2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36"/>
            <p:cNvSpPr/>
            <p:nvPr/>
          </p:nvSpPr>
          <p:spPr>
            <a:xfrm>
              <a:off x="247744" y="2380102"/>
              <a:ext cx="4906284" cy="1393843"/>
            </a:xfrm>
            <a:prstGeom prst="roundRect">
              <a:avLst>
                <a:gd fmla="val 10000" name="adj"/>
              </a:avLst>
            </a:prstGeom>
            <a:solidFill>
              <a:schemeClr val="lt1">
                <a:alpha val="89803"/>
              </a:schemeClr>
            </a:solidFill>
            <a:ln cap="flat" cmpd="sng" w="25400">
              <a:solidFill>
                <a:srgbClr val="176B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36"/>
            <p:cNvSpPr txBox="1"/>
            <p:nvPr/>
          </p:nvSpPr>
          <p:spPr>
            <a:xfrm>
              <a:off x="288568" y="2420926"/>
              <a:ext cx="4824636" cy="1312195"/>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Составление системы правил очень трудоёмкая задача</a:t>
              </a:r>
              <a:endParaRPr b="0" i="0" sz="2400" u="none" cap="none" strike="noStrike">
                <a:solidFill>
                  <a:srgbClr val="000000"/>
                </a:solidFill>
                <a:latin typeface="Arial"/>
                <a:ea typeface="Arial"/>
                <a:cs typeface="Arial"/>
                <a:sym typeface="Arial"/>
              </a:endParaRPr>
            </a:p>
          </p:txBody>
        </p:sp>
        <p:sp>
          <p:nvSpPr>
            <p:cNvPr id="1141" name="Google Shape;1141;p136"/>
            <p:cNvSpPr/>
            <p:nvPr/>
          </p:nvSpPr>
          <p:spPr>
            <a:xfrm>
              <a:off x="5397920" y="2148405"/>
              <a:ext cx="4869934" cy="1393843"/>
            </a:xfrm>
            <a:prstGeom prst="roundRect">
              <a:avLst>
                <a:gd fmla="val 10000" name="adj"/>
              </a:avLst>
            </a:prstGeom>
            <a:solidFill>
              <a:srgbClr val="176B2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36"/>
            <p:cNvSpPr/>
            <p:nvPr/>
          </p:nvSpPr>
          <p:spPr>
            <a:xfrm>
              <a:off x="5641812" y="2380102"/>
              <a:ext cx="4869934" cy="1393843"/>
            </a:xfrm>
            <a:prstGeom prst="roundRect">
              <a:avLst>
                <a:gd fmla="val 10000" name="adj"/>
              </a:avLst>
            </a:prstGeom>
            <a:solidFill>
              <a:schemeClr val="lt1">
                <a:alpha val="89803"/>
              </a:schemeClr>
            </a:solidFill>
            <a:ln cap="flat" cmpd="sng" w="25400">
              <a:solidFill>
                <a:srgbClr val="176B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36"/>
            <p:cNvSpPr txBox="1"/>
            <p:nvPr/>
          </p:nvSpPr>
          <p:spPr>
            <a:xfrm>
              <a:off x="5682636" y="2420926"/>
              <a:ext cx="4788286" cy="1312195"/>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Метод правил и словарей не универсален (есть зависимость от предметной области) </a:t>
              </a:r>
              <a:endParaRPr b="0" i="0" sz="2400" u="none" cap="none" strike="noStrike">
                <a:solidFill>
                  <a:srgbClr val="000000"/>
                </a:solidFill>
                <a:latin typeface="Arial"/>
                <a:ea typeface="Arial"/>
                <a:cs typeface="Arial"/>
                <a:sym typeface="Arial"/>
              </a:endParaRPr>
            </a:p>
          </p:txBody>
        </p:sp>
      </p:gr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37"/>
          <p:cNvSpPr txBox="1"/>
          <p:nvPr>
            <p:ph type="title"/>
          </p:nvPr>
        </p:nvSpPr>
        <p:spPr>
          <a:xfrm>
            <a:off x="1423989" y="0"/>
            <a:ext cx="9236700"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US" sz="3800">
                <a:latin typeface="Times New Roman"/>
                <a:ea typeface="Times New Roman"/>
                <a:cs typeface="Times New Roman"/>
                <a:sym typeface="Times New Roman"/>
              </a:rPr>
              <a:t>Общие проблемы сентимент-анализа</a:t>
            </a:r>
            <a:endParaRPr/>
          </a:p>
        </p:txBody>
      </p:sp>
      <p:sp>
        <p:nvSpPr>
          <p:cNvPr id="1149" name="Google Shape;1149;p137"/>
          <p:cNvSpPr txBox="1"/>
          <p:nvPr>
            <p:ph idx="1" type="body"/>
          </p:nvPr>
        </p:nvSpPr>
        <p:spPr>
          <a:xfrm>
            <a:off x="983669" y="1942792"/>
            <a:ext cx="10903532" cy="4474028"/>
          </a:xfrm>
          <a:prstGeom prst="rect">
            <a:avLst/>
          </a:prstGeom>
          <a:noFill/>
          <a:ln>
            <a:noFill/>
          </a:ln>
        </p:spPr>
        <p:txBody>
          <a:bodyPr anchorCtr="0" anchor="ctr" bIns="45700" lIns="91425" spcFirstLastPara="1" rIns="91425" wrap="square" tIns="45700">
            <a:normAutofit fontScale="62500" lnSpcReduction="20000"/>
          </a:bodyPr>
          <a:lstStyle/>
          <a:p>
            <a:pPr indent="0" lvl="0" marL="0" rtl="0" algn="l">
              <a:lnSpc>
                <a:spcPct val="120000"/>
              </a:lnSpc>
              <a:spcBef>
                <a:spcPts val="0"/>
              </a:spcBef>
              <a:spcAft>
                <a:spcPts val="0"/>
              </a:spcAft>
              <a:buSzPct val="75789"/>
              <a:buNone/>
            </a:pPr>
            <a:r>
              <a:rPr lang="en-US" sz="3800" cap="none">
                <a:latin typeface="Times New Roman"/>
                <a:ea typeface="Times New Roman"/>
                <a:cs typeface="Times New Roman"/>
                <a:sym typeface="Times New Roman"/>
              </a:rPr>
              <a:t>У любой системы автоматического анализа тональности на данный момент остаются такие проблемы, как:</a:t>
            </a:r>
            <a:endParaRPr/>
          </a:p>
          <a:p>
            <a:pPr indent="-342900" lvl="0" marL="457200" rtl="0" algn="l">
              <a:lnSpc>
                <a:spcPct val="120000"/>
              </a:lnSpc>
              <a:spcBef>
                <a:spcPts val="0"/>
              </a:spcBef>
              <a:spcAft>
                <a:spcPts val="0"/>
              </a:spcAft>
              <a:buSzPct val="75789"/>
              <a:buFont typeface="Noto Sans Symbols"/>
              <a:buChar char="⮚"/>
            </a:pPr>
            <a:r>
              <a:rPr lang="en-US" sz="3800" cap="none">
                <a:latin typeface="Times New Roman"/>
                <a:ea typeface="Times New Roman"/>
                <a:cs typeface="Times New Roman"/>
                <a:sym typeface="Times New Roman"/>
              </a:rPr>
              <a:t>Обработка саркастических и ироничных отрывков;</a:t>
            </a:r>
            <a:endParaRPr/>
          </a:p>
          <a:p>
            <a:pPr indent="0" lvl="0" marL="0" rtl="0" algn="l">
              <a:lnSpc>
                <a:spcPct val="120000"/>
              </a:lnSpc>
              <a:spcBef>
                <a:spcPts val="0"/>
              </a:spcBef>
              <a:spcAft>
                <a:spcPts val="0"/>
              </a:spcAft>
              <a:buSzPct val="75789"/>
              <a:buNone/>
            </a:pPr>
            <a:r>
              <a:rPr i="1" lang="en-US" sz="3800" cap="none">
                <a:latin typeface="Times New Roman"/>
                <a:ea typeface="Times New Roman"/>
                <a:cs typeface="Times New Roman"/>
                <a:sym typeface="Times New Roman"/>
              </a:rPr>
              <a:t>«Было скучно. Давно не смотрела фильмов с настолько интригующим сюжетом»</a:t>
            </a:r>
            <a:endParaRPr/>
          </a:p>
          <a:p>
            <a:pPr indent="-342900" lvl="0" marL="457200" rtl="0" algn="l">
              <a:lnSpc>
                <a:spcPct val="120000"/>
              </a:lnSpc>
              <a:spcBef>
                <a:spcPts val="0"/>
              </a:spcBef>
              <a:spcAft>
                <a:spcPts val="0"/>
              </a:spcAft>
              <a:buSzPct val="75789"/>
              <a:buFont typeface="Noto Sans Symbols"/>
              <a:buChar char="⮚"/>
            </a:pPr>
            <a:r>
              <a:rPr lang="en-US" sz="3800" cap="none">
                <a:latin typeface="Times New Roman"/>
                <a:ea typeface="Times New Roman"/>
                <a:cs typeface="Times New Roman"/>
                <a:sym typeface="Times New Roman"/>
              </a:rPr>
              <a:t>Обработка метафор пользователя;</a:t>
            </a:r>
            <a:endParaRPr/>
          </a:p>
          <a:p>
            <a:pPr indent="0" lvl="0" marL="0" rtl="0" algn="l">
              <a:lnSpc>
                <a:spcPct val="120000"/>
              </a:lnSpc>
              <a:spcBef>
                <a:spcPts val="0"/>
              </a:spcBef>
              <a:spcAft>
                <a:spcPts val="0"/>
              </a:spcAft>
              <a:buSzPct val="75789"/>
              <a:buNone/>
            </a:pPr>
            <a:r>
              <a:rPr lang="en-US" sz="3800" cap="none">
                <a:latin typeface="Times New Roman"/>
                <a:ea typeface="Times New Roman"/>
                <a:cs typeface="Times New Roman"/>
                <a:sym typeface="Times New Roman"/>
              </a:rPr>
              <a:t>«</a:t>
            </a:r>
            <a:r>
              <a:rPr i="1" lang="en-US" sz="3800" cap="none">
                <a:latin typeface="Times New Roman"/>
                <a:ea typeface="Times New Roman"/>
                <a:cs typeface="Times New Roman"/>
                <a:sym typeface="Times New Roman"/>
              </a:rPr>
              <a:t>Школа как второй дом</a:t>
            </a:r>
            <a:r>
              <a:rPr lang="en-US" sz="3800" cap="none">
                <a:latin typeface="Times New Roman"/>
                <a:ea typeface="Times New Roman"/>
                <a:cs typeface="Times New Roman"/>
                <a:sym typeface="Times New Roman"/>
              </a:rPr>
              <a:t>»</a:t>
            </a:r>
            <a:endParaRPr/>
          </a:p>
          <a:p>
            <a:pPr indent="-342900" lvl="0" marL="457200" rtl="0" algn="l">
              <a:lnSpc>
                <a:spcPct val="120000"/>
              </a:lnSpc>
              <a:spcBef>
                <a:spcPts val="0"/>
              </a:spcBef>
              <a:spcAft>
                <a:spcPts val="0"/>
              </a:spcAft>
              <a:buSzPct val="75789"/>
              <a:buFont typeface="Noto Sans Symbols"/>
              <a:buChar char="⮚"/>
            </a:pPr>
            <a:r>
              <a:rPr lang="en-US" sz="3800" cap="none">
                <a:latin typeface="Times New Roman"/>
                <a:ea typeface="Times New Roman"/>
                <a:cs typeface="Times New Roman"/>
                <a:sym typeface="Times New Roman"/>
              </a:rPr>
              <a:t>Сложности, возникающие, когда в отзыве содержится оценка сразу нескольких объектов, иногда конкурирующих;</a:t>
            </a:r>
            <a:endParaRPr/>
          </a:p>
          <a:p>
            <a:pPr indent="0" lvl="0" marL="0" rtl="0" algn="l">
              <a:lnSpc>
                <a:spcPct val="120000"/>
              </a:lnSpc>
              <a:spcBef>
                <a:spcPts val="0"/>
              </a:spcBef>
              <a:spcAft>
                <a:spcPts val="0"/>
              </a:spcAft>
              <a:buSzPct val="75789"/>
              <a:buNone/>
            </a:pPr>
            <a:r>
              <a:rPr i="1" lang="en-US" sz="3800" cap="none">
                <a:latin typeface="Times New Roman"/>
                <a:ea typeface="Times New Roman"/>
                <a:cs typeface="Times New Roman"/>
                <a:sym typeface="Times New Roman"/>
              </a:rPr>
              <a:t>«Huawei впервые обогнала apple по продажам смартфонов в Казахстане»</a:t>
            </a:r>
            <a:endParaRPr/>
          </a:p>
          <a:p>
            <a:pPr indent="0" lvl="0" marL="0" rtl="0" algn="l">
              <a:lnSpc>
                <a:spcPct val="120000"/>
              </a:lnSpc>
              <a:spcBef>
                <a:spcPts val="0"/>
              </a:spcBef>
              <a:spcAft>
                <a:spcPts val="0"/>
              </a:spcAft>
              <a:buSzPct val="75789"/>
              <a:buNone/>
            </a:pPr>
            <a:r>
              <a:rPr lang="en-US" sz="3800" cap="none">
                <a:latin typeface="Times New Roman"/>
                <a:ea typeface="Times New Roman"/>
                <a:cs typeface="Times New Roman"/>
                <a:sym typeface="Times New Roman"/>
              </a:rPr>
              <a:t>и др.</a:t>
            </a:r>
            <a:endParaRPr/>
          </a:p>
          <a:p>
            <a:pPr indent="0" lvl="0" marL="0" rtl="0" algn="l">
              <a:lnSpc>
                <a:spcPct val="90000"/>
              </a:lnSpc>
              <a:spcBef>
                <a:spcPts val="1000"/>
              </a:spcBef>
              <a:spcAft>
                <a:spcPts val="0"/>
              </a:spcAft>
              <a:buSzPct val="144000"/>
              <a:buNone/>
            </a:pPr>
            <a:r>
              <a:t/>
            </a:r>
            <a:endParaRPr sz="2000"/>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38"/>
          <p:cNvSpPr txBox="1"/>
          <p:nvPr>
            <p:ph type="title"/>
          </p:nvPr>
        </p:nvSpPr>
        <p:spPr>
          <a:xfrm>
            <a:off x="1113810" y="3130041"/>
            <a:ext cx="4036334" cy="2387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i="1" lang="en-US" sz="5400"/>
              <a:t>Спасибо за внимание!</a:t>
            </a:r>
            <a:endParaRPr/>
          </a:p>
        </p:txBody>
      </p:sp>
      <p:pic>
        <p:nvPicPr>
          <p:cNvPr id="1155" name="Google Shape;1155;p138"/>
          <p:cNvPicPr preferRelativeResize="0"/>
          <p:nvPr/>
        </p:nvPicPr>
        <p:blipFill rotWithShape="1">
          <a:blip r:embed="rId3">
            <a:alphaModFix/>
          </a:blip>
          <a:srcRect b="4" l="20340" r="23393" t="0"/>
          <a:stretch/>
        </p:blipFill>
        <p:spPr>
          <a:xfrm>
            <a:off x="5922492" y="666728"/>
            <a:ext cx="5536001" cy="5465791"/>
          </a:xfrm>
          <a:prstGeom prst="rect">
            <a:avLst/>
          </a:prstGeom>
          <a:noFill/>
          <a:ln>
            <a:noFill/>
          </a:ln>
        </p:spPr>
      </p:pic>
      <p:sp>
        <p:nvSpPr>
          <p:cNvPr id="1156" name="Google Shape;1156;p138"/>
          <p:cNvSpPr txBox="1"/>
          <p:nvPr>
            <p:ph idx="12" type="sldNum"/>
          </p:nvPr>
        </p:nvSpPr>
        <p:spPr>
          <a:xfrm>
            <a:off x="8610600" y="6492240"/>
            <a:ext cx="1871749" cy="36512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600"/>
              </a:spcAft>
              <a:buSzPts val="1200"/>
              <a:buNone/>
            </a:pPr>
            <a:fld id="{00000000-1234-1234-1234-123412341234}" type="slidenum">
              <a:rPr lang="en-US">
                <a:solidFill>
                  <a:srgbClr val="888888"/>
                </a:solidFill>
                <a:latin typeface="Calibri"/>
                <a:ea typeface="Calibri"/>
                <a:cs typeface="Calibri"/>
                <a:sym typeface="Calibri"/>
              </a:rPr>
              <a:t>‹#›</a:t>
            </a:fld>
            <a:endParaRPr>
              <a:solidFill>
                <a:srgbClr val="88888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Легкий дым">
  <a:themeElements>
    <a:clrScheme name="Легкий дым">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2023-04-17T05:08:24Z</dcterms:created>
  <dc:creator>Svitlana Biloshchytska</dc:creator>
</cp:coreProperties>
</file>