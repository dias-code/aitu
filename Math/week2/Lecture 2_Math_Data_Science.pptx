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0" r:id="rId4"/>
    <p:sldId id="261" r:id="rId5"/>
    <p:sldId id="257" r:id="rId6"/>
    <p:sldId id="266" r:id="rId7"/>
    <p:sldId id="265" r:id="rId8"/>
    <p:sldId id="258" r:id="rId9"/>
    <p:sldId id="263" r:id="rId10"/>
    <p:sldId id="264" r:id="rId11"/>
    <p:sldId id="267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712" y="620688"/>
            <a:ext cx="576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Lecture 2</a:t>
            </a:r>
          </a:p>
          <a:p>
            <a:pPr algn="ctr"/>
            <a:r>
              <a:rPr lang="en-US" dirty="0"/>
              <a:t>F –Fisher criterion.</a:t>
            </a:r>
            <a:endParaRPr lang="ru-RU" dirty="0"/>
          </a:p>
          <a:p>
            <a:pPr algn="ctr"/>
            <a:r>
              <a:rPr lang="en-US" dirty="0"/>
              <a:t>Measures of variability. Average deviation. Standard deviation and variance.</a:t>
            </a:r>
          </a:p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2098016"/>
                <a:ext cx="7200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    Критерий Фишера применяется для проверки равенства дисперсий  двух выборок. Заданы две выборки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 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 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 </m:t>
                    </m:r>
                  </m:oMath>
                </a14:m>
                <a:r>
                  <a:rPr lang="en-US" dirty="0"/>
                  <a:t> 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 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 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𝑅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Обозначим через     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098016"/>
                <a:ext cx="7200800" cy="923330"/>
              </a:xfrm>
              <a:prstGeom prst="rect">
                <a:avLst/>
              </a:prstGeom>
              <a:blipFill>
                <a:blip r:embed="rId2"/>
                <a:stretch>
                  <a:fillRect l="-677" t="-3289" r="-1185" b="-921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87996" y="3021346"/>
                <a:ext cx="691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                -   дисперсии двух выборок двух выборок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,  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96" y="3021346"/>
                <a:ext cx="6912768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15777" y="3533037"/>
                <a:ext cx="5544616" cy="372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               </a:t>
                </a:r>
                <a:r>
                  <a:rPr lang="en-US" dirty="0"/>
                  <a:t>- </a:t>
                </a:r>
                <a:r>
                  <a:rPr lang="ru-RU" dirty="0"/>
                  <a:t>выборочные оценки дисперсий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 </a:t>
                </a:r>
                <a:r>
                  <a:rPr lang="kk-KZ" dirty="0"/>
                  <a:t>и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77" y="3533037"/>
                <a:ext cx="5544616" cy="372538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90054" y="4128489"/>
                <a:ext cx="2840328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KZ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u-RU" b="0" i="1" smtClean="0">
                          <a:latin typeface="Cambria Math"/>
                          <a:ea typeface="Cambria Math"/>
                        </a:rPr>
                        <m:t>,         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54" y="4128489"/>
                <a:ext cx="2840328" cy="8485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18777" y="4172433"/>
                <a:ext cx="2496453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KZ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777" y="4172433"/>
                <a:ext cx="2496453" cy="848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92901" y="4985234"/>
                <a:ext cx="54317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Предполагается ,что выборки являются нормальными.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−1,   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𝑚</m:t>
                    </m:r>
                    <m:r>
                      <a:rPr lang="en-US" b="0" i="1" smtClean="0">
                        <a:latin typeface="Cambria Math"/>
                      </a:rPr>
                      <m:t>−1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901" y="4985234"/>
                <a:ext cx="5431740" cy="646331"/>
              </a:xfrm>
              <a:prstGeom prst="rect">
                <a:avLst/>
              </a:prstGeom>
              <a:blipFill>
                <a:blip r:embed="rId7"/>
                <a:stretch>
                  <a:fillRect l="-898" t="-5660" b="-1415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52145" y="5741187"/>
                <a:ext cx="4248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:</m:t>
                    </m:r>
                  </m:oMath>
                </a14:m>
                <a:r>
                  <a:rPr lang="en-US" dirty="0"/>
                  <a:t>  </a:t>
                </a:r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145" y="5741187"/>
                <a:ext cx="42484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76381" y="5631565"/>
                <a:ext cx="3846601" cy="574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Статистика Фишера 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</m:t>
                    </m:r>
                    <m:r>
                      <a:rPr lang="en-US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381" y="5631565"/>
                <a:ext cx="3846601" cy="574773"/>
              </a:xfrm>
              <a:prstGeom prst="rect">
                <a:avLst/>
              </a:prstGeom>
              <a:blipFill>
                <a:blip r:embed="rId9"/>
                <a:stretch>
                  <a:fillRect l="-1268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BD8501-3EB7-462C-9E4E-13E01242EF3D}"/>
                  </a:ext>
                </a:extLst>
              </p:cNvPr>
              <p:cNvSpPr txBox="1"/>
              <p:nvPr/>
            </p:nvSpPr>
            <p:spPr>
              <a:xfrm>
                <a:off x="1015777" y="3060755"/>
                <a:ext cx="753090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ru-KZ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BD8501-3EB7-462C-9E4E-13E01242E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77" y="3060755"/>
                <a:ext cx="753090" cy="280718"/>
              </a:xfrm>
              <a:prstGeom prst="rect">
                <a:avLst/>
              </a:prstGeom>
              <a:blipFill>
                <a:blip r:embed="rId10"/>
                <a:stretch>
                  <a:fillRect l="-4065" t="-2174" b="-19565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3196AD-A95B-4E0D-A38C-1F74A7D6F5FA}"/>
                  </a:ext>
                </a:extLst>
              </p:cNvPr>
              <p:cNvSpPr txBox="1"/>
              <p:nvPr/>
            </p:nvSpPr>
            <p:spPr>
              <a:xfrm>
                <a:off x="860004" y="3599713"/>
                <a:ext cx="1119708" cy="2807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KZ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ru-KZ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KZ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3196AD-A95B-4E0D-A38C-1F74A7D6F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4" y="3599713"/>
                <a:ext cx="1119708" cy="280718"/>
              </a:xfrm>
              <a:prstGeom prst="rect">
                <a:avLst/>
              </a:prstGeom>
              <a:blipFill>
                <a:blip r:embed="rId12"/>
                <a:stretch>
                  <a:fillRect t="-2174" b="-1739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FC79C-11CA-4BE2-B1C7-0ED56204220B}"/>
                  </a:ext>
                </a:extLst>
              </p:cNvPr>
              <p:cNvSpPr txBox="1"/>
              <p:nvPr/>
            </p:nvSpPr>
            <p:spPr>
              <a:xfrm>
                <a:off x="1792527" y="5759190"/>
                <a:ext cx="865301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KZ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FC79C-11CA-4BE2-B1C7-0ED562042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527" y="5759190"/>
                <a:ext cx="865301" cy="280718"/>
              </a:xfrm>
              <a:prstGeom prst="rect">
                <a:avLst/>
              </a:prstGeom>
              <a:blipFill>
                <a:blip r:embed="rId13"/>
                <a:stretch>
                  <a:fillRect l="-3521" t="-2174" r="-2113" b="-1739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779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9" t="23719" r="19395" b="17334"/>
          <a:stretch/>
        </p:blipFill>
        <p:spPr bwMode="auto">
          <a:xfrm>
            <a:off x="611560" y="476672"/>
            <a:ext cx="8208912" cy="600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261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3" t="13086" r="13431" b="25952"/>
          <a:stretch/>
        </p:blipFill>
        <p:spPr bwMode="auto">
          <a:xfrm>
            <a:off x="611560" y="908720"/>
            <a:ext cx="7920115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953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76672"/>
            <a:ext cx="77768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1. </a:t>
            </a:r>
            <a:endParaRPr lang="ru-RU" b="1" dirty="0"/>
          </a:p>
          <a:p>
            <a:r>
              <a:rPr lang="ru-RU" dirty="0"/>
              <a:t> В двух группах проводилось тестирование умственного развития по тесту десяти обучающихся. Полученные значения величин средних достоверно не различались, однако психолога интересует вопрос, есть ли различия в степени однородности показателей умственного развития между группами. </a:t>
            </a:r>
          </a:p>
          <a:p>
            <a:r>
              <a:rPr lang="en-US" b="1" dirty="0"/>
              <a:t>Solution</a:t>
            </a:r>
            <a:r>
              <a:rPr lang="ru-RU" b="1" dirty="0"/>
              <a:t>.</a:t>
            </a:r>
            <a:r>
              <a:rPr lang="ru-RU" dirty="0"/>
              <a:t> </a:t>
            </a:r>
            <a:r>
              <a:rPr lang="ru-RU" u="sng" dirty="0"/>
              <a:t>Нулевая гипотеза Н0: </a:t>
            </a:r>
            <a:r>
              <a:rPr lang="ru-RU" dirty="0"/>
              <a:t>различия в степени однородности показателей умственного развития между группами статистически незначимы. </a:t>
            </a:r>
            <a:r>
              <a:rPr lang="ru-RU" u="sng" dirty="0"/>
              <a:t>Гипотеза Н1:  </a:t>
            </a:r>
            <a:r>
              <a:rPr lang="ru-RU" dirty="0"/>
              <a:t>различия в степени однородности показателей умственного развития между группами статистически значимы. Возьмём уровень значимости </a:t>
            </a:r>
            <a:r>
              <a:rPr lang="ru-RU" i="1" dirty="0"/>
              <a:t>α </a:t>
            </a:r>
            <a:r>
              <a:rPr lang="ru-RU" dirty="0"/>
              <a:t>= 0,05. Результаты тестирования представлены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78" t="34903" r="14388" b="29363"/>
          <a:stretch/>
        </p:blipFill>
        <p:spPr bwMode="auto">
          <a:xfrm>
            <a:off x="3203848" y="3933056"/>
            <a:ext cx="3015575" cy="2450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761484"/>
              </p:ext>
            </p:extLst>
          </p:nvPr>
        </p:nvGraphicFramePr>
        <p:xfrm>
          <a:off x="3213795" y="3295953"/>
          <a:ext cx="2943567" cy="640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  <a:r>
                        <a:rPr lang="ru-RU" baseline="0" dirty="0"/>
                        <a:t> </a:t>
                      </a:r>
                      <a:r>
                        <a:rPr lang="ru-RU" baseline="0" dirty="0" err="1"/>
                        <a:t>студт</a:t>
                      </a:r>
                      <a:r>
                        <a:rPr lang="ru-RU" baseline="0" dirty="0"/>
                        <a:t>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группа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 группа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390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4" t="29078" r="39042" b="22837"/>
          <a:stretch/>
        </p:blipFill>
        <p:spPr bwMode="auto">
          <a:xfrm>
            <a:off x="1691680" y="548679"/>
            <a:ext cx="6100292" cy="577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145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/>
          <a:srcRect l="19487" t="14587" r="20769" b="6552"/>
          <a:stretch/>
        </p:blipFill>
        <p:spPr bwMode="auto">
          <a:xfrm>
            <a:off x="827584" y="476672"/>
            <a:ext cx="6981388" cy="51951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0631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8" y="548680"/>
            <a:ext cx="748883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Односторонний тест (Фишер теста)</a:t>
            </a:r>
          </a:p>
          <a:p>
            <a:r>
              <a:rPr lang="ru-RU" dirty="0"/>
              <a:t>Формулируется так:</a:t>
            </a:r>
            <a:br>
              <a:rPr lang="ru-RU" dirty="0"/>
            </a:br>
            <a:r>
              <a:rPr lang="ru-RU" dirty="0"/>
              <a:t>H1 :  p1&gt;p2   или  H1: p1&lt;p2   </a:t>
            </a:r>
          </a:p>
          <a:p>
            <a:r>
              <a:rPr lang="ru-RU" dirty="0"/>
              <a:t>Мы заранее предполагаем </a:t>
            </a:r>
            <a:r>
              <a:rPr lang="ru-RU" b="1" dirty="0"/>
              <a:t>направление эффекта</a:t>
            </a:r>
            <a:r>
              <a:rPr lang="ru-RU" dirty="0"/>
              <a:t> (например, что новая терапия лучше стандартной).</a:t>
            </a:r>
          </a:p>
          <a:p>
            <a:r>
              <a:rPr lang="ru-RU" dirty="0"/>
              <a:t>В расчёте учитываются только те таблицы, где разница идёт в заданную сторону.</a:t>
            </a:r>
          </a:p>
          <a:p>
            <a:r>
              <a:rPr lang="ru-RU" dirty="0"/>
              <a:t>p-</a:t>
            </a:r>
            <a:r>
              <a:rPr lang="ru-RU" dirty="0" err="1"/>
              <a:t>value</a:t>
            </a:r>
            <a:r>
              <a:rPr lang="ru-RU" dirty="0"/>
              <a:t> будет </a:t>
            </a:r>
            <a:r>
              <a:rPr lang="ru-RU" b="1" dirty="0"/>
              <a:t>меньше</a:t>
            </a:r>
            <a:r>
              <a:rPr lang="ru-RU" dirty="0"/>
              <a:t>, чем в двустороннем тесте, если предположение верное → тест чувствительнее.</a:t>
            </a:r>
          </a:p>
          <a:p>
            <a:r>
              <a:rPr lang="ru-RU" dirty="0"/>
              <a:t>Применяется, когда </a:t>
            </a:r>
            <a:r>
              <a:rPr lang="ru-RU" b="1" dirty="0"/>
              <a:t>направление эффекта заранее известно</a:t>
            </a:r>
            <a:r>
              <a:rPr lang="ru-RU" dirty="0"/>
              <a:t> и интересно только оно.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5616" y="3688001"/>
            <a:ext cx="7200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Двусторонний тест</a:t>
            </a:r>
          </a:p>
          <a:p>
            <a:r>
              <a:rPr lang="ru-RU" dirty="0"/>
              <a:t>Формулировка:</a:t>
            </a:r>
            <a:br>
              <a:rPr lang="ru-RU" dirty="0"/>
            </a:br>
            <a:r>
              <a:rPr lang="ru-RU" dirty="0"/>
              <a:t>H1:   p1≠p2</a:t>
            </a:r>
          </a:p>
          <a:p>
            <a:r>
              <a:rPr lang="ru-RU" dirty="0"/>
              <a:t>Мы проверяем любое отличие — как увеличение, так и уменьшение вероятности.</a:t>
            </a:r>
          </a:p>
          <a:p>
            <a:r>
              <a:rPr lang="ru-RU" dirty="0"/>
              <a:t>В расчёт p-</a:t>
            </a:r>
            <a:r>
              <a:rPr lang="ru-RU" dirty="0" err="1"/>
              <a:t>value</a:t>
            </a:r>
            <a:r>
              <a:rPr lang="ru-RU" dirty="0"/>
              <a:t> попадают таблицы, где различие есть </a:t>
            </a:r>
            <a:r>
              <a:rPr lang="ru-RU" b="1" dirty="0"/>
              <a:t>в обе стороны</a:t>
            </a:r>
            <a:r>
              <a:rPr lang="ru-RU" dirty="0"/>
              <a:t>.</a:t>
            </a:r>
          </a:p>
          <a:p>
            <a:r>
              <a:rPr lang="ru-RU" dirty="0"/>
              <a:t>p-</a:t>
            </a:r>
            <a:r>
              <a:rPr lang="ru-RU" dirty="0" err="1"/>
              <a:t>value</a:t>
            </a:r>
            <a:r>
              <a:rPr lang="ru-RU" dirty="0"/>
              <a:t> примерно в 2 раза больше, чем у одностороннего теста (при прочих равных).</a:t>
            </a:r>
          </a:p>
          <a:p>
            <a:r>
              <a:rPr lang="ru-RU" dirty="0"/>
              <a:t>Используется, когда </a:t>
            </a:r>
            <a:r>
              <a:rPr lang="ru-RU" b="1" dirty="0"/>
              <a:t>направление заранее не известно</a:t>
            </a:r>
            <a:r>
              <a:rPr lang="ru-RU" dirty="0"/>
              <a:t> или важно проверить любой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2867184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35696" y="404664"/>
            <a:ext cx="6102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Методы сравнения элементарных статистик 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980728"/>
            <a:ext cx="813690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8775" algn="just"/>
            <a:r>
              <a:rPr lang="ru-RU" dirty="0"/>
              <a:t>В статистике широкое применение получила так называемая </a:t>
            </a:r>
            <a:r>
              <a:rPr lang="ru-RU" b="1" i="1" dirty="0"/>
              <a:t>нулевая гипотеза (Но)</a:t>
            </a:r>
            <a:r>
              <a:rPr lang="ru-RU" dirty="0"/>
              <a:t>. Сущность ее сводится к предположению, что разница между генеральными параметрами сравниваемых групп равна нулю и что различия, наблюдаемые между выборочными характеристиками носят не систематический, а исключительно случайный характер. Для проверки данной гипотезы используют специальные критерии достоверности. </a:t>
            </a:r>
          </a:p>
          <a:p>
            <a:pPr indent="358775" algn="just"/>
            <a:r>
              <a:rPr lang="ru-RU" dirty="0"/>
              <a:t>В практических исследованиях (например: педагогике, психологии) чаще всего применяют два вида статистических критериев: </a:t>
            </a:r>
          </a:p>
          <a:p>
            <a:pPr indent="358775" algn="just"/>
            <a:r>
              <a:rPr lang="ru-RU" b="1" i="1" dirty="0"/>
              <a:t>t - критерий </a:t>
            </a:r>
            <a:r>
              <a:rPr lang="ru-RU" b="1" dirty="0"/>
              <a:t>Стьюдента</a:t>
            </a:r>
          </a:p>
          <a:p>
            <a:pPr indent="358775" algn="just"/>
            <a:r>
              <a:rPr lang="ru-RU" b="1" i="1" dirty="0"/>
              <a:t>F - критерий </a:t>
            </a:r>
            <a:r>
              <a:rPr lang="ru-RU" b="1" dirty="0"/>
              <a:t>Фишера </a:t>
            </a:r>
            <a:r>
              <a:rPr lang="ru-RU" dirty="0"/>
              <a:t>(при условии нормального распределения изучаемой переменной). </a:t>
            </a:r>
          </a:p>
          <a:p>
            <a:pPr indent="358775" algn="just"/>
            <a:r>
              <a:rPr lang="ru-RU" dirty="0"/>
              <a:t>Первый используют для сравнительной оценки средних величин, второй - для сравнительной оценки дисперсий.  </a:t>
            </a:r>
          </a:p>
        </p:txBody>
      </p:sp>
    </p:spTree>
    <p:extLst>
      <p:ext uri="{BB962C8B-B14F-4D97-AF65-F5344CB8AC3E}">
        <p14:creationId xmlns:p14="http://schemas.microsoft.com/office/powerpoint/2010/main" val="506559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57188" y="142875"/>
            <a:ext cx="8463284" cy="2836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+mn-lt"/>
              </a:rPr>
              <a:t>ФОРМУЛИРОВАНИЕ ГИПОТЕЗЫ - систематизация предположения исследователя в четком и лаконичном виде.</a:t>
            </a:r>
          </a:p>
          <a:p>
            <a:pPr eaLnBrk="1" hangingPunct="1">
              <a:buClrTx/>
              <a:buFontTx/>
              <a:buNone/>
            </a:pPr>
            <a:endParaRPr lang="ru-RU" altLang="ru-RU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buClrTx/>
              <a:buFontTx/>
              <a:buNone/>
            </a:pPr>
            <a:r>
              <a:rPr lang="ru-RU" altLang="ru-RU" b="1" dirty="0">
                <a:solidFill>
                  <a:srgbClr val="000000"/>
                </a:solidFill>
                <a:latin typeface="+mn-lt"/>
              </a:rPr>
              <a:t>Статистические гипотезы:</a:t>
            </a:r>
          </a:p>
          <a:p>
            <a:pPr eaLnBrk="1" hangingPunct="1">
              <a:buClrTx/>
              <a:buFontTx/>
              <a:buNone/>
            </a:pPr>
            <a:r>
              <a:rPr lang="ru-RU" altLang="ru-RU" b="1" dirty="0">
                <a:solidFill>
                  <a:srgbClr val="000000"/>
                </a:solidFill>
                <a:latin typeface="+mn-lt"/>
              </a:rPr>
              <a:t>Нулевая гипотеза </a:t>
            </a:r>
            <a:r>
              <a:rPr lang="ru-RU" altLang="ru-RU" dirty="0">
                <a:solidFill>
                  <a:srgbClr val="000000"/>
                </a:solidFill>
                <a:latin typeface="+mn-lt"/>
              </a:rPr>
              <a:t>– гипотеза об отсутствии различий; </a:t>
            </a:r>
          </a:p>
          <a:p>
            <a:pPr eaLnBrk="1" hangingPunct="1"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+mn-lt"/>
              </a:rPr>
              <a:t>- то, что мы хотим опровергнуть, если перед нами стоит задача доказать значимость различий.</a:t>
            </a:r>
          </a:p>
          <a:p>
            <a:pPr eaLnBrk="1" hangingPunct="1">
              <a:buClrTx/>
              <a:buFontTx/>
              <a:buNone/>
            </a:pPr>
            <a:endParaRPr lang="ru-RU" altLang="ru-RU" dirty="0">
              <a:solidFill>
                <a:srgbClr val="000000"/>
              </a:solidFill>
              <a:latin typeface="+mn-lt"/>
            </a:endParaRPr>
          </a:p>
          <a:p>
            <a:pPr eaLnBrk="1" hangingPunct="1">
              <a:buClrTx/>
              <a:buFontTx/>
              <a:buNone/>
            </a:pPr>
            <a:r>
              <a:rPr lang="ru-RU" altLang="ru-RU" b="1" dirty="0">
                <a:solidFill>
                  <a:srgbClr val="000000"/>
                </a:solidFill>
                <a:latin typeface="+mn-lt"/>
              </a:rPr>
              <a:t>Альтернативная гипотеза </a:t>
            </a:r>
            <a:r>
              <a:rPr lang="ru-RU" altLang="ru-RU" dirty="0">
                <a:solidFill>
                  <a:srgbClr val="000000"/>
                </a:solidFill>
                <a:latin typeface="+mn-lt"/>
              </a:rPr>
              <a:t>– гипотеза о значимости различий;</a:t>
            </a:r>
          </a:p>
          <a:p>
            <a:pPr eaLnBrk="1" hangingPunct="1"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+mn-lt"/>
              </a:rPr>
              <a:t>- то, что мы хотим доказать – экспериментальная гипотеза.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577625" y="3098006"/>
            <a:ext cx="78581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+mn-lt"/>
              </a:rPr>
              <a:t>Проверка гипотезы осуществляется с помощью критериев </a:t>
            </a:r>
            <a:r>
              <a:rPr lang="ru-RU" altLang="ru-RU" b="1" dirty="0">
                <a:solidFill>
                  <a:srgbClr val="000000"/>
                </a:solidFill>
                <a:latin typeface="+mn-lt"/>
              </a:rPr>
              <a:t>статистической оценки различий</a:t>
            </a:r>
            <a:r>
              <a:rPr lang="ru-RU" altLang="ru-RU" dirty="0">
                <a:solidFill>
                  <a:srgbClr val="000000"/>
                </a:solidFill>
                <a:latin typeface="+mn-lt"/>
              </a:rPr>
              <a:t>. 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16892" y="3983036"/>
            <a:ext cx="8143875" cy="917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ru-RU" altLang="ru-RU" b="1" dirty="0">
                <a:solidFill>
                  <a:srgbClr val="000000"/>
                </a:solidFill>
                <a:latin typeface="+mn-lt"/>
              </a:rPr>
              <a:t>Статистический критерий </a:t>
            </a:r>
            <a:r>
              <a:rPr lang="ru-RU" altLang="ru-RU" dirty="0">
                <a:solidFill>
                  <a:srgbClr val="000000"/>
                </a:solidFill>
                <a:latin typeface="+mn-lt"/>
              </a:rPr>
              <a:t>– это правило, обеспечивающее принятие истинной и отклонение  ложной гипотезы с высокой вероятностью;</a:t>
            </a:r>
          </a:p>
          <a:p>
            <a:pPr eaLnBrk="1" hangingPunct="1"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+mn-lt"/>
              </a:rPr>
              <a:t>- это метод расчета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34750" y="5157192"/>
            <a:ext cx="8001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  <a:latin typeface="+mn-lt"/>
              </a:rPr>
              <a:t>Критерии делятся на параметрические и непараметрические</a:t>
            </a:r>
          </a:p>
        </p:txBody>
      </p:sp>
    </p:spTree>
    <p:extLst>
      <p:ext uri="{BB962C8B-B14F-4D97-AF65-F5344CB8AC3E}">
        <p14:creationId xmlns:p14="http://schemas.microsoft.com/office/powerpoint/2010/main" val="3961895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428625" y="142875"/>
            <a:ext cx="8301038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Microsoft YaHei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2000" b="1" dirty="0">
                <a:solidFill>
                  <a:schemeClr val="tx1"/>
                </a:solidFill>
                <a:latin typeface="+mn-lt"/>
              </a:rPr>
              <a:t>Возможности и ограничения </a:t>
            </a:r>
            <a:br>
              <a:rPr lang="ru-RU" altLang="ru-RU" sz="2000" b="1" dirty="0">
                <a:solidFill>
                  <a:schemeClr val="tx1"/>
                </a:solidFill>
                <a:latin typeface="+mn-lt"/>
              </a:rPr>
            </a:br>
            <a:r>
              <a:rPr lang="ru-RU" altLang="ru-RU" sz="2000" b="1" dirty="0">
                <a:solidFill>
                  <a:schemeClr val="tx1"/>
                </a:solidFill>
                <a:latin typeface="+mn-lt"/>
              </a:rPr>
              <a:t>параметрических и непараметрических критериев</a:t>
            </a:r>
          </a:p>
        </p:txBody>
      </p:sp>
      <p:graphicFrame>
        <p:nvGraphicFramePr>
          <p:cNvPr id="3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38425"/>
              </p:ext>
            </p:extLst>
          </p:nvPr>
        </p:nvGraphicFramePr>
        <p:xfrm>
          <a:off x="214313" y="1000125"/>
          <a:ext cx="8716962" cy="5464175"/>
        </p:xfrm>
        <a:graphic>
          <a:graphicData uri="http://schemas.openxmlformats.org/drawingml/2006/table">
            <a:tbl>
              <a:tblPr/>
              <a:tblGrid>
                <a:gridCol w="435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7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27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ПАРАМЕТРИЧЕСКИЕ КРИТЕРИИ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НЕПАРАМЕТРИЧЕСКИЕ КРИТЕРИИ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5321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1. Оценивают различия в средних, полученных в двух выборках (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t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–критерий </a:t>
                      </a:r>
                      <a:r>
                        <a:rPr kumimoji="0" lang="ru-R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Стъюдента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)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Оценивают лишь средние тенденции (чаще ли в выборке А встречаются более высокие, а в выборке Б – более низкие значения признака (критерии Розенбаума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(Q)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, Манна Уитни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 (U)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, угловое преобразование Фишера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(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6" charset="0"/>
                        </a:rPr>
                        <a:t>φ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) 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и др.)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50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2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. Позволяет прямо оценить различия в дисперсиях (критерий Фишера) 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Позволяют оценить лишь различия в диапазонах вариативности признака (критерий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6" charset="0"/>
                        </a:rPr>
                        <a:t>φ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6" charset="0"/>
                        </a:rPr>
                        <a:t>*)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0199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3. Позволяют выявить тенденции изменения признака лишь при условии</a:t>
                      </a:r>
                    </a:p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 - нормального распределения признака</a:t>
                      </a:r>
                    </a:p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- значения признака измерены по интервальной шкале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Calibri" pitchFamily="32" charset="0"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при любом распределении признака;</a:t>
                      </a:r>
                    </a:p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Calibri" pitchFamily="32" charset="0"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значения признака могут быть представлены в любой шкале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88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4. Математические расчеты довольно сложны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Microsoft YaHei" charset="0"/>
                          <a:cs typeface="Microsoft YaHei" charset="0"/>
                        </a:rPr>
                        <a:t>Математические расчеты более просты и занимают мало времени</a:t>
                      </a:r>
                    </a:p>
                  </a:txBody>
                  <a:tcPr marL="90000" marR="90000" marT="62671" marB="46796" horzOverflow="overflow">
                    <a:lnL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002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BF27D1-A47D-4A23-ABB5-DE54D9BDDF36}"/>
              </a:ext>
            </a:extLst>
          </p:cNvPr>
          <p:cNvSpPr txBox="1"/>
          <p:nvPr/>
        </p:nvSpPr>
        <p:spPr>
          <a:xfrm>
            <a:off x="1043608" y="476672"/>
            <a:ext cx="6984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/>
              <a:t>Точный тест Фишера</a:t>
            </a:r>
            <a:r>
              <a:rPr lang="ru-RU" dirty="0"/>
              <a:t> — тест статистической значимости, используемый в анализе таблиц сопряжённости для выборок маленьких размеров. Относится к точным тестам значимости, поскольку не использует приближения большой выборки (асимптотики при размере выборки стремящемся к бесконечности).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321F4-D826-46E6-B3BC-9E5AE4C2DA8D}"/>
              </a:ext>
            </a:extLst>
          </p:cNvPr>
          <p:cNvSpPr txBox="1"/>
          <p:nvPr/>
        </p:nvSpPr>
        <p:spPr>
          <a:xfrm>
            <a:off x="1043608" y="2132856"/>
            <a:ext cx="5904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Фишер </a:t>
            </a:r>
            <a:r>
              <a:rPr lang="ru-RU" dirty="0"/>
              <a:t>показал, что вероятность получения любого такого набора величин даётся гипергеометрическим распределением: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985C75B-D54C-41F1-A440-2312F1A67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165424"/>
              </p:ext>
            </p:extLst>
          </p:nvPr>
        </p:nvGraphicFramePr>
        <p:xfrm>
          <a:off x="1043608" y="4653136"/>
          <a:ext cx="4896544" cy="161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Юноши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Девушки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 диете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 на диете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9572F42-322C-46E8-A41E-760F6C99CD71}"/>
              </a:ext>
            </a:extLst>
          </p:cNvPr>
          <p:cNvSpPr txBox="1"/>
          <p:nvPr/>
        </p:nvSpPr>
        <p:spPr>
          <a:xfrm>
            <a:off x="1013156" y="414908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2. </a:t>
            </a:r>
            <a:endParaRPr lang="ru-R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D0EE04-A103-4B5E-9D98-48C20C9258DE}"/>
                  </a:ext>
                </a:extLst>
              </p:cNvPr>
              <p:cNvSpPr txBox="1"/>
              <p:nvPr/>
            </p:nvSpPr>
            <p:spPr>
              <a:xfrm>
                <a:off x="2376654" y="3214887"/>
                <a:ext cx="4318683" cy="6280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𝑝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)!∙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𝑐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!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D0EE04-A103-4B5E-9D98-48C20C925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654" y="3214887"/>
                <a:ext cx="4318683" cy="6280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0814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778</Words>
  <Application>Microsoft Office PowerPoint</Application>
  <PresentationFormat>Экран (4:3)</PresentationFormat>
  <Paragraphs>83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Dinara Ахмед-Заки</cp:lastModifiedBy>
  <cp:revision>21</cp:revision>
  <dcterms:created xsi:type="dcterms:W3CDTF">2025-09-12T20:35:08Z</dcterms:created>
  <dcterms:modified xsi:type="dcterms:W3CDTF">2026-09-17T12:27:24Z</dcterms:modified>
</cp:coreProperties>
</file>