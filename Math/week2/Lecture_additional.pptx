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61" r:id="rId5"/>
    <p:sldId id="266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712" y="620688"/>
            <a:ext cx="576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Lecture 2</a:t>
            </a:r>
          </a:p>
          <a:p>
            <a:pPr algn="ctr"/>
            <a:r>
              <a:rPr lang="en-US" dirty="0"/>
              <a:t>F –Fisher criterion.</a:t>
            </a:r>
            <a:endParaRPr lang="ru-RU" dirty="0"/>
          </a:p>
          <a:p>
            <a:pPr algn="ctr"/>
            <a:r>
              <a:rPr lang="en-US" dirty="0"/>
              <a:t>Measures of variability. Average deviation. Standard deviation and variance.</a:t>
            </a:r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2098016"/>
                <a:ext cx="72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    Критерий Фишера применяется для проверки равенства дисперсий  двух выборок. Заданы две выборки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 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 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 </m:t>
                    </m:r>
                  </m:oMath>
                </a14:m>
                <a:r>
                  <a:rPr lang="en-US" dirty="0"/>
                  <a:t> 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 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Обозначим через     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098016"/>
                <a:ext cx="7200800" cy="923330"/>
              </a:xfrm>
              <a:prstGeom prst="rect">
                <a:avLst/>
              </a:prstGeom>
              <a:blipFill>
                <a:blip r:embed="rId2"/>
                <a:stretch>
                  <a:fillRect l="-677" t="-3289" r="-1185" b="-921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87996" y="3021346"/>
                <a:ext cx="691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                -   дисперсии двух выборок двух выборок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, 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96" y="3021346"/>
                <a:ext cx="691276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15777" y="3533037"/>
                <a:ext cx="5544616" cy="372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               </a:t>
                </a:r>
                <a:r>
                  <a:rPr lang="en-US" dirty="0"/>
                  <a:t>- </a:t>
                </a:r>
                <a:r>
                  <a:rPr lang="ru-RU" dirty="0"/>
                  <a:t>выборочные оценки дисперсий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</a:t>
                </a:r>
                <a:r>
                  <a:rPr lang="kk-KZ" dirty="0"/>
                  <a:t>и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77" y="3533037"/>
                <a:ext cx="5544616" cy="372538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90054" y="4128489"/>
                <a:ext cx="2840328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KZ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,         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54" y="4128489"/>
                <a:ext cx="2840328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18777" y="4172433"/>
                <a:ext cx="2496453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KZ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777" y="4172433"/>
                <a:ext cx="2496453" cy="848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92901" y="4985234"/>
                <a:ext cx="5431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Предполагается ,что выборки являются нормальными.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−1,   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𝑚</m:t>
                    </m:r>
                    <m:r>
                      <a:rPr lang="en-US" b="0" i="1" smtClean="0">
                        <a:latin typeface="Cambria Math"/>
                      </a:rPr>
                      <m:t>−1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901" y="4985234"/>
                <a:ext cx="5431740" cy="646331"/>
              </a:xfrm>
              <a:prstGeom prst="rect">
                <a:avLst/>
              </a:prstGeom>
              <a:blipFill>
                <a:blip r:embed="rId7"/>
                <a:stretch>
                  <a:fillRect l="-898" t="-5660" b="-1415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52145" y="5741187"/>
                <a:ext cx="4248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:</m:t>
                    </m:r>
                  </m:oMath>
                </a14:m>
                <a:r>
                  <a:rPr lang="en-US" dirty="0"/>
                  <a:t>  </a:t>
                </a:r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145" y="5741187"/>
                <a:ext cx="42484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76381" y="5631565"/>
                <a:ext cx="3846601" cy="574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Статистика Фишера 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</m:t>
                    </m:r>
                    <m:r>
                      <a:rPr lang="en-US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381" y="5631565"/>
                <a:ext cx="3846601" cy="574773"/>
              </a:xfrm>
              <a:prstGeom prst="rect">
                <a:avLst/>
              </a:prstGeom>
              <a:blipFill>
                <a:blip r:embed="rId9"/>
                <a:stretch>
                  <a:fillRect l="-1268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BD8501-3EB7-462C-9E4E-13E01242EF3D}"/>
                  </a:ext>
                </a:extLst>
              </p:cNvPr>
              <p:cNvSpPr txBox="1"/>
              <p:nvPr/>
            </p:nvSpPr>
            <p:spPr>
              <a:xfrm>
                <a:off x="1015777" y="3060755"/>
                <a:ext cx="753090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ru-KZ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BD8501-3EB7-462C-9E4E-13E01242E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77" y="3060755"/>
                <a:ext cx="753090" cy="280718"/>
              </a:xfrm>
              <a:prstGeom prst="rect">
                <a:avLst/>
              </a:prstGeom>
              <a:blipFill>
                <a:blip r:embed="rId10"/>
                <a:stretch>
                  <a:fillRect l="-4065" t="-2174" b="-19565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3196AD-A95B-4E0D-A38C-1F74A7D6F5FA}"/>
                  </a:ext>
                </a:extLst>
              </p:cNvPr>
              <p:cNvSpPr txBox="1"/>
              <p:nvPr/>
            </p:nvSpPr>
            <p:spPr>
              <a:xfrm>
                <a:off x="860004" y="3599713"/>
                <a:ext cx="1119708" cy="2807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KZ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KZ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KZ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3196AD-A95B-4E0D-A38C-1F74A7D6F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4" y="3599713"/>
                <a:ext cx="1119708" cy="280718"/>
              </a:xfrm>
              <a:prstGeom prst="rect">
                <a:avLst/>
              </a:prstGeom>
              <a:blipFill>
                <a:blip r:embed="rId12"/>
                <a:stretch>
                  <a:fillRect t="-2174" b="-1739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FC79C-11CA-4BE2-B1C7-0ED56204220B}"/>
                  </a:ext>
                </a:extLst>
              </p:cNvPr>
              <p:cNvSpPr txBox="1"/>
              <p:nvPr/>
            </p:nvSpPr>
            <p:spPr>
              <a:xfrm>
                <a:off x="1792527" y="5759190"/>
                <a:ext cx="865301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KZ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FC79C-11CA-4BE2-B1C7-0ED562042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527" y="5759190"/>
                <a:ext cx="865301" cy="280718"/>
              </a:xfrm>
              <a:prstGeom prst="rect">
                <a:avLst/>
              </a:prstGeom>
              <a:blipFill>
                <a:blip r:embed="rId13"/>
                <a:stretch>
                  <a:fillRect l="-3521" t="-2174" r="-2113" b="-1739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77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9" t="23719" r="19395" b="17334"/>
          <a:stretch/>
        </p:blipFill>
        <p:spPr bwMode="auto">
          <a:xfrm>
            <a:off x="611560" y="476672"/>
            <a:ext cx="8208912" cy="600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261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3" t="13086" r="13431" b="25952"/>
          <a:stretch/>
        </p:blipFill>
        <p:spPr bwMode="auto">
          <a:xfrm>
            <a:off x="611560" y="908720"/>
            <a:ext cx="7920115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53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76672"/>
            <a:ext cx="77768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 1. </a:t>
            </a:r>
            <a:endParaRPr lang="ru-RU" b="1" dirty="0"/>
          </a:p>
          <a:p>
            <a:r>
              <a:rPr lang="ru-RU" dirty="0"/>
              <a:t> В двух группах проводилось тестирование умственного развития по тесту десяти обучающихся. Полученные значения величин средних достоверно не различались, однако психолога интересует вопрос, есть ли различия в степени однородности показателей умственного развития между группами. </a:t>
            </a:r>
          </a:p>
          <a:p>
            <a:r>
              <a:rPr lang="en-US" b="1" dirty="0"/>
              <a:t>Solution</a:t>
            </a:r>
            <a:r>
              <a:rPr lang="ru-RU" b="1" dirty="0"/>
              <a:t>.</a:t>
            </a:r>
            <a:r>
              <a:rPr lang="ru-RU" dirty="0"/>
              <a:t> </a:t>
            </a:r>
            <a:r>
              <a:rPr lang="ru-RU" u="sng" dirty="0"/>
              <a:t>Нулевая гипотеза Н0: </a:t>
            </a:r>
            <a:r>
              <a:rPr lang="ru-RU" dirty="0"/>
              <a:t>различия в степени однородности показателей умственного развития между группами статистически незначимы. </a:t>
            </a:r>
            <a:r>
              <a:rPr lang="ru-RU" u="sng" dirty="0"/>
              <a:t>Гипотеза Н1:  </a:t>
            </a:r>
            <a:r>
              <a:rPr lang="ru-RU" dirty="0"/>
              <a:t>различия в степени однородности показателей умственного развития между группами статистически значимы. Возьмём уровень значимости </a:t>
            </a:r>
            <a:r>
              <a:rPr lang="ru-RU" i="1" dirty="0"/>
              <a:t>α </a:t>
            </a:r>
            <a:r>
              <a:rPr lang="ru-RU" dirty="0"/>
              <a:t>= 0,05. Результаты тестирования представлены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78" t="34903" r="14388" b="29363"/>
          <a:stretch/>
        </p:blipFill>
        <p:spPr bwMode="auto">
          <a:xfrm>
            <a:off x="3203848" y="3933056"/>
            <a:ext cx="3015575" cy="2450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761484"/>
              </p:ext>
            </p:extLst>
          </p:nvPr>
        </p:nvGraphicFramePr>
        <p:xfrm>
          <a:off x="3213795" y="3295953"/>
          <a:ext cx="2943567" cy="640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err="1"/>
                        <a:t>студт</a:t>
                      </a:r>
                      <a:r>
                        <a:rPr lang="ru-RU" baseline="0" dirty="0"/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группа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 группа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390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19487" t="14587" r="20769" b="6552"/>
          <a:stretch/>
        </p:blipFill>
        <p:spPr bwMode="auto">
          <a:xfrm>
            <a:off x="827584" y="476672"/>
            <a:ext cx="6981388" cy="51951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6310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210</Words>
  <Application>Microsoft Office PowerPoint</Application>
  <PresentationFormat>Экран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Dinara Ахмед-Заки</cp:lastModifiedBy>
  <cp:revision>20</cp:revision>
  <dcterms:created xsi:type="dcterms:W3CDTF">2025-09-12T20:35:08Z</dcterms:created>
  <dcterms:modified xsi:type="dcterms:W3CDTF">2026-09-16T13:42:45Z</dcterms:modified>
</cp:coreProperties>
</file>