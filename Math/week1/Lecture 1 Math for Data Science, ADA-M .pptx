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4" r:id="rId9"/>
    <p:sldId id="269" r:id="rId10"/>
    <p:sldId id="270" r:id="rId11"/>
    <p:sldId id="271" r:id="rId12"/>
    <p:sldId id="265" r:id="rId13"/>
    <p:sldId id="266" r:id="rId14"/>
    <p:sldId id="268" r:id="rId15"/>
    <p:sldId id="267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>
      <p:cViewPr varScale="1">
        <p:scale>
          <a:sx n="61" d="100"/>
          <a:sy n="61" d="100"/>
        </p:scale>
        <p:origin x="148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AF42B-AE2B-4CAB-8492-EA7C05F4FEE6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5C5D5-C88F-4B6D-9958-7735908A21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999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D5C5D5-C88F-4B6D-9958-7735908A21C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8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12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99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72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70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22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0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0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35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37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758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73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65A5A-6445-4AD4-AC21-87D67DF48A0A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76CE4-D416-49B0-9AEF-F8A8CB534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02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Mathematics for Data Science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64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27584" y="980728"/>
            <a:ext cx="7560840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Общий обзор статистических программ и их возможностей</a:t>
            </a:r>
          </a:p>
          <a:p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данных с помощью компьютерных технологий.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Статистические пакеты.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Приближенные вычисления.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Возможности и ограничения конкретных компьютерных методов обработки данных.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Стандарты обработки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46097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87624" y="332656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Анализ данных с помощью компьютерных технологий. Статистические пакеты.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43608" y="4149080"/>
            <a:ext cx="71287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10 лучших программ и инструментов для статистики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Minitab. </a:t>
            </a:r>
            <a:r>
              <a:rPr lang="ru-RU" sz="1400" dirty="0"/>
              <a:t>Первое место в нашем рейтинге достается решению для </a:t>
            </a:r>
            <a:r>
              <a:rPr lang="ru-RU" sz="1400" b="1" dirty="0"/>
              <a:t>анализа данных</a:t>
            </a:r>
            <a:r>
              <a:rPr lang="ru-RU" sz="1400" dirty="0"/>
              <a:t> </a:t>
            </a:r>
            <a:r>
              <a:rPr lang="en-US" sz="1400" dirty="0"/>
              <a:t>Minitab.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StatSoft</a:t>
            </a:r>
            <a:r>
              <a:rPr lang="en-US" sz="1400" dirty="0"/>
              <a:t> (STATISTICA)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COMSOL.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Microsoft Excel.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SAS (Statistical Analysis Software)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MATLAB.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SPSS (IBM) 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STATA.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58642" y="1321348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Слово «статистика» имеет латинское происхождение (от </a:t>
            </a:r>
            <a:r>
              <a:rPr lang="en-US" i="1" dirty="0"/>
              <a:t>status </a:t>
            </a:r>
            <a:r>
              <a:rPr lang="en-US" dirty="0"/>
              <a:t>— </a:t>
            </a:r>
            <a:r>
              <a:rPr lang="ru-RU" dirty="0"/>
              <a:t>состояние).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64899" y="1844824"/>
            <a:ext cx="82809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В настоящее время данный термин употребляется в трех значениях:</a:t>
            </a:r>
          </a:p>
          <a:p>
            <a:r>
              <a:rPr lang="ru-RU" sz="1400" dirty="0"/>
              <a:t>1) статистика — отрасль практической деятельности, целью которой является сбор, обработка и анализ данных о разнообразных явлениях общественной жизни; полученная в результате статистического исследования информация позволяет решать задачи выявления реально существующих закономерностей, свойственных описываемым процессам и явлениям;</a:t>
            </a:r>
          </a:p>
          <a:p>
            <a:r>
              <a:rPr lang="ru-RU" sz="1400" dirty="0"/>
              <a:t>2) статистика — это данные, служащие количественной характеристикой общественных явлений или территориального распределения показателя;</a:t>
            </a:r>
          </a:p>
          <a:p>
            <a:r>
              <a:rPr lang="ru-RU" sz="1400" dirty="0"/>
              <a:t>3) статистика — это наука.</a:t>
            </a:r>
          </a:p>
        </p:txBody>
      </p:sp>
    </p:spTree>
    <p:extLst>
      <p:ext uri="{BB962C8B-B14F-4D97-AF65-F5344CB8AC3E}">
        <p14:creationId xmlns:p14="http://schemas.microsoft.com/office/powerpoint/2010/main" val="3670807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7849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20 программ для статистического анализа данных</a:t>
            </a:r>
          </a:p>
          <a:p>
            <a:pPr algn="just"/>
            <a:r>
              <a:rPr lang="ru-RU" sz="1400" dirty="0"/>
              <a:t>Большинству известны такие статистические пакеты, как SPSS и </a:t>
            </a:r>
            <a:r>
              <a:rPr lang="ru-RU" sz="1400" dirty="0" err="1"/>
              <a:t>Statistica</a:t>
            </a:r>
            <a:r>
              <a:rPr lang="ru-RU" sz="1400" dirty="0"/>
              <a:t>, но их основная проблема — высокая стоимость лицензии. Рассмотрим перечень как платных, так и бесплатных программ. </a:t>
            </a:r>
          </a:p>
          <a:p>
            <a:pPr algn="just"/>
            <a:endParaRPr lang="ru-RU" sz="1400" dirty="0"/>
          </a:p>
          <a:p>
            <a:r>
              <a:rPr lang="ru-RU" sz="1400" b="1" dirty="0"/>
              <a:t>Платные и условно бесплатные решения (с ограничениями):</a:t>
            </a:r>
            <a:endParaRPr lang="ru-RU" sz="14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/>
              <a:t>SPSS </a:t>
            </a:r>
            <a:r>
              <a:rPr lang="ru-RU" sz="1400" b="1" dirty="0" err="1"/>
              <a:t>Statistics</a:t>
            </a:r>
            <a:r>
              <a:rPr lang="ru-RU" sz="1400" b="1" dirty="0"/>
              <a:t> </a:t>
            </a:r>
            <a:r>
              <a:rPr lang="ru-RU" sz="1400" dirty="0"/>
              <a:t>[платная] — компьютерная программа для статистической обработки данных, один из лидеров рынка в области коммерческих статистических продуктов, предназначенных для проведения прикладных исследований в общественных науках.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Statistica</a:t>
            </a:r>
            <a:r>
              <a:rPr lang="ru-RU" sz="1400" dirty="0"/>
              <a:t> [платная] — программный пакет для статистического анализа, разработанный компанией </a:t>
            </a:r>
            <a:r>
              <a:rPr lang="ru-RU" sz="1400" dirty="0" err="1"/>
              <a:t>StatSoft</a:t>
            </a:r>
            <a:r>
              <a:rPr lang="ru-RU" sz="1400" dirty="0"/>
              <a:t>, реализующий функции анализа данных, управления данными, добычи данных, визуализации данных с привлечением статистических методов.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RapidMiner</a:t>
            </a:r>
            <a:r>
              <a:rPr lang="ru-RU" sz="1400" dirty="0"/>
              <a:t> [условно бесплатная] — больше чем программа! Это мощная и многопользовательская платформа, она служит для создания, передачи и обслуживания наукоемких данных. Платформа </a:t>
            </a:r>
            <a:r>
              <a:rPr lang="ru-RU" sz="1400" dirty="0" err="1"/>
              <a:t>RapidMiner</a:t>
            </a:r>
            <a:r>
              <a:rPr lang="ru-RU" sz="1400" dirty="0"/>
              <a:t> предлагает больше функций, чем любое другое визуальное решение, плюс она открыта и расширяема для поддержки всех потребностей научных данных.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Maple</a:t>
            </a:r>
            <a:r>
              <a:rPr lang="ru-RU" sz="1400" dirty="0"/>
              <a:t> [платная] - универсальная коммерческая компьютерная алгебра. Пользователи могут вводить математику в традиционные математические обозначения. Пользовательские интерфейсы также могут быть созданы. Существует поддержка числовых вычислений, произвольной точности, а также символическое вычисление и визуализация.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DataCracker</a:t>
            </a:r>
            <a:r>
              <a:rPr lang="ru-RU" sz="1400" b="1" dirty="0"/>
              <a:t> </a:t>
            </a:r>
            <a:r>
              <a:rPr lang="ru-RU" sz="1400" dirty="0"/>
              <a:t>[условно бесплатная] - это новый инструмент анализа веб-опросов, который позволяет любому человеку находить и обмениваться информацией с результатами своих опросов.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/>
              <a:t>GMDH </a:t>
            </a:r>
            <a:r>
              <a:rPr lang="ru-RU" sz="1400" b="1" dirty="0" err="1"/>
              <a:t>Shell</a:t>
            </a:r>
            <a:r>
              <a:rPr lang="ru-RU" sz="1400" b="1" dirty="0"/>
              <a:t> </a:t>
            </a:r>
            <a:r>
              <a:rPr lang="ru-RU" sz="1400" dirty="0"/>
              <a:t>[платная] — Мощное программное обеспечение для прогнозирования для малых предприятий, трейдеров и ученых. GMDH </a:t>
            </a:r>
            <a:r>
              <a:rPr lang="ru-RU" sz="1400" dirty="0" err="1"/>
              <a:t>Shell</a:t>
            </a:r>
            <a:r>
              <a:rPr lang="ru-RU" sz="1400" dirty="0"/>
              <a:t> - это самый простой способ точно прогнозировать временные ряды, создавать классификаторы и модели регрессии. Основанный на искусственных нейронных сетях, он позволяет вам легко создавать прогностические модели.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Minitab</a:t>
            </a:r>
            <a:r>
              <a:rPr lang="ru-RU" sz="1400" dirty="0"/>
              <a:t> [платная] - это статистическое программное обеспечение для анализа данных в проектах по улучшению качества </a:t>
            </a:r>
            <a:r>
              <a:rPr lang="ru-RU" sz="1400" dirty="0" err="1"/>
              <a:t>Lean</a:t>
            </a:r>
            <a:r>
              <a:rPr lang="ru-RU" sz="1400" dirty="0"/>
              <a:t> </a:t>
            </a:r>
            <a:r>
              <a:rPr lang="ru-RU" sz="1400" dirty="0" err="1"/>
              <a:t>Six</a:t>
            </a:r>
            <a:r>
              <a:rPr lang="ru-RU" sz="1400" dirty="0"/>
              <a:t> </a:t>
            </a:r>
            <a:r>
              <a:rPr lang="ru-RU" sz="1400" dirty="0" err="1"/>
              <a:t>Sigma</a:t>
            </a:r>
            <a:r>
              <a:rPr lang="ru-RU" sz="1400" dirty="0"/>
              <a:t>, а также в области статистического образования.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2321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764704"/>
            <a:ext cx="849694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/>
              <a:t>8. </a:t>
            </a:r>
            <a:r>
              <a:rPr lang="ru-RU" sz="1400" b="1" dirty="0" err="1"/>
              <a:t>Neural</a:t>
            </a:r>
            <a:r>
              <a:rPr lang="ru-RU" sz="1400" b="1" dirty="0"/>
              <a:t> </a:t>
            </a:r>
            <a:r>
              <a:rPr lang="ru-RU" sz="1400" b="1" dirty="0" err="1"/>
              <a:t>Designer</a:t>
            </a:r>
            <a:r>
              <a:rPr lang="ru-RU" sz="1400" b="1" dirty="0"/>
              <a:t> </a:t>
            </a:r>
            <a:r>
              <a:rPr lang="ru-RU" sz="1400" dirty="0"/>
              <a:t>[платная] - это программный инструмент для расширенной аналитики и включает инструменты для описательной, диагностической, предсказательной и предписывающей аналитики. Цель состоит в том, чтобы получить доступ к действиям, что приведет к более умным решениям и лучшим результатам в бизнесе.</a:t>
            </a:r>
          </a:p>
          <a:p>
            <a:pPr algn="just"/>
            <a:r>
              <a:rPr lang="ru-RU" sz="1400" b="1" dirty="0"/>
              <a:t>9. </a:t>
            </a:r>
            <a:r>
              <a:rPr lang="ru-RU" sz="1400" b="1" dirty="0" err="1"/>
              <a:t>EViews</a:t>
            </a:r>
            <a:r>
              <a:rPr lang="ru-RU" sz="1400" dirty="0"/>
              <a:t> [платная] — представляет собой статистический пакет для </a:t>
            </a:r>
            <a:r>
              <a:rPr lang="ru-RU" sz="1400" dirty="0" err="1"/>
              <a:t>Windows</a:t>
            </a:r>
            <a:r>
              <a:rPr lang="ru-RU" sz="1400" dirty="0"/>
              <a:t>, используемый главным образом для эконометрического анализа, ориентированного на временные ряды.</a:t>
            </a:r>
          </a:p>
          <a:p>
            <a:pPr algn="just"/>
            <a:r>
              <a:rPr lang="ru-RU" sz="1400" b="1" dirty="0"/>
              <a:t>10. </a:t>
            </a:r>
            <a:r>
              <a:rPr lang="ru-RU" sz="1400" b="1" dirty="0" err="1"/>
              <a:t>QIWare</a:t>
            </a:r>
            <a:r>
              <a:rPr lang="ru-RU" sz="1400" dirty="0"/>
              <a:t> [платная] - это гибкое аналитическое решение, которое предоставляет полный набор возможностей для поддержки сквозного цикла интеллектуального анализа данных. Упростите подготовку и моделирование данных, одновременно повышая производительность бизнеса, сводя к минимуму человеческие ошибки и значительно улучшая удобство использования.</a:t>
            </a:r>
          </a:p>
          <a:p>
            <a:pPr algn="just"/>
            <a:r>
              <a:rPr lang="ru-RU" sz="1400" b="1" dirty="0"/>
              <a:t>11. Q </a:t>
            </a:r>
            <a:r>
              <a:rPr lang="ru-RU" sz="1400" b="1" dirty="0" err="1"/>
              <a:t>Research</a:t>
            </a:r>
            <a:r>
              <a:rPr lang="ru-RU" sz="1400" b="1" dirty="0"/>
              <a:t> </a:t>
            </a:r>
            <a:r>
              <a:rPr lang="ru-RU" sz="1400" b="1" dirty="0" err="1"/>
              <a:t>Software</a:t>
            </a:r>
            <a:r>
              <a:rPr lang="ru-RU" sz="1400" b="1" dirty="0"/>
              <a:t> </a:t>
            </a:r>
            <a:r>
              <a:rPr lang="ru-RU" sz="1400" dirty="0"/>
              <a:t>[платная] — для новичков и экспертов-исследователей рынка Q, быстро превращает данные опроса в умные идеи, красивые визуализации и умные отчеты, используя самые передовые методы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150468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4036" y="1052736"/>
            <a:ext cx="835292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/>
              <a:t>А теперь рассмотрим бесплатные решения:</a:t>
            </a:r>
          </a:p>
          <a:p>
            <a:endParaRPr lang="ru-RU" sz="14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/>
              <a:t>R + R-</a:t>
            </a:r>
            <a:r>
              <a:rPr lang="ru-RU" sz="1400" b="1" dirty="0" err="1"/>
              <a:t>Studio</a:t>
            </a:r>
            <a:r>
              <a:rPr lang="ru-RU" sz="1400" b="1" dirty="0"/>
              <a:t> </a:t>
            </a:r>
            <a:r>
              <a:rPr lang="ru-RU" sz="1400" dirty="0"/>
              <a:t>— начнем с того, что это не совсем программа, а язык программирования, но он имеет открытый исходный код и позволяет решить множество исследовательских задач, также есть возможность визуализации данных. Однако, минус — язык сложный и требует много времени на освоение.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EpiInfo</a:t>
            </a:r>
            <a:r>
              <a:rPr lang="ru-RU" sz="1400" dirty="0"/>
              <a:t> – бесплатный статистический пакет, разработка которого поддерживается Центром по контролю за заболеваниями США. Основной особенностью является возможность не только проводить </a:t>
            </a:r>
            <a:r>
              <a:rPr lang="ru-RU" sz="1400" dirty="0" err="1"/>
              <a:t>статанализ</a:t>
            </a:r>
            <a:r>
              <a:rPr lang="ru-RU" sz="1400" dirty="0"/>
              <a:t>, но и создавать опросники и формы для ввода данных (включая создание форм для сбора информации в Интернет). Последняя версия также поддерживает интеграцию с </a:t>
            </a:r>
            <a:r>
              <a:rPr lang="ru-RU" sz="1400" dirty="0" err="1"/>
              <a:t>ГуглКартами</a:t>
            </a:r>
            <a:r>
              <a:rPr lang="ru-RU" sz="1400" dirty="0"/>
              <a:t> и визуализацию картографической информации. Довольно существенным ограничением для больших массивов данных может быть использование в качестве базы данных формата </a:t>
            </a:r>
            <a:r>
              <a:rPr lang="ru-RU" sz="1400" dirty="0" err="1"/>
              <a:t>Microsoft</a:t>
            </a:r>
            <a:r>
              <a:rPr lang="ru-RU" sz="1400" dirty="0"/>
              <a:t> </a:t>
            </a:r>
            <a:r>
              <a:rPr lang="ru-RU" sz="1400" dirty="0" err="1"/>
              <a:t>Access</a:t>
            </a:r>
            <a:r>
              <a:rPr lang="ru-RU" sz="14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 err="1"/>
              <a:t>OpenEpi</a:t>
            </a:r>
            <a:r>
              <a:rPr lang="ru-RU" sz="1400" dirty="0"/>
              <a:t> – набор статистических функций, позволяющий быстро применить относительно простые и часто используемые статистические тесты. </a:t>
            </a:r>
            <a:r>
              <a:rPr lang="ru-RU" sz="1400" dirty="0" err="1"/>
              <a:t>OpenEpi</a:t>
            </a:r>
            <a:r>
              <a:rPr lang="ru-RU" sz="1400" dirty="0"/>
              <a:t> можно использовать в он-</a:t>
            </a:r>
            <a:r>
              <a:rPr lang="ru-RU" sz="1400" dirty="0" err="1"/>
              <a:t>лайн</a:t>
            </a:r>
            <a:r>
              <a:rPr lang="ru-RU" sz="1400" dirty="0"/>
              <a:t> режиме на сайте разработчика, либо установить себе на компьютер. Плюсом пакета является набор функций для расчета статистической мощности, численности групп, генерации случайных чисел, а также возможность расчета статистической значимости на основании групповых статистик, что бывает полезно при оценке статей.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b="1" dirty="0"/>
              <a:t>PSPP</a:t>
            </a:r>
            <a:r>
              <a:rPr lang="ru-RU" sz="1400" dirty="0"/>
              <a:t> – по внешнему виду и функциональности очень напоминает SPSS (собственно, и название пакета является зеркальным отражением), при этом полностью бесплатен.</a:t>
            </a:r>
          </a:p>
        </p:txBody>
      </p:sp>
    </p:spTree>
    <p:extLst>
      <p:ext uri="{BB962C8B-B14F-4D97-AF65-F5344CB8AC3E}">
        <p14:creationId xmlns:p14="http://schemas.microsoft.com/office/powerpoint/2010/main" val="310667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332656"/>
            <a:ext cx="84969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/>
              <a:t>5. SOFA </a:t>
            </a:r>
            <a:r>
              <a:rPr lang="ru-RU" sz="1400" dirty="0"/>
              <a:t>– позволяет выполнять основные статистические тесты, но не дает возможности проводить </a:t>
            </a:r>
            <a:r>
              <a:rPr lang="ru-RU" sz="1400" dirty="0" err="1"/>
              <a:t>регресионный</a:t>
            </a:r>
            <a:r>
              <a:rPr lang="ru-RU" sz="1400" dirty="0"/>
              <a:t> анализ. Одной из отличительных особенностей пакета является быстрое создание различных типовых графиков и не требующих форматирования суммирующих таблиц, а также возможность выполнять пользовательские скрипты на </a:t>
            </a:r>
            <a:r>
              <a:rPr lang="ru-RU" sz="1400" dirty="0" err="1"/>
              <a:t>Phyton</a:t>
            </a:r>
            <a:r>
              <a:rPr lang="ru-RU" sz="1400" dirty="0"/>
              <a:t>.</a:t>
            </a:r>
          </a:p>
          <a:p>
            <a:pPr algn="just"/>
            <a:r>
              <a:rPr lang="ru-RU" sz="1400" b="1" dirty="0"/>
              <a:t>6. SEER-</a:t>
            </a:r>
            <a:r>
              <a:rPr lang="ru-RU" sz="1400" b="1" dirty="0" err="1"/>
              <a:t>Stat</a:t>
            </a:r>
            <a:r>
              <a:rPr lang="ru-RU" sz="1400" dirty="0"/>
              <a:t> – ориентированный на применение в онкологии бесплатный статистический пакет, разработка которого поддерживается Институтом Онкологии США. В программном пакете много функций по расчету заболеваемости, выживаемости и летальности (включая стандартизованные по возрасту показатели).</a:t>
            </a:r>
          </a:p>
          <a:p>
            <a:pPr algn="just"/>
            <a:r>
              <a:rPr lang="ru-RU" sz="1400" b="1" dirty="0"/>
              <a:t>7. </a:t>
            </a:r>
            <a:r>
              <a:rPr lang="ru-RU" sz="1400" b="1" dirty="0" err="1"/>
              <a:t>Deducer</a:t>
            </a:r>
            <a:r>
              <a:rPr lang="ru-RU" sz="1400" dirty="0"/>
              <a:t> разработан как бесплатная простая в использовании альтернатива программному анализу данных, например SPSS, JMP и </a:t>
            </a:r>
            <a:r>
              <a:rPr lang="ru-RU" sz="1400" dirty="0" err="1"/>
              <a:t>Minitab</a:t>
            </a:r>
            <a:r>
              <a:rPr lang="ru-RU" sz="1400" dirty="0"/>
              <a:t>. Он имеет систему меню для выполнения общих задач манипулирования данными и анализа, а также </a:t>
            </a:r>
            <a:r>
              <a:rPr lang="ru-RU" sz="1400" dirty="0" err="1"/>
              <a:t>Excel</a:t>
            </a:r>
            <a:r>
              <a:rPr lang="ru-RU" sz="1400" dirty="0"/>
              <a:t>-таблицу, в которой можно просматривать и редактировать кадры данных.</a:t>
            </a:r>
          </a:p>
          <a:p>
            <a:pPr algn="just"/>
            <a:r>
              <a:rPr lang="ru-RU" sz="1400" b="1" dirty="0"/>
              <a:t>8. </a:t>
            </a:r>
            <a:r>
              <a:rPr lang="ru-RU" sz="1400" b="1" dirty="0" err="1"/>
              <a:t>jamovi</a:t>
            </a:r>
            <a:r>
              <a:rPr lang="ru-RU" sz="1400" dirty="0"/>
              <a:t> - это новая бесплатная программа третьего поколения. По отзывам проста в использовании и является хорошей альтернативой дорогостоящим статистическим продуктам, таким как SPSS и SAS.</a:t>
            </a:r>
          </a:p>
          <a:p>
            <a:pPr algn="just"/>
            <a:r>
              <a:rPr lang="ru-RU" sz="1400" b="1" dirty="0"/>
              <a:t>9. </a:t>
            </a:r>
            <a:r>
              <a:rPr lang="ru-RU" sz="1400" b="1" dirty="0" err="1"/>
              <a:t>Statistical</a:t>
            </a:r>
            <a:r>
              <a:rPr lang="ru-RU" sz="1400" b="1" dirty="0"/>
              <a:t> </a:t>
            </a:r>
            <a:r>
              <a:rPr lang="ru-RU" sz="1400" b="1" dirty="0" err="1"/>
              <a:t>Analysis</a:t>
            </a:r>
            <a:r>
              <a:rPr lang="ru-RU" sz="1400" b="1" dirty="0"/>
              <a:t> </a:t>
            </a:r>
            <a:r>
              <a:rPr lang="ru-RU" sz="1400" b="1" dirty="0" err="1"/>
              <a:t>for</a:t>
            </a:r>
            <a:r>
              <a:rPr lang="ru-RU" sz="1400" b="1" dirty="0"/>
              <a:t> </a:t>
            </a:r>
            <a:r>
              <a:rPr lang="ru-RU" sz="1400" b="1" dirty="0" err="1"/>
              <a:t>Genetic</a:t>
            </a:r>
            <a:r>
              <a:rPr lang="ru-RU" sz="1400" b="1" dirty="0"/>
              <a:t> </a:t>
            </a:r>
            <a:r>
              <a:rPr lang="ru-RU" sz="1400" b="1" dirty="0" err="1"/>
              <a:t>Epidemiology</a:t>
            </a:r>
            <a:r>
              <a:rPr lang="ru-RU" sz="1400" b="1" dirty="0"/>
              <a:t> </a:t>
            </a:r>
            <a:r>
              <a:rPr lang="ru-RU" sz="1400" dirty="0"/>
              <a:t>– программа для статистического анализа для генетиков и эпидемиологов, которая содержит множество функций для получения описательной статистики, проверки данных, количественной оценки наследственности признака или заболевания, оценки наиболее вероятного возраста начала заболевания, выявления закономерностей встречаемости отдельных аллелей или </a:t>
            </a:r>
            <a:r>
              <a:rPr lang="ru-RU" sz="1400" dirty="0" err="1"/>
              <a:t>однонуклеотидных</a:t>
            </a:r>
            <a:r>
              <a:rPr lang="ru-RU" sz="1400" dirty="0"/>
              <a:t> изменений, и другие возможности.</a:t>
            </a:r>
          </a:p>
        </p:txBody>
      </p:sp>
    </p:spTree>
    <p:extLst>
      <p:ext uri="{BB962C8B-B14F-4D97-AF65-F5344CB8AC3E}">
        <p14:creationId xmlns:p14="http://schemas.microsoft.com/office/powerpoint/2010/main" val="46121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08629" y="332656"/>
            <a:ext cx="3264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Стандарты обработки данных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1794" y="908720"/>
            <a:ext cx="8248677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Какие стандарты качества данных существуют</a:t>
            </a:r>
          </a:p>
          <a:p>
            <a:endParaRPr lang="ru-RU" sz="1400" dirty="0"/>
          </a:p>
          <a:p>
            <a:r>
              <a:rPr lang="ru-RU" sz="1400" b="1" dirty="0"/>
              <a:t>Полнота данных</a:t>
            </a:r>
          </a:p>
          <a:p>
            <a:pPr algn="just"/>
            <a:r>
              <a:rPr lang="ru-RU" sz="1400" dirty="0"/>
              <a:t>Полнота данных означает, что все необходимые данные доступны для анализа. Неполные данные могут привести к неправильным выводам и решениям. Для оценки полноты данных следует проверить наличие пропусков и неполных записей.</a:t>
            </a:r>
          </a:p>
          <a:p>
            <a:pPr algn="just"/>
            <a:r>
              <a:rPr lang="ru-RU" sz="1400" b="1" dirty="0"/>
              <a:t>Точность данных</a:t>
            </a:r>
          </a:p>
          <a:p>
            <a:pPr algn="just"/>
            <a:r>
              <a:rPr lang="ru-RU" sz="1400" dirty="0"/>
              <a:t>Точность данных означает, что данные являются правильными и отражают реальность. Неточные данные могут возникнуть из-за ошибок ввода, неправильной обработки или других проблем. Чтобы оценить точность данных, следует провести проверку на наличие аномалий и ошибок.</a:t>
            </a:r>
          </a:p>
          <a:p>
            <a:pPr algn="just"/>
            <a:r>
              <a:rPr lang="ru-RU" sz="1400" b="1" dirty="0"/>
              <a:t>Согласованность данных</a:t>
            </a:r>
          </a:p>
          <a:p>
            <a:pPr algn="just"/>
            <a:r>
              <a:rPr lang="ru-RU" sz="1400" dirty="0"/>
              <a:t>Согласованность данных означает, что данные представлены в единых форматах и единицах измерения. Несогласованные данные могут создать путаницу и проблемы при анализе. Для проверки согласованности данных следует оценить единообразие форматов и единиц измерения.</a:t>
            </a:r>
          </a:p>
          <a:p>
            <a:pPr algn="just"/>
            <a:r>
              <a:rPr lang="ru-RU" sz="1400" b="1" dirty="0"/>
              <a:t>Актуальность данных</a:t>
            </a:r>
          </a:p>
          <a:p>
            <a:pPr algn="just"/>
            <a:r>
              <a:rPr lang="ru-RU" sz="1400" dirty="0"/>
              <a:t>Актуальность данных означает, что данные отражают текущее состояние исследуемых объектов или явлений. Устаревшие данные могут привести к неправильным выводам и решениям. Чтобы оценить актуальность данных, следует проверить даты обновления и актуальность источников данных.</a:t>
            </a:r>
          </a:p>
          <a:p>
            <a:pPr algn="just"/>
            <a:r>
              <a:rPr lang="ru-RU" sz="1400" b="1" dirty="0"/>
              <a:t>Уникальность данных</a:t>
            </a:r>
          </a:p>
          <a:p>
            <a:pPr algn="just"/>
            <a:r>
              <a:rPr lang="ru-RU" sz="1400" dirty="0"/>
              <a:t>Уникальность данных означает, что каждый объект или запись представлены в данных только один раз. Дубликаты могут искажать результаты анализа и приводить к неправильным выводам. Для проверки уникальности данных следует искать </a:t>
            </a:r>
            <a:r>
              <a:rPr lang="ru-RU" sz="1400" dirty="0" err="1"/>
              <a:t>дублирующиеся</a:t>
            </a:r>
            <a:r>
              <a:rPr lang="ru-RU" sz="1400" dirty="0"/>
              <a:t> записи и удалять их.</a:t>
            </a:r>
            <a:r>
              <a:rPr lang="ru-RU" sz="1400" b="1" dirty="0"/>
              <a:t> </a:t>
            </a:r>
          </a:p>
          <a:p>
            <a:pPr algn="just"/>
            <a:r>
              <a:rPr lang="ru-RU" sz="1400" b="1" dirty="0"/>
              <a:t>Достоверность данных</a:t>
            </a:r>
          </a:p>
          <a:p>
            <a:pPr algn="just"/>
            <a:r>
              <a:rPr lang="ru-RU" sz="1400" dirty="0"/>
              <a:t>Достоверность данных означает, что данные получены из достоверных и авторитетных источников. Недостоверные данные могут вызвать сомнения в результатах анализа. Чтобы оценить достоверность данных, следует проверить источники данных и их авторитетность. 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3548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98C181-29E1-4FA1-A8FF-907C278D85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8950" y="2609850"/>
            <a:ext cx="5626100" cy="16383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A0BF68-EE6D-4F6E-AC2D-7264E0EF2E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9592" y="332656"/>
            <a:ext cx="7344816" cy="40653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4903D2D-BB78-4C80-8B61-F6E9C65008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87624" y="4653136"/>
            <a:ext cx="56261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5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E6F8A3-6860-4767-A179-11FBFC0D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05" y="260648"/>
            <a:ext cx="6597990" cy="21283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F8A925-9F1F-4959-BF56-2DCBA6C9C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04" y="2378020"/>
            <a:ext cx="6765591" cy="439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57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6618C7-6D32-4370-98A3-C74395DF8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04664"/>
            <a:ext cx="7217652" cy="49163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95AD8B-C062-4596-866C-EDF57137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321036"/>
            <a:ext cx="5986407" cy="98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24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483768" y="26064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/>
              <a:t>t - </a:t>
            </a:r>
            <a:r>
              <a:rPr lang="ru-RU" b="1" dirty="0"/>
              <a:t>критерий Стьюдента </a:t>
            </a:r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04" t="9186" r="14579" b="4140"/>
          <a:stretch/>
        </p:blipFill>
        <p:spPr bwMode="auto">
          <a:xfrm>
            <a:off x="683568" y="632539"/>
            <a:ext cx="7848872" cy="594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092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55575" y="241439"/>
                <a:ext cx="7835555" cy="1470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Для    определения достоверности разницы средних в случае зависимых выборок применяется следующая формула: </a:t>
                </a:r>
                <a:endParaRPr lang="ru-R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𝛿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,  </m:t>
                      </m:r>
                      <m:r>
                        <a:rPr lang="ru-RU" b="0" i="1" smtClean="0">
                          <a:latin typeface="Cambria Math"/>
                        </a:rPr>
                        <m:t>где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241439"/>
                <a:ext cx="7835555" cy="1470403"/>
              </a:xfrm>
              <a:prstGeom prst="rect">
                <a:avLst/>
              </a:prstGeom>
              <a:blipFill rotWithShape="1">
                <a:blip r:embed="rId2"/>
                <a:stretch>
                  <a:fillRect l="-700" t="-20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2" t="64055" r="14666" b="25086"/>
          <a:stretch/>
        </p:blipFill>
        <p:spPr bwMode="auto">
          <a:xfrm>
            <a:off x="559058" y="1988840"/>
            <a:ext cx="8338734" cy="105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23528" y="3573016"/>
            <a:ext cx="8430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 algn="just"/>
            <a:r>
              <a:rPr lang="ru-RU" dirty="0"/>
              <a:t>После того как при помощи формулы вычислен показатель t, по специальной таблице для заданного числа степеней свободы, равного n1+n2-2 и избранной вероятности допустимой ошибки (см. таблицу), находят нужное табличное значение t и сравнивают с ним вычисленное значение t. Если </a:t>
            </a:r>
            <a:r>
              <a:rPr lang="ru-RU" b="1" dirty="0"/>
              <a:t>вычисленное значение t больше </a:t>
            </a:r>
            <a:r>
              <a:rPr lang="en-US" b="1" dirty="0"/>
              <a:t> </a:t>
            </a:r>
            <a:r>
              <a:rPr lang="ru-RU" b="1" dirty="0"/>
              <a:t>табличного</a:t>
            </a:r>
            <a:r>
              <a:rPr lang="ru-RU" dirty="0"/>
              <a:t>, то делают вывод о том, что </a:t>
            </a:r>
            <a:r>
              <a:rPr lang="ru-RU" i="1" dirty="0">
                <a:solidFill>
                  <a:srgbClr val="00B050"/>
                </a:solidFill>
              </a:rPr>
              <a:t>сравниваемые средние значения из двух выборок действительно статистически достоверно различаются </a:t>
            </a:r>
            <a:r>
              <a:rPr lang="ru-RU" dirty="0"/>
              <a:t>с принятой вероятностью допустимой ошибки, т.е. </a:t>
            </a:r>
            <a:r>
              <a:rPr lang="ru-RU" b="1" dirty="0"/>
              <a:t>нулевая гипотеза не верна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42259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971600" y="980728"/>
                <a:ext cx="7848872" cy="4181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ru-RU" b="1" dirty="0"/>
                  <a:t> Формулы (для зависимой выборки или </a:t>
                </a:r>
                <a:r>
                  <a:rPr lang="ru-RU" b="1" dirty="0" err="1"/>
                  <a:t>одновыборочный</a:t>
                </a:r>
                <a:r>
                  <a:rPr lang="ru-RU" b="1" dirty="0"/>
                  <a:t> тест):</a:t>
                </a:r>
                <a:endParaRPr lang="ru-RU" dirty="0"/>
              </a:p>
              <a:p>
                <a:r>
                  <a:rPr lang="ru-RU" dirty="0"/>
                  <a:t>Формулы для вычисления </a:t>
                </a:r>
                <a:r>
                  <a:rPr lang="en-US" dirty="0"/>
                  <a:t>t</a:t>
                </a:r>
                <a:r>
                  <a:rPr lang="ru-RU" dirty="0"/>
                  <a:t> – критерия Стьюдента:</a:t>
                </a:r>
              </a:p>
              <a:p>
                <a:pPr lvl="0"/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  где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                  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n"/>
                                <m:sup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ru-RU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nary>
                                              <m:naryPr>
                                                <m:chr m:val="∑"/>
                                                <m:limLoc m:val="undOvr"/>
                                                <m:subHide m:val="on"/>
                                                <m:supHide m:val="on"/>
                                                <m:ctrlP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/>
                                              <m:sup/>
                                              <m:e>
                                                <m:r>
                                                  <a:rPr lang="ru-RU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nary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nary>
                          </m:num>
                          <m:den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ru-RU" dirty="0"/>
              </a:p>
              <a:p>
                <a:pPr lvl="0"/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r>
                  <a:rPr lang="ru-RU" dirty="0"/>
                  <a:t> 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– разность между соответствующими значениями переменной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  и </m:t>
                    </m:r>
                  </m:oMath>
                </a14:m>
                <a:r>
                  <a:rPr lang="ru-RU" dirty="0"/>
                  <a:t> 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Степень свободы вычисляется по формуле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ru-RU" dirty="0"/>
              </a:p>
              <a:p>
                <a:pPr lvl="0"/>
                <a:r>
                  <a:rPr lang="ru-RU" b="1" dirty="0"/>
                  <a:t> Формула (для независимой выборки):</a:t>
                </a:r>
                <a:endParaRPr lang="ru-RU" dirty="0"/>
              </a:p>
              <a:p>
                <a:r>
                  <a:rPr lang="ru-RU" dirty="0"/>
                  <a:t>Формулы для вычисления t – критерия Стьюдента: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t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ru-RU" dirty="0"/>
                  <a:t>,   где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a:rPr lang="ru-RU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ru-RU" dirty="0"/>
              </a:p>
              <a:p>
                <a:r>
                  <a:rPr lang="ru-RU" dirty="0"/>
                  <a:t>Степень свободы вычисляется по формуле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f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980728"/>
                <a:ext cx="7848872" cy="4181658"/>
              </a:xfrm>
              <a:prstGeom prst="rect">
                <a:avLst/>
              </a:prstGeom>
              <a:blipFill>
                <a:blip r:embed="rId3"/>
                <a:stretch>
                  <a:fillRect l="-621" t="-875" b="-2041"/>
                </a:stretch>
              </a:blipFill>
            </p:spPr>
            <p:txBody>
              <a:bodyPr/>
              <a:lstStyle/>
              <a:p>
                <a:r>
                  <a:rPr lang="ru-K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51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468312" y="1484784"/>
            <a:ext cx="8351837" cy="386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Определить, какая модель кажется наиболее подходящей для доказательства научных предположений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Ознакомиться с описанием метода, примерами и задачами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Рассмотреть ограничения критерия и возможность  сбора необходимых данных.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Определить объем выборки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Обеспечить доступ к выборке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Провести исследование, обработать полученные данные по заранее выбранному алгоритму</a:t>
            </a:r>
          </a:p>
          <a:p>
            <a:pPr marL="533400" indent="-533400">
              <a:lnSpc>
                <a:spcPct val="90000"/>
              </a:lnSpc>
            </a:pPr>
            <a:r>
              <a:rPr lang="ru-RU" altLang="ru-RU" sz="2000" dirty="0"/>
              <a:t>Если ограничения выполнить не удалось, обратиться к предыдущим шагам, когда данные уже получены.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endParaRPr lang="ru-RU" altLang="ru-RU" sz="20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67544" y="260648"/>
            <a:ext cx="8496300" cy="508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sz="2800">
                <a:latin typeface="Arial" charset="0"/>
              </a:rPr>
              <a:t>Алгоритм решения</a:t>
            </a:r>
            <a:endParaRPr lang="ru-RU" altLang="ru-RU" sz="2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5406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1603</Words>
  <Application>Microsoft Office PowerPoint</Application>
  <PresentationFormat>Экран (4:3)</PresentationFormat>
  <Paragraphs>85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Тема Office</vt:lpstr>
      <vt:lpstr>Mathematics for Data Science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Математика для науки о данных</dc:title>
  <dc:creator>User Windows</dc:creator>
  <cp:lastModifiedBy>User</cp:lastModifiedBy>
  <cp:revision>21</cp:revision>
  <dcterms:created xsi:type="dcterms:W3CDTF">2023-12-23T02:12:08Z</dcterms:created>
  <dcterms:modified xsi:type="dcterms:W3CDTF">2026-09-10T12:22:15Z</dcterms:modified>
</cp:coreProperties>
</file>