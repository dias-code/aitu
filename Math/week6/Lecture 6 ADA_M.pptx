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79" r:id="rId3"/>
    <p:sldId id="274" r:id="rId4"/>
    <p:sldId id="275" r:id="rId5"/>
    <p:sldId id="276" r:id="rId6"/>
    <p:sldId id="280" r:id="rId7"/>
    <p:sldId id="281" r:id="rId8"/>
    <p:sldId id="277" r:id="rId9"/>
    <p:sldId id="278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61" r:id="rId21"/>
    <p:sldId id="262" r:id="rId22"/>
    <p:sldId id="264" r:id="rId23"/>
    <p:sldId id="273" r:id="rId24"/>
    <p:sldId id="266" r:id="rId25"/>
    <p:sldId id="267" r:id="rId26"/>
    <p:sldId id="268" r:id="rId2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>
      <p:cViewPr varScale="1">
        <p:scale>
          <a:sx n="61" d="100"/>
          <a:sy n="61" d="100"/>
        </p:scale>
        <p:origin x="144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576" y="1628800"/>
            <a:ext cx="763284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rgbClr val="7030A0"/>
                </a:solidFill>
              </a:rPr>
              <a:t>Lecture 6</a:t>
            </a:r>
            <a:endParaRPr lang="ru-RU" sz="2400" b="1" dirty="0">
              <a:solidFill>
                <a:srgbClr val="7030A0"/>
              </a:solidFill>
            </a:endParaRPr>
          </a:p>
          <a:p>
            <a:pPr algn="ctr"/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Linear regression.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Conditions for applying linear regression with one predictor. The problem of predicting the values of the dependent variable.</a:t>
            </a:r>
            <a:endParaRPr lang="en-US" sz="2400" b="1" dirty="0">
              <a:solidFill>
                <a:srgbClr val="7030A0"/>
              </a:solidFill>
            </a:endParaRPr>
          </a:p>
          <a:p>
            <a:pPr algn="ctr"/>
            <a:endParaRPr lang="en-US" sz="2400" b="1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514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B5CE055-1A34-4492-AC9A-F398524B52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755" b="-1"/>
          <a:stretch/>
        </p:blipFill>
        <p:spPr>
          <a:xfrm>
            <a:off x="912572" y="332656"/>
            <a:ext cx="7318855" cy="400354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27845EB-4FA2-4A8B-85C7-3FC8781F7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715" y="4509120"/>
            <a:ext cx="5112568" cy="149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102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568A57-8A08-431B-A4B3-19CF2E883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16632"/>
            <a:ext cx="6552236" cy="439849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C182BC1-6E32-4F2E-A290-A50762E2F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4507483"/>
            <a:ext cx="4178515" cy="111130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5B3456E-0788-4AC2-852E-6819A4F1D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8006" y="4925175"/>
            <a:ext cx="4064209" cy="181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101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AEEB291-2482-41DF-A357-34AD7A71A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362192"/>
            <a:ext cx="2921150" cy="12764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C62B16-6214-4C1B-8DB4-0072F7186A71}"/>
              </a:ext>
            </a:extLst>
          </p:cNvPr>
          <p:cNvSpPr txBox="1"/>
          <p:nvPr/>
        </p:nvSpPr>
        <p:spPr>
          <a:xfrm>
            <a:off x="899592" y="260648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Example.</a:t>
            </a:r>
            <a:endParaRPr lang="ru-KZ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F8E2449-F507-4C93-9DD2-2B3BB31ED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828" y="2254901"/>
            <a:ext cx="5362553" cy="367345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2C16505-7585-4E0C-8CF5-048C41CE3B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5732" y="1784821"/>
            <a:ext cx="4902452" cy="32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96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29CBA0-E71B-4C6C-B6BD-A9660D861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5" y="476672"/>
            <a:ext cx="5993057" cy="238764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DC70DF-412F-4A47-9BA6-72FEB56771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974"/>
          <a:stretch/>
        </p:blipFill>
        <p:spPr>
          <a:xfrm>
            <a:off x="1462897" y="2996952"/>
            <a:ext cx="4608512" cy="317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019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6BCCA1-9905-4F5B-B113-1BC99B025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476672"/>
            <a:ext cx="4244149" cy="116426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5F8A44-7B4C-4248-9634-2F37FDBCA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121" y="1772816"/>
            <a:ext cx="6371758" cy="381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735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BE79041-7864-4EED-8A02-45D37CBCB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404664"/>
            <a:ext cx="4680520" cy="374293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F07D17-BF4E-4486-8CF5-7AA7DAE43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4437112"/>
            <a:ext cx="5791498" cy="46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10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26AA4A8-8923-446E-B08B-65884461E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548680"/>
            <a:ext cx="6064562" cy="24385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059CC0-3323-4769-9508-677DC42253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159"/>
          <a:stretch/>
        </p:blipFill>
        <p:spPr>
          <a:xfrm>
            <a:off x="1475656" y="2908184"/>
            <a:ext cx="5398154" cy="340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892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B67F0CB-20F7-41A4-8EB7-26CE4DABE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980728"/>
            <a:ext cx="6274122" cy="261633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138799C-DE51-4B26-B076-69126FF9C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476672"/>
            <a:ext cx="5000561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766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EC2FA12-8322-44D0-9179-FE5BAD51A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897" y="1549303"/>
            <a:ext cx="5829600" cy="375939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B23DCF-C776-4A6E-AC8B-3911A7016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548680"/>
            <a:ext cx="4426177" cy="41912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A3AFE64-AC8F-498B-8614-3B1533F4F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162" y="972214"/>
            <a:ext cx="3691211" cy="41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884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4E43D6D-AE5E-4209-B7DE-1AD9E28BC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32656"/>
            <a:ext cx="3581584" cy="43817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133EB63-07C3-4EDE-81FB-C3EE94833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373" y="908720"/>
            <a:ext cx="5239019" cy="229246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417C2CF-FEAE-434B-8986-20674CBEC7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619" y="3156335"/>
            <a:ext cx="2691529" cy="3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079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D136554-2F99-442C-9893-63B1F60BD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476672"/>
            <a:ext cx="3835597" cy="46357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954666-100E-4CAF-983A-EC34343DD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816" y="1124744"/>
            <a:ext cx="6005081" cy="273710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1497004-4454-4F76-B20D-903D2A2A4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00" y="4653136"/>
            <a:ext cx="5721644" cy="158123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7C16332-DF4C-4B47-A908-4B6B05696D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426" y="4025783"/>
            <a:ext cx="3505380" cy="44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38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33B3C1-FCCC-4937-824A-3EF8D1FE1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476672"/>
            <a:ext cx="4597636" cy="38737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6EB862-20C7-4984-BEF2-9DFB8BAA6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5" y="869115"/>
            <a:ext cx="7383063" cy="313594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CFD0AD3-3016-4DC1-9850-05E7DF400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674" y="4005064"/>
            <a:ext cx="3957472" cy="167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717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D2EDEC-1E62-4E37-8B1D-2A09B4ABF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052736"/>
            <a:ext cx="4286470" cy="1543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3B9FD6-6E80-4B69-93BB-E13AFA170D05}"/>
              </a:ext>
            </a:extLst>
          </p:cNvPr>
          <p:cNvSpPr txBox="1"/>
          <p:nvPr/>
        </p:nvSpPr>
        <p:spPr>
          <a:xfrm>
            <a:off x="1259632" y="548680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Построили модель:</a:t>
            </a:r>
            <a:endParaRPr lang="ru-KZ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15380A0-9B4D-4B81-8848-D60E10F03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549" y="2420888"/>
            <a:ext cx="3905451" cy="400705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BDC5851-F8F0-47AC-A807-BED3F15ED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99" y="5589240"/>
            <a:ext cx="5087250" cy="1149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393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E242DC9-6FEB-4BB4-988A-D09558990A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9826"/>
          <a:stretch/>
        </p:blipFill>
        <p:spPr>
          <a:xfrm>
            <a:off x="1173940" y="384324"/>
            <a:ext cx="5048509" cy="72008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87D26F-DE51-4CB4-A6CA-ADF340549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940" y="1104404"/>
            <a:ext cx="4140413" cy="71123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6999FC9-B1A2-4FD6-806F-A30FFD3D2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738" y="1887824"/>
            <a:ext cx="4235668" cy="121926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109A927-7A66-4EFA-9585-88A0456DF3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9445" y="3173815"/>
            <a:ext cx="3930852" cy="318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271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52CC9E6-26F6-40EB-8A43-5A235B67A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548680"/>
            <a:ext cx="6324925" cy="343552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CCCBEBC-7E82-4538-A541-7180771EF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4077072"/>
            <a:ext cx="4191215" cy="17526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F6BB37-F260-41A4-A382-79DAE3223F32}"/>
              </a:ext>
            </a:extLst>
          </p:cNvPr>
          <p:cNvSpPr txBox="1"/>
          <p:nvPr/>
        </p:nvSpPr>
        <p:spPr>
          <a:xfrm>
            <a:off x="1470070" y="177237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Качество прогнозов измеряется: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039048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EA21712-E32B-4FFB-AB12-342C3F757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257" y="350051"/>
            <a:ext cx="5256584" cy="221485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F0CBC1A-79AA-43C8-890E-1A03EC7FD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2564904"/>
            <a:ext cx="6086140" cy="64670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E255254-EAFD-4BD2-888B-2223ED5153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855" y="3697475"/>
            <a:ext cx="4629388" cy="280684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502D3C9-D250-474F-B577-2817114EAA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7824" y="3041320"/>
            <a:ext cx="3568883" cy="51437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F2C437C-635C-4FA6-980C-8B5B3390F7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7497" y="5393012"/>
            <a:ext cx="3530781" cy="111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497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12D75DF-D59E-43B3-B9A2-6A1E2416D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548680"/>
            <a:ext cx="5328592" cy="350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461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4912447-8808-4DAB-B8BC-B0A6DFE77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340768"/>
            <a:ext cx="6857283" cy="17506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90AD72-674F-4384-8838-FDBFA0A0E56F}"/>
              </a:ext>
            </a:extLst>
          </p:cNvPr>
          <p:cNvSpPr txBox="1"/>
          <p:nvPr/>
        </p:nvSpPr>
        <p:spPr>
          <a:xfrm>
            <a:off x="1475656" y="621266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Task 1 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790075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3568" y="517476"/>
            <a:ext cx="763284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solidFill>
                  <a:srgbClr val="00B050"/>
                </a:solidFill>
              </a:rPr>
              <a:t>Логистическая регрессия </a:t>
            </a:r>
            <a:r>
              <a:rPr lang="ru-RU" dirty="0"/>
              <a:t>– это метод классификации, широко используемый в машинном обучении и статистике для решения задач, где целевая переменная является дискретной, чаще всего бинарной (например, «да» или «нет», «0» или «1»). Логистическая регрессия применяется в различных сферах, таких как медицина, финансы и социология, где важно оценить вероятность возникновения определенного события на основе набора независимых переменных. Несмотря на название, логистическая регрессия относится не к регрессионным, а к классификационным методам. Логистическая регрессия является популярным методом классификации из-за своей простоты, способности интерпретировать результаты и устойчивости к переобучению на небольших выборках.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9675" y="4365104"/>
            <a:ext cx="76328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 </a:t>
            </a:r>
            <a:r>
              <a:rPr lang="ru-RU" b="1" dirty="0"/>
              <a:t>Зависимая переменная </a:t>
            </a:r>
            <a:r>
              <a:rPr lang="ru-RU" dirty="0"/>
              <a:t>- номинативная переменная, которая принимает 2 значения, </a:t>
            </a:r>
            <a:r>
              <a:rPr lang="ru-RU" b="1" dirty="0"/>
              <a:t>предиктор</a:t>
            </a:r>
            <a:r>
              <a:rPr lang="ru-RU" dirty="0"/>
              <a:t> - независимая переменная, может быть как номинативной, так и количественной</a:t>
            </a:r>
            <a:r>
              <a:rPr lang="en-US" dirty="0"/>
              <a:t>. </a:t>
            </a:r>
          </a:p>
          <a:p>
            <a:r>
              <a:rPr lang="ru-RU" dirty="0"/>
              <a:t> Когда переводим вероятность в шансы - переводим значения вероятности (от 0 до 1) в значения от 0 до +бесконечности, когда берем логарифм шансов - переводим их значения  в промежуток от - бесконечности до +бесконечности.</a:t>
            </a:r>
          </a:p>
        </p:txBody>
      </p:sp>
    </p:spTree>
    <p:extLst>
      <p:ext uri="{BB962C8B-B14F-4D97-AF65-F5344CB8AC3E}">
        <p14:creationId xmlns:p14="http://schemas.microsoft.com/office/powerpoint/2010/main" val="19185497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576" y="548680"/>
            <a:ext cx="691276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Логистическая регрессия  - разновидность множественной регрессии, общее назначение которой состоит в анализе связи между несколькими независимыми переменными (называемыми также </a:t>
            </a:r>
            <a:r>
              <a:rPr lang="ru-RU" b="1" dirty="0"/>
              <a:t>регрессорами</a:t>
            </a:r>
            <a:r>
              <a:rPr lang="ru-RU" dirty="0"/>
              <a:t> или </a:t>
            </a:r>
            <a:r>
              <a:rPr lang="ru-RU" b="1" dirty="0"/>
              <a:t>предикторами</a:t>
            </a:r>
            <a:r>
              <a:rPr lang="ru-RU" dirty="0"/>
              <a:t>) и зависимой переменной. Регрессия в общем виде применяется, когда входные и выходная переменные непрерывные. </a:t>
            </a:r>
          </a:p>
          <a:p>
            <a:endParaRPr lang="ru-RU" dirty="0"/>
          </a:p>
          <a:p>
            <a:r>
              <a:rPr lang="ru-RU" b="1" dirty="0"/>
              <a:t>А</a:t>
            </a:r>
            <a:r>
              <a:rPr lang="ru-RU" dirty="0"/>
              <a:t> </a:t>
            </a:r>
            <a:r>
              <a:rPr lang="ru-RU" b="1" dirty="0"/>
              <a:t>логистическая регрессия лучшим образом подходит, когда выходная переменная принимает только два значения.</a:t>
            </a:r>
          </a:p>
          <a:p>
            <a:endParaRPr lang="ru-RU" b="1" dirty="0"/>
          </a:p>
          <a:p>
            <a:pPr algn="just"/>
            <a:r>
              <a:rPr lang="ru-RU" dirty="0"/>
              <a:t>Важность логистический регрессии обусловлена тем, что многие задачи </a:t>
            </a:r>
            <a:r>
              <a:rPr lang="ru-RU" b="1" dirty="0">
                <a:solidFill>
                  <a:srgbClr val="00B050"/>
                </a:solidFill>
              </a:rPr>
              <a:t>анализа данных</a:t>
            </a:r>
            <a:r>
              <a:rPr lang="ru-RU" dirty="0"/>
              <a:t> могут быть решены с помощью </a:t>
            </a:r>
            <a:r>
              <a:rPr lang="ru-RU" b="1" dirty="0"/>
              <a:t>бинарной классификации </a:t>
            </a:r>
            <a:r>
              <a:rPr lang="ru-RU" dirty="0"/>
              <a:t>или сведены к ней.</a:t>
            </a:r>
          </a:p>
          <a:p>
            <a:pPr algn="just"/>
            <a:r>
              <a:rPr lang="ru-RU" b="1" i="1" dirty="0"/>
              <a:t>Например,</a:t>
            </a:r>
            <a:r>
              <a:rPr lang="ru-RU" dirty="0"/>
              <a:t> с помощью логистической регрессии можно оценивать вероятность наступления (или не наступления) некоторого события: пациент болен (здоров), заемщик вернул кредит (допустил просрочку) и т.д. Благодаря этому логистическую регрессию можно рассматривать как мощный инструмент поддержки принятия решений.</a:t>
            </a:r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9320812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35" t="34468" r="11755" b="20233"/>
          <a:stretch/>
        </p:blipFill>
        <p:spPr bwMode="auto">
          <a:xfrm>
            <a:off x="336322" y="836711"/>
            <a:ext cx="8628166" cy="3978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7544" y="260648"/>
            <a:ext cx="684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Все </a:t>
            </a:r>
            <a:r>
              <a:rPr lang="ru-RU" b="1" dirty="0"/>
              <a:t>регрессионные модели </a:t>
            </a:r>
            <a:r>
              <a:rPr lang="ru-RU" dirty="0"/>
              <a:t>могут быть записаны в виде формулы: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87924" y="4820255"/>
                <a:ext cx="1368152" cy="484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1−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𝑦</m:t>
                            </m:r>
                          </m:sup>
                        </m:sSup>
                      </m:den>
                    </m:f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7924" y="4820255"/>
                <a:ext cx="1368152" cy="484941"/>
              </a:xfrm>
              <a:prstGeom prst="rect">
                <a:avLst/>
              </a:prstGeom>
              <a:blipFill rotWithShape="1">
                <a:blip r:embed="rId3"/>
                <a:stretch>
                  <a:fillRect l="-4018" b="-88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755576" y="5305196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где p — вероятность того, что произойдет интересующее событие; e — основание натуральных логарифмов 2,71…; y — стандартное уравнение регрессии.</a:t>
            </a:r>
          </a:p>
        </p:txBody>
      </p:sp>
    </p:spTree>
    <p:extLst>
      <p:ext uri="{BB962C8B-B14F-4D97-AF65-F5344CB8AC3E}">
        <p14:creationId xmlns:p14="http://schemas.microsoft.com/office/powerpoint/2010/main" val="1660149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01" t="20172" r="37287" b="17699"/>
          <a:stretch/>
        </p:blipFill>
        <p:spPr bwMode="auto">
          <a:xfrm>
            <a:off x="755576" y="207984"/>
            <a:ext cx="6912768" cy="502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99592" y="5229200"/>
            <a:ext cx="73448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Существует несколько способов нахождения коэффициентов логистической регрессии. На практике часто используют метод </a:t>
            </a:r>
            <a:r>
              <a:rPr lang="ru-RU" b="1" dirty="0"/>
              <a:t>максимального правдоподобия</a:t>
            </a:r>
            <a:r>
              <a:rPr lang="ru-RU" dirty="0"/>
              <a:t>. Применяется в статистике для получения оценок параметров генеральной совокупности по выборочным  данным.</a:t>
            </a:r>
          </a:p>
        </p:txBody>
      </p:sp>
    </p:spTree>
    <p:extLst>
      <p:ext uri="{BB962C8B-B14F-4D97-AF65-F5344CB8AC3E}">
        <p14:creationId xmlns:p14="http://schemas.microsoft.com/office/powerpoint/2010/main" val="3763509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404664"/>
            <a:ext cx="74888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Функция правдоподобия (</a:t>
            </a:r>
            <a:r>
              <a:rPr lang="en-US" b="1" dirty="0"/>
              <a:t>Plausibility</a:t>
            </a:r>
            <a:r>
              <a:rPr lang="ru-RU" b="1" dirty="0"/>
              <a:t>   </a:t>
            </a:r>
            <a:r>
              <a:rPr lang="en-US" b="1" dirty="0"/>
              <a:t>function)</a:t>
            </a:r>
            <a:endParaRPr lang="ru-RU" b="1" dirty="0"/>
          </a:p>
          <a:p>
            <a:endParaRPr lang="ru-RU" b="1" dirty="0"/>
          </a:p>
          <a:p>
            <a:pPr algn="just"/>
            <a:r>
              <a:rPr lang="ru-RU" dirty="0"/>
              <a:t>Функция, определяющая вероятность значений параметров </a:t>
            </a:r>
            <a:r>
              <a:rPr lang="ru-RU" b="1" dirty="0"/>
              <a:t>регрессионной модели </a:t>
            </a:r>
            <a:r>
              <a:rPr lang="ru-RU" dirty="0"/>
              <a:t> для заданного значения </a:t>
            </a:r>
            <a:r>
              <a:rPr lang="ru-RU" b="1" dirty="0"/>
              <a:t>независимой переменной </a:t>
            </a:r>
            <a:r>
              <a:rPr lang="ru-RU" dirty="0"/>
              <a:t>x=X:</a:t>
            </a:r>
            <a:endParaRPr lang="ru-RU" b="1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02" t="38953" r="11767" b="33246"/>
          <a:stretch/>
        </p:blipFill>
        <p:spPr bwMode="auto">
          <a:xfrm>
            <a:off x="266761" y="1881992"/>
            <a:ext cx="8604448" cy="2405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67544" y="4437112"/>
            <a:ext cx="7848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/>
              <a:t>Линейная регрессия и логистическая регрессия: </a:t>
            </a:r>
          </a:p>
          <a:p>
            <a:pPr algn="just"/>
            <a:r>
              <a:rPr lang="ru-RU" dirty="0"/>
              <a:t>обе модели являются контролируемыми алгоритмами машинного обучения и используют линейные уравнения для прогнозов.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0462866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81" t="22641" r="29388" b="41189"/>
          <a:stretch/>
        </p:blipFill>
        <p:spPr bwMode="auto">
          <a:xfrm>
            <a:off x="1619672" y="188640"/>
            <a:ext cx="5904691" cy="2480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88" t="27639" r="26250" b="27916"/>
          <a:stretch/>
        </p:blipFill>
        <p:spPr bwMode="auto">
          <a:xfrm>
            <a:off x="827584" y="2924944"/>
            <a:ext cx="7239337" cy="3347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31603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71600" y="335846"/>
            <a:ext cx="6696744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/>
              <a:t>Типы логистической регрессии</a:t>
            </a:r>
            <a:endParaRPr lang="ru-RU" dirty="0"/>
          </a:p>
          <a:p>
            <a:br>
              <a:rPr lang="ru-RU" dirty="0"/>
            </a:br>
            <a:r>
              <a:rPr lang="ru-RU" dirty="0"/>
              <a:t>1. Бинарная логистическая регрессия.</a:t>
            </a:r>
          </a:p>
          <a:p>
            <a:br>
              <a:rPr lang="ru-RU" dirty="0"/>
            </a:br>
            <a:r>
              <a:rPr lang="ru-RU" dirty="0"/>
              <a:t>Классификация всего по 2 возможным категориям, например на предмет спама.</a:t>
            </a:r>
          </a:p>
          <a:p>
            <a:br>
              <a:rPr lang="ru-RU" dirty="0"/>
            </a:br>
            <a:r>
              <a:rPr lang="ru-RU" dirty="0"/>
              <a:t>2. </a:t>
            </a:r>
            <a:r>
              <a:rPr lang="ru-RU" dirty="0" err="1"/>
              <a:t>Мультиномиальная</a:t>
            </a:r>
            <a:r>
              <a:rPr lang="ru-RU" dirty="0"/>
              <a:t> логистическая регрессия.</a:t>
            </a:r>
          </a:p>
          <a:p>
            <a:br>
              <a:rPr lang="ru-RU" dirty="0"/>
            </a:br>
            <a:r>
              <a:rPr lang="ru-RU" dirty="0"/>
              <a:t>Это три и более категорий без ранжирования, например, определение наиболее популярной системы питания (вегетарианство, </a:t>
            </a:r>
            <a:r>
              <a:rPr lang="ru-RU" dirty="0" err="1"/>
              <a:t>невегетарианство</a:t>
            </a:r>
            <a:r>
              <a:rPr lang="ru-RU" dirty="0"/>
              <a:t>, </a:t>
            </a:r>
            <a:r>
              <a:rPr lang="ru-RU" dirty="0" err="1"/>
              <a:t>веганство</a:t>
            </a:r>
            <a:r>
              <a:rPr lang="ru-RU" dirty="0"/>
              <a:t>).</a:t>
            </a:r>
          </a:p>
          <a:p>
            <a:br>
              <a:rPr lang="ru-RU" dirty="0"/>
            </a:br>
            <a:r>
              <a:rPr lang="ru-RU" dirty="0"/>
              <a:t>3. Ординальная логистическая регрессия</a:t>
            </a:r>
          </a:p>
          <a:p>
            <a:br>
              <a:rPr lang="ru-RU" dirty="0"/>
            </a:br>
            <a:r>
              <a:rPr lang="ru-RU" dirty="0"/>
              <a:t>Ранжирование по трём и более категориям — рейтинг фильмов с оценками от 1 до 5</a:t>
            </a:r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11680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1181</TotalTime>
  <Words>525</Words>
  <Application>Microsoft Office PowerPoint</Application>
  <PresentationFormat>Экран (4:3)</PresentationFormat>
  <Paragraphs>32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 Math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Dinara Ахмед-Заки</cp:lastModifiedBy>
  <cp:revision>25</cp:revision>
  <dcterms:created xsi:type="dcterms:W3CDTF">2025-01-28T21:04:32Z</dcterms:created>
  <dcterms:modified xsi:type="dcterms:W3CDTF">2026-10-08T12:39:48Z</dcterms:modified>
</cp:coreProperties>
</file>