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6" r:id="rId4"/>
    <p:sldId id="277" r:id="rId5"/>
    <p:sldId id="274" r:id="rId6"/>
    <p:sldId id="260" r:id="rId7"/>
    <p:sldId id="261" r:id="rId8"/>
    <p:sldId id="262" r:id="rId9"/>
    <p:sldId id="263" r:id="rId10"/>
    <p:sldId id="268" r:id="rId11"/>
    <p:sldId id="270" r:id="rId12"/>
    <p:sldId id="271" r:id="rId13"/>
    <p:sldId id="272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6" autoAdjust="0"/>
    <p:restoredTop sz="94660"/>
  </p:normalViewPr>
  <p:slideViewPr>
    <p:cSldViewPr>
      <p:cViewPr varScale="1">
        <p:scale>
          <a:sx n="61" d="100"/>
          <a:sy n="61" d="100"/>
        </p:scale>
        <p:origin x="143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1340768"/>
            <a:ext cx="72008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Lecture 3</a:t>
            </a:r>
          </a:p>
          <a:p>
            <a:pPr algn="ctr"/>
            <a:r>
              <a:rPr lang="en-US" sz="2500" b="1" dirty="0">
                <a:latin typeface="Times New Roman" pitchFamily="18" charset="0"/>
                <a:cs typeface="Times New Roman" pitchFamily="18" charset="0"/>
              </a:rPr>
              <a:t>Analysis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b="1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b="1" dirty="0">
                <a:latin typeface="Times New Roman" pitchFamily="18" charset="0"/>
                <a:cs typeface="Times New Roman" pitchFamily="18" charset="0"/>
              </a:rPr>
              <a:t>nominative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b="1" dirty="0">
                <a:latin typeface="Times New Roman" pitchFamily="18" charset="0"/>
                <a:cs typeface="Times New Roman" pitchFamily="18" charset="0"/>
              </a:rPr>
              <a:t>data </a:t>
            </a:r>
            <a:endParaRPr lang="ru-RU" sz="25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Formulation of the problem. Pearson's Chi-square distribution. Calculation of the p-level of significance. Analysis of contingency tables. </a:t>
            </a:r>
          </a:p>
          <a:p>
            <a:pPr algn="ctr"/>
            <a:endParaRPr lang="en-US" sz="2500" dirty="0">
              <a:latin typeface="Times New Roman" pitchFamily="18" charset="0"/>
              <a:cs typeface="Times New Roman" pitchFamily="18" charset="0"/>
            </a:endParaRPr>
          </a:p>
          <a:p>
            <a:endParaRPr lang="en-US" sz="2500" dirty="0">
              <a:latin typeface="Times New Roman" pitchFamily="18" charset="0"/>
              <a:cs typeface="Times New Roman" pitchFamily="18" charset="0"/>
            </a:endParaRPr>
          </a:p>
          <a:p>
            <a:endParaRPr lang="ru-RU" sz="25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572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8742ED0-F0AD-4253-86C1-909C008AD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114" y="281505"/>
            <a:ext cx="6267772" cy="343552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C33EFDA-CCC5-4791-9213-570476BF7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3717032"/>
            <a:ext cx="6274122" cy="288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699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D7B25C2-A03F-49D9-85F3-498132FD2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332656"/>
            <a:ext cx="3581584" cy="366413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A7A3289-D7BC-47D8-A721-C85D2E0C9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3996794"/>
            <a:ext cx="2552831" cy="3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752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00BC63-D002-4C88-9C7E-1E8C1B74D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259" y="724786"/>
            <a:ext cx="4267419" cy="61598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FE86640-DCA8-42B4-84D8-ED5EE5824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1340768"/>
            <a:ext cx="6610690" cy="38927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A69C29B-71F0-469E-88AA-AB7F043144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00" y="5322502"/>
            <a:ext cx="6540836" cy="80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093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53" t="26383" r="21489" b="25958"/>
          <a:stretch/>
        </p:blipFill>
        <p:spPr bwMode="auto">
          <a:xfrm>
            <a:off x="971600" y="116632"/>
            <a:ext cx="7137006" cy="4975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33" t="24367" r="21888" b="60546"/>
          <a:stretch/>
        </p:blipFill>
        <p:spPr bwMode="auto">
          <a:xfrm>
            <a:off x="1043608" y="4733924"/>
            <a:ext cx="7858617" cy="1774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9863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600" y="1340768"/>
            <a:ext cx="73448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Условия применения хи- квадрата Пирсона:</a:t>
            </a:r>
          </a:p>
          <a:p>
            <a:pPr marL="342900" indent="-342900">
              <a:buAutoNum type="arabicPeriod"/>
            </a:pPr>
            <a:r>
              <a:rPr lang="ru-RU" dirty="0"/>
              <a:t>Анализ статистических различий;</a:t>
            </a:r>
          </a:p>
          <a:p>
            <a:pPr marL="342900" indent="-342900">
              <a:buAutoNum type="arabicPeriod"/>
            </a:pPr>
            <a:r>
              <a:rPr lang="ru-RU" dirty="0"/>
              <a:t>Анализ качественных данных (ранги(категориальные данные), номинальные, бинарные (да, нет и т.д.) );</a:t>
            </a:r>
          </a:p>
          <a:p>
            <a:pPr marL="342900" indent="-342900">
              <a:buAutoNum type="arabicPeriod"/>
            </a:pPr>
            <a:r>
              <a:rPr lang="ru-RU" dirty="0"/>
              <a:t>Анализ 2 или более групп;</a:t>
            </a:r>
          </a:p>
          <a:p>
            <a:pPr marL="342900" indent="-342900">
              <a:buAutoNum type="arabicPeriod"/>
            </a:pPr>
            <a:r>
              <a:rPr lang="ru-RU" dirty="0"/>
              <a:t>Количество наблюдений в каждой ячейке более 5 </a:t>
            </a:r>
          </a:p>
          <a:p>
            <a:pPr marL="342900" indent="-342900">
              <a:buAutoNum type="arabicPeriod"/>
            </a:pPr>
            <a:endParaRPr lang="ru-RU" dirty="0"/>
          </a:p>
          <a:p>
            <a:r>
              <a:rPr lang="ru-RU" b="1" dirty="0"/>
              <a:t>Условия не применения хи –квадрата Пирсона:</a:t>
            </a:r>
          </a:p>
          <a:p>
            <a:pPr marL="342900" indent="-342900">
              <a:buAutoNum type="arabicPeriod"/>
            </a:pPr>
            <a:r>
              <a:rPr lang="ru-RU" dirty="0"/>
              <a:t>Частота в ячейке менее 5;</a:t>
            </a:r>
          </a:p>
          <a:p>
            <a:pPr marL="342900" indent="-342900">
              <a:buAutoNum type="arabicPeriod"/>
            </a:pPr>
            <a:r>
              <a:rPr lang="ru-RU" dirty="0"/>
              <a:t>Зависимые группы;</a:t>
            </a:r>
          </a:p>
          <a:p>
            <a:pPr marL="342900" indent="-342900">
              <a:buAutoNum type="arabicPeriod"/>
            </a:pPr>
            <a:r>
              <a:rPr lang="ru-RU" dirty="0"/>
              <a:t>Абсолютные величины (рост, вес, проценты и т.д.)</a:t>
            </a:r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5433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71600" y="404664"/>
            <a:ext cx="72008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Как рассчитать критерий хи-квадрат Пирсона?</a:t>
            </a:r>
          </a:p>
          <a:p>
            <a:endParaRPr lang="ru-RU" dirty="0"/>
          </a:p>
          <a:p>
            <a:r>
              <a:rPr lang="ru-RU" dirty="0"/>
              <a:t>Для оценки достоверности различий по методу</a:t>
            </a:r>
            <a:r>
              <a:rPr lang="en-US" dirty="0"/>
              <a:t> </a:t>
            </a:r>
            <a:r>
              <a:rPr lang="ru-RU" dirty="0"/>
              <a:t>хи –квадрата Пирсона(критерий соответствия, коэффициент согласия) анализируются различия между </a:t>
            </a:r>
            <a:r>
              <a:rPr lang="ru-RU" b="1" dirty="0"/>
              <a:t>реально существующими частотами в группе  (</a:t>
            </a:r>
            <a:r>
              <a:rPr lang="en-US" b="1" dirty="0"/>
              <a:t>Observed) </a:t>
            </a:r>
            <a:r>
              <a:rPr lang="ru-RU" b="1" dirty="0"/>
              <a:t> и  рассчитываемыми по формуле ожидаемыми «гипотетическими» частотами , </a:t>
            </a:r>
            <a:r>
              <a:rPr lang="ru-RU" dirty="0"/>
              <a:t>которые соответствуют распределению хи-квадрата. </a:t>
            </a:r>
          </a:p>
          <a:p>
            <a:endParaRPr lang="ru-RU" b="1" dirty="0"/>
          </a:p>
          <a:p>
            <a:r>
              <a:rPr lang="ru-RU" dirty="0"/>
              <a:t>При малом различии ожидаемых и наблюдаемых частот (хи-квадрат не достиг своего критического значения) мы принимаем нулевую гипотезу об отсутствии различий.</a:t>
            </a:r>
          </a:p>
          <a:p>
            <a:endParaRPr lang="ru-RU" dirty="0"/>
          </a:p>
          <a:p>
            <a:r>
              <a:rPr lang="ru-RU" dirty="0"/>
              <a:t>Если же различия оказываются существенными (критическое значение хи-квадрата достигаются для заданного числа степеней свободы) мы отвергаем нулевую гипотезу и говорим о наличии статистически значимых различий.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4916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9592" y="844749"/>
            <a:ext cx="7848872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Пример 1. </a:t>
            </a:r>
            <a:r>
              <a:rPr lang="ru-RU" dirty="0"/>
              <a:t>Необходимо определить наличие влияния предшествующей степени нарушения </a:t>
            </a:r>
            <a:r>
              <a:rPr lang="ru-RU" dirty="0" err="1"/>
              <a:t>крообращения</a:t>
            </a:r>
            <a:r>
              <a:rPr lang="ru-RU" dirty="0"/>
              <a:t> на исход </a:t>
            </a:r>
            <a:r>
              <a:rPr lang="ru-RU" dirty="0" err="1"/>
              <a:t>комиссуритомии</a:t>
            </a:r>
            <a:r>
              <a:rPr lang="ru-RU" dirty="0"/>
              <a:t> (хирургическое разделение спаек при стенозе клапанного отверстия сердца). Пациенты поступали с различными исходными уровнями нарушения кровообращения . После </a:t>
            </a:r>
            <a:r>
              <a:rPr lang="ru-RU" dirty="0" err="1"/>
              <a:t>комиссуритомии</a:t>
            </a:r>
            <a:r>
              <a:rPr lang="ru-RU" dirty="0"/>
              <a:t>  пациенты были выписаны с различными исходами операции. </a:t>
            </a:r>
          </a:p>
          <a:p>
            <a:endParaRPr lang="ru-RU" dirty="0"/>
          </a:p>
          <a:p>
            <a:r>
              <a:rPr lang="ru-RU" b="1" dirty="0"/>
              <a:t>Фактор:</a:t>
            </a:r>
            <a:r>
              <a:rPr lang="ru-RU" dirty="0"/>
              <a:t> степень нарушения </a:t>
            </a:r>
            <a:r>
              <a:rPr lang="ru-RU" dirty="0" err="1"/>
              <a:t>кровобращения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b="1" dirty="0"/>
              <a:t>Исход:</a:t>
            </a:r>
            <a:r>
              <a:rPr lang="ru-RU" dirty="0"/>
              <a:t> результативность операции.</a:t>
            </a:r>
          </a:p>
          <a:p>
            <a:endParaRPr lang="ru-RU" dirty="0"/>
          </a:p>
          <a:p>
            <a:r>
              <a:rPr lang="ru-RU" b="1" dirty="0"/>
              <a:t>Таблица:</a:t>
            </a:r>
            <a:r>
              <a:rPr lang="ru-RU" dirty="0"/>
              <a:t> наблюдаемые частоты распределения влияния степени </a:t>
            </a:r>
            <a:r>
              <a:rPr lang="ru-RU" dirty="0" err="1"/>
              <a:t>наушения</a:t>
            </a:r>
            <a:r>
              <a:rPr lang="ru-RU" dirty="0"/>
              <a:t> </a:t>
            </a:r>
            <a:r>
              <a:rPr lang="ru-RU" dirty="0" err="1"/>
              <a:t>кроообращения</a:t>
            </a:r>
            <a:r>
              <a:rPr lang="ru-RU" dirty="0"/>
              <a:t> на результаты операции </a:t>
            </a:r>
            <a:r>
              <a:rPr lang="ru-RU" dirty="0" err="1"/>
              <a:t>комиссуритомии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9276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814852"/>
              </p:ext>
            </p:extLst>
          </p:nvPr>
        </p:nvGraphicFramePr>
        <p:xfrm>
          <a:off x="755576" y="1052736"/>
          <a:ext cx="7632848" cy="3591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0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Степень</a:t>
                      </a:r>
                      <a:r>
                        <a:rPr lang="ru-RU" baseline="0" dirty="0"/>
                        <a:t> нарушения </a:t>
                      </a:r>
                      <a:r>
                        <a:rPr lang="ru-RU" baseline="0" dirty="0" err="1"/>
                        <a:t>крообращения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Всего</a:t>
                      </a:r>
                      <a:r>
                        <a:rPr lang="ru-RU" baseline="0" dirty="0"/>
                        <a:t> больных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Выписанных с </a:t>
                      </a:r>
                      <a:r>
                        <a:rPr lang="ru-RU" dirty="0" err="1"/>
                        <a:t>хоршим</a:t>
                      </a:r>
                      <a:r>
                        <a:rPr lang="ru-RU" dirty="0"/>
                        <a:t> результатом операции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Выписанных с удовлетворительным результатом операции 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Выписанных с худшим результатом операции 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II 10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      E=13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         E=12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III 20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43      E=34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        E=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IV  35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всего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43</a:t>
                      </a:r>
                      <a:r>
                        <a:rPr lang="ru-RU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915816" y="4656177"/>
                <a:ext cx="3816424" cy="5821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 dirty="0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pt-BR" i="1" dirty="0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/>
                          </a:rPr>
                          <m:t>𝑖</m:t>
                        </m:r>
                        <m:r>
                          <a:rPr lang="pt-BR" i="1" dirty="0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pt-BR" i="1" dirty="0" smtClean="0">
                            <a:latin typeface="Cambria Math"/>
                          </a:rPr>
                          <m:t>∞</m:t>
                        </m:r>
                      </m:sup>
                      <m:e>
                        <m:d>
                          <m:dPr>
                            <m:ctrlPr>
                              <a:rPr lang="pt-BR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pt-B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dirty="0" smtClean="0">
                                        <a:latin typeface="Cambria Math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 smtClean="0">
                                            <a:latin typeface="Cambria Math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b="0" i="1" dirty="0" smtClean="0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1" dirty="0" smtClean="0">
                                        <a:latin typeface="Cambria Math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dirty="0" smtClean="0">
                                            <a:latin typeface="Cambria Math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  <m:sup/>
                                    </m:sSubSup>
                                    <m:r>
                                      <a:rPr lang="en-US" b="0" i="1" dirty="0" smtClean="0"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b="0" i="1" dirty="0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nary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4656177"/>
                <a:ext cx="3816424" cy="58214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367644" y="5517232"/>
                <a:ext cx="34563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𝑑𝑓</m:t>
                    </m:r>
                    <m:r>
                      <a:rPr lang="en-US" b="0" i="1" smtClean="0">
                        <a:latin typeface="Cambria Math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/>
                      </a:rPr>
                      <m:t>−1</m:t>
                    </m:r>
                  </m:oMath>
                </a14:m>
                <a:r>
                  <a:rPr lang="en-US" dirty="0"/>
                  <a:t>)(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−1)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644" y="5517232"/>
                <a:ext cx="345638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353"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9748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98" t="18441" r="20691" b="60173"/>
          <a:stretch/>
        </p:blipFill>
        <p:spPr bwMode="auto">
          <a:xfrm>
            <a:off x="1243254" y="332656"/>
            <a:ext cx="6718420" cy="1970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91" t="23116" r="22038" b="30912"/>
          <a:stretch/>
        </p:blipFill>
        <p:spPr bwMode="auto">
          <a:xfrm>
            <a:off x="1365531" y="2285078"/>
            <a:ext cx="6588131" cy="4178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3216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24" t="15633" r="21170" b="6636"/>
          <a:stretch/>
        </p:blipFill>
        <p:spPr bwMode="auto">
          <a:xfrm>
            <a:off x="1547664" y="188640"/>
            <a:ext cx="6174820" cy="6336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10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49" t="27889" r="20041" b="20479"/>
          <a:stretch/>
        </p:blipFill>
        <p:spPr bwMode="auto">
          <a:xfrm>
            <a:off x="1403648" y="908720"/>
            <a:ext cx="6588717" cy="4620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6288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18" t="36170" r="21490" b="38582"/>
          <a:stretch/>
        </p:blipFill>
        <p:spPr bwMode="auto">
          <a:xfrm>
            <a:off x="1043608" y="260648"/>
            <a:ext cx="7271471" cy="2563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96" t="35473" r="25000" b="23676"/>
          <a:stretch/>
        </p:blipFill>
        <p:spPr bwMode="auto">
          <a:xfrm>
            <a:off x="2040569" y="2996952"/>
            <a:ext cx="5277548" cy="3377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09268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5033</TotalTime>
  <Words>349</Words>
  <Application>Microsoft Office PowerPoint</Application>
  <PresentationFormat>Экран (4:3)</PresentationFormat>
  <Paragraphs>63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Dinara Ахмед-Заки</cp:lastModifiedBy>
  <cp:revision>37</cp:revision>
  <dcterms:created xsi:type="dcterms:W3CDTF">2025-01-02T19:43:47Z</dcterms:created>
  <dcterms:modified xsi:type="dcterms:W3CDTF">2026-09-19T06:42:10Z</dcterms:modified>
</cp:coreProperties>
</file>